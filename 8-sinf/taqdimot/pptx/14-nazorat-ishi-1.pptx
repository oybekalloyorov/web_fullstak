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Serverda ichki xato.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rowspan="2".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../rasmlar/logo.png.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#asosiy.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width ichiga padding va border'ni ham qo'shadi.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grid-template-columns: repeat(3, 1fr).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position: relative.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Baholash: 5 — barcha bosqichlar to'g'ri tartibda; 3–4 — 1–2 bosqich tushib qolgan; 1–2 — umumiy tasavvur.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Baholash: forma va method — 1; maydon turlari — 2; label va name — 1; required va radio'larda bir xil name —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E2552B"/>
                </a:solidFill>
                <a:latin typeface="Calibri"/>
              </a:rPr>
              <a:t>14-MAVZU  ·  I BOB. HTML VA 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Yakuniy nazorat ishi — I bob (HTML va CSS)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I bob bo'yicha nazorat: 25 ta yopiq test (3 balldan) va 5 ta ochiq savol/amaliy topshiriq (5 balldan) — jami 100 ball. Takrorlash rejasi, javoblar va baholash mezoni.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Nazorat ishi qanday o'tadi?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79461"/>
          <a:ext cx="11091672" cy="2718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6797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Qism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Mazmuni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Ball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6797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1-qism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25 ta yopiq test × 3 ball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6797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2-qism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5 ta ochiq savol / amaliy topshiriq × 5 ball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97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Jami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Vaqt: 80 daqiqa (test — 30, amaliy — 50)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441773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Har bir testda </a:t>
            </a:r>
            <a:r>
              <a:rPr sz="2800" b="1">
                <a:solidFill>
                  <a:srgbClr val="1F232B"/>
                </a:solidFill>
                <a:latin typeface="Calibri"/>
              </a:rPr>
              <a:t>bitta</a:t>
            </a:r>
            <a:r>
              <a:rPr sz="2800" b="0">
                <a:solidFill>
                  <a:srgbClr val="1F232B"/>
                </a:solidFill>
                <a:latin typeface="Calibri"/>
              </a:rPr>
              <a:t> to'g'ri javob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457775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026825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Bugun: takrorlash → namunaviy savollar → amaliy topshiriqlar → baholash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18684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F6CCBF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Takrorlash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FAE5DF"/>
                </a:solidFill>
                <a:latin typeface="Calibri"/>
              </a:rPr>
              <a:t>I bobning 13 ta mavzusi — eng muhim tushunchalar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6CCBF"/>
                </a:solidFill>
                <a:latin typeface="Calibri"/>
              </a:rPr>
              <a:t>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HTML: 1–5-mavzular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56969"/>
          <a:ext cx="11091672" cy="4510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751670"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Mavzu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Bilishingiz kerak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751670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Internet, DNS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Mijoz-server, IP, domen, DNS, hosting, HTTPS, 200/404/500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751670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HTML tuzilishi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Teg, element, atribut, skelet,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head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/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body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, h1–h6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51670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Jadval, forma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ul/ol/li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tr/td/th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colspan/rowspan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, input turlari,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name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label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751670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Havolalar, media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href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target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, nisbiy yo'l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../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#id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img alt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video controls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51674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Semantika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header nav main section article aside footer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; blok va inline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CSS: 6–9-mavzular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56969"/>
          <a:ext cx="11091672" cy="4510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751670"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Mavzu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Bilishingiz kerak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751670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CSS asoslari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3 ulash usuli, selektorlar, ustuvorlik: inline &gt; id &gt; class &gt; teg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751670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Fon va chegara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background-size: cover/contain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, gradient,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border-radius: 50%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box-shadow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51670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Box model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margin/padding/border,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box-sizing: border-box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rem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vh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751670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Flex va Grid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justify-content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align-items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repeat(3, 1fr)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fr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51674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Pseudo, position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:hover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:nth-child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::after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, relative + absolute,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z-index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10–13-mavzular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8137"/>
          <a:ext cx="1109167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78638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Mavzu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Bilishingiz kerak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Responsiv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viewport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@media (max-width)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mobile-first →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min-width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Git, SEO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init → add → commit → push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GitHub Pages,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title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description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Animatsiya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transform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transition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(oddiy holatga!),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@keyframes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infinite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Jamoa, deploy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branch, merge, konflikt, Pull Request, Netlify/Vercel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F6CCBF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Namunaviy testlar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FAE5DF"/>
                </a:solidFill>
                <a:latin typeface="Calibri"/>
              </a:rPr>
              <a:t>Birga yechamiz — avval o'ylang, keyin javobni ko'ring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6CCBF"/>
                </a:solidFill>
                <a:latin typeface="Calibri"/>
              </a:rPr>
              <a:t>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Server "500" kodini qaytardi. Bu nimani bildiradi?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Sahifa topilmadi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Muvaffaqiyatli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Sahifa ko'chirilgan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Serverda ichki xato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Server "500" kodini qaytardi. Bu nimani bildiradi?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Sahifa topilmadi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Muvaffaqiyatli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Sahifa ko'chirilgan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Serverda ichki xato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Jadval katagini ikki qator balandligida birlashtiruvchi atribut?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colspan="2"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merge="2"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height="2"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rowspan="2"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Jadval katagini ikki qator balandligida birlashtiruvchi atribut?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colspan="2"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merge="2"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height="2"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rowspan="2"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sahifalar/aloqa.html</a:t>
            </a:r>
            <a:r>
              <a:rPr sz="2400" b="1">
                <a:solidFill>
                  <a:srgbClr val="1F232B"/>
                </a:solidFill>
                <a:latin typeface="Calibri"/>
              </a:rPr>
              <a:t> dan </a:t>
            </a:r>
            <a:r>
              <a:rPr sz="2208" b="1">
                <a:solidFill>
                  <a:srgbClr val="B02A4A"/>
                </a:solidFill>
                <a:latin typeface="Consolas"/>
              </a:rPr>
              <a:t>rasmlar/logo.png</a:t>
            </a:r>
            <a:r>
              <a:rPr sz="2400" b="1">
                <a:solidFill>
                  <a:srgbClr val="1F232B"/>
                </a:solidFill>
                <a:latin typeface="Calibri"/>
              </a:rPr>
              <a:t> ga to'g'ri yo'l?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rasmlar/logo.png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../rasmlar/logo.png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/sahifalar/rasmlar/logo.png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C:/rasmlar/logo.png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sahifalar/aloqa.html</a:t>
            </a:r>
            <a:r>
              <a:rPr sz="2400" b="1">
                <a:solidFill>
                  <a:srgbClr val="1F232B"/>
                </a:solidFill>
                <a:latin typeface="Calibri"/>
              </a:rPr>
              <a:t> dan </a:t>
            </a:r>
            <a:r>
              <a:rPr sz="2208" b="1">
                <a:solidFill>
                  <a:srgbClr val="B02A4A"/>
                </a:solidFill>
                <a:latin typeface="Consolas"/>
              </a:rPr>
              <a:t>rasmlar/logo.png</a:t>
            </a:r>
            <a:r>
              <a:rPr sz="2400" b="1">
                <a:solidFill>
                  <a:srgbClr val="1F232B"/>
                </a:solidFill>
                <a:latin typeface="Calibri"/>
              </a:rPr>
              <a:t> ga to'g'ri yo'l?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rasmlar/logo.png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../rasmlar/logo.png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/sahifalar/rasmlar/logo.png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C:/rasmlar/logo.png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Qaysi selektor eng kuchli (ustuvor)?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.matn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div 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#asosiy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Qaysi selektor eng kuchli (ustuvor)?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.matn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div 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#asosiy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box-sizing: border-box</a:t>
            </a:r>
            <a:r>
              <a:rPr sz="2400" b="1">
                <a:solidFill>
                  <a:srgbClr val="1F232B"/>
                </a:solidFill>
                <a:latin typeface="Calibri"/>
              </a:rPr>
              <a:t> nima qiladi?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Chegarani yashiradi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565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565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Elementni markazga qo'yadi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709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40492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709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Margin'ni nolga tenglaydi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853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9636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853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width</a:t>
            </a:r>
            <a:r>
              <a:rPr sz="1900" b="0">
                <a:solidFill>
                  <a:srgbClr val="1F232B"/>
                </a:solidFill>
                <a:latin typeface="Calibri"/>
              </a:rPr>
              <a:t> ichiga padding va border'ni ham qo'shadi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box-sizing: border-box</a:t>
            </a:r>
            <a:r>
              <a:rPr sz="2400" b="1">
                <a:solidFill>
                  <a:srgbClr val="1F232B"/>
                </a:solidFill>
                <a:latin typeface="Calibri"/>
              </a:rPr>
              <a:t> nima qiladi?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Chegarani yashiradi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565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565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Elementni markazga qo'yadi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709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40492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709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Margin'ni nolga tenglaydi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853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9636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853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width</a:t>
            </a:r>
            <a:r>
              <a:rPr sz="1900" b="1">
                <a:solidFill>
                  <a:srgbClr val="1F232B"/>
                </a:solidFill>
                <a:latin typeface="Calibri"/>
              </a:rPr>
              <a:t> ichiga padding va border'ni ham qo'shadi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3 ta teng ustunli Grid qaysi?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grid-columns: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grid-template-columns: 3fr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grid-template-columns: repeat(3, 1fr)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columns: 1fr, 1fr, 1fr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3 ta teng ustunli Grid qaysi?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grid-columns: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grid-template-columns: 3fr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grid-template-columns: repeat(3, 1fr)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columns: 1fr, 1fr, 1fr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Ichidagi </a:t>
            </a:r>
            <a:r>
              <a:rPr sz="2208" b="1">
                <a:solidFill>
                  <a:srgbClr val="B02A4A"/>
                </a:solidFill>
                <a:latin typeface="Consolas"/>
              </a:rPr>
              <a:t>absolute</a:t>
            </a:r>
            <a:r>
              <a:rPr sz="2400" b="1">
                <a:solidFill>
                  <a:srgbClr val="1F232B"/>
                </a:solidFill>
                <a:latin typeface="Calibri"/>
              </a:rPr>
              <a:t> elementlar unga nisbatan joylashishi uchun </a:t>
            </a:r>
            <a:r>
              <a:rPr sz="2400" b="1">
                <a:solidFill>
                  <a:srgbClr val="1F232B"/>
                </a:solidFill>
                <a:latin typeface="Calibri"/>
              </a:rPr>
              <a:t>otaga</a:t>
            </a:r>
            <a:r>
              <a:rPr sz="2400" b="1">
                <a:solidFill>
                  <a:srgbClr val="1F232B"/>
                </a:solidFill>
                <a:latin typeface="Calibri"/>
              </a:rPr>
              <a:t> nima beriladi?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6167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position: absolute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6167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position: relative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5311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position: static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5311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display: block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Ichidagi </a:t>
            </a:r>
            <a:r>
              <a:rPr sz="2208" b="1">
                <a:solidFill>
                  <a:srgbClr val="B02A4A"/>
                </a:solidFill>
                <a:latin typeface="Consolas"/>
              </a:rPr>
              <a:t>absolute</a:t>
            </a:r>
            <a:r>
              <a:rPr sz="2400" b="1">
                <a:solidFill>
                  <a:srgbClr val="1F232B"/>
                </a:solidFill>
                <a:latin typeface="Calibri"/>
              </a:rPr>
              <a:t> elementlar unga nisbatan joylashishi uchun </a:t>
            </a:r>
            <a:r>
              <a:rPr sz="2400" b="1">
                <a:solidFill>
                  <a:srgbClr val="1F232B"/>
                </a:solidFill>
                <a:latin typeface="Calibri"/>
              </a:rPr>
              <a:t>otaga</a:t>
            </a:r>
            <a:r>
              <a:rPr sz="2400" b="1">
                <a:solidFill>
                  <a:srgbClr val="1F232B"/>
                </a:solidFill>
                <a:latin typeface="Calibri"/>
              </a:rPr>
              <a:t> nima beriladi?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6167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position: absolute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61670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position: relative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5311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position: static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5311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display: block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Hover effekti silliq bo'lishi uchun ishlatiladigan xossa?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transition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transform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animation-name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@keyframes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Hover effekti silliq bo'lishi uchun ishlatiladigan xossa?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transition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transform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animation-name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@keyframes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F6CCBF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Amaliy qism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FAE5DF"/>
                </a:solidFill>
                <a:latin typeface="Calibri"/>
              </a:rPr>
              <a:t>5 ta topshiriq × 5 ball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6CCBF"/>
                </a:solidFill>
                <a:latin typeface="Calibri"/>
              </a:rPr>
              <a:t>24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1-topshiriq: nazariy 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68865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610" b="1">
                <a:solidFill>
                  <a:srgbClr val="E2552B"/>
                </a:solidFill>
                <a:latin typeface="Calibri"/>
              </a:rPr>
              <a:t>https://maktab.uz yozilganda sahifa ekranga chiqquncha nima bo'ladi?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215705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2243137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1">
                <a:solidFill>
                  <a:srgbClr val="1F232B"/>
                </a:solidFill>
                <a:latin typeface="Calibri"/>
              </a:rPr>
              <a:t>DNS</a:t>
            </a:r>
            <a:r>
              <a:rPr sz="1800" b="0">
                <a:solidFill>
                  <a:srgbClr val="1F232B"/>
                </a:solidFill>
                <a:latin typeface="Calibri"/>
              </a:rPr>
              <a:t> domenni IP-manzilga aylantiradi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92361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919793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1F232B"/>
                </a:solidFill>
                <a:latin typeface="Calibri"/>
              </a:rPr>
              <a:t>Brauzer serverga </a:t>
            </a:r>
            <a:r>
              <a:rPr sz="1800" b="1">
                <a:solidFill>
                  <a:srgbClr val="1F232B"/>
                </a:solidFill>
                <a:latin typeface="Calibri"/>
              </a:rPr>
              <a:t>HTTPS</a:t>
            </a:r>
            <a:r>
              <a:rPr sz="1800" b="0">
                <a:solidFill>
                  <a:srgbClr val="1F232B"/>
                </a:solidFill>
                <a:latin typeface="Calibri"/>
              </a:rPr>
              <a:t> bilan ulanadi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569017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3596449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1F232B"/>
                </a:solidFill>
                <a:latin typeface="Calibri"/>
              </a:rPr>
              <a:t>Brauzer </a:t>
            </a:r>
            <a:r>
              <a:rPr sz="1800" b="1">
                <a:solidFill>
                  <a:srgbClr val="1F232B"/>
                </a:solidFill>
                <a:latin typeface="Calibri"/>
              </a:rPr>
              <a:t>HTTP so'rov</a:t>
            </a:r>
            <a:r>
              <a:rPr sz="1800" b="0">
                <a:solidFill>
                  <a:srgbClr val="1F232B"/>
                </a:solidFill>
                <a:latin typeface="Calibri"/>
              </a:rPr>
              <a:t> yuboradi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245673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4273105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1F232B"/>
                </a:solidFill>
                <a:latin typeface="Calibri"/>
              </a:rPr>
              <a:t>Server </a:t>
            </a:r>
            <a:r>
              <a:rPr sz="1800" b="1">
                <a:solidFill>
                  <a:srgbClr val="1F232B"/>
                </a:solidFill>
                <a:latin typeface="Calibri"/>
              </a:rPr>
              <a:t>200 + HTML</a:t>
            </a:r>
            <a:r>
              <a:rPr sz="1800" b="0">
                <a:solidFill>
                  <a:srgbClr val="1F232B"/>
                </a:solidFill>
                <a:latin typeface="Calibri"/>
              </a:rPr>
              <a:t> javob qaytaradi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922329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4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4949761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1F232B"/>
                </a:solidFill>
                <a:latin typeface="Calibri"/>
              </a:rPr>
              <a:t>Brauzer CSS, rasm, JS ni qo'shimcha so'raydi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598985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4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5626417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1F232B"/>
                </a:solidFill>
                <a:latin typeface="Calibri"/>
              </a:rPr>
              <a:t>Hammasini birlashtirib sahifani </a:t>
            </a:r>
            <a:r>
              <a:rPr sz="1800" b="1">
                <a:solidFill>
                  <a:srgbClr val="1F232B"/>
                </a:solidFill>
                <a:latin typeface="Calibri"/>
              </a:rPr>
              <a:t>chizadi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2-topshiriq: 5 ta xatoni toping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26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373967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339220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514" b="0">
                <a:solidFill>
                  <a:srgbClr val="E06C75"/>
                </a:solidFill>
                <a:latin typeface="Consolas"/>
              </a:rPr>
              <a:t>&lt;head</a:t>
            </a:r>
            <a:r>
              <a:rPr sz="151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514" b="0">
                <a:solidFill>
                  <a:srgbClr val="E6E6E6"/>
                </a:solidFill>
                <a:latin typeface="Consolas"/>
              </a:rPr>
              <a:t>  </a:t>
            </a:r>
            <a:r>
              <a:rPr sz="1514" b="0">
                <a:solidFill>
                  <a:srgbClr val="E06C75"/>
                </a:solidFill>
                <a:latin typeface="Consolas"/>
              </a:rPr>
              <a:t>&lt;title</a:t>
            </a:r>
            <a:r>
              <a:rPr sz="1514" b="0">
                <a:solidFill>
                  <a:srgbClr val="E06C75"/>
                </a:solidFill>
                <a:latin typeface="Consolas"/>
              </a:rPr>
              <a:t>&gt;</a:t>
            </a:r>
            <a:r>
              <a:rPr sz="1514" b="0">
                <a:solidFill>
                  <a:srgbClr val="E6E6E6"/>
                </a:solidFill>
                <a:latin typeface="Consolas"/>
              </a:rPr>
              <a:t>Kutubxona</a:t>
            </a:r>
          </a:p>
          <a:p>
            <a:pPr>
              <a:lnSpc>
                <a:spcPct val="100000"/>
              </a:lnSpc>
            </a:pPr>
            <a:r>
              <a:rPr sz="1514" b="0">
                <a:solidFill>
                  <a:srgbClr val="E06C75"/>
                </a:solidFill>
                <a:latin typeface="Consolas"/>
              </a:rPr>
              <a:t>&lt;/head</a:t>
            </a:r>
            <a:r>
              <a:rPr sz="151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514" b="0">
                <a:solidFill>
                  <a:srgbClr val="E06C75"/>
                </a:solidFill>
                <a:latin typeface="Consolas"/>
              </a:rPr>
              <a:t>&lt;body</a:t>
            </a:r>
            <a:r>
              <a:rPr sz="151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514" b="0">
                <a:solidFill>
                  <a:srgbClr val="E6E6E6"/>
                </a:solidFill>
                <a:latin typeface="Consolas"/>
              </a:rPr>
              <a:t>  </a:t>
            </a:r>
            <a:r>
              <a:rPr sz="1514" b="0">
                <a:solidFill>
                  <a:srgbClr val="E06C75"/>
                </a:solidFill>
                <a:latin typeface="Consolas"/>
              </a:rPr>
              <a:t>&lt;h1</a:t>
            </a:r>
            <a:r>
              <a:rPr sz="1514" b="0">
                <a:solidFill>
                  <a:srgbClr val="E06C75"/>
                </a:solidFill>
                <a:latin typeface="Consolas"/>
              </a:rPr>
              <a:t>&gt;</a:t>
            </a:r>
            <a:r>
              <a:rPr sz="1514" b="0">
                <a:solidFill>
                  <a:srgbClr val="E6E6E6"/>
                </a:solidFill>
                <a:latin typeface="Consolas"/>
              </a:rPr>
              <a:t>Kitoblarimiz</a:t>
            </a:r>
            <a:r>
              <a:rPr sz="1514" b="0">
                <a:solidFill>
                  <a:srgbClr val="E06C75"/>
                </a:solidFill>
                <a:latin typeface="Consolas"/>
              </a:rPr>
              <a:t>&lt;/h1</a:t>
            </a:r>
            <a:r>
              <a:rPr sz="151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514" b="0">
                <a:solidFill>
                  <a:srgbClr val="E6E6E6"/>
                </a:solidFill>
                <a:latin typeface="Consolas"/>
              </a:rPr>
              <a:t>  </a:t>
            </a:r>
            <a:r>
              <a:rPr sz="1514" b="0">
                <a:solidFill>
                  <a:srgbClr val="E06C75"/>
                </a:solidFill>
                <a:latin typeface="Consolas"/>
              </a:rPr>
              <a:t>&lt;img</a:t>
            </a:r>
            <a:r>
              <a:rPr sz="1514" b="0">
                <a:solidFill>
                  <a:srgbClr val="E6E6E6"/>
                </a:solidFill>
                <a:latin typeface="Consolas"/>
              </a:rPr>
              <a:t> src=</a:t>
            </a:r>
            <a:r>
              <a:rPr sz="1514" b="0">
                <a:solidFill>
                  <a:srgbClr val="98C379"/>
                </a:solidFill>
                <a:latin typeface="Consolas"/>
              </a:rPr>
              <a:t>"rasmlar/kitob.jpg"</a:t>
            </a:r>
            <a:r>
              <a:rPr sz="151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514" b="0">
                <a:solidFill>
                  <a:srgbClr val="E6E6E6"/>
                </a:solidFill>
                <a:latin typeface="Consolas"/>
              </a:rPr>
              <a:t>  </a:t>
            </a:r>
            <a:r>
              <a:rPr sz="1514" b="0">
                <a:solidFill>
                  <a:srgbClr val="E06C75"/>
                </a:solidFill>
                <a:latin typeface="Consolas"/>
              </a:rPr>
              <a:t>&lt;ul</a:t>
            </a:r>
            <a:r>
              <a:rPr sz="151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514" b="0">
                <a:solidFill>
                  <a:srgbClr val="E6E6E6"/>
                </a:solidFill>
                <a:latin typeface="Consolas"/>
              </a:rPr>
              <a:t>    </a:t>
            </a:r>
            <a:r>
              <a:rPr sz="1514" b="0">
                <a:solidFill>
                  <a:srgbClr val="E06C75"/>
                </a:solidFill>
                <a:latin typeface="Consolas"/>
              </a:rPr>
              <a:t>&lt;li</a:t>
            </a:r>
            <a:r>
              <a:rPr sz="1514" b="0">
                <a:solidFill>
                  <a:srgbClr val="E06C75"/>
                </a:solidFill>
                <a:latin typeface="Consolas"/>
              </a:rPr>
              <a:t>&gt;</a:t>
            </a:r>
            <a:r>
              <a:rPr sz="1514" b="0">
                <a:solidFill>
                  <a:srgbClr val="E6E6E6"/>
                </a:solidFill>
                <a:latin typeface="Consolas"/>
              </a:rPr>
              <a:t>O'tkan kunlar</a:t>
            </a:r>
            <a:r>
              <a:rPr sz="1514" b="0">
                <a:solidFill>
                  <a:srgbClr val="E06C75"/>
                </a:solidFill>
                <a:latin typeface="Consolas"/>
              </a:rPr>
              <a:t>&lt;/li</a:t>
            </a:r>
            <a:r>
              <a:rPr sz="151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514" b="0">
                <a:solidFill>
                  <a:srgbClr val="E6E6E6"/>
                </a:solidFill>
                <a:latin typeface="Consolas"/>
              </a:rPr>
              <a:t>    </a:t>
            </a:r>
            <a:r>
              <a:rPr sz="1514" b="0">
                <a:solidFill>
                  <a:srgbClr val="E06C75"/>
                </a:solidFill>
                <a:latin typeface="Consolas"/>
              </a:rPr>
              <a:t>&lt;li</a:t>
            </a:r>
            <a:r>
              <a:rPr sz="1514" b="0">
                <a:solidFill>
                  <a:srgbClr val="E06C75"/>
                </a:solidFill>
                <a:latin typeface="Consolas"/>
              </a:rPr>
              <a:t>&gt;</a:t>
            </a:r>
            <a:r>
              <a:rPr sz="1514" b="0">
                <a:solidFill>
                  <a:srgbClr val="E6E6E6"/>
                </a:solidFill>
                <a:latin typeface="Consolas"/>
              </a:rPr>
              <a:t>Mehrobdan chayon</a:t>
            </a:r>
          </a:p>
          <a:p>
            <a:pPr>
              <a:lnSpc>
                <a:spcPct val="100000"/>
              </a:lnSpc>
            </a:pPr>
            <a:r>
              <a:rPr sz="1514" b="0">
                <a:solidFill>
                  <a:srgbClr val="E6E6E6"/>
                </a:solidFill>
                <a:latin typeface="Consolas"/>
              </a:rPr>
              <a:t>  </a:t>
            </a:r>
            <a:r>
              <a:rPr sz="1514" b="0">
                <a:solidFill>
                  <a:srgbClr val="E06C75"/>
                </a:solidFill>
                <a:latin typeface="Consolas"/>
              </a:rPr>
              <a:t>&lt;/ul</a:t>
            </a:r>
            <a:r>
              <a:rPr sz="151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514" b="0">
                <a:solidFill>
                  <a:srgbClr val="E6E6E6"/>
                </a:solidFill>
                <a:latin typeface="Consolas"/>
              </a:rPr>
              <a:t>  </a:t>
            </a:r>
            <a:r>
              <a:rPr sz="1514" b="0">
                <a:solidFill>
                  <a:srgbClr val="E06C75"/>
                </a:solidFill>
                <a:latin typeface="Consolas"/>
              </a:rPr>
              <a:t>&lt;a</a:t>
            </a:r>
            <a:r>
              <a:rPr sz="1514" b="0">
                <a:solidFill>
                  <a:srgbClr val="E6E6E6"/>
                </a:solidFill>
                <a:latin typeface="Consolas"/>
              </a:rPr>
              <a:t> href=</a:t>
            </a:r>
            <a:r>
              <a:rPr sz="1514" b="0">
                <a:solidFill>
                  <a:srgbClr val="98C379"/>
                </a:solidFill>
                <a:latin typeface="Consolas"/>
              </a:rPr>
              <a:t>"www.kitob.uz"</a:t>
            </a:r>
            <a:r>
              <a:rPr sz="1514" b="0">
                <a:solidFill>
                  <a:srgbClr val="E06C75"/>
                </a:solidFill>
                <a:latin typeface="Consolas"/>
              </a:rPr>
              <a:t>&gt;</a:t>
            </a:r>
            <a:r>
              <a:rPr sz="1514" b="0">
                <a:solidFill>
                  <a:srgbClr val="E6E6E6"/>
                </a:solidFill>
                <a:latin typeface="Consolas"/>
              </a:rPr>
              <a:t>Kitob do'koni</a:t>
            </a:r>
            <a:r>
              <a:rPr sz="1514" b="0">
                <a:solidFill>
                  <a:srgbClr val="E06C75"/>
                </a:solidFill>
                <a:latin typeface="Consolas"/>
              </a:rPr>
              <a:t>&lt;/a</a:t>
            </a:r>
            <a:r>
              <a:rPr sz="151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514" b="0">
                <a:solidFill>
                  <a:srgbClr val="E6E6E6"/>
                </a:solidFill>
                <a:latin typeface="Consolas"/>
              </a:rPr>
              <a:t>  </a:t>
            </a:r>
            <a:r>
              <a:rPr sz="1514" b="0">
                <a:solidFill>
                  <a:srgbClr val="E06C75"/>
                </a:solidFill>
                <a:latin typeface="Consolas"/>
              </a:rPr>
              <a:t>&lt;p</a:t>
            </a:r>
            <a:r>
              <a:rPr sz="1514" b="0">
                <a:solidFill>
                  <a:srgbClr val="E06C75"/>
                </a:solidFill>
                <a:latin typeface="Consolas"/>
              </a:rPr>
              <a:t>&gt;</a:t>
            </a:r>
            <a:r>
              <a:rPr sz="1514" b="0">
                <a:solidFill>
                  <a:srgbClr val="E06C75"/>
                </a:solidFill>
                <a:latin typeface="Consolas"/>
              </a:rPr>
              <a:t>&lt;strong</a:t>
            </a:r>
            <a:r>
              <a:rPr sz="1514" b="0">
                <a:solidFill>
                  <a:srgbClr val="E06C75"/>
                </a:solidFill>
                <a:latin typeface="Consolas"/>
              </a:rPr>
              <a:t>&gt;</a:t>
            </a:r>
            <a:r>
              <a:rPr sz="1514" b="0">
                <a:solidFill>
                  <a:srgbClr val="E6E6E6"/>
                </a:solidFill>
                <a:latin typeface="Consolas"/>
              </a:rPr>
              <a:t>Telefon:</a:t>
            </a:r>
            <a:r>
              <a:rPr sz="1514" b="0">
                <a:solidFill>
                  <a:srgbClr val="E06C75"/>
                </a:solidFill>
                <a:latin typeface="Consolas"/>
              </a:rPr>
              <a:t>&lt;/p</a:t>
            </a:r>
            <a:r>
              <a:rPr sz="1514" b="0">
                <a:solidFill>
                  <a:srgbClr val="E06C75"/>
                </a:solidFill>
                <a:latin typeface="Consolas"/>
              </a:rPr>
              <a:t>&gt;</a:t>
            </a:r>
            <a:r>
              <a:rPr sz="1514" b="0">
                <a:solidFill>
                  <a:srgbClr val="E06C75"/>
                </a:solidFill>
                <a:latin typeface="Consolas"/>
              </a:rPr>
              <a:t>&lt;/strong</a:t>
            </a:r>
            <a:r>
              <a:rPr sz="151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514" b="0">
                <a:solidFill>
                  <a:srgbClr val="E06C75"/>
                </a:solidFill>
                <a:latin typeface="Consolas"/>
              </a:rPr>
              <a:t>&lt;/body</a:t>
            </a:r>
            <a:r>
              <a:rPr sz="1514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8836" y="1417320"/>
            <a:ext cx="4951476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&lt;/title&gt;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yopilmagan</a:t>
            </a:r>
          </a:p>
        </p:txBody>
      </p:sp>
      <p:sp>
        <p:nvSpPr>
          <p:cNvPr id="11" name="Oval 10"/>
          <p:cNvSpPr/>
          <p:nvPr/>
        </p:nvSpPr>
        <p:spPr>
          <a:xfrm>
            <a:off x="6387084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8836" y="2026412"/>
            <a:ext cx="4951476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img</a:t>
            </a:r>
            <a:r>
              <a:rPr sz="2800" b="0">
                <a:solidFill>
                  <a:srgbClr val="1F232B"/>
                </a:solidFill>
                <a:latin typeface="Calibri"/>
              </a:rPr>
              <a:t> da </a:t>
            </a:r>
            <a:r>
              <a:rPr sz="2576" b="0">
                <a:solidFill>
                  <a:srgbClr val="B02A4A"/>
                </a:solidFill>
                <a:latin typeface="Consolas"/>
              </a:rPr>
              <a:t>alt</a:t>
            </a:r>
            <a:r>
              <a:rPr sz="2800" b="0">
                <a:solidFill>
                  <a:srgbClr val="1F232B"/>
                </a:solidFill>
                <a:latin typeface="Calibri"/>
              </a:rPr>
              <a:t> yo'q</a:t>
            </a:r>
          </a:p>
        </p:txBody>
      </p:sp>
      <p:sp>
        <p:nvSpPr>
          <p:cNvPr id="13" name="Oval 12"/>
          <p:cNvSpPr/>
          <p:nvPr/>
        </p:nvSpPr>
        <p:spPr>
          <a:xfrm>
            <a:off x="6387084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8836" y="2635504"/>
            <a:ext cx="4951476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2-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&lt;li&gt;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yopilmagan</a:t>
            </a:r>
          </a:p>
        </p:txBody>
      </p:sp>
      <p:sp>
        <p:nvSpPr>
          <p:cNvPr id="15" name="Oval 14"/>
          <p:cNvSpPr/>
          <p:nvPr/>
        </p:nvSpPr>
        <p:spPr>
          <a:xfrm>
            <a:off x="6387084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8836" y="3244596"/>
            <a:ext cx="4951476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href</a:t>
            </a:r>
            <a:r>
              <a:rPr sz="2800" b="0">
                <a:solidFill>
                  <a:srgbClr val="1F232B"/>
                </a:solidFill>
                <a:latin typeface="Calibri"/>
              </a:rPr>
              <a:t> da </a:t>
            </a:r>
            <a:r>
              <a:rPr sz="2576" b="0">
                <a:solidFill>
                  <a:srgbClr val="B02A4A"/>
                </a:solidFill>
                <a:latin typeface="Consolas"/>
              </a:rPr>
              <a:t>https://</a:t>
            </a:r>
            <a:r>
              <a:rPr sz="2800" b="0">
                <a:solidFill>
                  <a:srgbClr val="1F232B"/>
                </a:solidFill>
                <a:latin typeface="Calibri"/>
              </a:rPr>
              <a:t> yo'q</a:t>
            </a:r>
          </a:p>
        </p:txBody>
      </p:sp>
      <p:sp>
        <p:nvSpPr>
          <p:cNvPr id="17" name="Oval 16"/>
          <p:cNvSpPr/>
          <p:nvPr/>
        </p:nvSpPr>
        <p:spPr>
          <a:xfrm>
            <a:off x="6387084" y="34046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88836" y="3853688"/>
            <a:ext cx="4951476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strong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p</a:t>
            </a:r>
            <a:r>
              <a:rPr sz="2800" b="0">
                <a:solidFill>
                  <a:srgbClr val="1F232B"/>
                </a:solidFill>
                <a:latin typeface="Calibri"/>
              </a:rPr>
              <a:t> noto'g'ri tartibda yopilgan</a:t>
            </a:r>
          </a:p>
        </p:txBody>
      </p:sp>
      <p:sp>
        <p:nvSpPr>
          <p:cNvPr id="19" name="Oval 18"/>
          <p:cNvSpPr/>
          <p:nvPr/>
        </p:nvSpPr>
        <p:spPr>
          <a:xfrm>
            <a:off x="6387084" y="401370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88836" y="4907280"/>
            <a:ext cx="4951476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⭐ Bonus: </a:t>
            </a:r>
            <a:r>
              <a:rPr sz="2576" b="0">
                <a:solidFill>
                  <a:srgbClr val="B02A4A"/>
                </a:solidFill>
                <a:latin typeface="Consolas"/>
              </a:rPr>
              <a:t>meta charset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viewport</a:t>
            </a:r>
            <a:r>
              <a:rPr sz="2800" b="0">
                <a:solidFill>
                  <a:srgbClr val="1F232B"/>
                </a:solidFill>
                <a:latin typeface="Calibri"/>
              </a:rPr>
              <a:t> yo'q</a:t>
            </a:r>
          </a:p>
        </p:txBody>
      </p:sp>
      <p:sp>
        <p:nvSpPr>
          <p:cNvPr id="21" name="Oval 20"/>
          <p:cNvSpPr/>
          <p:nvPr/>
        </p:nvSpPr>
        <p:spPr>
          <a:xfrm>
            <a:off x="6387084" y="506730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3-topshiriq: forma yarating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27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4828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"Olimpiadaga ro'yxatdan o'tish": ism (majburiy), sinf (</a:t>
            </a:r>
            <a:r>
              <a:rPr sz="2576" b="0">
                <a:solidFill>
                  <a:srgbClr val="B02A4A"/>
                </a:solidFill>
                <a:latin typeface="Consolas"/>
              </a:rPr>
              <a:t>select</a:t>
            </a:r>
            <a:r>
              <a:rPr sz="2800" b="0">
                <a:solidFill>
                  <a:srgbClr val="1F232B"/>
                </a:solidFill>
                <a:latin typeface="Calibri"/>
              </a:rPr>
              <a:t>), fan (</a:t>
            </a:r>
            <a:r>
              <a:rPr sz="2576" b="0">
                <a:solidFill>
                  <a:srgbClr val="B02A4A"/>
                </a:solidFill>
                <a:latin typeface="Consolas"/>
              </a:rPr>
              <a:t>radio</a:t>
            </a:r>
            <a:r>
              <a:rPr sz="2800" b="0">
                <a:solidFill>
                  <a:srgbClr val="1F232B"/>
                </a:solidFill>
                <a:latin typeface="Calibri"/>
              </a:rPr>
              <a:t>), email, izoh, tugma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62484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518420"/>
            <a:ext cx="11091672" cy="341152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732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47604"/>
            <a:ext cx="10725912" cy="306404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73" b="0">
                <a:solidFill>
                  <a:srgbClr val="E06C75"/>
                </a:solidFill>
                <a:latin typeface="Consolas"/>
              </a:rPr>
              <a:t>&lt;form</a:t>
            </a:r>
            <a:r>
              <a:rPr sz="1773" b="0">
                <a:solidFill>
                  <a:srgbClr val="E6E6E6"/>
                </a:solidFill>
                <a:latin typeface="Consolas"/>
              </a:rPr>
              <a:t> action=</a:t>
            </a:r>
            <a:r>
              <a:rPr sz="1773" b="0">
                <a:solidFill>
                  <a:srgbClr val="98C379"/>
                </a:solidFill>
                <a:latin typeface="Consolas"/>
              </a:rPr>
              <a:t>"/olimpiada"</a:t>
            </a:r>
            <a:r>
              <a:rPr sz="1773" b="0">
                <a:solidFill>
                  <a:srgbClr val="E6E6E6"/>
                </a:solidFill>
                <a:latin typeface="Consolas"/>
              </a:rPr>
              <a:t> method=</a:t>
            </a:r>
            <a:r>
              <a:rPr sz="1773" b="0">
                <a:solidFill>
                  <a:srgbClr val="98C379"/>
                </a:solidFill>
                <a:latin typeface="Consolas"/>
              </a:rPr>
              <a:t>"POST"</a:t>
            </a:r>
            <a:r>
              <a:rPr sz="177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73" b="0">
                <a:solidFill>
                  <a:srgbClr val="E6E6E6"/>
                </a:solidFill>
                <a:latin typeface="Consolas"/>
              </a:rPr>
              <a:t>  </a:t>
            </a:r>
            <a:r>
              <a:rPr sz="1773" b="0">
                <a:solidFill>
                  <a:srgbClr val="E06C75"/>
                </a:solidFill>
                <a:latin typeface="Consolas"/>
              </a:rPr>
              <a:t>&lt;label</a:t>
            </a:r>
            <a:r>
              <a:rPr sz="1773" b="0">
                <a:solidFill>
                  <a:srgbClr val="E6E6E6"/>
                </a:solidFill>
                <a:latin typeface="Consolas"/>
              </a:rPr>
              <a:t> for=</a:t>
            </a:r>
            <a:r>
              <a:rPr sz="1773" b="0">
                <a:solidFill>
                  <a:srgbClr val="98C379"/>
                </a:solidFill>
                <a:latin typeface="Consolas"/>
              </a:rPr>
              <a:t>"ism"</a:t>
            </a:r>
            <a:r>
              <a:rPr sz="1773" b="0">
                <a:solidFill>
                  <a:srgbClr val="E06C75"/>
                </a:solidFill>
                <a:latin typeface="Consolas"/>
              </a:rPr>
              <a:t>&gt;</a:t>
            </a:r>
            <a:r>
              <a:rPr sz="1773" b="0">
                <a:solidFill>
                  <a:srgbClr val="E6E6E6"/>
                </a:solidFill>
                <a:latin typeface="Consolas"/>
              </a:rPr>
              <a:t>To'liq ism</a:t>
            </a:r>
            <a:r>
              <a:rPr sz="1773" b="0">
                <a:solidFill>
                  <a:srgbClr val="E06C75"/>
                </a:solidFill>
                <a:latin typeface="Consolas"/>
              </a:rPr>
              <a:t>&lt;/label</a:t>
            </a:r>
            <a:r>
              <a:rPr sz="177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73" b="0">
                <a:solidFill>
                  <a:srgbClr val="E6E6E6"/>
                </a:solidFill>
                <a:latin typeface="Consolas"/>
              </a:rPr>
              <a:t>  </a:t>
            </a:r>
            <a:r>
              <a:rPr sz="1773" b="0">
                <a:solidFill>
                  <a:srgbClr val="E06C75"/>
                </a:solidFill>
                <a:latin typeface="Consolas"/>
              </a:rPr>
              <a:t>&lt;input</a:t>
            </a:r>
            <a:r>
              <a:rPr sz="1773" b="0">
                <a:solidFill>
                  <a:srgbClr val="E6E6E6"/>
                </a:solidFill>
                <a:latin typeface="Consolas"/>
              </a:rPr>
              <a:t> type=</a:t>
            </a:r>
            <a:r>
              <a:rPr sz="1773" b="0">
                <a:solidFill>
                  <a:srgbClr val="98C379"/>
                </a:solidFill>
                <a:latin typeface="Consolas"/>
              </a:rPr>
              <a:t>"text"</a:t>
            </a:r>
            <a:r>
              <a:rPr sz="1773" b="0">
                <a:solidFill>
                  <a:srgbClr val="E6E6E6"/>
                </a:solidFill>
                <a:latin typeface="Consolas"/>
              </a:rPr>
              <a:t> id=</a:t>
            </a:r>
            <a:r>
              <a:rPr sz="1773" b="0">
                <a:solidFill>
                  <a:srgbClr val="98C379"/>
                </a:solidFill>
                <a:latin typeface="Consolas"/>
              </a:rPr>
              <a:t>"ism"</a:t>
            </a:r>
            <a:r>
              <a:rPr sz="1773" b="0">
                <a:solidFill>
                  <a:srgbClr val="E6E6E6"/>
                </a:solidFill>
                <a:latin typeface="Consolas"/>
              </a:rPr>
              <a:t> name=</a:t>
            </a:r>
            <a:r>
              <a:rPr sz="1773" b="0">
                <a:solidFill>
                  <a:srgbClr val="98C379"/>
                </a:solidFill>
                <a:latin typeface="Consolas"/>
              </a:rPr>
              <a:t>"ism"</a:t>
            </a:r>
            <a:r>
              <a:rPr sz="1773" b="0">
                <a:solidFill>
                  <a:srgbClr val="E6E6E6"/>
                </a:solidFill>
                <a:latin typeface="Consolas"/>
              </a:rPr>
              <a:t> required</a:t>
            </a:r>
            <a:r>
              <a:rPr sz="177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73" b="0">
                <a:solidFill>
                  <a:srgbClr val="E6E6E6"/>
                </a:solidFill>
                <a:latin typeface="Consolas"/>
              </a:rPr>
              <a:t>  </a:t>
            </a:r>
            <a:r>
              <a:rPr sz="1773" b="0">
                <a:solidFill>
                  <a:srgbClr val="E06C75"/>
                </a:solidFill>
                <a:latin typeface="Consolas"/>
              </a:rPr>
              <a:t>&lt;label</a:t>
            </a:r>
            <a:r>
              <a:rPr sz="1773" b="0">
                <a:solidFill>
                  <a:srgbClr val="E6E6E6"/>
                </a:solidFill>
                <a:latin typeface="Consolas"/>
              </a:rPr>
              <a:t> for=</a:t>
            </a:r>
            <a:r>
              <a:rPr sz="1773" b="0">
                <a:solidFill>
                  <a:srgbClr val="98C379"/>
                </a:solidFill>
                <a:latin typeface="Consolas"/>
              </a:rPr>
              <a:t>"sinf"</a:t>
            </a:r>
            <a:r>
              <a:rPr sz="1773" b="0">
                <a:solidFill>
                  <a:srgbClr val="E06C75"/>
                </a:solidFill>
                <a:latin typeface="Consolas"/>
              </a:rPr>
              <a:t>&gt;</a:t>
            </a:r>
            <a:r>
              <a:rPr sz="1773" b="0">
                <a:solidFill>
                  <a:srgbClr val="E6E6E6"/>
                </a:solidFill>
                <a:latin typeface="Consolas"/>
              </a:rPr>
              <a:t>Sinf</a:t>
            </a:r>
            <a:r>
              <a:rPr sz="1773" b="0">
                <a:solidFill>
                  <a:srgbClr val="E06C75"/>
                </a:solidFill>
                <a:latin typeface="Consolas"/>
              </a:rPr>
              <a:t>&lt;/label</a:t>
            </a:r>
            <a:r>
              <a:rPr sz="177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73" b="0">
                <a:solidFill>
                  <a:srgbClr val="E6E6E6"/>
                </a:solidFill>
                <a:latin typeface="Consolas"/>
              </a:rPr>
              <a:t>  </a:t>
            </a:r>
            <a:r>
              <a:rPr sz="1773" b="0">
                <a:solidFill>
                  <a:srgbClr val="E06C75"/>
                </a:solidFill>
                <a:latin typeface="Consolas"/>
              </a:rPr>
              <a:t>&lt;select</a:t>
            </a:r>
            <a:r>
              <a:rPr sz="1773" b="0">
                <a:solidFill>
                  <a:srgbClr val="E6E6E6"/>
                </a:solidFill>
                <a:latin typeface="Consolas"/>
              </a:rPr>
              <a:t> id=</a:t>
            </a:r>
            <a:r>
              <a:rPr sz="1773" b="0">
                <a:solidFill>
                  <a:srgbClr val="98C379"/>
                </a:solidFill>
                <a:latin typeface="Consolas"/>
              </a:rPr>
              <a:t>"sinf"</a:t>
            </a:r>
            <a:r>
              <a:rPr sz="1773" b="0">
                <a:solidFill>
                  <a:srgbClr val="E6E6E6"/>
                </a:solidFill>
                <a:latin typeface="Consolas"/>
              </a:rPr>
              <a:t> name=</a:t>
            </a:r>
            <a:r>
              <a:rPr sz="1773" b="0">
                <a:solidFill>
                  <a:srgbClr val="98C379"/>
                </a:solidFill>
                <a:latin typeface="Consolas"/>
              </a:rPr>
              <a:t>"sinf"</a:t>
            </a:r>
            <a:r>
              <a:rPr sz="1773" b="0">
                <a:solidFill>
                  <a:srgbClr val="E06C75"/>
                </a:solidFill>
                <a:latin typeface="Consolas"/>
              </a:rPr>
              <a:t>&gt;</a:t>
            </a:r>
            <a:r>
              <a:rPr sz="1773" b="0">
                <a:solidFill>
                  <a:srgbClr val="E06C75"/>
                </a:solidFill>
                <a:latin typeface="Consolas"/>
              </a:rPr>
              <a:t>&lt;option</a:t>
            </a:r>
            <a:r>
              <a:rPr sz="1773" b="0">
                <a:solidFill>
                  <a:srgbClr val="E06C75"/>
                </a:solidFill>
                <a:latin typeface="Consolas"/>
              </a:rPr>
              <a:t>&gt;</a:t>
            </a:r>
            <a:r>
              <a:rPr sz="1773" b="0">
                <a:solidFill>
                  <a:srgbClr val="E6E6E6"/>
                </a:solidFill>
                <a:latin typeface="Consolas"/>
              </a:rPr>
              <a:t>7</a:t>
            </a:r>
            <a:r>
              <a:rPr sz="1773" b="0">
                <a:solidFill>
                  <a:srgbClr val="E06C75"/>
                </a:solidFill>
                <a:latin typeface="Consolas"/>
              </a:rPr>
              <a:t>&lt;/option</a:t>
            </a:r>
            <a:r>
              <a:rPr sz="1773" b="0">
                <a:solidFill>
                  <a:srgbClr val="E06C75"/>
                </a:solidFill>
                <a:latin typeface="Consolas"/>
              </a:rPr>
              <a:t>&gt;</a:t>
            </a:r>
            <a:r>
              <a:rPr sz="1773" b="0">
                <a:solidFill>
                  <a:srgbClr val="E06C75"/>
                </a:solidFill>
                <a:latin typeface="Consolas"/>
              </a:rPr>
              <a:t>&lt;option</a:t>
            </a:r>
            <a:r>
              <a:rPr sz="1773" b="0">
                <a:solidFill>
                  <a:srgbClr val="E06C75"/>
                </a:solidFill>
                <a:latin typeface="Consolas"/>
              </a:rPr>
              <a:t>&gt;</a:t>
            </a:r>
            <a:r>
              <a:rPr sz="1773" b="0">
                <a:solidFill>
                  <a:srgbClr val="E6E6E6"/>
                </a:solidFill>
                <a:latin typeface="Consolas"/>
              </a:rPr>
              <a:t>8</a:t>
            </a:r>
            <a:r>
              <a:rPr sz="1773" b="0">
                <a:solidFill>
                  <a:srgbClr val="E06C75"/>
                </a:solidFill>
                <a:latin typeface="Consolas"/>
              </a:rPr>
              <a:t>&lt;/option</a:t>
            </a:r>
            <a:r>
              <a:rPr sz="1773" b="0">
                <a:solidFill>
                  <a:srgbClr val="E06C75"/>
                </a:solidFill>
                <a:latin typeface="Consolas"/>
              </a:rPr>
              <a:t>&gt;</a:t>
            </a:r>
            <a:r>
              <a:rPr sz="1773" b="0">
                <a:solidFill>
                  <a:srgbClr val="E06C75"/>
                </a:solidFill>
                <a:latin typeface="Consolas"/>
              </a:rPr>
              <a:t>&lt;/select</a:t>
            </a:r>
            <a:r>
              <a:rPr sz="177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73" b="0">
                <a:solidFill>
                  <a:srgbClr val="E6E6E6"/>
                </a:solidFill>
                <a:latin typeface="Consolas"/>
              </a:rPr>
              <a:t>  </a:t>
            </a:r>
            <a:r>
              <a:rPr sz="1773" b="0">
                <a:solidFill>
                  <a:srgbClr val="E06C75"/>
                </a:solidFill>
                <a:latin typeface="Consolas"/>
              </a:rPr>
              <a:t>&lt;label</a:t>
            </a:r>
            <a:r>
              <a:rPr sz="1773" b="0">
                <a:solidFill>
                  <a:srgbClr val="E06C75"/>
                </a:solidFill>
                <a:latin typeface="Consolas"/>
              </a:rPr>
              <a:t>&gt;</a:t>
            </a:r>
            <a:r>
              <a:rPr sz="1773" b="0">
                <a:solidFill>
                  <a:srgbClr val="E06C75"/>
                </a:solidFill>
                <a:latin typeface="Consolas"/>
              </a:rPr>
              <a:t>&lt;input</a:t>
            </a:r>
            <a:r>
              <a:rPr sz="1773" b="0">
                <a:solidFill>
                  <a:srgbClr val="E6E6E6"/>
                </a:solidFill>
                <a:latin typeface="Consolas"/>
              </a:rPr>
              <a:t> type=</a:t>
            </a:r>
            <a:r>
              <a:rPr sz="1773" b="0">
                <a:solidFill>
                  <a:srgbClr val="98C379"/>
                </a:solidFill>
                <a:latin typeface="Consolas"/>
              </a:rPr>
              <a:t>"radio"</a:t>
            </a:r>
            <a:r>
              <a:rPr sz="1773" b="0">
                <a:solidFill>
                  <a:srgbClr val="E6E6E6"/>
                </a:solidFill>
                <a:latin typeface="Consolas"/>
              </a:rPr>
              <a:t> name=</a:t>
            </a:r>
            <a:r>
              <a:rPr sz="1773" b="0">
                <a:solidFill>
                  <a:srgbClr val="98C379"/>
                </a:solidFill>
                <a:latin typeface="Consolas"/>
              </a:rPr>
              <a:t>"fan"</a:t>
            </a:r>
            <a:r>
              <a:rPr sz="1773" b="0">
                <a:solidFill>
                  <a:srgbClr val="E6E6E6"/>
                </a:solidFill>
                <a:latin typeface="Consolas"/>
              </a:rPr>
              <a:t> value=</a:t>
            </a:r>
            <a:r>
              <a:rPr sz="1773" b="0">
                <a:solidFill>
                  <a:srgbClr val="98C379"/>
                </a:solidFill>
                <a:latin typeface="Consolas"/>
              </a:rPr>
              <a:t>"info"</a:t>
            </a:r>
            <a:r>
              <a:rPr sz="1773" b="0">
                <a:solidFill>
                  <a:srgbClr val="E06C75"/>
                </a:solidFill>
                <a:latin typeface="Consolas"/>
              </a:rPr>
              <a:t>&gt;</a:t>
            </a:r>
            <a:r>
              <a:rPr sz="1773" b="0">
                <a:solidFill>
                  <a:srgbClr val="E6E6E6"/>
                </a:solidFill>
                <a:latin typeface="Consolas"/>
              </a:rPr>
              <a:t> Informatika</a:t>
            </a:r>
            <a:r>
              <a:rPr sz="1773" b="0">
                <a:solidFill>
                  <a:srgbClr val="E06C75"/>
                </a:solidFill>
                <a:latin typeface="Consolas"/>
              </a:rPr>
              <a:t>&lt;/label</a:t>
            </a:r>
            <a:r>
              <a:rPr sz="177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73" b="0">
                <a:solidFill>
                  <a:srgbClr val="E6E6E6"/>
                </a:solidFill>
                <a:latin typeface="Consolas"/>
              </a:rPr>
              <a:t>  </a:t>
            </a:r>
            <a:r>
              <a:rPr sz="1773" b="0">
                <a:solidFill>
                  <a:srgbClr val="E06C75"/>
                </a:solidFill>
                <a:latin typeface="Consolas"/>
              </a:rPr>
              <a:t>&lt;label</a:t>
            </a:r>
            <a:r>
              <a:rPr sz="1773" b="0">
                <a:solidFill>
                  <a:srgbClr val="E06C75"/>
                </a:solidFill>
                <a:latin typeface="Consolas"/>
              </a:rPr>
              <a:t>&gt;</a:t>
            </a:r>
            <a:r>
              <a:rPr sz="1773" b="0">
                <a:solidFill>
                  <a:srgbClr val="E06C75"/>
                </a:solidFill>
                <a:latin typeface="Consolas"/>
              </a:rPr>
              <a:t>&lt;input</a:t>
            </a:r>
            <a:r>
              <a:rPr sz="1773" b="0">
                <a:solidFill>
                  <a:srgbClr val="E6E6E6"/>
                </a:solidFill>
                <a:latin typeface="Consolas"/>
              </a:rPr>
              <a:t> type=</a:t>
            </a:r>
            <a:r>
              <a:rPr sz="1773" b="0">
                <a:solidFill>
                  <a:srgbClr val="98C379"/>
                </a:solidFill>
                <a:latin typeface="Consolas"/>
              </a:rPr>
              <a:t>"radio"</a:t>
            </a:r>
            <a:r>
              <a:rPr sz="1773" b="0">
                <a:solidFill>
                  <a:srgbClr val="E6E6E6"/>
                </a:solidFill>
                <a:latin typeface="Consolas"/>
              </a:rPr>
              <a:t> name=</a:t>
            </a:r>
            <a:r>
              <a:rPr sz="1773" b="0">
                <a:solidFill>
                  <a:srgbClr val="98C379"/>
                </a:solidFill>
                <a:latin typeface="Consolas"/>
              </a:rPr>
              <a:t>"fan"</a:t>
            </a:r>
            <a:r>
              <a:rPr sz="1773" b="0">
                <a:solidFill>
                  <a:srgbClr val="E6E6E6"/>
                </a:solidFill>
                <a:latin typeface="Consolas"/>
              </a:rPr>
              <a:t> value=</a:t>
            </a:r>
            <a:r>
              <a:rPr sz="1773" b="0">
                <a:solidFill>
                  <a:srgbClr val="98C379"/>
                </a:solidFill>
                <a:latin typeface="Consolas"/>
              </a:rPr>
              <a:t>"fiz"</a:t>
            </a:r>
            <a:r>
              <a:rPr sz="1773" b="0">
                <a:solidFill>
                  <a:srgbClr val="E06C75"/>
                </a:solidFill>
                <a:latin typeface="Consolas"/>
              </a:rPr>
              <a:t>&gt;</a:t>
            </a:r>
            <a:r>
              <a:rPr sz="1773" b="0">
                <a:solidFill>
                  <a:srgbClr val="E6E6E6"/>
                </a:solidFill>
                <a:latin typeface="Consolas"/>
              </a:rPr>
              <a:t> Fizika</a:t>
            </a:r>
            <a:r>
              <a:rPr sz="1773" b="0">
                <a:solidFill>
                  <a:srgbClr val="E06C75"/>
                </a:solidFill>
                <a:latin typeface="Consolas"/>
              </a:rPr>
              <a:t>&lt;/label</a:t>
            </a:r>
            <a:r>
              <a:rPr sz="177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73" b="0">
                <a:solidFill>
                  <a:srgbClr val="E6E6E6"/>
                </a:solidFill>
                <a:latin typeface="Consolas"/>
              </a:rPr>
              <a:t>  </a:t>
            </a:r>
            <a:r>
              <a:rPr sz="1773" b="0">
                <a:solidFill>
                  <a:srgbClr val="E06C75"/>
                </a:solidFill>
                <a:latin typeface="Consolas"/>
              </a:rPr>
              <a:t>&lt;input</a:t>
            </a:r>
            <a:r>
              <a:rPr sz="1773" b="0">
                <a:solidFill>
                  <a:srgbClr val="E6E6E6"/>
                </a:solidFill>
                <a:latin typeface="Consolas"/>
              </a:rPr>
              <a:t> type=</a:t>
            </a:r>
            <a:r>
              <a:rPr sz="1773" b="0">
                <a:solidFill>
                  <a:srgbClr val="98C379"/>
                </a:solidFill>
                <a:latin typeface="Consolas"/>
              </a:rPr>
              <a:t>"email"</a:t>
            </a:r>
            <a:r>
              <a:rPr sz="1773" b="0">
                <a:solidFill>
                  <a:srgbClr val="E6E6E6"/>
                </a:solidFill>
                <a:latin typeface="Consolas"/>
              </a:rPr>
              <a:t> name=</a:t>
            </a:r>
            <a:r>
              <a:rPr sz="1773" b="0">
                <a:solidFill>
                  <a:srgbClr val="98C379"/>
                </a:solidFill>
                <a:latin typeface="Consolas"/>
              </a:rPr>
              <a:t>"email"</a:t>
            </a:r>
            <a:r>
              <a:rPr sz="1773" b="0">
                <a:solidFill>
                  <a:srgbClr val="E6E6E6"/>
                </a:solidFill>
                <a:latin typeface="Consolas"/>
              </a:rPr>
              <a:t> required</a:t>
            </a:r>
            <a:r>
              <a:rPr sz="177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73" b="0">
                <a:solidFill>
                  <a:srgbClr val="E6E6E6"/>
                </a:solidFill>
                <a:latin typeface="Consolas"/>
              </a:rPr>
              <a:t>  </a:t>
            </a:r>
            <a:r>
              <a:rPr sz="1773" b="0">
                <a:solidFill>
                  <a:srgbClr val="E06C75"/>
                </a:solidFill>
                <a:latin typeface="Consolas"/>
              </a:rPr>
              <a:t>&lt;button</a:t>
            </a:r>
            <a:r>
              <a:rPr sz="1773" b="0">
                <a:solidFill>
                  <a:srgbClr val="E6E6E6"/>
                </a:solidFill>
                <a:latin typeface="Consolas"/>
              </a:rPr>
              <a:t> type=</a:t>
            </a:r>
            <a:r>
              <a:rPr sz="1773" b="0">
                <a:solidFill>
                  <a:srgbClr val="98C379"/>
                </a:solidFill>
                <a:latin typeface="Consolas"/>
              </a:rPr>
              <a:t>"submit"</a:t>
            </a:r>
            <a:r>
              <a:rPr sz="1773" b="0">
                <a:solidFill>
                  <a:srgbClr val="E06C75"/>
                </a:solidFill>
                <a:latin typeface="Consolas"/>
              </a:rPr>
              <a:t>&gt;</a:t>
            </a:r>
            <a:r>
              <a:rPr sz="1773" b="0">
                <a:solidFill>
                  <a:srgbClr val="E6E6E6"/>
                </a:solidFill>
                <a:latin typeface="Consolas"/>
              </a:rPr>
              <a:t>Yuborish</a:t>
            </a:r>
            <a:r>
              <a:rPr sz="1773" b="0">
                <a:solidFill>
                  <a:srgbClr val="E06C75"/>
                </a:solidFill>
                <a:latin typeface="Consolas"/>
              </a:rPr>
              <a:t>&lt;/button</a:t>
            </a:r>
            <a:r>
              <a:rPr sz="177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73" b="0">
                <a:solidFill>
                  <a:srgbClr val="E06C75"/>
                </a:solidFill>
                <a:latin typeface="Consolas"/>
              </a:rPr>
              <a:t>&lt;/form</a:t>
            </a:r>
            <a:r>
              <a:rPr sz="1773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4–5-topshiriqlar: Flexbox va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28 /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2808693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4: Flex header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246122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7" b="0">
                <a:solidFill>
                  <a:srgbClr val="E6E6E6"/>
                </a:solidFill>
                <a:latin typeface="Consolas"/>
              </a:rPr>
              <a:t>.header {</a:t>
            </a:r>
          </a:p>
          <a:p>
            <a:pPr>
              <a:lnSpc>
                <a:spcPct val="100000"/>
              </a:lnSpc>
            </a:pPr>
            <a:r>
              <a:rPr sz="1767" b="0">
                <a:solidFill>
                  <a:srgbClr val="E6E6E6"/>
                </a:solidFill>
                <a:latin typeface="Consolas"/>
              </a:rPr>
              <a:t>  display: flex;</a:t>
            </a:r>
          </a:p>
          <a:p>
            <a:pPr>
              <a:lnSpc>
                <a:spcPct val="100000"/>
              </a:lnSpc>
            </a:pPr>
            <a:r>
              <a:rPr sz="1767" b="0">
                <a:solidFill>
                  <a:srgbClr val="E6E6E6"/>
                </a:solidFill>
                <a:latin typeface="Consolas"/>
              </a:rPr>
              <a:t>  justify-content: space-between;</a:t>
            </a:r>
          </a:p>
          <a:p>
            <a:pPr>
              <a:lnSpc>
                <a:spcPct val="100000"/>
              </a:lnSpc>
            </a:pPr>
            <a:r>
              <a:rPr sz="1767" b="0">
                <a:solidFill>
                  <a:srgbClr val="E6E6E6"/>
                </a:solidFill>
                <a:latin typeface="Consolas"/>
              </a:rPr>
              <a:t>  align-items: center;</a:t>
            </a:r>
          </a:p>
          <a:p>
            <a:pPr>
              <a:lnSpc>
                <a:spcPct val="100000"/>
              </a:lnSpc>
            </a:pPr>
            <a:r>
              <a:rPr sz="1767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767" b="0">
                <a:solidFill>
                  <a:srgbClr val="E6E6E6"/>
                </a:solidFill>
                <a:latin typeface="Consolas"/>
              </a:rPr>
              <a:t>.menyu { display: flex; gap: 24px; }</a:t>
            </a:r>
          </a:p>
          <a:p>
            <a:pPr>
              <a:lnSpc>
                <a:spcPct val="100000"/>
              </a:lnSpc>
            </a:pPr>
            <a:r>
              <a:rPr sz="1767" b="0">
                <a:solidFill>
                  <a:srgbClr val="E6E6E6"/>
                </a:solidFill>
                <a:latin typeface="Consolas"/>
              </a:rPr>
              <a:t>.menyu a { transition: color .3s; }</a:t>
            </a:r>
          </a:p>
          <a:p>
            <a:pPr>
              <a:lnSpc>
                <a:spcPct val="100000"/>
              </a:lnSpc>
            </a:pPr>
            <a:r>
              <a:rPr sz="1767" b="0">
                <a:solidFill>
                  <a:srgbClr val="E6E6E6"/>
                </a:solidFill>
                <a:latin typeface="Consolas"/>
              </a:rPr>
              <a:t>.menyu a:hover { color: #fbbf24;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7356" y="1417320"/>
            <a:ext cx="5362956" cy="3414916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0236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5: Responsiv kartalar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0236" y="1746504"/>
            <a:ext cx="4997196" cy="30674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79" b="0">
                <a:solidFill>
                  <a:srgbClr val="E6E6E6"/>
                </a:solidFill>
                <a:latin typeface="Consolas"/>
              </a:rPr>
              <a:t>.kartalar {</a:t>
            </a:r>
          </a:p>
          <a:p>
            <a:pPr>
              <a:lnSpc>
                <a:spcPct val="100000"/>
              </a:lnSpc>
            </a:pPr>
            <a:r>
              <a:rPr sz="1479" b="0">
                <a:solidFill>
                  <a:srgbClr val="E6E6E6"/>
                </a:solidFill>
                <a:latin typeface="Consolas"/>
              </a:rPr>
              <a:t>  display: grid;</a:t>
            </a:r>
          </a:p>
          <a:p>
            <a:pPr>
              <a:lnSpc>
                <a:spcPct val="100000"/>
              </a:lnSpc>
            </a:pPr>
            <a:r>
              <a:rPr sz="1479" b="0">
                <a:solidFill>
                  <a:srgbClr val="E6E6E6"/>
                </a:solidFill>
                <a:latin typeface="Consolas"/>
              </a:rPr>
              <a:t>  grid-template-columns: repeat(3, 1fr);</a:t>
            </a:r>
          </a:p>
          <a:p>
            <a:pPr>
              <a:lnSpc>
                <a:spcPct val="100000"/>
              </a:lnSpc>
            </a:pPr>
            <a:r>
              <a:rPr sz="1479" b="0">
                <a:solidFill>
                  <a:srgbClr val="E6E6E6"/>
                </a:solidFill>
                <a:latin typeface="Consolas"/>
              </a:rPr>
              <a:t>  gap: 20px;</a:t>
            </a:r>
          </a:p>
          <a:p>
            <a:pPr>
              <a:lnSpc>
                <a:spcPct val="100000"/>
              </a:lnSpc>
            </a:pPr>
            <a:r>
              <a:rPr sz="1479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479" b="0">
                <a:solidFill>
                  <a:srgbClr val="E6E6E6"/>
                </a:solidFill>
                <a:latin typeface="Consolas"/>
              </a:rPr>
              <a:t>.karta {</a:t>
            </a:r>
          </a:p>
          <a:p>
            <a:pPr>
              <a:lnSpc>
                <a:spcPct val="100000"/>
              </a:lnSpc>
            </a:pPr>
            <a:r>
              <a:rPr sz="1479" b="0">
                <a:solidFill>
                  <a:srgbClr val="E6E6E6"/>
                </a:solidFill>
                <a:latin typeface="Consolas"/>
              </a:rPr>
              <a:t>  border-radius: 14px;</a:t>
            </a:r>
          </a:p>
          <a:p>
            <a:pPr>
              <a:lnSpc>
                <a:spcPct val="100000"/>
              </a:lnSpc>
            </a:pPr>
            <a:r>
              <a:rPr sz="1479" b="0">
                <a:solidFill>
                  <a:srgbClr val="E6E6E6"/>
                </a:solidFill>
                <a:latin typeface="Consolas"/>
              </a:rPr>
              <a:t>  box-shadow: 0 6px 18px rgba(0,0,0,.1);</a:t>
            </a:r>
          </a:p>
          <a:p>
            <a:pPr>
              <a:lnSpc>
                <a:spcPct val="100000"/>
              </a:lnSpc>
            </a:pPr>
            <a:r>
              <a:rPr sz="1479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479" b="0">
                <a:solidFill>
                  <a:srgbClr val="E6E6E6"/>
                </a:solidFill>
                <a:latin typeface="Consolas"/>
              </a:rPr>
              <a:t>@media (max-width: 768px) {</a:t>
            </a:r>
          </a:p>
          <a:p>
            <a:pPr>
              <a:lnSpc>
                <a:spcPct val="100000"/>
              </a:lnSpc>
            </a:pPr>
            <a:r>
              <a:rPr sz="1479" b="0">
                <a:solidFill>
                  <a:srgbClr val="E6E6E6"/>
                </a:solidFill>
                <a:latin typeface="Consolas"/>
              </a:rPr>
              <a:t>  .kartalar { grid-template-columns: 1fr; }</a:t>
            </a:r>
          </a:p>
          <a:p>
            <a:pPr>
              <a:lnSpc>
                <a:spcPct val="100000"/>
              </a:lnSpc>
            </a:pPr>
            <a:r>
              <a:rPr sz="1479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Baholash shkalasi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29 / 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8137"/>
          <a:ext cx="1109167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78638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Ball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Tavsiya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86–100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A'lo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II bobga tayyorsiz!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71–85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Yaxshi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Xato qilgan mavzularni qayta ko'ring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60–70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Qoniqarli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Amaliy topshiriqlarni qayta bajaring (8, 10-mavzular)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0–59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Qoniqarsiz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Mentor bilan qo'shimcha mashg'ulot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Nazoratga tayyorgarlik maslahatlari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30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Saytdagi 14-mavzu sahifasida </a:t>
            </a:r>
            <a:r>
              <a:rPr sz="2800" b="1">
                <a:solidFill>
                  <a:srgbClr val="1F232B"/>
                </a:solidFill>
                <a:latin typeface="Calibri"/>
              </a:rPr>
              <a:t>25 ta testni</a:t>
            </a:r>
            <a:r>
              <a:rPr sz="2800" b="0">
                <a:solidFill>
                  <a:srgbClr val="1F232B"/>
                </a:solidFill>
                <a:latin typeface="Calibri"/>
              </a:rPr>
              <a:t> yechib, natijani ko'ring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Xato qilgan mavzu sahifasini </a:t>
            </a:r>
            <a:r>
              <a:rPr sz="2800" b="1">
                <a:solidFill>
                  <a:srgbClr val="1F232B"/>
                </a:solidFill>
                <a:latin typeface="Calibri"/>
              </a:rPr>
              <a:t>qayta o'qing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Forma, Flexbox header, Grid kartalarni </a:t>
            </a:r>
            <a:r>
              <a:rPr sz="2800" b="1">
                <a:solidFill>
                  <a:srgbClr val="1F232B"/>
                </a:solidFill>
                <a:latin typeface="Calibri"/>
              </a:rPr>
              <a:t>qo'lda</a:t>
            </a:r>
            <a:r>
              <a:rPr sz="2800" b="0">
                <a:solidFill>
                  <a:srgbClr val="1F232B"/>
                </a:solidFill>
                <a:latin typeface="Calibri"/>
              </a:rPr>
              <a:t> (nusxasiz) yozib mashq qiling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33595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Kodni yozgach </a:t>
            </a:r>
            <a:r>
              <a:rPr sz="2800" b="1">
                <a:solidFill>
                  <a:srgbClr val="1F232B"/>
                </a:solidFill>
                <a:latin typeface="Calibri"/>
              </a:rPr>
              <a:t>brauzerda tekshiring</a:t>
            </a:r>
            <a:r>
              <a:rPr sz="2800" b="0">
                <a:solidFill>
                  <a:srgbClr val="1F232B"/>
                </a:solidFill>
                <a:latin typeface="Calibri"/>
              </a:rPr>
              <a:t>: F12 → Console xatolarsiz bo'lsin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9361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🎉 I bob yakunlandi!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14-mavzu · Yakuniy nazorat ishi — I bob (HTML va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31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78654"/>
            <a:ext cx="11091672" cy="156337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E2552B"/>
                </a:solidFill>
                <a:latin typeface="Calibri"/>
              </a:rPr>
              <a:t>Siz endi semantik, chiroyli, animatsiyali va moslashuvchan sahifalar yarata olasiz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5175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Kodni </a:t>
            </a:r>
            <a:r>
              <a:rPr sz="2800" b="1">
                <a:solidFill>
                  <a:srgbClr val="1F232B"/>
                </a:solidFill>
                <a:latin typeface="Calibri"/>
              </a:rPr>
              <a:t>GitHub</a:t>
            </a:r>
            <a:r>
              <a:rPr sz="2800" b="0">
                <a:solidFill>
                  <a:srgbClr val="1F232B"/>
                </a:solidFill>
                <a:latin typeface="Calibri"/>
              </a:rPr>
              <a:t>'da saqlaysiz, </a:t>
            </a:r>
            <a:r>
              <a:rPr sz="2800" b="1">
                <a:solidFill>
                  <a:srgbClr val="1F232B"/>
                </a:solidFill>
                <a:latin typeface="Calibri"/>
              </a:rPr>
              <a:t>Netlify/Vercel</a:t>
            </a:r>
            <a:r>
              <a:rPr sz="2800" b="0">
                <a:solidFill>
                  <a:srgbClr val="1F232B"/>
                </a:solidFill>
                <a:latin typeface="Calibri"/>
              </a:rPr>
              <a:t>'ga joylaysiz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61177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6084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Keyingi bob:</a:t>
            </a:r>
            <a:r>
              <a:rPr sz="2800" b="0">
                <a:solidFill>
                  <a:srgbClr val="1F232B"/>
                </a:solidFill>
                <a:latin typeface="Calibri"/>
              </a:rPr>
              <a:t> sahifalarga "jon" beramiz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JavaScript</a:t>
            </a:r>
            <a:r>
              <a:rPr sz="2800" b="0">
                <a:solidFill>
                  <a:srgbClr val="1F232B"/>
                </a:solidFill>
                <a:latin typeface="Calibri"/>
              </a:rPr>
              <a:t>!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22086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15. JavaScript'ga kirish. O'zgaruvchilar va ma'lumot turlari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14-mavzu: Yakuniy nazorat ishi — I bob (HTML va CSS)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