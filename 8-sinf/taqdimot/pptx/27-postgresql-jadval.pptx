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NUMERIC(12,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SERIAL.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ALTER TABLE ... ADD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VARCHAR(20).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27-MAVZU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PostgreSQL bilan tanishish. Jadval yaratish va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PostgreSQL va pgAdmin'ni o'rnatish, psql konsoli, ma'lumotlar bazasi yaratish, CREATE TABLE, asosiy ma'lumot turlari (INTEGER, NUMERIC, VARCHAR, TEXT, BOOLEAN, DATE, TIMESTAMP), SERIAL, ALTER TABLE va DROP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PostgreSQL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pgAdmin</a:t>
            </a:r>
            <a:r>
              <a:rPr sz="2800" b="0">
                <a:solidFill>
                  <a:srgbClr val="1F232B"/>
                </a:solidFill>
                <a:latin typeface="Calibri"/>
              </a:rPr>
              <a:t>'ni o'rnatish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Yangi ma'lumotlar bazasi yaratish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CREATE TABLE</a:t>
            </a:r>
            <a:r>
              <a:rPr sz="2800" b="0">
                <a:solidFill>
                  <a:srgbClr val="1F232B"/>
                </a:solidFill>
                <a:latin typeface="Calibri"/>
              </a:rPr>
              <a:t> va ustun </a:t>
            </a:r>
            <a:r>
              <a:rPr sz="2800" b="1">
                <a:solidFill>
                  <a:srgbClr val="1F232B"/>
                </a:solidFill>
                <a:latin typeface="Calibri"/>
              </a:rPr>
              <a:t>turlarini</a:t>
            </a:r>
            <a:r>
              <a:rPr sz="2800" b="0">
                <a:solidFill>
                  <a:srgbClr val="1F232B"/>
                </a:solidFill>
                <a:latin typeface="Calibri"/>
              </a:rPr>
              <a:t> to'g'ri tanlash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Cheklovlar: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PRIMARY KEY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NOT NULL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UNIQUE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CHECK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REFERENCES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Jadvalni o'zgartirish (</a:t>
            </a:r>
            <a:r>
              <a:rPr sz="2576" b="0">
                <a:solidFill>
                  <a:srgbClr val="B02A4A"/>
                </a:solidFill>
                <a:latin typeface="Consolas"/>
              </a:rPr>
              <a:t>ALTER</a:t>
            </a:r>
            <a:r>
              <a:rPr sz="2800" b="0">
                <a:solidFill>
                  <a:srgbClr val="1F232B"/>
                </a:solidFill>
                <a:latin typeface="Calibri"/>
              </a:rPr>
              <a:t>) va o'chirish (</a:t>
            </a:r>
            <a:r>
              <a:rPr sz="2576" b="0">
                <a:solidFill>
                  <a:srgbClr val="B02A4A"/>
                </a:solidFill>
                <a:latin typeface="Consolas"/>
              </a:rPr>
              <a:t>DROP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PostgreSQL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2F6FAD"/>
                </a:solidFill>
                <a:latin typeface="Calibri"/>
              </a:rPr>
              <a:t>PostgreSQL 🐘 — eng ishonchli bepul, ochiq kodli relyatsion DBMS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41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Apple, Instagram, Spotify, Reddit ishlatadi; 35+ yillik tarix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25043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9951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Server</a:t>
            </a:r>
            <a:r>
              <a:rPr sz="2800" b="0">
                <a:solidFill>
                  <a:srgbClr val="1F232B"/>
                </a:solidFill>
                <a:latin typeface="Calibri"/>
              </a:rPr>
              <a:t> sifatida fonda ishlaydi — dasturlar unga ulanib SQL yuboradi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5953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53102"/>
            <a:ext cx="11091672" cy="101838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0796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82286"/>
            <a:ext cx="10725912" cy="67091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🖥️ pgAdmin / psql  ── SQL so'rov ──▶  🐘 PostgreSQL server  ──▶  🗄️ Bazalar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(siz yozasiz)                          (port 5432)              maktab, dokon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O'rnatish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postgresql.org/download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installer (EDB)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Komponentlar: </a:t>
            </a:r>
            <a:r>
              <a:rPr sz="2800" b="1">
                <a:solidFill>
                  <a:srgbClr val="1F232B"/>
                </a:solidFill>
                <a:latin typeface="Calibri"/>
              </a:rPr>
              <a:t>Server, pgAdmin 4, Command Line Tools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postgres</a:t>
            </a:r>
            <a:r>
              <a:rPr sz="2800" b="0">
                <a:solidFill>
                  <a:srgbClr val="1F232B"/>
                </a:solidFill>
                <a:latin typeface="Calibri"/>
              </a:rPr>
              <a:t> foydalanuvchisi </a:t>
            </a:r>
            <a:r>
              <a:rPr sz="2800" b="1">
                <a:solidFill>
                  <a:srgbClr val="1F232B"/>
                </a:solidFill>
                <a:latin typeface="Calibri"/>
              </a:rPr>
              <a:t>parolini yozib qo'ying!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Port: </a:t>
            </a:r>
            <a:r>
              <a:rPr sz="2800" b="1">
                <a:solidFill>
                  <a:srgbClr val="1F232B"/>
                </a:solidFill>
                <a:latin typeface="Calibri"/>
              </a:rPr>
              <a:t>5432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o'zgartirmang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23944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23944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15384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O'rnatib bo'lmasa: </a:t>
            </a:r>
            <a:r>
              <a:rPr sz="2660" b="1">
                <a:solidFill>
                  <a:srgbClr val="1F232B"/>
                </a:solidFill>
                <a:latin typeface="Calibri"/>
              </a:rPr>
              <a:t>db-fiddle.com</a:t>
            </a:r>
            <a:r>
              <a:rPr sz="2660" b="0">
                <a:solidFill>
                  <a:srgbClr val="1F232B"/>
                </a:solidFill>
                <a:latin typeface="Calibri"/>
              </a:rPr>
              <a:t> (PostgreSQL) yoki </a:t>
            </a:r>
            <a:r>
              <a:rPr sz="2660" b="1">
                <a:solidFill>
                  <a:srgbClr val="1F232B"/>
                </a:solidFill>
                <a:latin typeface="Calibri"/>
              </a:rPr>
              <a:t>onecompiler.com/postgresql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brauzerda ishlaydi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pgAdmin va psql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pgAdmin → </a:t>
            </a:r>
            <a:r>
              <a:rPr sz="2800" b="1">
                <a:solidFill>
                  <a:srgbClr val="1F232B"/>
                </a:solidFill>
                <a:latin typeface="Calibri"/>
              </a:rPr>
              <a:t>Servers → PostgreSQL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parol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Databases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o'ng tugma → </a:t>
            </a:r>
            <a:r>
              <a:rPr sz="2800" b="1">
                <a:solidFill>
                  <a:srgbClr val="1F232B"/>
                </a:solidFill>
                <a:latin typeface="Calibri"/>
              </a:rPr>
              <a:t>Create → Database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maktab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Query Tool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SQL yozing → </a:t>
            </a:r>
            <a:r>
              <a:rPr sz="2800" b="1">
                <a:solidFill>
                  <a:srgbClr val="1F232B"/>
                </a:solidFill>
                <a:latin typeface="Calibri"/>
              </a:rPr>
              <a:t>F5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bajaring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47288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CREATE</a:t>
            </a:r>
            <a:r>
              <a:rPr sz="1904" b="0">
                <a:solidFill>
                  <a:srgbClr val="E6E6E6"/>
                </a:solidFill>
                <a:latin typeface="Consolas"/>
              </a:rPr>
              <a:t> DATABASE maktab;   -- baza yaratish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\l                        -- bazalar ro'yxati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\c maktab                 -- bazaga o'tish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\dt                       -- jadvallar ro'yxati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\d oquvchilar             -- jadval tuzilmasi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\q                        -- chiqish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SQL yozish qoidalari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buyruq </a:t>
            </a:r>
            <a:r>
              <a:rPr sz="2576" b="0">
                <a:solidFill>
                  <a:srgbClr val="B02A4A"/>
                </a:solidFill>
                <a:latin typeface="Consolas"/>
              </a:rPr>
              <a:t>;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tugaydi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Kalit so'zlar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KATTA</a:t>
            </a:r>
            <a:r>
              <a:rPr sz="2800" b="0">
                <a:solidFill>
                  <a:srgbClr val="1F232B"/>
                </a:solidFill>
                <a:latin typeface="Calibri"/>
              </a:rPr>
              <a:t>, nomlar — kichik (odat)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Matn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bitta</a:t>
            </a:r>
            <a:r>
              <a:rPr sz="2800" b="0">
                <a:solidFill>
                  <a:srgbClr val="1F232B"/>
                </a:solidFill>
                <a:latin typeface="Calibri"/>
              </a:rPr>
              <a:t> qo'shtirnoqda: </a:t>
            </a:r>
            <a:r>
              <a:rPr sz="2576" b="0">
                <a:solidFill>
                  <a:srgbClr val="B02A4A"/>
                </a:solidFill>
                <a:latin typeface="Consolas"/>
              </a:rPr>
              <a:t>'Ali'</a:t>
            </a:r>
            <a:r>
              <a:rPr sz="2800" b="0">
                <a:solidFill>
                  <a:srgbClr val="1F232B"/>
                </a:solidFill>
                <a:latin typeface="Calibri"/>
              </a:rPr>
              <a:t>; apostrof ikkilantiriladi: </a:t>
            </a:r>
            <a:r>
              <a:rPr sz="2576" b="0">
                <a:solidFill>
                  <a:srgbClr val="B02A4A"/>
                </a:solidFill>
                <a:latin typeface="Consolas"/>
              </a:rPr>
              <a:t>'O''zbekiston'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Izoh: </a:t>
            </a:r>
            <a:r>
              <a:rPr sz="2576" b="0">
                <a:solidFill>
                  <a:srgbClr val="B02A4A"/>
                </a:solidFill>
                <a:latin typeface="Consolas"/>
              </a:rPr>
              <a:t>-- bir qator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/* ko'p qator */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Nomlar: kichik lotin + pastki chiziq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tugilgan_sana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Ma'lumot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69161"/>
          <a:ext cx="11091672" cy="386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527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Nima uchun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527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INTEGER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SMALLINT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Butun son / kichik son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14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baho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527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SERIAL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Avtomatik 1, 2, 3... —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id uchun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27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NUMERIC(10, 2)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Aniq o'nlik —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pul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12500.50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527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VARCHAR(n)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Cheklangan / cheksiz matn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ism / maqola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27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BOOLEAN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Rost / yolg'on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527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DATE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Sana / sana va vaqt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'2012-03-15'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Turni to'g'ri tanlash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149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Pul</a:t>
            </a:r>
            <a:r>
              <a:rPr sz="2800" b="0">
                <a:solidFill>
                  <a:srgbClr val="1F232B"/>
                </a:solidFill>
                <a:latin typeface="Calibri"/>
              </a:rPr>
              <a:t>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REAL</a:t>
            </a:r>
            <a:r>
              <a:rPr sz="2800" b="0">
                <a:solidFill>
                  <a:srgbClr val="1F232B"/>
                </a:solidFill>
                <a:latin typeface="Calibri"/>
              </a:rPr>
              <a:t> emas, </a:t>
            </a:r>
            <a:r>
              <a:rPr sz="2576" b="0">
                <a:solidFill>
                  <a:srgbClr val="B02A4A"/>
                </a:solidFill>
                <a:latin typeface="Consolas"/>
              </a:rPr>
              <a:t>NUMERIC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kasr sonlar aniq saqlanmaydi: 0.1 + 0.2 ≠ 0.3!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9151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508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Telefon</a:t>
            </a:r>
            <a:r>
              <a:rPr sz="2800" b="0">
                <a:solidFill>
                  <a:srgbClr val="1F232B"/>
                </a:solidFill>
                <a:latin typeface="Calibri"/>
              </a:rPr>
              <a:t>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INTEGER</a:t>
            </a:r>
            <a:r>
              <a:rPr sz="2800" b="0">
                <a:solidFill>
                  <a:srgbClr val="1F232B"/>
                </a:solidFill>
                <a:latin typeface="Calibri"/>
              </a:rPr>
              <a:t> emas, </a:t>
            </a:r>
            <a:r>
              <a:rPr sz="2576" b="0">
                <a:solidFill>
                  <a:srgbClr val="B02A4A"/>
                </a:solidFill>
                <a:latin typeface="Consolas"/>
              </a:rPr>
              <a:t>VARCHAR(20)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+</a:t>
            </a:r>
            <a:r>
              <a:rPr sz="2800" b="0">
                <a:solidFill>
                  <a:srgbClr val="1F232B"/>
                </a:solidFill>
                <a:latin typeface="Calibri"/>
              </a:rPr>
              <a:t> belgisi va boshidagi 0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94510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3867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Sana</a:t>
            </a:r>
            <a:r>
              <a:rPr sz="2800" b="0">
                <a:solidFill>
                  <a:srgbClr val="1F232B"/>
                </a:solidFill>
                <a:latin typeface="Calibri"/>
              </a:rPr>
              <a:t>ni matn qilib saqlamang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DATE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solishtirish va hisoblash mumkin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99869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CREATE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CREATE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TABLE</a:t>
            </a:r>
            <a:r>
              <a:rPr sz="1360" b="0">
                <a:solidFill>
                  <a:srgbClr val="E6E6E6"/>
                </a:solidFill>
                <a:latin typeface="Consolas"/>
              </a:rPr>
              <a:t> sinflar (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id  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SERIAL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KEY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nomi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360" b="0">
                <a:solidFill>
                  <a:srgbClr val="E6E6E6"/>
                </a:solidFill>
                <a:latin typeface="Consolas"/>
              </a:rPr>
              <a:t>(10) </a:t>
            </a:r>
            <a:r>
              <a:rPr sz="1360" b="0">
                <a:solidFill>
                  <a:srgbClr val="C678DD"/>
                </a:solidFill>
                <a:latin typeface="Consolas"/>
              </a:rPr>
              <a:t>NOT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NULL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UNIQUE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sinf_rahbari  </a:t>
            </a:r>
            <a:r>
              <a:rPr sz="136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360" b="0">
                <a:solidFill>
                  <a:srgbClr val="E6E6E6"/>
                </a:solidFill>
                <a:latin typeface="Consolas"/>
              </a:rPr>
              <a:t>(100),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xona          SMALLINT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CREATE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TABLE</a:t>
            </a:r>
            <a:r>
              <a:rPr sz="1360" b="0">
                <a:solidFill>
                  <a:srgbClr val="E6E6E6"/>
                </a:solidFill>
                <a:latin typeface="Consolas"/>
              </a:rPr>
              <a:t> oquvchilar (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id   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SERIAL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KEY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ism  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360" b="0">
                <a:solidFill>
                  <a:srgbClr val="E6E6E6"/>
                </a:solidFill>
                <a:latin typeface="Consolas"/>
              </a:rPr>
              <a:t>(50) </a:t>
            </a:r>
            <a:r>
              <a:rPr sz="1360" b="0">
                <a:solidFill>
                  <a:srgbClr val="C678DD"/>
                </a:solidFill>
                <a:latin typeface="Consolas"/>
              </a:rPr>
              <a:t>NOT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NULL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familiya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360" b="0">
                <a:solidFill>
                  <a:srgbClr val="E6E6E6"/>
                </a:solidFill>
                <a:latin typeface="Consolas"/>
              </a:rPr>
              <a:t>(50) </a:t>
            </a:r>
            <a:r>
              <a:rPr sz="1360" b="0">
                <a:solidFill>
                  <a:srgbClr val="C678DD"/>
                </a:solidFill>
                <a:latin typeface="Consolas"/>
              </a:rPr>
              <a:t>NOT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NULL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tugilgan_sana  </a:t>
            </a:r>
            <a:r>
              <a:rPr sz="1360" b="0">
                <a:solidFill>
                  <a:srgbClr val="C678DD"/>
                </a:solidFill>
                <a:latin typeface="Consolas"/>
              </a:rPr>
              <a:t>DATE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telefon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360" b="0">
                <a:solidFill>
                  <a:srgbClr val="E6E6E6"/>
                </a:solidFill>
                <a:latin typeface="Consolas"/>
              </a:rPr>
              <a:t>(20),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email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360" b="0">
                <a:solidFill>
                  <a:srgbClr val="E6E6E6"/>
                </a:solidFill>
                <a:latin typeface="Consolas"/>
              </a:rPr>
              <a:t>(100) </a:t>
            </a:r>
            <a:r>
              <a:rPr sz="1360" b="0">
                <a:solidFill>
                  <a:srgbClr val="C678DD"/>
                </a:solidFill>
                <a:latin typeface="Consolas"/>
              </a:rPr>
              <a:t>UNIQUE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alochi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BOOLEAN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360" b="0">
                <a:solidFill>
                  <a:srgbClr val="E6E6E6"/>
                </a:solidFill>
                <a:latin typeface="Consolas"/>
              </a:rPr>
              <a:t> FALSE,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sinf_id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1360" b="0">
                <a:solidFill>
                  <a:srgbClr val="E6E6E6"/>
                </a:solidFill>
                <a:latin typeface="Consolas"/>
              </a:rPr>
              <a:t> sinflar(id),   -- tashqi kalit!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yaratilgan     TIMESTAMP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360" b="0">
                <a:solidFill>
                  <a:srgbClr val="E6E6E6"/>
                </a:solidFill>
                <a:latin typeface="Consolas"/>
              </a:rPr>
              <a:t> NOW()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Cheklovlar (constraints)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31391"/>
          <a:ext cx="11091672" cy="351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Cheklov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PRIMARY KEY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Noyob va bo'sh emas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NOT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Majburiy maydon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UNIQUE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Takrorlanmas (bir xil email bo'lmaydi)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DEFAULT qiymat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Berilmasa — shu qo'yiladi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CHECK (shart)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CHECK (baho BETWEEN 2 AND 5)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REFERENCES t(u)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Tashqi kalit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baholar jadvali va 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2221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08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1405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CREATE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TABLE</a:t>
            </a:r>
            <a:r>
              <a:rPr sz="1632" b="0">
                <a:solidFill>
                  <a:srgbClr val="E6E6E6"/>
                </a:solidFill>
                <a:latin typeface="Consolas"/>
              </a:rPr>
              <a:t> baholar (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id  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SERIAL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PRIMARY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KEY</a:t>
            </a:r>
            <a:r>
              <a:rPr sz="163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oquvchi_id  </a:t>
            </a:r>
            <a:r>
              <a:rPr sz="1632" b="0">
                <a:solidFill>
                  <a:srgbClr val="C678DD"/>
                </a:solidFill>
                <a:latin typeface="Consolas"/>
              </a:rPr>
              <a:t>INTEGER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NOT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NULL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1632" b="0">
                <a:solidFill>
                  <a:srgbClr val="E6E6E6"/>
                </a:solidFill>
                <a:latin typeface="Consolas"/>
              </a:rPr>
              <a:t> oquvchilar(id) </a:t>
            </a:r>
            <a:r>
              <a:rPr sz="1632" b="0">
                <a:solidFill>
                  <a:srgbClr val="C678DD"/>
                </a:solidFill>
                <a:latin typeface="Consolas"/>
              </a:rPr>
              <a:t>ON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DELETE</a:t>
            </a:r>
            <a:r>
              <a:rPr sz="1632" b="0">
                <a:solidFill>
                  <a:srgbClr val="E6E6E6"/>
                </a:solidFill>
                <a:latin typeface="Consolas"/>
              </a:rPr>
              <a:t> CASCADE,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fan 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632" b="0">
                <a:solidFill>
                  <a:srgbClr val="E6E6E6"/>
                </a:solidFill>
                <a:latin typeface="Consolas"/>
              </a:rPr>
              <a:t>(50) </a:t>
            </a:r>
            <a:r>
              <a:rPr sz="1632" b="0">
                <a:solidFill>
                  <a:srgbClr val="C678DD"/>
                </a:solidFill>
                <a:latin typeface="Consolas"/>
              </a:rPr>
              <a:t>NOT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NULL</a:t>
            </a:r>
            <a:r>
              <a:rPr sz="163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baho        SMALLINT </a:t>
            </a:r>
            <a:r>
              <a:rPr sz="1632" b="0">
                <a:solidFill>
                  <a:srgbClr val="C678DD"/>
                </a:solidFill>
                <a:latin typeface="Consolas"/>
              </a:rPr>
              <a:t>NOT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NULL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CHECK</a:t>
            </a:r>
            <a:r>
              <a:rPr sz="1632" b="0">
                <a:solidFill>
                  <a:srgbClr val="E6E6E6"/>
                </a:solidFill>
                <a:latin typeface="Consolas"/>
              </a:rPr>
              <a:t> (baho </a:t>
            </a:r>
            <a:r>
              <a:rPr sz="1632" b="0">
                <a:solidFill>
                  <a:srgbClr val="C678DD"/>
                </a:solidFill>
                <a:latin typeface="Consolas"/>
              </a:rPr>
              <a:t>BETWEEN</a:t>
            </a:r>
            <a:r>
              <a:rPr sz="1632" b="0">
                <a:solidFill>
                  <a:srgbClr val="E6E6E6"/>
                </a:solidFill>
                <a:latin typeface="Consolas"/>
              </a:rPr>
              <a:t> 2 </a:t>
            </a:r>
            <a:r>
              <a:rPr sz="1632" b="0">
                <a:solidFill>
                  <a:srgbClr val="C678DD"/>
                </a:solidFill>
                <a:latin typeface="Consolas"/>
              </a:rPr>
              <a:t>AND</a:t>
            </a:r>
            <a:r>
              <a:rPr sz="1632" b="0">
                <a:solidFill>
                  <a:srgbClr val="E6E6E6"/>
                </a:solidFill>
                <a:latin typeface="Consolas"/>
              </a:rPr>
              <a:t> 5),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sana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DATE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NOT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NULL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DEFAULT</a:t>
            </a:r>
            <a:r>
              <a:rPr sz="1632" b="0">
                <a:solidFill>
                  <a:srgbClr val="E6E6E6"/>
                </a:solidFill>
                <a:latin typeface="Consolas"/>
              </a:rPr>
              <a:t> CURRENT_DATE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35708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ON DELETE CASCADE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o'quvchi o'chirilsa, baholari ham o'chadi (yetim yozuv qolmaydi)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17286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962300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962300"/>
            <a:ext cx="82296" cy="97993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53740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9" b="0">
                <a:solidFill>
                  <a:srgbClr val="1F232B"/>
                </a:solidFill>
                <a:latin typeface="Calibri"/>
              </a:rPr>
              <a:t>Tartib: avval </a:t>
            </a:r>
            <a:r>
              <a:rPr sz="2097" b="0">
                <a:solidFill>
                  <a:srgbClr val="B02A4A"/>
                </a:solidFill>
                <a:latin typeface="Consolas"/>
              </a:rPr>
              <a:t>sinflar</a:t>
            </a:r>
            <a:r>
              <a:rPr sz="2279" b="0">
                <a:solidFill>
                  <a:srgbClr val="1F232B"/>
                </a:solidFill>
                <a:latin typeface="Calibri"/>
              </a:rPr>
              <a:t>, keyin </a:t>
            </a:r>
            <a:r>
              <a:rPr sz="2097" b="0">
                <a:solidFill>
                  <a:srgbClr val="B02A4A"/>
                </a:solidFill>
                <a:latin typeface="Consolas"/>
              </a:rPr>
              <a:t>oquvchilar</a:t>
            </a:r>
            <a:r>
              <a:rPr sz="2279" b="0">
                <a:solidFill>
                  <a:srgbClr val="1F232B"/>
                </a:solidFill>
                <a:latin typeface="Calibri"/>
              </a:rPr>
              <a:t>, keyin </a:t>
            </a:r>
            <a:r>
              <a:rPr sz="2097" b="0">
                <a:solidFill>
                  <a:srgbClr val="B02A4A"/>
                </a:solidFill>
                <a:latin typeface="Consolas"/>
              </a:rPr>
              <a:t>baholar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aks holda "relation does not exist"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ALTER va DROP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3261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81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2445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ALTER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TABLE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ADD COLUMN manzil </a:t>
            </a:r>
            <a:r>
              <a:rPr sz="1904" b="0">
                <a:solidFill>
                  <a:srgbClr val="C678DD"/>
                </a:solidFill>
                <a:latin typeface="Consolas"/>
              </a:rPr>
              <a:t>TEXT</a:t>
            </a:r>
            <a:r>
              <a:rPr sz="1904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ALTER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TABLE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RENAME COLUMN manzil TO yashash_joyi;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ALTER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TABLE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ALTER</a:t>
            </a:r>
            <a:r>
              <a:rPr sz="1904" b="0">
                <a:solidFill>
                  <a:srgbClr val="E6E6E6"/>
                </a:solidFill>
                <a:latin typeface="Consolas"/>
              </a:rPr>
              <a:t> COLUMN telefon TYPE </a:t>
            </a:r>
            <a:r>
              <a:rPr sz="1904" b="0">
                <a:solidFill>
                  <a:srgbClr val="C678DD"/>
                </a:solidFill>
                <a:latin typeface="Consolas"/>
              </a:rPr>
              <a:t>VARCHAR</a:t>
            </a:r>
            <a:r>
              <a:rPr sz="1904" b="0">
                <a:solidFill>
                  <a:srgbClr val="E6E6E6"/>
                </a:solidFill>
                <a:latin typeface="Consolas"/>
              </a:rPr>
              <a:t>(30);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ALTER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TABLE</a:t>
            </a:r>
            <a:r>
              <a:rPr sz="1904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DROP</a:t>
            </a:r>
            <a:r>
              <a:rPr sz="1904" b="0">
                <a:solidFill>
                  <a:srgbClr val="E6E6E6"/>
                </a:solidFill>
                <a:latin typeface="Consolas"/>
              </a:rPr>
              <a:t> COLUMN yashash_joyi;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DROP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TABLE</a:t>
            </a:r>
            <a:r>
              <a:rPr sz="1904" b="0">
                <a:solidFill>
                  <a:srgbClr val="E6E6E6"/>
                </a:solidFill>
                <a:latin typeface="Consolas"/>
              </a:rPr>
              <a:t> baholar;          -- ⚠️ barcha ma'lumotlari bilan!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76748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76748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68188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47" b="0">
                <a:solidFill>
                  <a:srgbClr val="B02A4A"/>
                </a:solidFill>
                <a:latin typeface="Consolas"/>
              </a:rPr>
              <a:t>DROP TABLE</a:t>
            </a:r>
            <a:r>
              <a:rPr sz="2660" b="0">
                <a:solidFill>
                  <a:srgbClr val="1F232B"/>
                </a:solidFill>
                <a:latin typeface="Calibri"/>
              </a:rPr>
              <a:t> / </a:t>
            </a:r>
            <a:r>
              <a:rPr sz="2447" b="0">
                <a:solidFill>
                  <a:srgbClr val="B02A4A"/>
                </a:solidFill>
                <a:latin typeface="Consolas"/>
              </a:rPr>
              <a:t>DROP DATABASE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"Ctrl+Z" yo'q! Ikki marta o'ylang va zaxira nusxa oling (29-mavzu)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0">
                <a:solidFill>
                  <a:srgbClr val="1F232B"/>
                </a:solidFill>
                <a:latin typeface="Calibri"/>
              </a:rPr>
              <a:t>PostgreSQL + pgAdmin'ni o'rnating (yoki db-fiddle.com)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96" b="0">
                <a:solidFill>
                  <a:srgbClr val="B02A4A"/>
                </a:solidFill>
                <a:latin typeface="Consolas"/>
              </a:rPr>
              <a:t>maktab</a:t>
            </a:r>
            <a:r>
              <a:rPr sz="1300" b="0">
                <a:solidFill>
                  <a:srgbClr val="1F232B"/>
                </a:solidFill>
                <a:latin typeface="Calibri"/>
              </a:rPr>
              <a:t> bazasi → </a:t>
            </a:r>
            <a:r>
              <a:rPr sz="1196" b="0">
                <a:solidFill>
                  <a:srgbClr val="B02A4A"/>
                </a:solidFill>
                <a:latin typeface="Consolas"/>
              </a:rPr>
              <a:t>sinflar</a:t>
            </a:r>
            <a:r>
              <a:rPr sz="1300" b="0">
                <a:solidFill>
                  <a:srgbClr val="1F232B"/>
                </a:solidFill>
                <a:latin typeface="Calibri"/>
              </a:rPr>
              <a:t>, </a:t>
            </a:r>
            <a:r>
              <a:rPr sz="1196" b="0">
                <a:solidFill>
                  <a:srgbClr val="B02A4A"/>
                </a:solidFill>
                <a:latin typeface="Consolas"/>
              </a:rPr>
              <a:t>oquvchilar</a:t>
            </a:r>
            <a:r>
              <a:rPr sz="1300" b="0">
                <a:solidFill>
                  <a:srgbClr val="1F232B"/>
                </a:solidFill>
                <a:latin typeface="Calibri"/>
              </a:rPr>
              <a:t>, </a:t>
            </a:r>
            <a:r>
              <a:rPr sz="1196" b="0">
                <a:solidFill>
                  <a:srgbClr val="B02A4A"/>
                </a:solidFill>
                <a:latin typeface="Consolas"/>
              </a:rPr>
              <a:t>baholar</a:t>
            </a:r>
            <a:r>
              <a:rPr sz="1300" b="0">
                <a:solidFill>
                  <a:srgbClr val="1F232B"/>
                </a:solidFill>
                <a:latin typeface="Calibri"/>
              </a:rPr>
              <a:t> jadvallari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1">
                <a:solidFill>
                  <a:srgbClr val="1F232B"/>
                </a:solidFill>
                <a:latin typeface="Calibri"/>
              </a:rPr>
              <a:t>Schemas → public → Tables</a:t>
            </a:r>
            <a:r>
              <a:rPr sz="1300" b="0">
                <a:solidFill>
                  <a:srgbClr val="1F232B"/>
                </a:solidFill>
                <a:latin typeface="Calibri"/>
              </a:rPr>
              <a:t> (F5) — jadvallarni ko'ring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0">
                <a:solidFill>
                  <a:srgbClr val="1F232B"/>
                </a:solidFill>
                <a:latin typeface="Calibri"/>
              </a:rPr>
              <a:t>Mustaqil: </a:t>
            </a:r>
            <a:r>
              <a:rPr sz="1196" b="0">
                <a:solidFill>
                  <a:srgbClr val="B02A4A"/>
                </a:solidFill>
                <a:latin typeface="Consolas"/>
              </a:rPr>
              <a:t>togaraklar</a:t>
            </a:r>
            <a:r>
              <a:rPr sz="1300" b="0">
                <a:solidFill>
                  <a:srgbClr val="1F232B"/>
                </a:solidFill>
                <a:latin typeface="Calibri"/>
              </a:rPr>
              <a:t> va </a:t>
            </a:r>
            <a:r>
              <a:rPr sz="1196" b="0">
                <a:solidFill>
                  <a:srgbClr val="B02A4A"/>
                </a:solidFill>
                <a:latin typeface="Consolas"/>
              </a:rPr>
              <a:t>azoliklar</a:t>
            </a:r>
            <a:r>
              <a:rPr sz="1300" b="0">
                <a:solidFill>
                  <a:srgbClr val="1F232B"/>
                </a:solidFill>
                <a:latin typeface="Calibri"/>
              </a:rPr>
              <a:t> (N:M) jadvallari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96" b="0">
                <a:solidFill>
                  <a:srgbClr val="B02A4A"/>
                </a:solidFill>
                <a:latin typeface="Consolas"/>
              </a:rPr>
              <a:t>jinsi</a:t>
            </a:r>
            <a:r>
              <a:rPr sz="1300" b="0">
                <a:solidFill>
                  <a:srgbClr val="1F232B"/>
                </a:solidFill>
                <a:latin typeface="Calibri"/>
              </a:rPr>
              <a:t> ustuni: faqat </a:t>
            </a:r>
            <a:r>
              <a:rPr sz="1196" b="0">
                <a:solidFill>
                  <a:srgbClr val="B02A4A"/>
                </a:solidFill>
                <a:latin typeface="Consolas"/>
              </a:rPr>
              <a:t>'o''g''il'</a:t>
            </a:r>
            <a:r>
              <a:rPr sz="1300" b="0">
                <a:solidFill>
                  <a:srgbClr val="1F232B"/>
                </a:solidFill>
                <a:latin typeface="Calibri"/>
              </a:rPr>
              <a:t> yoki </a:t>
            </a:r>
            <a:r>
              <a:rPr sz="1196" b="0">
                <a:solidFill>
                  <a:srgbClr val="B02A4A"/>
                </a:solidFill>
                <a:latin typeface="Consolas"/>
              </a:rPr>
              <a:t>'qiz'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1672" cy="13280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554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725912" cy="9806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884" b="0">
                <a:solidFill>
                  <a:srgbClr val="C678DD"/>
                </a:solidFill>
                <a:latin typeface="Consolas"/>
              </a:rPr>
              <a:t>CREATE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TABLE</a:t>
            </a:r>
            <a:r>
              <a:rPr sz="884" b="0">
                <a:solidFill>
                  <a:srgbClr val="E6E6E6"/>
                </a:solidFill>
                <a:latin typeface="Consolas"/>
              </a:rPr>
              <a:t> azoliklar (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oquvchi_id     </a:t>
            </a:r>
            <a:r>
              <a:rPr sz="884" b="0">
                <a:solidFill>
                  <a:srgbClr val="C678DD"/>
                </a:solidFill>
                <a:latin typeface="Consolas"/>
              </a:rPr>
              <a:t>INTEGER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884" b="0">
                <a:solidFill>
                  <a:srgbClr val="E6E6E6"/>
                </a:solidFill>
                <a:latin typeface="Consolas"/>
              </a:rPr>
              <a:t> oquvchilar(id) </a:t>
            </a:r>
            <a:r>
              <a:rPr sz="884" b="0">
                <a:solidFill>
                  <a:srgbClr val="C678DD"/>
                </a:solidFill>
                <a:latin typeface="Consolas"/>
              </a:rPr>
              <a:t>ON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DELETE</a:t>
            </a:r>
            <a:r>
              <a:rPr sz="884" b="0">
                <a:solidFill>
                  <a:srgbClr val="E6E6E6"/>
                </a:solidFill>
                <a:latin typeface="Consolas"/>
              </a:rPr>
              <a:t> CASCADE,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togarak_id     </a:t>
            </a:r>
            <a:r>
              <a:rPr sz="884" b="0">
                <a:solidFill>
                  <a:srgbClr val="C678DD"/>
                </a:solidFill>
                <a:latin typeface="Consolas"/>
              </a:rPr>
              <a:t>INTEGER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REFERENCES</a:t>
            </a:r>
            <a:r>
              <a:rPr sz="884" b="0">
                <a:solidFill>
                  <a:srgbClr val="E6E6E6"/>
                </a:solidFill>
                <a:latin typeface="Consolas"/>
              </a:rPr>
              <a:t> togaraklar(id) </a:t>
            </a:r>
            <a:r>
              <a:rPr sz="884" b="0">
                <a:solidFill>
                  <a:srgbClr val="C678DD"/>
                </a:solidFill>
                <a:latin typeface="Consolas"/>
              </a:rPr>
              <a:t>ON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DELETE</a:t>
            </a:r>
            <a:r>
              <a:rPr sz="884" b="0">
                <a:solidFill>
                  <a:srgbClr val="E6E6E6"/>
                </a:solidFill>
                <a:latin typeface="Consolas"/>
              </a:rPr>
              <a:t> CASCADE,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qoshilgan_sana </a:t>
            </a:r>
            <a:r>
              <a:rPr sz="884" b="0">
                <a:solidFill>
                  <a:srgbClr val="C678DD"/>
                </a:solidFill>
                <a:latin typeface="Consolas"/>
              </a:rPr>
              <a:t>DATE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DEFAULT</a:t>
            </a:r>
            <a:r>
              <a:rPr sz="884" b="0">
                <a:solidFill>
                  <a:srgbClr val="E6E6E6"/>
                </a:solidFill>
                <a:latin typeface="Consolas"/>
              </a:rPr>
              <a:t> CURRENT_DATE,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</a:t>
            </a:r>
            <a:r>
              <a:rPr sz="884" b="0">
                <a:solidFill>
                  <a:srgbClr val="C678DD"/>
                </a:solidFill>
                <a:latin typeface="Consolas"/>
              </a:rPr>
              <a:t>PRIMARY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KEY</a:t>
            </a:r>
            <a:r>
              <a:rPr sz="884" b="0">
                <a:solidFill>
                  <a:srgbClr val="E6E6E6"/>
                </a:solidFill>
                <a:latin typeface="Consolas"/>
              </a:rPr>
              <a:t> (oquvchi_id, togarak_id)    -- ikki marta yozilmasin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relation "oquvchilar" does not exist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jadval yo'q yoki boshqa bazadasiz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syntax error at or near ")"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oxirgi ustundan keyin ortiqcha vergul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"Ali"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qo'sh qo'shtirnoq ustun nomlari uchun; matn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'Ali'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password authentication failed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parol noto'g'ri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Pul summasini saqlash uchun eng to'g'ri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VARCHAR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NUMERIC(12, 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BOOLEAN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Pul summasini saqlash uchun eng to'g'ri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VARCHAR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NUMERIC(12, 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BOOLEAN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Avtomatik 1, 2, 3... deb o'suvchi id ustuni uchun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COUNTER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Avtomatik 1, 2, 3... deb o'suvchi id ustuni uchun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SERIAL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COUNTER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Mavjud jadvalga yangi ustun qo'shuvchi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UPDATE TABLE ... ADD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ALTER TABLE ... ADD COLUMN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INSERT COLUMN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CREATE COLUMN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Mavjud jadvalga yangi ustun qo'shuvchi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UPDATE TABLE ... ADD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ALTER TABLE ... ADD COLUMN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INSERT COLUMN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CREATE COLUMN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Telefon raqami (+998901234567) uchun eng mos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INTEGER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NUMERIC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VARCHAR(20)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Telefon raqami (+998901234567) uchun eng mos tur?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INTEGER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NUMERIC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VARCHAR(20)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72233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99665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dokon</a:t>
            </a:r>
            <a:r>
              <a:rPr sz="2800" b="0">
                <a:solidFill>
                  <a:srgbClr val="1F232B"/>
                </a:solidFill>
                <a:latin typeface="Calibri"/>
              </a:rPr>
              <a:t> bazasi: </a:t>
            </a:r>
            <a:r>
              <a:rPr sz="2576" b="0">
                <a:solidFill>
                  <a:srgbClr val="B02A4A"/>
                </a:solidFill>
                <a:latin typeface="Consolas"/>
              </a:rPr>
              <a:t>toifalar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mahsulotlar</a:t>
            </a:r>
            <a:r>
              <a:rPr sz="2800" b="0">
                <a:solidFill>
                  <a:srgbClr val="1F232B"/>
                </a:solidFill>
                <a:latin typeface="Calibri"/>
              </a:rPr>
              <a:t> (narx — NUMERIC, soni ≥ 0, toifa_id FK), </a:t>
            </a:r>
            <a:r>
              <a:rPr sz="2576" b="0">
                <a:solidFill>
                  <a:srgbClr val="B02A4A"/>
                </a:solidFill>
                <a:latin typeface="Consolas"/>
              </a:rPr>
              <a:t>mijozlar</a:t>
            </a:r>
            <a:r>
              <a:rPr sz="2800" b="0">
                <a:solidFill>
                  <a:srgbClr val="1F232B"/>
                </a:solidFill>
                <a:latin typeface="Calibri"/>
              </a:rPr>
              <a:t> (email UNIQUE)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80689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10812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26-mavzudagi </a:t>
            </a:r>
            <a:r>
              <a:rPr sz="2800" b="1">
                <a:solidFill>
                  <a:srgbClr val="1F232B"/>
                </a:solidFill>
                <a:latin typeface="Calibri"/>
              </a:rPr>
              <a:t>kutubxona</a:t>
            </a:r>
            <a:r>
              <a:rPr sz="2800" b="0">
                <a:solidFill>
                  <a:srgbClr val="1F232B"/>
                </a:solidFill>
                <a:latin typeface="Calibri"/>
              </a:rPr>
              <a:t> ER-diagrammasidan haqiqiy jadvallar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27-mavzu · PostgreSQL bilan tanishish. Jadval yaratish va ma'lumot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PostgreSQL — server (5432); pgAdmin — grafik; psql — konsol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CREATE DATABASE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CREATE TABLE nom (ustun TUR cheklovlar, ...)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SERIAL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INTEGER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NUMERIC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VARCHAR(n)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TEXT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BOOLEAN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DATE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TIMESTAMP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PRIMARY KEY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NOT NULL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UNIQUE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DEFAULT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CHECK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REFERENCES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ALTER TABLE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o'zgartirish; </a:t>
            </a:r>
            <a:r>
              <a:rPr sz="2576" b="0">
                <a:solidFill>
                  <a:srgbClr val="B02A4A"/>
                </a:solidFill>
                <a:latin typeface="Consolas"/>
              </a:rPr>
              <a:t>DROP TABLE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qaytarib bo'lmaydi!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28. Ma'lumotlarni qo'shish, ko'rish va saqlash. CRUD operatsiyalari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27-mavzu: PostgreSQL bilan tanishish. Jadval yaratish va ma'lumot turlari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