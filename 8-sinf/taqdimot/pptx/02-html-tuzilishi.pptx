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Istalgan saytda Ctrl+U bosib, uning HTML kodini ko'rsating — hatto YouTube ham HTML'dan boshlanadi.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&lt;body&gt;.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Atribut.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&lt;p&gt;&lt;em&gt;Salom&lt;/em&gt;&lt;/p&gt;.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1 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2-MAVZU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HTML hujjatining tuzilishi, asosiy teglar va atributlar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HTML nima, teg va element, hujjat skeleti (html, head, body), sarlavhalar, paragraflar, matn teglari va atributlar. Birinchi veb-sahifani yaratish.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nima va nima uchun kerak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Teg, element, atribut</a:t>
            </a:r>
            <a:r>
              <a:rPr sz="2800" b="0">
                <a:solidFill>
                  <a:srgbClr val="1F232B"/>
                </a:solidFill>
                <a:latin typeface="Calibri"/>
              </a:rPr>
              <a:t> tushunchalari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sahifaning majburiy </a:t>
            </a:r>
            <a:r>
              <a:rPr sz="2800" b="1">
                <a:solidFill>
                  <a:srgbClr val="1F232B"/>
                </a:solidFill>
                <a:latin typeface="Calibri"/>
              </a:rPr>
              <a:t>skeleti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Sarlavha, paragraf va matn formatlash teglari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VS Code'da </a:t>
            </a:r>
            <a:r>
              <a:rPr sz="2800" b="1">
                <a:solidFill>
                  <a:srgbClr val="1F232B"/>
                </a:solidFill>
                <a:latin typeface="Calibri"/>
              </a:rPr>
              <a:t>birinchi veb-sahifa</a:t>
            </a:r>
            <a:r>
              <a:rPr sz="2800" b="0">
                <a:solidFill>
                  <a:srgbClr val="1F232B"/>
                </a:solidFill>
                <a:latin typeface="Calibri"/>
              </a:rPr>
              <a:t> yaratish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HTML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147129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769" b="1">
                <a:solidFill>
                  <a:srgbClr val="E2552B"/>
                </a:solidFill>
                <a:latin typeface="Calibri"/>
              </a:rPr>
              <a:t>HTML — veb-sahifa tuzilishini yaratuvchi belgilash tili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98342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H</a:t>
            </a:r>
            <a:r>
              <a:rPr sz="2600" b="0">
                <a:solidFill>
                  <a:srgbClr val="1F232B"/>
                </a:solidFill>
                <a:latin typeface="Calibri"/>
              </a:rPr>
              <a:t>yper</a:t>
            </a:r>
            <a:r>
              <a:rPr sz="2600" b="1">
                <a:solidFill>
                  <a:srgbClr val="1F232B"/>
                </a:solidFill>
                <a:latin typeface="Calibri"/>
              </a:rPr>
              <a:t>T</a:t>
            </a:r>
            <a:r>
              <a:rPr sz="2600" b="0">
                <a:solidFill>
                  <a:srgbClr val="1F232B"/>
                </a:solidFill>
                <a:latin typeface="Calibri"/>
              </a:rPr>
              <a:t>ext </a:t>
            </a:r>
            <a:r>
              <a:rPr sz="2600" b="1">
                <a:solidFill>
                  <a:srgbClr val="1F232B"/>
                </a:solidFill>
                <a:latin typeface="Calibri"/>
              </a:rPr>
              <a:t>M</a:t>
            </a:r>
            <a:r>
              <a:rPr sz="2600" b="0">
                <a:solidFill>
                  <a:srgbClr val="1F232B"/>
                </a:solidFill>
                <a:latin typeface="Calibri"/>
              </a:rPr>
              <a:t>arkup </a:t>
            </a:r>
            <a:r>
              <a:rPr sz="2600" b="1">
                <a:solidFill>
                  <a:srgbClr val="1F232B"/>
                </a:solidFill>
                <a:latin typeface="Calibri"/>
              </a:rPr>
              <a:t>L</a:t>
            </a:r>
            <a:r>
              <a:rPr sz="2600" b="0">
                <a:solidFill>
                  <a:srgbClr val="1F232B"/>
                </a:solidFill>
                <a:latin typeface="Calibri"/>
              </a:rPr>
              <a:t>anguage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1469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75685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Dasturlash tili </a:t>
            </a:r>
            <a:r>
              <a:rPr sz="2600" b="1">
                <a:solidFill>
                  <a:srgbClr val="1F232B"/>
                </a:solidFill>
                <a:latin typeface="Calibri"/>
              </a:rPr>
              <a:t>emas</a:t>
            </a:r>
            <a:r>
              <a:rPr sz="2600" b="0">
                <a:solidFill>
                  <a:srgbClr val="1F232B"/>
                </a:solidFill>
                <a:latin typeface="Calibri"/>
              </a:rPr>
              <a:t>: hisob-kitob ham, shart ham yo'q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72427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53027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Brauzerga faqat aytadi: "bu — sarlavha, bu — paragraf, bu — rasm"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30161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730369"/>
            <a:ext cx="11091672" cy="1040256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730369"/>
            <a:ext cx="82296" cy="104025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21809"/>
            <a:ext cx="10725912" cy="8756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💡 </a:t>
            </a:r>
            <a:r>
              <a:rPr sz="2470" b="1">
                <a:solidFill>
                  <a:srgbClr val="1F232B"/>
                </a:solidFill>
                <a:latin typeface="Calibri"/>
              </a:rPr>
              <a:t>O'xshatish — uy:</a:t>
            </a:r>
            <a:r>
              <a:rPr sz="2470" b="0">
                <a:solidFill>
                  <a:srgbClr val="1F232B"/>
                </a:solidFill>
                <a:latin typeface="Calibri"/>
              </a:rPr>
              <a:t> HTML — g'isht va devorlar, CSS — bo'yoq va mebel, JavaScript — elektr va suv (harakat).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Teg va element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75809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41062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Bu paragraf matni.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487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&lt;p&gt;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ochuvchi teg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&lt;/p&gt;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yopuvchi teg</a:t>
            </a:r>
            <a:r>
              <a:rPr sz="2800" b="0">
                <a:solidFill>
                  <a:srgbClr val="1F232B"/>
                </a:solidFill>
                <a:latin typeface="Calibri"/>
              </a:rPr>
              <a:t> (oldida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/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55489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0396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Element</a:t>
            </a:r>
            <a:r>
              <a:rPr sz="2800" b="0">
                <a:solidFill>
                  <a:srgbClr val="1F232B"/>
                </a:solidFill>
                <a:latin typeface="Calibri"/>
              </a:rPr>
              <a:t> = ochuvchi teg + mazmun + yopuvchi teg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16398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1305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Yolg'iz teglar</a:t>
            </a:r>
            <a:r>
              <a:rPr sz="2800" b="0">
                <a:solidFill>
                  <a:srgbClr val="1F232B"/>
                </a:solidFill>
                <a:latin typeface="Calibri"/>
              </a:rPr>
              <a:t> yopilmaydi: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&lt;br&gt;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&lt;hr&gt;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&lt;img&gt;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&lt;input&gt;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&lt;meta&gt;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77307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Atribut — elementga qo'shimcha ma'lumot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29394"/>
            <a:ext cx="11091672" cy="75809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425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8578"/>
            <a:ext cx="10725912" cy="41062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&lt;a</a:t>
            </a:r>
            <a:r>
              <a:rPr sz="190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904" b="0">
                <a:solidFill>
                  <a:srgbClr val="98C379"/>
                </a:solidFill>
                <a:latin typeface="Consolas"/>
              </a:rPr>
              <a:t>"https://kun.uz"</a:t>
            </a:r>
            <a:r>
              <a:rPr sz="1904" b="0">
                <a:solidFill>
                  <a:srgbClr val="E6E6E6"/>
                </a:solidFill>
                <a:latin typeface="Consolas"/>
              </a:rPr>
              <a:t> title=</a:t>
            </a:r>
            <a:r>
              <a:rPr sz="1904" b="0">
                <a:solidFill>
                  <a:srgbClr val="98C379"/>
                </a:solidFill>
                <a:latin typeface="Consolas"/>
              </a:rPr>
              <a:t>"Yangiliklar"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Kun.uz ga o'tish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06949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Doim </a:t>
            </a:r>
            <a:r>
              <a:rPr sz="2800" b="1">
                <a:solidFill>
                  <a:srgbClr val="1F232B"/>
                </a:solidFill>
                <a:latin typeface="Calibri"/>
              </a:rPr>
              <a:t>ochuvchi tegda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nom="qiymat"</a:t>
            </a:r>
            <a:r>
              <a:rPr sz="2800" b="0">
                <a:solidFill>
                  <a:srgbClr val="1F232B"/>
                </a:solidFill>
                <a:latin typeface="Calibri"/>
              </a:rPr>
              <a:t> ko'rinishida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666969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116041"/>
          <a:ext cx="11091672" cy="250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Atribut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Yagona nom (takrorlanmaydi)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class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Guruh nomi (CSS uchun)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title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Sichqoncha ustiga kelganda izoh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Matn tili: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lang="uz"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HTML hujjatining skeleti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305409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706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&lt;!DOCTYPE html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06C75"/>
                </a:solidFill>
                <a:latin typeface="Consolas"/>
              </a:rPr>
              <a:t>&lt;html</a:t>
            </a:r>
            <a:r>
              <a:rPr sz="1200" b="0">
                <a:solidFill>
                  <a:srgbClr val="E6E6E6"/>
                </a:solidFill>
                <a:latin typeface="Consolas"/>
              </a:rPr>
              <a:t> lang=</a:t>
            </a:r>
            <a:r>
              <a:rPr sz="1200" b="0">
                <a:solidFill>
                  <a:srgbClr val="98C379"/>
                </a:solidFill>
                <a:latin typeface="Consolas"/>
              </a:rPr>
              <a:t>"uz"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06C75"/>
                </a:solidFill>
                <a:latin typeface="Consolas"/>
              </a:rPr>
              <a:t>&lt;head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</a:t>
            </a:r>
            <a:r>
              <a:rPr sz="1200" b="0">
                <a:solidFill>
                  <a:srgbClr val="E06C75"/>
                </a:solidFill>
                <a:latin typeface="Consolas"/>
              </a:rPr>
              <a:t>&lt;meta</a:t>
            </a:r>
            <a:r>
              <a:rPr sz="1200" b="0">
                <a:solidFill>
                  <a:srgbClr val="E6E6E6"/>
                </a:solidFill>
                <a:latin typeface="Consolas"/>
              </a:rPr>
              <a:t> charset=</a:t>
            </a:r>
            <a:r>
              <a:rPr sz="1200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</a:t>
            </a:r>
            <a:r>
              <a:rPr sz="1200" b="0">
                <a:solidFill>
                  <a:srgbClr val="E06C75"/>
                </a:solidFill>
                <a:latin typeface="Consolas"/>
              </a:rPr>
              <a:t>&lt;meta</a:t>
            </a:r>
            <a:r>
              <a:rPr sz="1200" b="0">
                <a:solidFill>
                  <a:srgbClr val="E6E6E6"/>
                </a:solidFill>
                <a:latin typeface="Consolas"/>
              </a:rPr>
              <a:t> name=</a:t>
            </a:r>
            <a:r>
              <a:rPr sz="1200" b="0">
                <a:solidFill>
                  <a:srgbClr val="98C379"/>
                </a:solidFill>
                <a:latin typeface="Consolas"/>
              </a:rPr>
              <a:t>"viewport"</a:t>
            </a:r>
            <a:r>
              <a:rPr sz="1200" b="0">
                <a:solidFill>
                  <a:srgbClr val="E6E6E6"/>
                </a:solidFill>
                <a:latin typeface="Consolas"/>
              </a:rPr>
              <a:t> content=</a:t>
            </a:r>
            <a:r>
              <a:rPr sz="1200" b="0">
                <a:solidFill>
                  <a:srgbClr val="98C379"/>
                </a:solidFill>
                <a:latin typeface="Consolas"/>
              </a:rPr>
              <a:t>"width=device-width, initial-scale=1.0"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</a:t>
            </a:r>
            <a:r>
              <a:rPr sz="1200" b="0">
                <a:solidFill>
                  <a:srgbClr val="E06C75"/>
                </a:solidFill>
                <a:latin typeface="Consolas"/>
              </a:rPr>
              <a:t>&lt;title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  <a:r>
              <a:rPr sz="1200" b="0">
                <a:solidFill>
                  <a:srgbClr val="E6E6E6"/>
                </a:solidFill>
                <a:latin typeface="Consolas"/>
              </a:rPr>
              <a:t>Mening birinchi sahifam</a:t>
            </a:r>
            <a:r>
              <a:rPr sz="1200" b="0">
                <a:solidFill>
                  <a:srgbClr val="E06C75"/>
                </a:solidFill>
                <a:latin typeface="Consolas"/>
              </a:rPr>
              <a:t>&lt;/title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06C75"/>
                </a:solidFill>
                <a:latin typeface="Consolas"/>
              </a:rPr>
              <a:t>&lt;/head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06C75"/>
                </a:solidFill>
                <a:latin typeface="Consolas"/>
              </a:rPr>
              <a:t>&lt;body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</a:t>
            </a:r>
            <a:r>
              <a:rPr sz="1200" b="0">
                <a:solidFill>
                  <a:srgbClr val="E06C75"/>
                </a:solidFill>
                <a:latin typeface="Consolas"/>
              </a:rPr>
              <a:t>&lt;h1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  <a:r>
              <a:rPr sz="1200" b="0">
                <a:solidFill>
                  <a:srgbClr val="E6E6E6"/>
                </a:solidFill>
                <a:latin typeface="Consolas"/>
              </a:rPr>
              <a:t>Salom, dunyo!</a:t>
            </a:r>
            <a:r>
              <a:rPr sz="1200" b="0">
                <a:solidFill>
                  <a:srgbClr val="E06C75"/>
                </a:solidFill>
                <a:latin typeface="Consolas"/>
              </a:rPr>
              <a:t>&lt;/h1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</a:t>
            </a:r>
            <a:r>
              <a:rPr sz="1200" b="0">
                <a:solidFill>
                  <a:srgbClr val="E06C75"/>
                </a:solidFill>
                <a:latin typeface="Consolas"/>
              </a:rPr>
              <a:t>&lt;p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  <a:r>
              <a:rPr sz="1200" b="0">
                <a:solidFill>
                  <a:srgbClr val="E6E6E6"/>
                </a:solidFill>
                <a:latin typeface="Consolas"/>
              </a:rPr>
              <a:t>Bu mening birinchi veb-sahifam.</a:t>
            </a:r>
            <a:r>
              <a:rPr sz="1200" b="0">
                <a:solidFill>
                  <a:srgbClr val="E06C75"/>
                </a:solidFill>
                <a:latin typeface="Consolas"/>
              </a:rPr>
              <a:t>&lt;/p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06C75"/>
                </a:solidFill>
                <a:latin typeface="Consolas"/>
              </a:rPr>
              <a:t>&lt;/body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06C75"/>
                </a:solidFill>
                <a:latin typeface="Consolas"/>
              </a:rPr>
              <a:t>&lt;/html</a:t>
            </a:r>
            <a:r>
              <a:rPr sz="1200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753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VS Code'da </a:t>
            </a:r>
            <a:r>
              <a:rPr sz="2024" b="0">
                <a:solidFill>
                  <a:srgbClr val="B02A4A"/>
                </a:solidFill>
                <a:latin typeface="Consolas"/>
              </a:rPr>
              <a:t>!</a:t>
            </a:r>
            <a:r>
              <a:rPr sz="2200" b="0">
                <a:solidFill>
                  <a:srgbClr val="1F232B"/>
                </a:solidFill>
                <a:latin typeface="Calibri"/>
              </a:rPr>
              <a:t> + </a:t>
            </a:r>
            <a:r>
              <a:rPr sz="2200" b="1">
                <a:solidFill>
                  <a:srgbClr val="1F232B"/>
                </a:solidFill>
                <a:latin typeface="Calibri"/>
              </a:rPr>
              <a:t>Enter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skelet o'zi yoziladi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4305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280412"/>
            <a:ext cx="4951476" cy="753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&lt;!DOCTYPE html&gt;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"bu HTML5 hujjat"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40614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3143504"/>
            <a:ext cx="4951476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&lt;head&gt;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ko'rinmaydigan ma'lumotlar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26923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8836" y="3657346"/>
            <a:ext cx="4951476" cy="753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charset="UTF-8"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o', g', emoji to'g'ri chiqadi</a:t>
            </a:r>
          </a:p>
        </p:txBody>
      </p:sp>
      <p:sp>
        <p:nvSpPr>
          <p:cNvPr id="17" name="Oval 16"/>
          <p:cNvSpPr/>
          <p:nvPr/>
        </p:nvSpPr>
        <p:spPr>
          <a:xfrm>
            <a:off x="6387084" y="378307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8836" y="4520438"/>
            <a:ext cx="4951476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&lt;title&gt;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brauzer yorlig'idagi nom</a:t>
            </a:r>
          </a:p>
        </p:txBody>
      </p:sp>
      <p:sp>
        <p:nvSpPr>
          <p:cNvPr id="19" name="Oval 18"/>
          <p:cNvSpPr/>
          <p:nvPr/>
        </p:nvSpPr>
        <p:spPr>
          <a:xfrm>
            <a:off x="6387084" y="464616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8836" y="5034280"/>
            <a:ext cx="4951476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&lt;body&gt;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</a:t>
            </a:r>
            <a:r>
              <a:rPr sz="2200" b="1">
                <a:solidFill>
                  <a:srgbClr val="1F232B"/>
                </a:solidFill>
                <a:latin typeface="Calibri"/>
              </a:rPr>
              <a:t>ko'rinadigan</a:t>
            </a:r>
            <a:r>
              <a:rPr sz="2200" b="0">
                <a:solidFill>
                  <a:srgbClr val="1F232B"/>
                </a:solidFill>
                <a:latin typeface="Calibri"/>
              </a:rPr>
              <a:t> hamma narsa</a:t>
            </a:r>
          </a:p>
        </p:txBody>
      </p:sp>
      <p:sp>
        <p:nvSpPr>
          <p:cNvPr id="21" name="Oval 20"/>
          <p:cNvSpPr/>
          <p:nvPr/>
        </p:nvSpPr>
        <p:spPr>
          <a:xfrm>
            <a:off x="6387084" y="516001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head va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66541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66541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57981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O'xshatish — odam:</a:t>
            </a:r>
            <a:r>
              <a:rPr sz="2660" b="0">
                <a:solidFill>
                  <a:srgbClr val="1F232B"/>
                </a:solidFill>
                <a:latin typeface="Calibri"/>
              </a:rPr>
              <a:t> </a:t>
            </a:r>
            <a:r>
              <a:rPr sz="2447" b="0">
                <a:solidFill>
                  <a:srgbClr val="B02A4A"/>
                </a:solidFill>
                <a:latin typeface="Consolas"/>
              </a:rPr>
              <a:t>&lt;head&gt;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pasport (ismi, tili — ko'rinmaydi, lekin muhim). </a:t>
            </a:r>
            <a:r>
              <a:rPr sz="2447" b="0">
                <a:solidFill>
                  <a:srgbClr val="B02A4A"/>
                </a:solidFill>
                <a:latin typeface="Consolas"/>
              </a:rPr>
              <a:t>&lt;body&gt;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odamning o'zi: ko'rinishi, kiyimi, harakatlari.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0885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Matnni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&lt;head&gt;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ichiga yozsangiz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ko'rinmaydi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6887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794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viewport</a:t>
            </a:r>
            <a:r>
              <a:rPr sz="2800" b="0">
                <a:solidFill>
                  <a:srgbClr val="1F232B"/>
                </a:solidFill>
                <a:latin typeface="Calibri"/>
              </a:rPr>
              <a:t> qatori — telefonda to'g'ri o'lcham uchun (10-mavzu)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27796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Ichma-ich joylashish (nesting)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0348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16873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&lt;!-- ✅ To'g'ri --&gt;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Bu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&lt;strong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juda muhim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&lt;/strong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 gap.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&lt;!-- ❌ Noto'g'ri --&gt;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&lt;p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Bu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&lt;strong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juda muhim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&lt;/strong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71620"/>
            <a:ext cx="11091672" cy="9188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Oxirgi ochilgan teg — birinchi yopiladi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0019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Matryoshka qo'g'irchoqlari kabi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86021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30928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Ichki elementlarni 2 bo'sh joy bilan suring; </a:t>
            </a:r>
            <a:r>
              <a:rPr sz="2800" b="1">
                <a:solidFill>
                  <a:srgbClr val="1F232B"/>
                </a:solidFill>
                <a:latin typeface="Calibri"/>
              </a:rPr>
              <a:t>Shift+Alt+F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avtomatik tartiblash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46930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Sarlavhalar: h1 dan h6 gacha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180027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45280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&lt;h1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Maktabimiz yangiliklari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&lt;/h1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&lt;h2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Sport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&lt;/h2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&lt;h3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Futbol bo'yicha musobaqa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&lt;/h3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&lt;p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8-</a:t>
            </a:r>
            <a:r>
              <a:rPr sz="1353" b="0">
                <a:solidFill>
                  <a:srgbClr val="98C379"/>
                </a:solidFill>
                <a:latin typeface="Consolas"/>
              </a:rPr>
              <a:t>"A"</a:t>
            </a:r>
            <a:r>
              <a:rPr sz="1353" b="0">
                <a:solidFill>
                  <a:srgbClr val="E6E6E6"/>
                </a:solidFill>
                <a:latin typeface="Consolas"/>
              </a:rPr>
              <a:t> sinf jamoasi g'olib bo'ldi.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&lt;/p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&lt;h2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Fanlar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&lt;/h2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53" b="0">
                <a:solidFill>
                  <a:srgbClr val="E06C75"/>
                </a:solidFill>
                <a:latin typeface="Consolas"/>
              </a:rPr>
              <a:t>&lt;p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  <a:r>
              <a:rPr sz="1353" b="0">
                <a:solidFill>
                  <a:srgbClr val="E6E6E6"/>
                </a:solidFill>
                <a:latin typeface="Consolas"/>
              </a:rPr>
              <a:t>Olimpiadaga ro'yxatdan o'tish boshlandi.</a:t>
            </a:r>
            <a:r>
              <a:rPr sz="1353" b="0">
                <a:solidFill>
                  <a:srgbClr val="E06C75"/>
                </a:solidFill>
                <a:latin typeface="Consolas"/>
              </a:rPr>
              <a:t>&lt;/p</a:t>
            </a:r>
            <a:r>
              <a:rPr sz="1353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Sahifada odatda </a:t>
            </a:r>
            <a:r>
              <a:rPr sz="2600" b="1">
                <a:solidFill>
                  <a:srgbClr val="1F232B"/>
                </a:solidFill>
                <a:latin typeface="Calibri"/>
              </a:rPr>
              <a:t>bitta</a:t>
            </a:r>
            <a:r>
              <a:rPr sz="2600" b="0">
                <a:solidFill>
                  <a:srgbClr val="1F232B"/>
                </a:solidFill>
                <a:latin typeface="Calibri"/>
              </a:rPr>
              <a:t> </a:t>
            </a:r>
            <a:r>
              <a:rPr sz="2392" b="0">
                <a:solidFill>
                  <a:srgbClr val="B02A4A"/>
                </a:solidFill>
                <a:latin typeface="Consolas"/>
              </a:rPr>
              <a:t>&lt;h1&gt;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6591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1994662"/>
            <a:ext cx="4951476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Darajalarni sakramang: h2 → h3, h4 emas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14325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2984754"/>
            <a:ext cx="4951476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Sarlavha — </a:t>
            </a:r>
            <a:r>
              <a:rPr sz="2600" b="1">
                <a:solidFill>
                  <a:srgbClr val="1F232B"/>
                </a:solidFill>
                <a:latin typeface="Calibri"/>
              </a:rPr>
              <a:t>ma'no</a:t>
            </a:r>
            <a:r>
              <a:rPr sz="2600" b="0">
                <a:solidFill>
                  <a:srgbClr val="1F232B"/>
                </a:solidFill>
                <a:latin typeface="Calibri"/>
              </a:rPr>
              <a:t> (kitob mundarijasi), kattalik uchun CSS bor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13334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7356" y="3974846"/>
            <a:ext cx="5362956" cy="18244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7356" y="3974846"/>
            <a:ext cx="82296" cy="18244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5956" y="4066285"/>
            <a:ext cx="4997196" cy="16598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470" b="0">
                <a:solidFill>
                  <a:srgbClr val="1F232B"/>
                </a:solidFill>
                <a:latin typeface="Calibri"/>
              </a:rPr>
              <a:t>HTML bo'sh joylarni "yutadi": 5 ta bo'sh joy = 1 ta. Yangi qator uchun </a:t>
            </a:r>
            <a:r>
              <a:rPr sz="2272" b="0">
                <a:solidFill>
                  <a:srgbClr val="B02A4A"/>
                </a:solidFill>
                <a:latin typeface="Consolas"/>
              </a:rPr>
              <a:t>&lt;br&gt;</a:t>
            </a:r>
            <a:r>
              <a:rPr sz="2470" b="0">
                <a:solidFill>
                  <a:srgbClr val="1F232B"/>
                </a:solidFill>
                <a:latin typeface="Calibri"/>
              </a:rPr>
              <a:t>, abzats uchun yangi </a:t>
            </a:r>
            <a:r>
              <a:rPr sz="2272" b="0">
                <a:solidFill>
                  <a:srgbClr val="B02A4A"/>
                </a:solidFill>
                <a:latin typeface="Consolas"/>
              </a:rPr>
              <a:t>&lt;p&gt;</a:t>
            </a:r>
            <a:r>
              <a:rPr sz="2470" b="0">
                <a:solidFill>
                  <a:srgbClr val="1F23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Matnni formatlash teglari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43557"/>
          <a:ext cx="11091672" cy="401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Teg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&lt;strong&gt;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&lt;b&gt;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Qalin; strong — "bu muhim" ma'nosi ham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&lt;em&gt;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&lt;i&gt;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Kursiv; em — urg'u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&lt;mark&gt;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Marker (sariq fon)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&lt;sub&gt;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&lt;sup&gt;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H₂O, x²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&lt;br&gt;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&lt;hr&gt;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Yangi qator / ajratuvchi chiziq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&lt;blockquote&gt;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Iqtibos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&lt;!-- ... --&gt;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Izoh — brauzer ko'rsatmaydi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Maxsus belgilar (entities)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12633"/>
          <a:ext cx="11091672" cy="301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Yozilishi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&amp;lt;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&lt;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kichik belgisi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&amp;gt;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katta belgisi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&amp;amp;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&amp;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"va" belgisi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&amp;copy;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mualliflik huquqi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&amp;nbsp;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␣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uzilmaydigan bo'sh joy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84351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</a:t>
            </a:r>
            <a:r>
              <a:rPr sz="2800" b="0">
                <a:solidFill>
                  <a:srgbClr val="1F232B"/>
                </a:solidFill>
                <a:latin typeface="Calibri"/>
              </a:rPr>
              <a:t> belgisi HTML'da "band" — u tegni boshlaydi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500353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"Men haqimda" sahifasini yaratamiz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"Men haqimda"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men-haqimda</a:t>
            </a:r>
            <a:r>
              <a:rPr sz="2800" b="0">
                <a:solidFill>
                  <a:srgbClr val="1F232B"/>
                </a:solidFill>
                <a:latin typeface="Calibri"/>
              </a:rPr>
              <a:t> papkasini yarating, VS Code'da oching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index.html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fayli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!</a:t>
            </a:r>
            <a:r>
              <a:rPr sz="2800" b="0">
                <a:solidFill>
                  <a:srgbClr val="1F232B"/>
                </a:solidFill>
                <a:latin typeface="Calibri"/>
              </a:rPr>
              <a:t> + Enter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lang="uz"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&lt;title&gt;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ga ismingizni yozing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&lt;body&gt;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ga sarlavha, bo'limlar, paragraflar, iqtibos yozing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Ctrl+S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faylni brauzerda oching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82803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Live Server</a:t>
            </a:r>
            <a:r>
              <a:rPr sz="2800" b="0">
                <a:solidFill>
                  <a:srgbClr val="1F232B"/>
                </a:solidFill>
                <a:latin typeface="Calibri"/>
              </a:rPr>
              <a:t> kengaytmasi: saqlaganda brauzer o'zi yangilanadi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namuna kod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68854"/>
            <a:ext cx="11091672" cy="272782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371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98038"/>
            <a:ext cx="10725912" cy="238034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06" b="0">
                <a:solidFill>
                  <a:srgbClr val="E06C75"/>
                </a:solidFill>
                <a:latin typeface="Consolas"/>
              </a:rPr>
              <a:t>&lt;h1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6E6E6"/>
                </a:solidFill>
                <a:latin typeface="Consolas"/>
              </a:rPr>
              <a:t>Sardor Aliyev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&lt;/h1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06C75"/>
                </a:solidFill>
                <a:latin typeface="Consolas"/>
              </a:rPr>
              <a:t>&lt;p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&lt;em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6E6E6"/>
                </a:solidFill>
                <a:latin typeface="Consolas"/>
              </a:rPr>
              <a:t>8-</a:t>
            </a:r>
            <a:r>
              <a:rPr sz="1706" b="0">
                <a:solidFill>
                  <a:srgbClr val="98C379"/>
                </a:solidFill>
                <a:latin typeface="Consolas"/>
              </a:rPr>
              <a:t>"B"</a:t>
            </a:r>
            <a:r>
              <a:rPr sz="1706" b="0">
                <a:solidFill>
                  <a:srgbClr val="E6E6E6"/>
                </a:solidFill>
                <a:latin typeface="Consolas"/>
              </a:rPr>
              <a:t> sinf o'quvchisi, kelajakdagi dasturchi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&lt;/em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&lt;/p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06C75"/>
                </a:solidFill>
                <a:latin typeface="Consolas"/>
              </a:rPr>
              <a:t>&lt;hr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06C75"/>
                </a:solidFill>
                <a:latin typeface="Consolas"/>
              </a:rPr>
              <a:t>&lt;h2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6E6E6"/>
                </a:solidFill>
                <a:latin typeface="Consolas"/>
              </a:rPr>
              <a:t>Men haqimda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&lt;/h2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06C75"/>
                </a:solidFill>
                <a:latin typeface="Consolas"/>
              </a:rPr>
              <a:t>&lt;p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6E6E6"/>
                </a:solidFill>
                <a:latin typeface="Consolas"/>
              </a:rPr>
              <a:t>Men 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&lt;strong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6E6E6"/>
                </a:solidFill>
                <a:latin typeface="Consolas"/>
              </a:rPr>
              <a:t>Samarqand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&lt;/strong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6E6E6"/>
                </a:solidFill>
                <a:latin typeface="Consolas"/>
              </a:rPr>
              <a:t> shahrida yashayman. 14 yoshdaman.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&lt;br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6E6E6"/>
                </a:solidFill>
                <a:latin typeface="Consolas"/>
              </a:rPr>
              <a:t>Bo'sh vaqtimda kitob o'qiyman va futbol o'ynayman.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&lt;/p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06C75"/>
                </a:solidFill>
                <a:latin typeface="Consolas"/>
              </a:rPr>
              <a:t>&lt;h2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6E6E6"/>
                </a:solidFill>
                <a:latin typeface="Consolas"/>
              </a:rPr>
              <a:t>Sevimli iqtibosim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&lt;/h2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706" b="0">
                <a:solidFill>
                  <a:srgbClr val="E06C75"/>
                </a:solidFill>
                <a:latin typeface="Consolas"/>
              </a:rPr>
              <a:t>&lt;blockquote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  <a:r>
              <a:rPr sz="1706" b="0">
                <a:solidFill>
                  <a:srgbClr val="E6E6E6"/>
                </a:solidFill>
                <a:latin typeface="Consolas"/>
              </a:rPr>
              <a:t>Har bir dasturchi bir paytlar yangi boshlovchi bo'lgan.</a:t>
            </a:r>
            <a:r>
              <a:rPr sz="1706" b="0">
                <a:solidFill>
                  <a:srgbClr val="E06C75"/>
                </a:solidFill>
                <a:latin typeface="Consolas"/>
              </a:rPr>
              <a:t>&lt;/blockquote</a:t>
            </a:r>
            <a:r>
              <a:rPr sz="1706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Yopuvchi tegni unutish: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&lt;p&gt;Matn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keyingi matn ham paragrafda qoladi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/</a:t>
            </a:r>
            <a:r>
              <a:rPr sz="2800" b="0">
                <a:solidFill>
                  <a:srgbClr val="1F232B"/>
                </a:solidFill>
                <a:latin typeface="Calibri"/>
              </a:rPr>
              <a:t> ni unutish: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&lt;h1&gt;Sarlavha&lt;h1&gt;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Ko'rinadigan matnni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&lt;head&gt;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ga yozish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Faylni </a:t>
            </a:r>
            <a:r>
              <a:rPr sz="2576" b="0">
                <a:solidFill>
                  <a:srgbClr val="B02A4A"/>
                </a:solidFill>
                <a:latin typeface="Consolas"/>
              </a:rPr>
              <a:t>index.html.txt</a:t>
            </a:r>
            <a:r>
              <a:rPr sz="2800" b="0">
                <a:solidFill>
                  <a:srgbClr val="1F232B"/>
                </a:solidFill>
                <a:latin typeface="Calibri"/>
              </a:rPr>
              <a:t> qilib saqlash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"Aqlli" qo'shtirnoq </a:t>
            </a:r>
            <a:r>
              <a:rPr sz="2576" b="0">
                <a:solidFill>
                  <a:srgbClr val="B02A4A"/>
                </a:solidFill>
                <a:latin typeface="Consolas"/>
              </a:rPr>
              <a:t>“ ”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doim oddiy </a:t>
            </a:r>
            <a:r>
              <a:rPr sz="2576" b="0">
                <a:solidFill>
                  <a:srgbClr val="B02A4A"/>
                </a:solidFill>
                <a:latin typeface="Consolas"/>
              </a:rPr>
              <a:t>"</a:t>
            </a:r>
            <a:r>
              <a:rPr sz="2800" b="0">
                <a:solidFill>
                  <a:srgbClr val="1F232B"/>
                </a:solidFill>
                <a:latin typeface="Calibri"/>
              </a:rPr>
              <a:t> ishlating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Foydalanuvchiga ko'rinadigan mazmun qaysi teg ichida yoziladi?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&lt;head&gt;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&lt;title&gt;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&lt;body&gt;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&lt;meta&gt;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Foydalanuvchiga ko'rinadigan mazmun qaysi teg ichida yoziladi?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&lt;head&gt;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&lt;title&gt;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&lt;body&gt;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&lt;meta&gt;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&lt;a href="https://kun.uz"&gt;</a:t>
            </a:r>
            <a:r>
              <a:rPr sz="2400" b="1">
                <a:solidFill>
                  <a:srgbClr val="1F232B"/>
                </a:solidFill>
                <a:latin typeface="Calibri"/>
              </a:rPr>
              <a:t> da </a:t>
            </a:r>
            <a:r>
              <a:rPr sz="2208" b="1">
                <a:solidFill>
                  <a:srgbClr val="B02A4A"/>
                </a:solidFill>
                <a:latin typeface="Consolas"/>
              </a:rPr>
              <a:t>href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Atribut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Izoh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&lt;a href="https://kun.uz"&gt;</a:t>
            </a:r>
            <a:r>
              <a:rPr sz="2400" b="1">
                <a:solidFill>
                  <a:srgbClr val="1F232B"/>
                </a:solidFill>
                <a:latin typeface="Calibri"/>
              </a:rPr>
              <a:t> da </a:t>
            </a:r>
            <a:r>
              <a:rPr sz="2208" b="1">
                <a:solidFill>
                  <a:srgbClr val="B02A4A"/>
                </a:solidFill>
                <a:latin typeface="Consolas"/>
              </a:rPr>
              <a:t>href</a:t>
            </a:r>
            <a:r>
              <a:rPr sz="2400" b="1">
                <a:solidFill>
                  <a:srgbClr val="1F232B"/>
                </a:solidFill>
                <a:latin typeface="Calibri"/>
              </a:rPr>
              <a:t> nima?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Atribut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Element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Izoh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kod to'g'ri yozilgan?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&lt;p&gt;&lt;em&gt;Salom&lt;/p&gt;&lt;/em&gt;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&lt;p&gt;&lt;em&gt;Salom&lt;/em&gt;&lt;/p&gt;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&lt;p&gt;&lt;em&gt;Salom&lt;p&gt;&lt;/em&gt;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&lt;em&gt;&lt;p&gt;Salom&lt;/em&gt;&lt;/p&gt;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kod to'g'ri yozilgan?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&lt;p&gt;&lt;em&gt;Salom&lt;/p&gt;&lt;/em&gt;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&lt;p&gt;&lt;em&gt;Salom&lt;/em&gt;&lt;/p&gt;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&lt;p&gt;&lt;em&gt;Salom&lt;p&gt;&lt;/em&gt;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&lt;em&gt;&lt;p&gt;Salom&lt;/em&gt;&lt;/p&gt;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Kodda ketma-ket 5 ta bo'sh joy yozsangiz, brauzer nechta ko'rsatadi?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5 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qancha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 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 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Kodda ketma-ket 5 ta bo'sh joy yozsangiz, brauzer nechta ko'rsatadi?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5 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qancha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1 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 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0268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730121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"Men haqimda" sahifasiga "Sevimli fanlarim" (h2) bo'limini qo'shing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111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8385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retsept.html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sevimli taom retsepti: sarlavha, kirish, "Masalliqlar", "Tayyorlash"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9601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947033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&lt;sup&gt;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&lt;sub&gt;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bilan 2 ta matematika va kimyo formulasini yozing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2-mavzu · HTML hujjatining tuzilishi, asosiy teglar va atributlar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HTML — sahifaning </a:t>
            </a:r>
            <a:r>
              <a:rPr sz="2800" b="1">
                <a:solidFill>
                  <a:srgbClr val="1F232B"/>
                </a:solidFill>
                <a:latin typeface="Calibri"/>
              </a:rPr>
              <a:t>tuzilishi</a:t>
            </a:r>
            <a:r>
              <a:rPr sz="2800" b="0">
                <a:solidFill>
                  <a:srgbClr val="1F232B"/>
                </a:solidFill>
                <a:latin typeface="Calibri"/>
              </a:rPr>
              <a:t>; belgilash tili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Element = ochuvchi teg + mazmun + yopuvchi teg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Atribut ochuvchi tegda: </a:t>
            </a:r>
            <a:r>
              <a:rPr sz="2576" b="0">
                <a:solidFill>
                  <a:srgbClr val="B02A4A"/>
                </a:solidFill>
                <a:latin typeface="Consolas"/>
              </a:rPr>
              <a:t>nom="qiymat"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Skelet: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&lt;!DOCTYPE html&gt;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&lt;html&gt;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&lt;head&gt;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&lt;body&gt;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h1–h6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sarlavhalar, </a:t>
            </a:r>
            <a:r>
              <a:rPr sz="2576" b="0">
                <a:solidFill>
                  <a:srgbClr val="B02A4A"/>
                </a:solidFill>
                <a:latin typeface="Consolas"/>
              </a:rPr>
              <a:t>p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paragraf, </a:t>
            </a:r>
            <a:r>
              <a:rPr sz="2576" b="0">
                <a:solidFill>
                  <a:srgbClr val="B02A4A"/>
                </a:solidFill>
                <a:latin typeface="Consolas"/>
              </a:rPr>
              <a:t>strong/em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muhim/urg'u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6278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Oxirgi ochilgan teg — birinchi yopiladi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62280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3. Jadval, ro'yxat va forma elementlari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2-mavzu: HTML hujjatining tuzilishi, asosiy teglar va atributlar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