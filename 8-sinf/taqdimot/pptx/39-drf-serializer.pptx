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5-topshiriq maslahati: serializers.IntegerField(source="maqolalar.count", read_only=True)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201 Created.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/api/maqolalar/5/.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request.data.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E3F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8E3FBF"/>
                </a:solidFill>
                <a:latin typeface="Calibri"/>
              </a:rPr>
              <a:t>39-MAVZU  ·  V BOB. DRF VA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Django REST Framework (DRF) ga kirish. Serializerlar va API View'lar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API nima, REST arxitekturasi, JSON formati, HTTP metodlari va status kodlari; DRF'ni o'rnatish, Serializer va ModelSerializer, validatsiya, @api_view va APIView, Response, brauzerda ko'rinadigan API.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39-mavzu · Django REST Framework (DRF) ga kirish. Serializerlar va API View'lar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API</a:t>
            </a:r>
            <a:r>
              <a:rPr sz="2800" b="0">
                <a:solidFill>
                  <a:srgbClr val="1F232B"/>
                </a:solidFill>
                <a:latin typeface="Calibri"/>
              </a:rPr>
              <a:t> nima va nega zamonaviy ilovalarga kerak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REST</a:t>
            </a:r>
            <a:r>
              <a:rPr sz="2800" b="0">
                <a:solidFill>
                  <a:srgbClr val="1F232B"/>
                </a:solidFill>
                <a:latin typeface="Calibri"/>
              </a:rPr>
              <a:t> qoidalari va </a:t>
            </a:r>
            <a:r>
              <a:rPr sz="2800" b="1">
                <a:solidFill>
                  <a:srgbClr val="1F232B"/>
                </a:solidFill>
                <a:latin typeface="Calibri"/>
              </a:rPr>
              <a:t>JSON</a:t>
            </a:r>
            <a:r>
              <a:rPr sz="2800" b="0">
                <a:solidFill>
                  <a:srgbClr val="1F232B"/>
                </a:solidFill>
                <a:latin typeface="Calibri"/>
              </a:rPr>
              <a:t> formati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Django REST Framework</a:t>
            </a:r>
            <a:r>
              <a:rPr sz="2800" b="0">
                <a:solidFill>
                  <a:srgbClr val="1F232B"/>
                </a:solidFill>
                <a:latin typeface="Calibri"/>
              </a:rPr>
              <a:t>'ni o'rnatish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Serializer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obyekt ↔ JSON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API View</a:t>
            </a:r>
            <a:r>
              <a:rPr sz="2800" b="0">
                <a:solidFill>
                  <a:srgbClr val="1F232B"/>
                </a:solidFill>
                <a:latin typeface="Calibri"/>
              </a:rPr>
              <a:t>'lar va ularni brauzerda sinash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API nima?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39-mavzu · Django REST Framework (DRF) ga kirish. Serializerlar va API View'lar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35648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IV bobda Django </a:t>
            </a:r>
            <a:r>
              <a:rPr sz="1900" b="1">
                <a:solidFill>
                  <a:srgbClr val="1F232B"/>
                </a:solidFill>
                <a:latin typeface="Calibri"/>
              </a:rPr>
              <a:t>HTML</a:t>
            </a:r>
            <a:r>
              <a:rPr sz="1900" b="0">
                <a:solidFill>
                  <a:srgbClr val="1F232B"/>
                </a:solidFill>
                <a:latin typeface="Calibri"/>
              </a:rPr>
              <a:t> qaytardi — uni faqat brauzer ko'rsatadi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25905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83537"/>
            <a:ext cx="10680192" cy="35648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Bugun bitta xizmatdan ko'p mijoz foydalanadi: 📱 mobil ilova, ⚛️ React sayt, 🤖 Telegram bot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1992122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49754"/>
            <a:ext cx="11091672" cy="1149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755" b="1">
                <a:solidFill>
                  <a:srgbClr val="8E3FBF"/>
                </a:solidFill>
                <a:latin typeface="Calibri"/>
              </a:rPr>
              <a:t>API — dasturlar bir-biri bilan "gaplashishi" uchun kelishilgan qoidalar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08514"/>
            <a:ext cx="11091672" cy="829119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08514"/>
            <a:ext cx="82296" cy="82911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699954"/>
            <a:ext cx="10725912" cy="66452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805" b="0">
                <a:solidFill>
                  <a:srgbClr val="1F232B"/>
                </a:solidFill>
                <a:latin typeface="Calibri"/>
              </a:rPr>
              <a:t>💡 </a:t>
            </a:r>
            <a:r>
              <a:rPr sz="1805" b="1">
                <a:solidFill>
                  <a:srgbClr val="1F232B"/>
                </a:solidFill>
                <a:latin typeface="Calibri"/>
              </a:rPr>
              <a:t>Yetkazib berish:</a:t>
            </a:r>
            <a:r>
              <a:rPr sz="1805" b="0">
                <a:solidFill>
                  <a:srgbClr val="1F232B"/>
                </a:solidFill>
                <a:latin typeface="Calibri"/>
              </a:rPr>
              <a:t> IV bobdagi sayt — restoran zali (taom likopchada — HTML). API — yetkazib berish: o'sha oshxona, o'sha taom, lekin konteynerda (</a:t>
            </a:r>
            <a:r>
              <a:rPr sz="1805" b="1">
                <a:solidFill>
                  <a:srgbClr val="1F232B"/>
                </a:solidFill>
                <a:latin typeface="Calibri"/>
              </a:rPr>
              <a:t>JSON</a:t>
            </a:r>
            <a:r>
              <a:rPr sz="1805" b="0">
                <a:solidFill>
                  <a:srgbClr val="1F232B"/>
                </a:solidFill>
                <a:latin typeface="Calibri"/>
              </a:rPr>
              <a:t>). Oshxona bitta — mijozlar ko'p.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57090"/>
            <a:ext cx="11091672" cy="108868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71195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Matn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86274"/>
            <a:ext cx="10725912" cy="7412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📱 Mobil ilova  ┐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⚛️ React sayt   ├─ JSON ─▶  🔄 Django REST API  ⇄  🐘 PostgreSQL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🤖 Telegram bot ┘          /api/maqolalar/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JSON — ma'lumot almashish tili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39-mavzu · Django REST Framework (DRF) ga kirish. Serializerlar va API View'lar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290120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255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</a:t>
            </a:r>
            <a:r>
              <a:rPr sz="1632" b="0">
                <a:solidFill>
                  <a:srgbClr val="98C379"/>
                </a:solidFill>
                <a:latin typeface="Consolas"/>
              </a:rPr>
              <a:t>"id"</a:t>
            </a:r>
            <a:r>
              <a:rPr sz="1632" b="0">
                <a:solidFill>
                  <a:srgbClr val="E6E6E6"/>
                </a:solidFill>
                <a:latin typeface="Consolas"/>
              </a:rPr>
              <a:t>: 5,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</a:t>
            </a:r>
            <a:r>
              <a:rPr sz="1632" b="0">
                <a:solidFill>
                  <a:srgbClr val="98C379"/>
                </a:solidFill>
                <a:latin typeface="Consolas"/>
              </a:rPr>
              <a:t>"sarlavha"</a:t>
            </a:r>
            <a:r>
              <a:rPr sz="1632" b="0">
                <a:solidFill>
                  <a:srgbClr val="E6E6E6"/>
                </a:solidFill>
                <a:latin typeface="Consolas"/>
              </a:rPr>
              <a:t>: </a:t>
            </a:r>
            <a:r>
              <a:rPr sz="1632" b="0">
                <a:solidFill>
                  <a:srgbClr val="98C379"/>
                </a:solidFill>
                <a:latin typeface="Consolas"/>
              </a:rPr>
              <a:t>"Bilimlar bellashuvi"</a:t>
            </a:r>
            <a:r>
              <a:rPr sz="1632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</a:t>
            </a:r>
            <a:r>
              <a:rPr sz="1632" b="0">
                <a:solidFill>
                  <a:srgbClr val="98C379"/>
                </a:solidFill>
                <a:latin typeface="Consolas"/>
              </a:rPr>
              <a:t>"chop_etilgan"</a:t>
            </a:r>
            <a:r>
              <a:rPr sz="1632" b="0">
                <a:solidFill>
                  <a:srgbClr val="E6E6E6"/>
                </a:solidFill>
                <a:latin typeface="Consolas"/>
              </a:rPr>
              <a:t>: true,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</a:t>
            </a:r>
            <a:r>
              <a:rPr sz="1632" b="0">
                <a:solidFill>
                  <a:srgbClr val="98C379"/>
                </a:solidFill>
                <a:latin typeface="Consolas"/>
              </a:rPr>
              <a:t>"korishlar"</a:t>
            </a:r>
            <a:r>
              <a:rPr sz="1632" b="0">
                <a:solidFill>
                  <a:srgbClr val="E6E6E6"/>
                </a:solidFill>
                <a:latin typeface="Consolas"/>
              </a:rPr>
              <a:t>: 128,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</a:t>
            </a:r>
            <a:r>
              <a:rPr sz="1632" b="0">
                <a:solidFill>
                  <a:srgbClr val="98C379"/>
                </a:solidFill>
                <a:latin typeface="Consolas"/>
              </a:rPr>
              <a:t>"kategoriya"</a:t>
            </a:r>
            <a:r>
              <a:rPr sz="1632" b="0">
                <a:solidFill>
                  <a:srgbClr val="E6E6E6"/>
                </a:solidFill>
                <a:latin typeface="Consolas"/>
              </a:rPr>
              <a:t>: { </a:t>
            </a:r>
            <a:r>
              <a:rPr sz="1632" b="0">
                <a:solidFill>
                  <a:srgbClr val="98C379"/>
                </a:solidFill>
                <a:latin typeface="Consolas"/>
              </a:rPr>
              <a:t>"id"</a:t>
            </a:r>
            <a:r>
              <a:rPr sz="1632" b="0">
                <a:solidFill>
                  <a:srgbClr val="E6E6E6"/>
                </a:solidFill>
                <a:latin typeface="Consolas"/>
              </a:rPr>
              <a:t>: 2, </a:t>
            </a:r>
            <a:r>
              <a:rPr sz="1632" b="0">
                <a:solidFill>
                  <a:srgbClr val="98C379"/>
                </a:solidFill>
                <a:latin typeface="Consolas"/>
              </a:rPr>
              <a:t>"nomi"</a:t>
            </a:r>
            <a:r>
              <a:rPr sz="1632" b="0">
                <a:solidFill>
                  <a:srgbClr val="E6E6E6"/>
                </a:solidFill>
                <a:latin typeface="Consolas"/>
              </a:rPr>
              <a:t>: </a:t>
            </a:r>
            <a:r>
              <a:rPr sz="1632" b="0">
                <a:solidFill>
                  <a:srgbClr val="98C379"/>
                </a:solidFill>
                <a:latin typeface="Consolas"/>
              </a:rPr>
              <a:t>"Tadbirlar"</a:t>
            </a:r>
            <a:r>
              <a:rPr sz="1632" b="0">
                <a:solidFill>
                  <a:srgbClr val="E6E6E6"/>
                </a:solidFill>
                <a:latin typeface="Consolas"/>
              </a:rPr>
              <a:t> },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</a:t>
            </a:r>
            <a:r>
              <a:rPr sz="1632" b="0">
                <a:solidFill>
                  <a:srgbClr val="98C379"/>
                </a:solidFill>
                <a:latin typeface="Consolas"/>
              </a:rPr>
              <a:t>"teglar"</a:t>
            </a:r>
            <a:r>
              <a:rPr sz="1632" b="0">
                <a:solidFill>
                  <a:srgbClr val="E6E6E6"/>
                </a:solidFill>
                <a:latin typeface="Consolas"/>
              </a:rPr>
              <a:t>: [</a:t>
            </a:r>
            <a:r>
              <a:rPr sz="1632" b="0">
                <a:solidFill>
                  <a:srgbClr val="98C379"/>
                </a:solidFill>
                <a:latin typeface="Consolas"/>
              </a:rPr>
              <a:t>"olimpiada"</a:t>
            </a:r>
            <a:r>
              <a:rPr sz="1632" b="0">
                <a:solidFill>
                  <a:srgbClr val="E6E6E6"/>
                </a:solidFill>
                <a:latin typeface="Consolas"/>
              </a:rPr>
              <a:t>, </a:t>
            </a:r>
            <a:r>
              <a:rPr sz="1632" b="0">
                <a:solidFill>
                  <a:srgbClr val="98C379"/>
                </a:solidFill>
                <a:latin typeface="Consolas"/>
              </a:rPr>
              <a:t>"8-sinf"</a:t>
            </a:r>
            <a:r>
              <a:rPr sz="1632" b="0">
                <a:solidFill>
                  <a:srgbClr val="E6E6E6"/>
                </a:solidFill>
                <a:latin typeface="Consolas"/>
              </a:rPr>
              <a:t>],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</a:t>
            </a:r>
            <a:r>
              <a:rPr sz="1632" b="0">
                <a:solidFill>
                  <a:srgbClr val="98C379"/>
                </a:solidFill>
                <a:latin typeface="Consolas"/>
              </a:rPr>
              <a:t>"rasm"</a:t>
            </a:r>
            <a:r>
              <a:rPr sz="1632" b="0">
                <a:solidFill>
                  <a:srgbClr val="E6E6E6"/>
                </a:solidFill>
                <a:latin typeface="Consolas"/>
              </a:rPr>
              <a:t>: null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537984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Kalitlar — </a:t>
            </a:r>
            <a:r>
              <a:rPr sz="2400" b="1">
                <a:solidFill>
                  <a:srgbClr val="1F232B"/>
                </a:solidFill>
                <a:latin typeface="Calibri"/>
              </a:rPr>
              <a:t>qo'sh</a:t>
            </a:r>
            <a:r>
              <a:rPr sz="2400" b="0">
                <a:solidFill>
                  <a:srgbClr val="1F232B"/>
                </a:solidFill>
                <a:latin typeface="Calibri"/>
              </a:rPr>
              <a:t> qo'shtirnoqda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675144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083576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Qiymatlar: matn, son, </a:t>
            </a:r>
            <a:r>
              <a:rPr sz="2208" b="0">
                <a:solidFill>
                  <a:srgbClr val="B02A4A"/>
                </a:solidFill>
                <a:latin typeface="Consolas"/>
              </a:rPr>
              <a:t>true/false</a:t>
            </a:r>
            <a:r>
              <a:rPr sz="2400" b="0">
                <a:solidFill>
                  <a:srgbClr val="1F232B"/>
                </a:solidFill>
                <a:latin typeface="Calibri"/>
              </a:rPr>
              <a:t>, </a:t>
            </a:r>
            <a:r>
              <a:rPr sz="2208" b="0">
                <a:solidFill>
                  <a:srgbClr val="B02A4A"/>
                </a:solidFill>
                <a:latin typeface="Consolas"/>
              </a:rPr>
              <a:t>null</a:t>
            </a:r>
            <a:r>
              <a:rPr sz="2400" b="0">
                <a:solidFill>
                  <a:srgbClr val="1F232B"/>
                </a:solidFill>
                <a:latin typeface="Calibri"/>
              </a:rPr>
              <a:t>, obyekt </a:t>
            </a:r>
            <a:r>
              <a:rPr sz="2208" b="0">
                <a:solidFill>
                  <a:srgbClr val="B02A4A"/>
                </a:solidFill>
                <a:latin typeface="Consolas"/>
              </a:rPr>
              <a:t>{}</a:t>
            </a:r>
            <a:r>
              <a:rPr sz="2400" b="0">
                <a:solidFill>
                  <a:srgbClr val="1F232B"/>
                </a:solidFill>
                <a:latin typeface="Calibri"/>
              </a:rPr>
              <a:t>, massiv </a:t>
            </a:r>
            <a:r>
              <a:rPr sz="2208" b="0">
                <a:solidFill>
                  <a:srgbClr val="B02A4A"/>
                </a:solidFill>
                <a:latin typeface="Consolas"/>
              </a:rPr>
              <a:t>[]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220736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629168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Python'dagi dict/list va JS'dagi obyekt/massivga juda o'xshaydi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766328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REST arxitekturasi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39-mavzu · Django REST Framework (DRF) ga kirish. Serializerlar va API View'lar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83772"/>
          <a:ext cx="11091672" cy="2979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425704"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Amal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Metod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URL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Javob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Ro'yxat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GET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/api/maqolalar/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Bitta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GET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/api/maqolalar/5/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200 / 404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Yaratish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POST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/api/maqolalar/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1F232B"/>
                          </a:solidFill>
                          <a:latin typeface="Calibri"/>
                        </a:rPr>
                        <a:t>201</a:t>
                      </a:r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 Created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To'liq yangilash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/api/maqolalar/5/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Qisman yangilash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PATCH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/api/maqolalar/5/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O'chirish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DELETE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/api/maqolalar/5/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1F232B"/>
                          </a:solidFill>
                          <a:latin typeface="Calibri"/>
                        </a:rPr>
                        <a:t>204</a:t>
                      </a:r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 No Content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4683156"/>
            <a:ext cx="10680192" cy="753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URL'da </a:t>
            </a:r>
            <a:r>
              <a:rPr sz="2200" b="1">
                <a:solidFill>
                  <a:srgbClr val="1F232B"/>
                </a:solidFill>
                <a:latin typeface="Calibri"/>
              </a:rPr>
              <a:t>ot</a:t>
            </a:r>
            <a:r>
              <a:rPr sz="2200" b="0">
                <a:solidFill>
                  <a:srgbClr val="1F232B"/>
                </a:solidFill>
                <a:latin typeface="Calibri"/>
              </a:rPr>
              <a:t>, ko'plikda: </a:t>
            </a:r>
            <a:r>
              <a:rPr sz="2024" b="0">
                <a:solidFill>
                  <a:srgbClr val="B02A4A"/>
                </a:solidFill>
                <a:latin typeface="Consolas"/>
              </a:rPr>
              <a:t>/api/maqolalar/</a:t>
            </a:r>
            <a:r>
              <a:rPr sz="2200" b="0">
                <a:solidFill>
                  <a:srgbClr val="1F232B"/>
                </a:solidFill>
                <a:latin typeface="Calibri"/>
              </a:rPr>
              <a:t> ✅ — </a:t>
            </a:r>
            <a:r>
              <a:rPr sz="2024" b="0">
                <a:solidFill>
                  <a:srgbClr val="B02A4A"/>
                </a:solidFill>
                <a:latin typeface="Consolas"/>
              </a:rPr>
              <a:t>/api/getMaqola/</a:t>
            </a:r>
            <a:r>
              <a:rPr sz="2200" b="0">
                <a:solidFill>
                  <a:srgbClr val="1F232B"/>
                </a:solidFill>
                <a:latin typeface="Calibri"/>
              </a:rPr>
              <a:t> ❌; amal — </a:t>
            </a:r>
            <a:r>
              <a:rPr sz="2200" b="1">
                <a:solidFill>
                  <a:srgbClr val="1F232B"/>
                </a:solidFill>
                <a:latin typeface="Calibri"/>
              </a:rPr>
              <a:t>metod</a:t>
            </a:r>
            <a:r>
              <a:rPr sz="2200" b="0">
                <a:solidFill>
                  <a:srgbClr val="1F232B"/>
                </a:solidFill>
                <a:latin typeface="Calibri"/>
              </a:rPr>
              <a:t> orqali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4808886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546248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Xatolar: </a:t>
            </a:r>
            <a:r>
              <a:rPr sz="2200" b="1">
                <a:solidFill>
                  <a:srgbClr val="1F232B"/>
                </a:solidFill>
                <a:latin typeface="Calibri"/>
              </a:rPr>
              <a:t>400</a:t>
            </a:r>
            <a:r>
              <a:rPr sz="2200" b="0">
                <a:solidFill>
                  <a:srgbClr val="1F232B"/>
                </a:solidFill>
                <a:latin typeface="Calibri"/>
              </a:rPr>
              <a:t> noto'g'ri ma'lumot, </a:t>
            </a:r>
            <a:r>
              <a:rPr sz="2200" b="1">
                <a:solidFill>
                  <a:srgbClr val="1F232B"/>
                </a:solidFill>
                <a:latin typeface="Calibri"/>
              </a:rPr>
              <a:t>401</a:t>
            </a:r>
            <a:r>
              <a:rPr sz="2200" b="0">
                <a:solidFill>
                  <a:srgbClr val="1F232B"/>
                </a:solidFill>
                <a:latin typeface="Calibri"/>
              </a:rPr>
              <a:t> kirilmagan, </a:t>
            </a:r>
            <a:r>
              <a:rPr sz="2200" b="1">
                <a:solidFill>
                  <a:srgbClr val="1F232B"/>
                </a:solidFill>
                <a:latin typeface="Calibri"/>
              </a:rPr>
              <a:t>403</a:t>
            </a:r>
            <a:r>
              <a:rPr sz="2200" b="0">
                <a:solidFill>
                  <a:srgbClr val="1F232B"/>
                </a:solidFill>
                <a:latin typeface="Calibri"/>
              </a:rPr>
              <a:t> ruxsat yo'q, </a:t>
            </a:r>
            <a:r>
              <a:rPr sz="2200" b="1">
                <a:solidFill>
                  <a:srgbClr val="1F232B"/>
                </a:solidFill>
                <a:latin typeface="Calibri"/>
              </a:rPr>
              <a:t>404</a:t>
            </a:r>
            <a:r>
              <a:rPr sz="2200" b="0">
                <a:solidFill>
                  <a:srgbClr val="1F232B"/>
                </a:solidFill>
                <a:latin typeface="Calibri"/>
              </a:rPr>
              <a:t> topilmadi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671978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DRF'ni o'rnatish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39-mavzu · Django REST Framework (DRF) ga kirish. Serializerlar va API View'lar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26809"/>
            <a:ext cx="11091672" cy="107728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81673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55993"/>
            <a:ext cx="10725912" cy="72981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pip install djangorestframework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pip freeze &gt; requirements.txt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23550"/>
            <a:ext cx="11091672" cy="281419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7841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settings.py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2734"/>
            <a:ext cx="10725912" cy="246672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88" b="0">
                <a:solidFill>
                  <a:srgbClr val="E6E6E6"/>
                </a:solidFill>
                <a:latin typeface="Consolas"/>
              </a:rPr>
              <a:t>INSTALLED_APPS = [</a:t>
            </a:r>
          </a:p>
          <a:p>
            <a:pPr>
              <a:lnSpc>
                <a:spcPct val="100000"/>
              </a:lnSpc>
            </a:pPr>
            <a:r>
              <a:rPr sz="1288" b="0">
                <a:solidFill>
                  <a:srgbClr val="7F848E"/>
                </a:solidFill>
                <a:latin typeface="Consolas"/>
              </a:rPr>
              <a:t>    # ...</a:t>
            </a:r>
          </a:p>
          <a:p>
            <a:pPr>
              <a:lnSpc>
                <a:spcPct val="100000"/>
              </a:lnSpc>
            </a:pPr>
            <a:r>
              <a:rPr sz="1288" b="0">
                <a:solidFill>
                  <a:srgbClr val="E6E6E6"/>
                </a:solidFill>
                <a:latin typeface="Consolas"/>
              </a:rPr>
              <a:t>    </a:t>
            </a:r>
            <a:r>
              <a:rPr sz="1288" b="0">
                <a:solidFill>
                  <a:srgbClr val="98C379"/>
                </a:solidFill>
                <a:latin typeface="Consolas"/>
              </a:rPr>
              <a:t>"rest_framework"</a:t>
            </a:r>
            <a:r>
              <a:rPr sz="1288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288" b="0">
                <a:solidFill>
                  <a:srgbClr val="E6E6E6"/>
                </a:solidFill>
                <a:latin typeface="Consolas"/>
              </a:rPr>
              <a:t>    </a:t>
            </a:r>
            <a:r>
              <a:rPr sz="1288" b="0">
                <a:solidFill>
                  <a:srgbClr val="98C379"/>
                </a:solidFill>
                <a:latin typeface="Consolas"/>
              </a:rPr>
              <a:t>"blog"</a:t>
            </a:r>
            <a:r>
              <a:rPr sz="1288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288" b="0">
                <a:solidFill>
                  <a:srgbClr val="E6E6E6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28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88" b="0">
                <a:solidFill>
                  <a:srgbClr val="E6E6E6"/>
                </a:solidFill>
                <a:latin typeface="Consolas"/>
              </a:rPr>
              <a:t>REST_FRAMEWORK = {</a:t>
            </a:r>
          </a:p>
          <a:p>
            <a:pPr>
              <a:lnSpc>
                <a:spcPct val="100000"/>
              </a:lnSpc>
            </a:pPr>
            <a:r>
              <a:rPr sz="1288" b="0">
                <a:solidFill>
                  <a:srgbClr val="E6E6E6"/>
                </a:solidFill>
                <a:latin typeface="Consolas"/>
              </a:rPr>
              <a:t>    </a:t>
            </a:r>
            <a:r>
              <a:rPr sz="1288" b="0">
                <a:solidFill>
                  <a:srgbClr val="98C379"/>
                </a:solidFill>
                <a:latin typeface="Consolas"/>
              </a:rPr>
              <a:t>"DEFAULT_PERMISSION_CLASSES"</a:t>
            </a:r>
            <a:r>
              <a:rPr sz="1288" b="0">
                <a:solidFill>
                  <a:srgbClr val="E6E6E6"/>
                </a:solidFill>
                <a:latin typeface="Consolas"/>
              </a:rPr>
              <a:t>: [</a:t>
            </a:r>
          </a:p>
          <a:p>
            <a:pPr>
              <a:lnSpc>
                <a:spcPct val="100000"/>
              </a:lnSpc>
            </a:pPr>
            <a:r>
              <a:rPr sz="1288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88" b="0">
                <a:solidFill>
                  <a:srgbClr val="98C379"/>
                </a:solidFill>
                <a:latin typeface="Consolas"/>
              </a:rPr>
              <a:t>"rest_framework.permissions.IsAuthenticatedOrReadOnly"</a:t>
            </a:r>
            <a:r>
              <a:rPr sz="1288" b="0">
                <a:solidFill>
                  <a:srgbClr val="E6E6E6"/>
                </a:solidFill>
                <a:latin typeface="Consolas"/>
              </a:rPr>
              <a:t>,   # o'qish — hammaga, yozish — kirganlarga</a:t>
            </a:r>
          </a:p>
          <a:p>
            <a:pPr>
              <a:lnSpc>
                <a:spcPct val="100000"/>
              </a:lnSpc>
            </a:pPr>
            <a:r>
              <a:rPr sz="1288" b="0">
                <a:solidFill>
                  <a:srgbClr val="E6E6E6"/>
                </a:solidFill>
                <a:latin typeface="Consolas"/>
              </a:rPr>
              <a:t>    ],</a:t>
            </a:r>
          </a:p>
          <a:p>
            <a:pPr>
              <a:lnSpc>
                <a:spcPct val="100000"/>
              </a:lnSpc>
            </a:pPr>
            <a:r>
              <a:rPr sz="1288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Serializer — tarjimon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39-mavzu · Django REST Framework (DRF) ga kirish. Serializerlar va API View'lar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6654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Serializatsiya:</a:t>
            </a:r>
            <a:r>
              <a:rPr sz="2800" b="0">
                <a:solidFill>
                  <a:srgbClr val="1F232B"/>
                </a:solidFill>
                <a:latin typeface="Calibri"/>
              </a:rPr>
              <a:t> model obyekti → dict → JSON (javob yuborish)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926561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75633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Deserializatsiya:</a:t>
            </a:r>
            <a:r>
              <a:rPr sz="2800" b="0">
                <a:solidFill>
                  <a:srgbClr val="1F232B"/>
                </a:solidFill>
                <a:latin typeface="Calibri"/>
              </a:rPr>
              <a:t> JSON → tekshirish → model obyekti (saqlash)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535653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984725"/>
            <a:ext cx="11091672" cy="1522857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984725"/>
            <a:ext cx="82296" cy="152285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76165"/>
            <a:ext cx="10725912" cy="135826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Forma bilan o'xshash:</a:t>
            </a:r>
            <a:r>
              <a:rPr sz="2660" b="0">
                <a:solidFill>
                  <a:srgbClr val="1F232B"/>
                </a:solidFill>
                <a:latin typeface="Calibri"/>
              </a:rPr>
              <a:t> serializer — API uchun forma. U ham maydonlarni belgilaydi, tekshiradi va saqlaydi. </a:t>
            </a:r>
            <a:r>
              <a:rPr sz="2447" b="0">
                <a:solidFill>
                  <a:srgbClr val="B02A4A"/>
                </a:solidFill>
                <a:latin typeface="Consolas"/>
              </a:rPr>
              <a:t>Form ↔ Serializer</a:t>
            </a:r>
            <a:r>
              <a:rPr sz="2660" b="0">
                <a:solidFill>
                  <a:srgbClr val="1F232B"/>
                </a:solidFill>
                <a:latin typeface="Calibri"/>
              </a:rPr>
              <a:t>, </a:t>
            </a:r>
            <a:r>
              <a:rPr sz="2447" b="0">
                <a:solidFill>
                  <a:srgbClr val="B02A4A"/>
                </a:solidFill>
                <a:latin typeface="Consolas"/>
              </a:rPr>
              <a:t>ModelForm ↔ ModelSerializer</a:t>
            </a:r>
            <a:r>
              <a:rPr sz="2660" b="0">
                <a:solidFill>
                  <a:srgbClr val="1F23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ModelSerializer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39-mavzu · Django REST Framework (DRF) ga kirish. Serializerlar va API View'lar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23315"/>
            <a:ext cx="11091672" cy="4702332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817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blog/serializers.py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52499"/>
            <a:ext cx="10725912" cy="43548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from</a:t>
            </a:r>
            <a:r>
              <a:rPr sz="1496" b="0">
                <a:solidFill>
                  <a:srgbClr val="E6E6E6"/>
                </a:solidFill>
                <a:latin typeface="Consolas"/>
              </a:rPr>
              <a:t> rest_framework </a:t>
            </a:r>
            <a:r>
              <a:rPr sz="1496" b="0">
                <a:solidFill>
                  <a:srgbClr val="C678DD"/>
                </a:solidFill>
                <a:latin typeface="Consolas"/>
              </a:rPr>
              <a:t>import</a:t>
            </a:r>
            <a:r>
              <a:rPr sz="1496" b="0">
                <a:solidFill>
                  <a:srgbClr val="E6E6E6"/>
                </a:solidFill>
                <a:latin typeface="Consolas"/>
              </a:rPr>
              <a:t> serializers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from</a:t>
            </a:r>
            <a:r>
              <a:rPr sz="1496" b="0">
                <a:solidFill>
                  <a:srgbClr val="E6E6E6"/>
                </a:solidFill>
                <a:latin typeface="Consolas"/>
              </a:rPr>
              <a:t> .models </a:t>
            </a:r>
            <a:r>
              <a:rPr sz="1496" b="0">
                <a:solidFill>
                  <a:srgbClr val="C678DD"/>
                </a:solidFill>
                <a:latin typeface="Consolas"/>
              </a:rPr>
              <a:t>import</a:t>
            </a:r>
            <a:r>
              <a:rPr sz="1496" b="0">
                <a:solidFill>
                  <a:srgbClr val="E6E6E6"/>
                </a:solidFill>
                <a:latin typeface="Consolas"/>
              </a:rPr>
              <a:t> Maqola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class</a:t>
            </a:r>
            <a:r>
              <a:rPr sz="1496" b="0">
                <a:solidFill>
                  <a:srgbClr val="E6E6E6"/>
                </a:solidFill>
                <a:latin typeface="Consolas"/>
              </a:rPr>
              <a:t> MaqolaSerializer(serializers.ModelSerializer):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muallif = serializers.ReadOnlyField(source=</a:t>
            </a:r>
            <a:r>
              <a:rPr sz="1496" b="0">
                <a:solidFill>
                  <a:srgbClr val="98C379"/>
                </a:solidFill>
                <a:latin typeface="Consolas"/>
              </a:rPr>
              <a:t>"muallif.username"</a:t>
            </a:r>
            <a:r>
              <a:rPr sz="1496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kategoriya_nomi = serializers.ReadOnlyField(source=</a:t>
            </a:r>
            <a:r>
              <a:rPr sz="1496" b="0">
                <a:solidFill>
                  <a:srgbClr val="98C379"/>
                </a:solidFill>
                <a:latin typeface="Consolas"/>
              </a:rPr>
              <a:t>"kategoriya.nomi"</a:t>
            </a:r>
            <a:r>
              <a:rPr sz="1496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class</a:t>
            </a:r>
            <a:r>
              <a:rPr sz="1496" b="0">
                <a:solidFill>
                  <a:srgbClr val="E6E6E6"/>
                </a:solidFill>
                <a:latin typeface="Consolas"/>
              </a:rPr>
              <a:t> Meta: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model = Maqola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fields = [</a:t>
            </a:r>
            <a:r>
              <a:rPr sz="1496" b="0">
                <a:solidFill>
                  <a:srgbClr val="98C379"/>
                </a:solidFill>
                <a:latin typeface="Consolas"/>
              </a:rPr>
              <a:t>"id"</a:t>
            </a:r>
            <a:r>
              <a:rPr sz="1496" b="0">
                <a:solidFill>
                  <a:srgbClr val="E6E6E6"/>
                </a:solidFill>
                <a:latin typeface="Consolas"/>
              </a:rPr>
              <a:t>, </a:t>
            </a:r>
            <a:r>
              <a:rPr sz="1496" b="0">
                <a:solidFill>
                  <a:srgbClr val="98C379"/>
                </a:solidFill>
                <a:latin typeface="Consolas"/>
              </a:rPr>
              <a:t>"sarlavha"</a:t>
            </a:r>
            <a:r>
              <a:rPr sz="1496" b="0">
                <a:solidFill>
                  <a:srgbClr val="E6E6E6"/>
                </a:solidFill>
                <a:latin typeface="Consolas"/>
              </a:rPr>
              <a:t>, </a:t>
            </a:r>
            <a:r>
              <a:rPr sz="1496" b="0">
                <a:solidFill>
                  <a:srgbClr val="98C379"/>
                </a:solidFill>
                <a:latin typeface="Consolas"/>
              </a:rPr>
              <a:t>"matn"</a:t>
            </a:r>
            <a:r>
              <a:rPr sz="1496" b="0">
                <a:solidFill>
                  <a:srgbClr val="E6E6E6"/>
                </a:solidFill>
                <a:latin typeface="Consolas"/>
              </a:rPr>
              <a:t>, </a:t>
            </a:r>
            <a:r>
              <a:rPr sz="1496" b="0">
                <a:solidFill>
                  <a:srgbClr val="98C379"/>
                </a:solidFill>
                <a:latin typeface="Consolas"/>
              </a:rPr>
              <a:t>"kategoriya"</a:t>
            </a:r>
            <a:r>
              <a:rPr sz="1496" b="0">
                <a:solidFill>
                  <a:srgbClr val="E6E6E6"/>
                </a:solidFill>
                <a:latin typeface="Consolas"/>
              </a:rPr>
              <a:t>, </a:t>
            </a:r>
            <a:r>
              <a:rPr sz="1496" b="0">
                <a:solidFill>
                  <a:srgbClr val="98C379"/>
                </a:solidFill>
                <a:latin typeface="Consolas"/>
              </a:rPr>
              <a:t>"kategoriya_nomi"</a:t>
            </a:r>
            <a:r>
              <a:rPr sz="1496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          </a:t>
            </a:r>
            <a:r>
              <a:rPr sz="1496" b="0">
                <a:solidFill>
                  <a:srgbClr val="98C379"/>
                </a:solidFill>
                <a:latin typeface="Consolas"/>
              </a:rPr>
              <a:t>"muallif"</a:t>
            </a:r>
            <a:r>
              <a:rPr sz="1496" b="0">
                <a:solidFill>
                  <a:srgbClr val="E6E6E6"/>
                </a:solidFill>
                <a:latin typeface="Consolas"/>
              </a:rPr>
              <a:t>, </a:t>
            </a:r>
            <a:r>
              <a:rPr sz="1496" b="0">
                <a:solidFill>
                  <a:srgbClr val="98C379"/>
                </a:solidFill>
                <a:latin typeface="Consolas"/>
              </a:rPr>
              <a:t>"chop_etilgan"</a:t>
            </a:r>
            <a:r>
              <a:rPr sz="1496" b="0">
                <a:solidFill>
                  <a:srgbClr val="E6E6E6"/>
                </a:solidFill>
                <a:latin typeface="Consolas"/>
              </a:rPr>
              <a:t>, </a:t>
            </a:r>
            <a:r>
              <a:rPr sz="1496" b="0">
                <a:solidFill>
                  <a:srgbClr val="98C379"/>
                </a:solidFill>
                <a:latin typeface="Consolas"/>
              </a:rPr>
              <a:t>"korishlar"</a:t>
            </a:r>
            <a:r>
              <a:rPr sz="1496" b="0">
                <a:solidFill>
                  <a:srgbClr val="E6E6E6"/>
                </a:solidFill>
                <a:latin typeface="Consolas"/>
              </a:rPr>
              <a:t>, </a:t>
            </a:r>
            <a:r>
              <a:rPr sz="1496" b="0">
                <a:solidFill>
                  <a:srgbClr val="98C379"/>
                </a:solidFill>
                <a:latin typeface="Consolas"/>
              </a:rPr>
              <a:t>"yaratilgan"</a:t>
            </a:r>
            <a:r>
              <a:rPr sz="1496" b="0">
                <a:solidFill>
                  <a:srgbClr val="E6E6E6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read_only_fields = [</a:t>
            </a:r>
            <a:r>
              <a:rPr sz="1496" b="0">
                <a:solidFill>
                  <a:srgbClr val="98C379"/>
                </a:solidFill>
                <a:latin typeface="Consolas"/>
              </a:rPr>
              <a:t>"korishlar"</a:t>
            </a:r>
            <a:r>
              <a:rPr sz="1496" b="0">
                <a:solidFill>
                  <a:srgbClr val="E6E6E6"/>
                </a:solidFill>
                <a:latin typeface="Consolas"/>
              </a:rPr>
              <a:t>, </a:t>
            </a:r>
            <a:r>
              <a:rPr sz="1496" b="0">
                <a:solidFill>
                  <a:srgbClr val="98C379"/>
                </a:solidFill>
                <a:latin typeface="Consolas"/>
              </a:rPr>
              <a:t>"yaratilgan"</a:t>
            </a:r>
            <a:r>
              <a:rPr sz="1496" b="0">
                <a:solidFill>
                  <a:srgbClr val="E6E6E6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def</a:t>
            </a:r>
            <a:r>
              <a:rPr sz="1496" b="0">
                <a:solidFill>
                  <a:srgbClr val="E6E6E6"/>
                </a:solidFill>
                <a:latin typeface="Consolas"/>
              </a:rPr>
              <a:t> validate_sarlavha(</a:t>
            </a:r>
            <a:r>
              <a:rPr sz="1496" b="0">
                <a:solidFill>
                  <a:srgbClr val="C678DD"/>
                </a:solidFill>
                <a:latin typeface="Consolas"/>
              </a:rPr>
              <a:t>self</a:t>
            </a:r>
            <a:r>
              <a:rPr sz="1496" b="0">
                <a:solidFill>
                  <a:srgbClr val="E6E6E6"/>
                </a:solidFill>
                <a:latin typeface="Consolas"/>
              </a:rPr>
              <a:t>, qiymat):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if</a:t>
            </a:r>
            <a:r>
              <a:rPr sz="1496" b="0">
                <a:solidFill>
                  <a:srgbClr val="E6E6E6"/>
                </a:solidFill>
                <a:latin typeface="Consolas"/>
              </a:rPr>
              <a:t> len(qiymat.strip()) &lt; 5: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    raise serializers.ValidationError(</a:t>
            </a:r>
            <a:r>
              <a:rPr sz="1496" b="0">
                <a:solidFill>
                  <a:srgbClr val="98C379"/>
                </a:solidFill>
                <a:latin typeface="Consolas"/>
              </a:rPr>
              <a:t>"Sarlavha kamida 5 belgi bo'lsin"</a:t>
            </a:r>
            <a:r>
              <a:rPr sz="1496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496" b="0">
                <a:solidFill>
                  <a:srgbClr val="E6E6E6"/>
                </a:solidFill>
                <a:latin typeface="Consolas"/>
              </a:rPr>
              <a:t> qiymat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Shell'da sinash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39-mavzu · Django REST Framework (DRF) ga kirish. Serializerlar va API View'lar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33717"/>
            <a:ext cx="11091672" cy="239285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88581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2901"/>
            <a:ext cx="10725912" cy="204538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65" b="0">
                <a:solidFill>
                  <a:srgbClr val="E6E6E6"/>
                </a:solidFill>
                <a:latin typeface="Consolas"/>
              </a:rPr>
              <a:t>m = Maqola.objects.first()</a:t>
            </a:r>
          </a:p>
          <a:p>
            <a:pPr>
              <a:lnSpc>
                <a:spcPct val="100000"/>
              </a:lnSpc>
            </a:pPr>
            <a:r>
              <a:rPr sz="1665" b="0">
                <a:solidFill>
                  <a:srgbClr val="E6E6E6"/>
                </a:solidFill>
                <a:latin typeface="Consolas"/>
              </a:rPr>
              <a:t>MaqolaSerializer(m).data                                  # obyekt → dict</a:t>
            </a:r>
          </a:p>
          <a:p>
            <a:pPr>
              <a:lnSpc>
                <a:spcPct val="100000"/>
              </a:lnSpc>
            </a:pPr>
            <a:r>
              <a:rPr sz="1665" b="0">
                <a:solidFill>
                  <a:srgbClr val="E6E6E6"/>
                </a:solidFill>
                <a:latin typeface="Consolas"/>
              </a:rPr>
              <a:t>MaqolaSerializer(Maqola.objects.all()[:2], many=</a:t>
            </a:r>
            <a:r>
              <a:rPr sz="1665" b="0">
                <a:solidFill>
                  <a:srgbClr val="C678DD"/>
                </a:solidFill>
                <a:latin typeface="Consolas"/>
              </a:rPr>
              <a:t>True</a:t>
            </a:r>
            <a:r>
              <a:rPr sz="1665" b="0">
                <a:solidFill>
                  <a:srgbClr val="E6E6E6"/>
                </a:solidFill>
                <a:latin typeface="Consolas"/>
              </a:rPr>
              <a:t>).data   # ro'yxat — many=</a:t>
            </a:r>
            <a:r>
              <a:rPr sz="1665" b="0">
                <a:solidFill>
                  <a:srgbClr val="C678DD"/>
                </a:solidFill>
                <a:latin typeface="Consolas"/>
              </a:rPr>
              <a:t>True</a:t>
            </a:r>
          </a:p>
          <a:p>
            <a:pPr>
              <a:lnSpc>
                <a:spcPct val="100000"/>
              </a:lnSpc>
            </a:pPr>
            <a:r>
              <a:rPr sz="1665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665" b="0">
                <a:solidFill>
                  <a:srgbClr val="E6E6E6"/>
                </a:solidFill>
                <a:latin typeface="Consolas"/>
              </a:rPr>
              <a:t>s = MaqolaSerializer(data={</a:t>
            </a:r>
            <a:r>
              <a:rPr sz="1665" b="0">
                <a:solidFill>
                  <a:srgbClr val="98C379"/>
                </a:solidFill>
                <a:latin typeface="Consolas"/>
              </a:rPr>
              <a:t>"sarlavha"</a:t>
            </a:r>
            <a:r>
              <a:rPr sz="1665" b="0">
                <a:solidFill>
                  <a:srgbClr val="E6E6E6"/>
                </a:solidFill>
                <a:latin typeface="Consolas"/>
              </a:rPr>
              <a:t>: </a:t>
            </a:r>
            <a:r>
              <a:rPr sz="1665" b="0">
                <a:solidFill>
                  <a:srgbClr val="98C379"/>
                </a:solidFill>
                <a:latin typeface="Consolas"/>
              </a:rPr>
              <a:t>"Hi"</a:t>
            </a:r>
            <a:r>
              <a:rPr sz="1665" b="0">
                <a:solidFill>
                  <a:srgbClr val="E6E6E6"/>
                </a:solidFill>
                <a:latin typeface="Consolas"/>
              </a:rPr>
              <a:t>, </a:t>
            </a:r>
            <a:r>
              <a:rPr sz="1665" b="0">
                <a:solidFill>
                  <a:srgbClr val="98C379"/>
                </a:solidFill>
                <a:latin typeface="Consolas"/>
              </a:rPr>
              <a:t>"matn"</a:t>
            </a:r>
            <a:r>
              <a:rPr sz="1665" b="0">
                <a:solidFill>
                  <a:srgbClr val="E6E6E6"/>
                </a:solidFill>
                <a:latin typeface="Consolas"/>
              </a:rPr>
              <a:t>: </a:t>
            </a:r>
            <a:r>
              <a:rPr sz="1665" b="0">
                <a:solidFill>
                  <a:srgbClr val="98C379"/>
                </a:solidFill>
                <a:latin typeface="Consolas"/>
              </a:rPr>
              <a:t>"..."</a:t>
            </a:r>
            <a:r>
              <a:rPr sz="1665" b="0">
                <a:solidFill>
                  <a:srgbClr val="E6E6E6"/>
                </a:solidFill>
                <a:latin typeface="Consolas"/>
              </a:rPr>
              <a:t>, </a:t>
            </a:r>
            <a:r>
              <a:rPr sz="1665" b="0">
                <a:solidFill>
                  <a:srgbClr val="98C379"/>
                </a:solidFill>
                <a:latin typeface="Consolas"/>
              </a:rPr>
              <a:t>"kategoriya"</a:t>
            </a:r>
            <a:r>
              <a:rPr sz="1665" b="0">
                <a:solidFill>
                  <a:srgbClr val="E6E6E6"/>
                </a:solidFill>
                <a:latin typeface="Consolas"/>
              </a:rPr>
              <a:t>: 1})</a:t>
            </a:r>
          </a:p>
          <a:p>
            <a:pPr>
              <a:lnSpc>
                <a:spcPct val="100000"/>
              </a:lnSpc>
            </a:pPr>
            <a:r>
              <a:rPr sz="1665" b="0">
                <a:solidFill>
                  <a:srgbClr val="E6E6E6"/>
                </a:solidFill>
                <a:latin typeface="Consolas"/>
              </a:rPr>
              <a:t>s.is_valid()     # </a:t>
            </a:r>
            <a:r>
              <a:rPr sz="1665" b="0">
                <a:solidFill>
                  <a:srgbClr val="C678DD"/>
                </a:solidFill>
                <a:latin typeface="Consolas"/>
              </a:rPr>
              <a:t>False</a:t>
            </a:r>
          </a:p>
          <a:p>
            <a:pPr>
              <a:lnSpc>
                <a:spcPct val="100000"/>
              </a:lnSpc>
            </a:pPr>
            <a:r>
              <a:rPr sz="1665" b="0">
                <a:solidFill>
                  <a:srgbClr val="E6E6E6"/>
                </a:solidFill>
                <a:latin typeface="Consolas"/>
              </a:rPr>
              <a:t>s.errors         # {</a:t>
            </a:r>
            <a:r>
              <a:rPr sz="1665" b="0">
                <a:solidFill>
                  <a:srgbClr val="98C379"/>
                </a:solidFill>
                <a:latin typeface="Consolas"/>
              </a:rPr>
              <a:t>'sarlavha'</a:t>
            </a:r>
            <a:r>
              <a:rPr sz="1665" b="0">
                <a:solidFill>
                  <a:srgbClr val="E6E6E6"/>
                </a:solidFill>
                <a:latin typeface="Consolas"/>
              </a:rPr>
              <a:t>: [</a:t>
            </a:r>
            <a:r>
              <a:rPr sz="1665" b="0">
                <a:solidFill>
                  <a:srgbClr val="98C379"/>
                </a:solidFill>
                <a:latin typeface="Consolas"/>
              </a:rPr>
              <a:t>"Sarlavha kamida 5 belgi bo'lsin"</a:t>
            </a:r>
            <a:r>
              <a:rPr sz="1665" b="0">
                <a:solidFill>
                  <a:srgbClr val="E6E6E6"/>
                </a:solidFill>
                <a:latin typeface="Consolas"/>
              </a:rPr>
              <a:t>]}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46033"/>
            <a:ext cx="11091672" cy="88771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0089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Natija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5217"/>
            <a:ext cx="10725912" cy="54024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38" b="0">
                <a:solidFill>
                  <a:srgbClr val="1F232B"/>
                </a:solidFill>
                <a:latin typeface="Consolas"/>
              </a:rPr>
              <a:t>{</a:t>
            </a:r>
            <a:r>
              <a:rPr sz="1338" b="0">
                <a:solidFill>
                  <a:srgbClr val="1F232B"/>
                </a:solidFill>
                <a:latin typeface="Consolas"/>
              </a:rPr>
              <a:t>'id'</a:t>
            </a:r>
            <a:r>
              <a:rPr sz="1338" b="0">
                <a:solidFill>
                  <a:srgbClr val="1F232B"/>
                </a:solidFill>
                <a:latin typeface="Consolas"/>
              </a:rPr>
              <a:t>: 1, </a:t>
            </a:r>
            <a:r>
              <a:rPr sz="1338" b="0">
                <a:solidFill>
                  <a:srgbClr val="1F232B"/>
                </a:solidFill>
                <a:latin typeface="Consolas"/>
              </a:rPr>
              <a:t>'sarlavha'</a:t>
            </a:r>
            <a:r>
              <a:rPr sz="1338" b="0">
                <a:solidFill>
                  <a:srgbClr val="1F232B"/>
                </a:solidFill>
                <a:latin typeface="Consolas"/>
              </a:rPr>
              <a:t>: </a:t>
            </a:r>
            <a:r>
              <a:rPr sz="1338" b="0">
                <a:solidFill>
                  <a:srgbClr val="1F232B"/>
                </a:solidFill>
                <a:latin typeface="Consolas"/>
              </a:rPr>
              <a:t>"Futbol bo'yicha g'alaba"</a:t>
            </a:r>
            <a:r>
              <a:rPr sz="1338" b="0">
                <a:solidFill>
                  <a:srgbClr val="1F232B"/>
                </a:solidFill>
                <a:latin typeface="Consolas"/>
              </a:rPr>
              <a:t>, </a:t>
            </a:r>
            <a:r>
              <a:rPr sz="1338" b="0">
                <a:solidFill>
                  <a:srgbClr val="1F232B"/>
                </a:solidFill>
                <a:latin typeface="Consolas"/>
              </a:rPr>
              <a:t>'kategoriya'</a:t>
            </a:r>
            <a:r>
              <a:rPr sz="1338" b="0">
                <a:solidFill>
                  <a:srgbClr val="1F232B"/>
                </a:solidFill>
                <a:latin typeface="Consolas"/>
              </a:rPr>
              <a:t>: 1, </a:t>
            </a:r>
            <a:r>
              <a:rPr sz="1338" b="0">
                <a:solidFill>
                  <a:srgbClr val="1F232B"/>
                </a:solidFill>
                <a:latin typeface="Consolas"/>
              </a:rPr>
              <a:t>'kategoriya_nomi'</a:t>
            </a:r>
            <a:r>
              <a:rPr sz="1338" b="0">
                <a:solidFill>
                  <a:srgbClr val="1F232B"/>
                </a:solidFill>
                <a:latin typeface="Consolas"/>
              </a:rPr>
              <a:t>: </a:t>
            </a:r>
            <a:r>
              <a:rPr sz="1338" b="0">
                <a:solidFill>
                  <a:srgbClr val="1F232B"/>
                </a:solidFill>
                <a:latin typeface="Consolas"/>
              </a:rPr>
              <a:t>'Sport'</a:t>
            </a:r>
            <a:r>
              <a:rPr sz="1338" b="0">
                <a:solidFill>
                  <a:srgbClr val="1F232B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338" b="0">
                <a:solidFill>
                  <a:srgbClr val="1F232B"/>
                </a:solidFill>
                <a:latin typeface="Consolas"/>
              </a:rPr>
              <a:t> </a:t>
            </a:r>
            <a:r>
              <a:rPr sz="1338" b="0">
                <a:solidFill>
                  <a:srgbClr val="1F232B"/>
                </a:solidFill>
                <a:latin typeface="Consolas"/>
              </a:rPr>
              <a:t>'muallif'</a:t>
            </a:r>
            <a:r>
              <a:rPr sz="1338" b="0">
                <a:solidFill>
                  <a:srgbClr val="1F232B"/>
                </a:solidFill>
                <a:latin typeface="Consolas"/>
              </a:rPr>
              <a:t>: </a:t>
            </a:r>
            <a:r>
              <a:rPr sz="1338" b="0">
                <a:solidFill>
                  <a:srgbClr val="1F232B"/>
                </a:solidFill>
                <a:latin typeface="Consolas"/>
              </a:rPr>
              <a:t>'admin'</a:t>
            </a:r>
            <a:r>
              <a:rPr sz="1338" b="0">
                <a:solidFill>
                  <a:srgbClr val="1F232B"/>
                </a:solidFill>
                <a:latin typeface="Consolas"/>
              </a:rPr>
              <a:t>, </a:t>
            </a:r>
            <a:r>
              <a:rPr sz="1338" b="0">
                <a:solidFill>
                  <a:srgbClr val="1F232B"/>
                </a:solidFill>
                <a:latin typeface="Consolas"/>
              </a:rPr>
              <a:t>'chop_etilgan'</a:t>
            </a:r>
            <a:r>
              <a:rPr sz="1338" b="0">
                <a:solidFill>
                  <a:srgbClr val="1F232B"/>
                </a:solidFill>
                <a:latin typeface="Consolas"/>
              </a:rPr>
              <a:t>: True, </a:t>
            </a:r>
            <a:r>
              <a:rPr sz="1338" b="0">
                <a:solidFill>
                  <a:srgbClr val="1F232B"/>
                </a:solidFill>
                <a:latin typeface="Consolas"/>
              </a:rPr>
              <a:t>'korishlar'</a:t>
            </a:r>
            <a:r>
              <a:rPr sz="1338" b="0">
                <a:solidFill>
                  <a:srgbClr val="1F232B"/>
                </a:solidFill>
                <a:latin typeface="Consolas"/>
              </a:rPr>
              <a:t>: 12, </a:t>
            </a:r>
            <a:r>
              <a:rPr sz="1338" b="0">
                <a:solidFill>
                  <a:srgbClr val="1F232B"/>
                </a:solidFill>
                <a:latin typeface="Consolas"/>
              </a:rPr>
              <a:t>'yaratilgan'</a:t>
            </a:r>
            <a:r>
              <a:rPr sz="1338" b="0">
                <a:solidFill>
                  <a:srgbClr val="1F232B"/>
                </a:solidFill>
                <a:latin typeface="Consolas"/>
              </a:rPr>
              <a:t>: </a:t>
            </a:r>
            <a:r>
              <a:rPr sz="1338" b="0">
                <a:solidFill>
                  <a:srgbClr val="1F232B"/>
                </a:solidFill>
                <a:latin typeface="Consolas"/>
              </a:rPr>
              <a:t>'2026-10-06T15:30:00+05:00'</a:t>
            </a:r>
            <a:r>
              <a:rPr sz="1338" b="0">
                <a:solidFill>
                  <a:srgbClr val="1F232B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API View: @api_view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39-mavzu · Django REST Framework (DRF) ga kirish. Serializerlar va API View'lar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21169"/>
            <a:ext cx="11091672" cy="4200753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6033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blog/api_views.py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50353"/>
            <a:ext cx="10725912" cy="385328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from</a:t>
            </a:r>
            <a:r>
              <a:rPr sz="1496" b="0">
                <a:solidFill>
                  <a:srgbClr val="E6E6E6"/>
                </a:solidFill>
                <a:latin typeface="Consolas"/>
              </a:rPr>
              <a:t> rest_framework </a:t>
            </a:r>
            <a:r>
              <a:rPr sz="1496" b="0">
                <a:solidFill>
                  <a:srgbClr val="C678DD"/>
                </a:solidFill>
                <a:latin typeface="Consolas"/>
              </a:rPr>
              <a:t>import</a:t>
            </a:r>
            <a:r>
              <a:rPr sz="1496" b="0">
                <a:solidFill>
                  <a:srgbClr val="E6E6E6"/>
                </a:solidFill>
                <a:latin typeface="Consolas"/>
              </a:rPr>
              <a:t> status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from</a:t>
            </a:r>
            <a:r>
              <a:rPr sz="1496" b="0">
                <a:solidFill>
                  <a:srgbClr val="E6E6E6"/>
                </a:solidFill>
                <a:latin typeface="Consolas"/>
              </a:rPr>
              <a:t> rest_framework.decorators </a:t>
            </a:r>
            <a:r>
              <a:rPr sz="1496" b="0">
                <a:solidFill>
                  <a:srgbClr val="C678DD"/>
                </a:solidFill>
                <a:latin typeface="Consolas"/>
              </a:rPr>
              <a:t>import</a:t>
            </a:r>
            <a:r>
              <a:rPr sz="1496" b="0">
                <a:solidFill>
                  <a:srgbClr val="E6E6E6"/>
                </a:solidFill>
                <a:latin typeface="Consolas"/>
              </a:rPr>
              <a:t> api_view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from</a:t>
            </a:r>
            <a:r>
              <a:rPr sz="1496" b="0">
                <a:solidFill>
                  <a:srgbClr val="E6E6E6"/>
                </a:solidFill>
                <a:latin typeface="Consolas"/>
              </a:rPr>
              <a:t> rest_framework.response </a:t>
            </a:r>
            <a:r>
              <a:rPr sz="1496" b="0">
                <a:solidFill>
                  <a:srgbClr val="C678DD"/>
                </a:solidFill>
                <a:latin typeface="Consolas"/>
              </a:rPr>
              <a:t>import</a:t>
            </a:r>
            <a:r>
              <a:rPr sz="1496" b="0">
                <a:solidFill>
                  <a:srgbClr val="E6E6E6"/>
                </a:solidFill>
                <a:latin typeface="Consolas"/>
              </a:rPr>
              <a:t> Response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@api_view([</a:t>
            </a:r>
            <a:r>
              <a:rPr sz="1496" b="0">
                <a:solidFill>
                  <a:srgbClr val="98C379"/>
                </a:solidFill>
                <a:latin typeface="Consolas"/>
              </a:rPr>
              <a:t>"GET"</a:t>
            </a:r>
            <a:r>
              <a:rPr sz="1496" b="0">
                <a:solidFill>
                  <a:srgbClr val="E6E6E6"/>
                </a:solidFill>
                <a:latin typeface="Consolas"/>
              </a:rPr>
              <a:t>, </a:t>
            </a:r>
            <a:r>
              <a:rPr sz="1496" b="0">
                <a:solidFill>
                  <a:srgbClr val="98C379"/>
                </a:solidFill>
                <a:latin typeface="Consolas"/>
              </a:rPr>
              <a:t>"POST"</a:t>
            </a:r>
            <a:r>
              <a:rPr sz="1496" b="0">
                <a:solidFill>
                  <a:srgbClr val="E6E6E6"/>
                </a:solidFill>
                <a:latin typeface="Consolas"/>
              </a:rPr>
              <a:t>])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def</a:t>
            </a:r>
            <a:r>
              <a:rPr sz="1496" b="0">
                <a:solidFill>
                  <a:srgbClr val="E6E6E6"/>
                </a:solidFill>
                <a:latin typeface="Consolas"/>
              </a:rPr>
              <a:t> maqolalar_api(request):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if</a:t>
            </a:r>
            <a:r>
              <a:rPr sz="1496" b="0">
                <a:solidFill>
                  <a:srgbClr val="E6E6E6"/>
                </a:solidFill>
                <a:latin typeface="Consolas"/>
              </a:rPr>
              <a:t> request.method == </a:t>
            </a:r>
            <a:r>
              <a:rPr sz="1496" b="0">
                <a:solidFill>
                  <a:srgbClr val="98C379"/>
                </a:solidFill>
                <a:latin typeface="Consolas"/>
              </a:rPr>
              <a:t>"GET"</a:t>
            </a:r>
            <a:r>
              <a:rPr sz="1496" b="0">
                <a:solidFill>
                  <a:srgbClr val="E6E6E6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maqolalar = Maqola.objects.filter(chop_etilgan=</a:t>
            </a:r>
            <a:r>
              <a:rPr sz="1496" b="0">
                <a:solidFill>
                  <a:srgbClr val="C678DD"/>
                </a:solidFill>
                <a:latin typeface="Consolas"/>
              </a:rPr>
              <a:t>True</a:t>
            </a:r>
            <a:r>
              <a:rPr sz="1496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496" b="0">
                <a:solidFill>
                  <a:srgbClr val="E6E6E6"/>
                </a:solidFill>
                <a:latin typeface="Consolas"/>
              </a:rPr>
              <a:t> Response(MaqolaSerializer(maqolalar, many=</a:t>
            </a:r>
            <a:r>
              <a:rPr sz="1496" b="0">
                <a:solidFill>
                  <a:srgbClr val="C678DD"/>
                </a:solidFill>
                <a:latin typeface="Consolas"/>
              </a:rPr>
              <a:t>True</a:t>
            </a:r>
            <a:r>
              <a:rPr sz="1496" b="0">
                <a:solidFill>
                  <a:srgbClr val="E6E6E6"/>
                </a:solidFill>
                <a:latin typeface="Consolas"/>
              </a:rPr>
              <a:t>).data)     # 200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serializer = MaqolaSerializer(data=request.data)                     # POST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if</a:t>
            </a:r>
            <a:r>
              <a:rPr sz="1496" b="0">
                <a:solidFill>
                  <a:srgbClr val="E6E6E6"/>
                </a:solidFill>
                <a:latin typeface="Consolas"/>
              </a:rPr>
              <a:t> serializer.is_valid():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serializer.save(muallif=request.user)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496" b="0">
                <a:solidFill>
                  <a:srgbClr val="E6E6E6"/>
                </a:solidFill>
                <a:latin typeface="Consolas"/>
              </a:rPr>
              <a:t> Response(serializer.data, status=status.HTTP_201_CREATED) # 201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496" b="0">
                <a:solidFill>
                  <a:srgbClr val="E6E6E6"/>
                </a:solidFill>
                <a:latin typeface="Consolas"/>
              </a:rPr>
              <a:t> Response(serializer.errors, status=status.HTTP_400_BAD_REQUEST)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841378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Kelgan JSON — </a:t>
            </a:r>
            <a:r>
              <a:rPr sz="2024" b="0">
                <a:solidFill>
                  <a:srgbClr val="B02A4A"/>
                </a:solidFill>
                <a:latin typeface="Consolas"/>
              </a:rPr>
              <a:t>request.data</a:t>
            </a:r>
            <a:r>
              <a:rPr sz="2200" b="0">
                <a:solidFill>
                  <a:srgbClr val="1F232B"/>
                </a:solidFill>
                <a:latin typeface="Calibri"/>
              </a:rPr>
              <a:t> (</a:t>
            </a:r>
            <a:r>
              <a:rPr sz="2024" b="0">
                <a:solidFill>
                  <a:srgbClr val="B02A4A"/>
                </a:solidFill>
                <a:latin typeface="Consolas"/>
              </a:rPr>
              <a:t>request.POST</a:t>
            </a:r>
            <a:r>
              <a:rPr sz="2200" b="0">
                <a:solidFill>
                  <a:srgbClr val="1F232B"/>
                </a:solidFill>
                <a:latin typeface="Calibri"/>
              </a:rPr>
              <a:t> emas!)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967108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API View: APIView (klass)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39-mavzu · Django REST Framework (DRF) ga kirish. Serializerlar va API View'lar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9765"/>
            <a:ext cx="11091672" cy="344838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462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8949"/>
            <a:ext cx="10725912" cy="310091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from</a:t>
            </a:r>
            <a:r>
              <a:rPr sz="1496" b="0">
                <a:solidFill>
                  <a:srgbClr val="E6E6E6"/>
                </a:solidFill>
                <a:latin typeface="Consolas"/>
              </a:rPr>
              <a:t> rest_framework.views </a:t>
            </a:r>
            <a:r>
              <a:rPr sz="1496" b="0">
                <a:solidFill>
                  <a:srgbClr val="C678DD"/>
                </a:solidFill>
                <a:latin typeface="Consolas"/>
              </a:rPr>
              <a:t>import</a:t>
            </a:r>
            <a:r>
              <a:rPr sz="1496" b="0">
                <a:solidFill>
                  <a:srgbClr val="E6E6E6"/>
                </a:solidFill>
                <a:latin typeface="Consolas"/>
              </a:rPr>
              <a:t> APIView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class</a:t>
            </a:r>
            <a:r>
              <a:rPr sz="1496" b="0">
                <a:solidFill>
                  <a:srgbClr val="E6E6E6"/>
                </a:solidFill>
                <a:latin typeface="Consolas"/>
              </a:rPr>
              <a:t> MaqolalarAPI(APIView):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def</a:t>
            </a:r>
            <a:r>
              <a:rPr sz="1496" b="0">
                <a:solidFill>
                  <a:srgbClr val="E6E6E6"/>
                </a:solidFill>
                <a:latin typeface="Consolas"/>
              </a:rPr>
              <a:t> get(</a:t>
            </a:r>
            <a:r>
              <a:rPr sz="1496" b="0">
                <a:solidFill>
                  <a:srgbClr val="C678DD"/>
                </a:solidFill>
                <a:latin typeface="Consolas"/>
              </a:rPr>
              <a:t>self</a:t>
            </a:r>
            <a:r>
              <a:rPr sz="1496" b="0">
                <a:solidFill>
                  <a:srgbClr val="E6E6E6"/>
                </a:solidFill>
                <a:latin typeface="Consolas"/>
              </a:rPr>
              <a:t>, request):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maqolalar = Maqola.objects.filter(chop_etilgan=</a:t>
            </a:r>
            <a:r>
              <a:rPr sz="1496" b="0">
                <a:solidFill>
                  <a:srgbClr val="C678DD"/>
                </a:solidFill>
                <a:latin typeface="Consolas"/>
              </a:rPr>
              <a:t>True</a:t>
            </a:r>
            <a:r>
              <a:rPr sz="1496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496" b="0">
                <a:solidFill>
                  <a:srgbClr val="E6E6E6"/>
                </a:solidFill>
                <a:latin typeface="Consolas"/>
              </a:rPr>
              <a:t> Response(MaqolaSerializer(maqolalar, many=</a:t>
            </a:r>
            <a:r>
              <a:rPr sz="1496" b="0">
                <a:solidFill>
                  <a:srgbClr val="C678DD"/>
                </a:solidFill>
                <a:latin typeface="Consolas"/>
              </a:rPr>
              <a:t>True</a:t>
            </a:r>
            <a:r>
              <a:rPr sz="1496" b="0">
                <a:solidFill>
                  <a:srgbClr val="E6E6E6"/>
                </a:solidFill>
                <a:latin typeface="Consolas"/>
              </a:rPr>
              <a:t>).data)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def</a:t>
            </a:r>
            <a:r>
              <a:rPr sz="1496" b="0">
                <a:solidFill>
                  <a:srgbClr val="E6E6E6"/>
                </a:solidFill>
                <a:latin typeface="Consolas"/>
              </a:rPr>
              <a:t> post(</a:t>
            </a:r>
            <a:r>
              <a:rPr sz="1496" b="0">
                <a:solidFill>
                  <a:srgbClr val="C678DD"/>
                </a:solidFill>
                <a:latin typeface="Consolas"/>
              </a:rPr>
              <a:t>self</a:t>
            </a:r>
            <a:r>
              <a:rPr sz="1496" b="0">
                <a:solidFill>
                  <a:srgbClr val="E6E6E6"/>
                </a:solidFill>
                <a:latin typeface="Consolas"/>
              </a:rPr>
              <a:t>, request):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serializer = MaqolaSerializer(data=request.data)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serializer.is_valid(raise_exception=</a:t>
            </a:r>
            <a:r>
              <a:rPr sz="1496" b="0">
                <a:solidFill>
                  <a:srgbClr val="C678DD"/>
                </a:solidFill>
                <a:latin typeface="Consolas"/>
              </a:rPr>
              <a:t>True</a:t>
            </a:r>
            <a:r>
              <a:rPr sz="1496" b="0">
                <a:solidFill>
                  <a:srgbClr val="E6E6E6"/>
                </a:solidFill>
                <a:latin typeface="Consolas"/>
              </a:rPr>
              <a:t>)     # xato → avtomatik 400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serializer.save(muallif=request.user)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496" b="0">
                <a:solidFill>
                  <a:srgbClr val="E6E6E6"/>
                </a:solidFill>
                <a:latin typeface="Consolas"/>
              </a:rPr>
              <a:t> Response(serializer.data, status=status.HTTP_201_CREATED)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07606"/>
            <a:ext cx="11091672" cy="940490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162470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blog/urls.py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36790"/>
            <a:ext cx="10725912" cy="59301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path(</a:t>
            </a:r>
            <a:r>
              <a:rPr sz="1496" b="0">
                <a:solidFill>
                  <a:srgbClr val="98C379"/>
                </a:solidFill>
                <a:latin typeface="Consolas"/>
              </a:rPr>
              <a:t>"api/maqolalar/"</a:t>
            </a:r>
            <a:r>
              <a:rPr sz="1496" b="0">
                <a:solidFill>
                  <a:srgbClr val="E6E6E6"/>
                </a:solidFill>
                <a:latin typeface="Consolas"/>
              </a:rPr>
              <a:t>, api_views.maqolalar_api, name=</a:t>
            </a:r>
            <a:r>
              <a:rPr sz="1496" b="0">
                <a:solidFill>
                  <a:srgbClr val="98C379"/>
                </a:solidFill>
                <a:latin typeface="Consolas"/>
              </a:rPr>
              <a:t>"api_maqolalar"</a:t>
            </a:r>
            <a:r>
              <a:rPr sz="1496" b="0">
                <a:solidFill>
                  <a:srgbClr val="E6E6E6"/>
                </a:solidFill>
                <a:latin typeface="Consolas"/>
              </a:rPr>
              <a:t>),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path(</a:t>
            </a:r>
            <a:r>
              <a:rPr sz="1496" b="0">
                <a:solidFill>
                  <a:srgbClr val="98C379"/>
                </a:solidFill>
                <a:latin typeface="Consolas"/>
              </a:rPr>
              <a:t>"api/maqolalar/&lt;int:id&gt;/"</a:t>
            </a:r>
            <a:r>
              <a:rPr sz="1496" b="0">
                <a:solidFill>
                  <a:srgbClr val="E6E6E6"/>
                </a:solidFill>
                <a:latin typeface="Consolas"/>
              </a:rPr>
              <a:t>, api_views.maqola_api, name=</a:t>
            </a:r>
            <a:r>
              <a:rPr sz="1496" b="0">
                <a:solidFill>
                  <a:srgbClr val="98C379"/>
                </a:solidFill>
                <a:latin typeface="Consolas"/>
              </a:rPr>
              <a:t>"api_maqola"</a:t>
            </a:r>
            <a:r>
              <a:rPr sz="1496" b="0">
                <a:solidFill>
                  <a:srgbClr val="E6E6E6"/>
                </a:solidFill>
                <a:latin typeface="Consolas"/>
              </a:rPr>
              <a:t>),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API'ni sinash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39-mavzu · Django REST Framework (DRF) ga kirish. Serializerlar va API View'lar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Brauzer: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http://127.0.0.1:8000/api/maqolalar/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DRF'ning chiroyli interaktiv sahifasi (JSON, status, POST forma)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470911"/>
            <a:ext cx="11091672" cy="107728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2577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00095"/>
            <a:ext cx="10725912" cy="72981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curl http://127.0.0.1:8000/api/maqolalar/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curl http://127.0.0.1:8000/api/maqolalar/1/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67653"/>
            <a:ext cx="11091672" cy="139647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2251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 (fetch)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96837"/>
            <a:ext cx="10725912" cy="10489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fetch(</a:t>
            </a:r>
            <a:r>
              <a:rPr sz="1904" b="0">
                <a:solidFill>
                  <a:srgbClr val="98C379"/>
                </a:solidFill>
                <a:latin typeface="Consolas"/>
              </a:rPr>
              <a:t>"http://127.0.0.1:8000/api/maqolalar/"</a:t>
            </a:r>
            <a:r>
              <a:rPr sz="1904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.then(javob =&gt; javob.json())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.then(maqolalar =&gt; maqolalar.forEach(m =&gt; </a:t>
            </a: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.log(m.sarlavha)));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38358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Professional vositalar: </a:t>
            </a:r>
            <a:r>
              <a:rPr sz="2800" b="1">
                <a:solidFill>
                  <a:srgbClr val="1F232B"/>
                </a:solidFill>
                <a:latin typeface="Calibri"/>
              </a:rPr>
              <a:t>Postman</a:t>
            </a:r>
            <a:r>
              <a:rPr sz="2800" b="0">
                <a:solidFill>
                  <a:srgbClr val="1F232B"/>
                </a:solidFill>
                <a:latin typeface="Calibri"/>
              </a:rPr>
              <a:t>, VS Code'dagi </a:t>
            </a:r>
            <a:r>
              <a:rPr sz="2800" b="1">
                <a:solidFill>
                  <a:srgbClr val="1F232B"/>
                </a:solidFill>
                <a:latin typeface="Calibri"/>
              </a:rPr>
              <a:t>Thunder Client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5543600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39-mavzu · Django REST Framework (DRF) ga kirish. Serializerlar va API View'lar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25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8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0">
                <a:solidFill>
                  <a:srgbClr val="1F232B"/>
                </a:solidFill>
                <a:latin typeface="Calibri"/>
              </a:rPr>
              <a:t>DRF'ni o'rnating va sozlang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8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72" b="0">
                <a:solidFill>
                  <a:srgbClr val="B02A4A"/>
                </a:solidFill>
                <a:latin typeface="Consolas"/>
              </a:rPr>
              <a:t>serializers.py</a:t>
            </a:r>
            <a:r>
              <a:rPr sz="1600" b="0">
                <a:solidFill>
                  <a:srgbClr val="1F232B"/>
                </a:solidFill>
                <a:latin typeface="Calibri"/>
              </a:rPr>
              <a:t> — shell'da serializatsiya va validatsiya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8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72" b="0">
                <a:solidFill>
                  <a:srgbClr val="B02A4A"/>
                </a:solidFill>
                <a:latin typeface="Consolas"/>
              </a:rPr>
              <a:t>@api_view</a:t>
            </a:r>
            <a:r>
              <a:rPr sz="1600" b="0">
                <a:solidFill>
                  <a:srgbClr val="1F232B"/>
                </a:solidFill>
                <a:latin typeface="Calibri"/>
              </a:rPr>
              <a:t> bilan 2 ta endpoint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8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4747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0">
                <a:solidFill>
                  <a:srgbClr val="1F232B"/>
                </a:solidFill>
                <a:latin typeface="Calibri"/>
              </a:rPr>
              <a:t>Admin orqali kiring → brauzerdagi API'da </a:t>
            </a:r>
            <a:r>
              <a:rPr sz="1600" b="1">
                <a:solidFill>
                  <a:srgbClr val="1F232B"/>
                </a:solidFill>
                <a:latin typeface="Calibri"/>
              </a:rPr>
              <a:t>POST</a:t>
            </a:r>
            <a:r>
              <a:rPr sz="1600" b="0">
                <a:solidFill>
                  <a:srgbClr val="1F232B"/>
                </a:solidFill>
                <a:latin typeface="Calibri"/>
              </a:rPr>
              <a:t> → </a:t>
            </a:r>
            <a:r>
              <a:rPr sz="1600" b="1">
                <a:solidFill>
                  <a:srgbClr val="1F232B"/>
                </a:solidFill>
                <a:latin typeface="Calibri"/>
              </a:rPr>
              <a:t>201</a:t>
            </a:r>
            <a:r>
              <a:rPr sz="1600" b="0">
                <a:solidFill>
                  <a:srgbClr val="1F232B"/>
                </a:solidFill>
                <a:latin typeface="Calibri"/>
              </a:rPr>
              <a:t>; 3 belgili sarlavha → </a:t>
            </a:r>
            <a:r>
              <a:rPr sz="1600" b="1">
                <a:solidFill>
                  <a:srgbClr val="1F232B"/>
                </a:solidFill>
                <a:latin typeface="Calibri"/>
              </a:rPr>
              <a:t>400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123944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8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415137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72" b="0">
                <a:solidFill>
                  <a:srgbClr val="B02A4A"/>
                </a:solidFill>
                <a:latin typeface="Consolas"/>
              </a:rPr>
              <a:t>/api/kategoriyalar/</a:t>
            </a:r>
            <a:r>
              <a:rPr sz="1600" b="0">
                <a:solidFill>
                  <a:srgbClr val="1F232B"/>
                </a:solidFill>
                <a:latin typeface="Calibri"/>
              </a:rPr>
              <a:t> — har kategoriyada maqolalar soni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00600"/>
            <a:ext cx="11091672" cy="1350873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85546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9784"/>
            <a:ext cx="10725912" cy="100340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</a:t>
            </a:r>
            <a:r>
              <a:rPr sz="1088" b="0">
                <a:solidFill>
                  <a:srgbClr val="98C379"/>
                </a:solidFill>
                <a:latin typeface="Consolas"/>
              </a:rPr>
              <a:t>"sarlavha"</a:t>
            </a:r>
            <a:r>
              <a:rPr sz="1088" b="0">
                <a:solidFill>
                  <a:srgbClr val="E6E6E6"/>
                </a:solidFill>
                <a:latin typeface="Consolas"/>
              </a:rPr>
              <a:t>: </a:t>
            </a:r>
            <a:r>
              <a:rPr sz="1088" b="0">
                <a:solidFill>
                  <a:srgbClr val="98C379"/>
                </a:solidFill>
                <a:latin typeface="Consolas"/>
              </a:rPr>
              <a:t>"API orqali yaratilgan maqola"</a:t>
            </a:r>
            <a:r>
              <a:rPr sz="1088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</a:t>
            </a:r>
            <a:r>
              <a:rPr sz="1088" b="0">
                <a:solidFill>
                  <a:srgbClr val="98C379"/>
                </a:solidFill>
                <a:latin typeface="Consolas"/>
              </a:rPr>
              <a:t>"matn"</a:t>
            </a:r>
            <a:r>
              <a:rPr sz="1088" b="0">
                <a:solidFill>
                  <a:srgbClr val="E6E6E6"/>
                </a:solidFill>
                <a:latin typeface="Consolas"/>
              </a:rPr>
              <a:t>: </a:t>
            </a:r>
            <a:r>
              <a:rPr sz="1088" b="0">
                <a:solidFill>
                  <a:srgbClr val="98C379"/>
                </a:solidFill>
                <a:latin typeface="Consolas"/>
              </a:rPr>
              <a:t>"Bu maqola DRF yordamida qo'shildi!"</a:t>
            </a:r>
            <a:r>
              <a:rPr sz="1088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</a:t>
            </a:r>
            <a:r>
              <a:rPr sz="1088" b="0">
                <a:solidFill>
                  <a:srgbClr val="98C379"/>
                </a:solidFill>
                <a:latin typeface="Consolas"/>
              </a:rPr>
              <a:t>"kategoriya"</a:t>
            </a:r>
            <a:r>
              <a:rPr sz="1088" b="0">
                <a:solidFill>
                  <a:srgbClr val="E6E6E6"/>
                </a:solidFill>
                <a:latin typeface="Consolas"/>
              </a:rPr>
              <a:t>: 1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39-mavzu · Django REST Framework (DRF) ga kirish. Serializerlar va API View'lar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Object of type Maqola is not JSON serializable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serializer'siz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Ro'yxat uchun </a:t>
            </a:r>
            <a:r>
              <a:rPr sz="2576" b="0">
                <a:solidFill>
                  <a:srgbClr val="B02A4A"/>
                </a:solidFill>
                <a:latin typeface="Consolas"/>
              </a:rPr>
              <a:t>many=True</a:t>
            </a:r>
            <a:r>
              <a:rPr sz="2800" b="0">
                <a:solidFill>
                  <a:srgbClr val="1F232B"/>
                </a:solidFill>
                <a:latin typeface="Calibri"/>
              </a:rPr>
              <a:t> unutilgan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serializer.data</a:t>
            </a:r>
            <a:r>
              <a:rPr sz="2800" b="0">
                <a:solidFill>
                  <a:srgbClr val="1F232B"/>
                </a:solidFill>
                <a:latin typeface="Calibri"/>
              </a:rPr>
              <a:t> ni </a:t>
            </a:r>
            <a:r>
              <a:rPr sz="2576" b="0">
                <a:solidFill>
                  <a:srgbClr val="B02A4A"/>
                </a:solidFill>
                <a:latin typeface="Consolas"/>
              </a:rPr>
              <a:t>is_valid()</a:t>
            </a:r>
            <a:r>
              <a:rPr sz="2800" b="0">
                <a:solidFill>
                  <a:srgbClr val="1F232B"/>
                </a:solidFill>
                <a:latin typeface="Calibri"/>
              </a:rPr>
              <a:t> dan oldin o'qish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"rest_framework"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INSTALLED_APPS</a:t>
            </a:r>
            <a:r>
              <a:rPr sz="2800" b="0">
                <a:solidFill>
                  <a:srgbClr val="1F232B"/>
                </a:solidFill>
                <a:latin typeface="Calibri"/>
              </a:rPr>
              <a:t> da yo'q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8188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POST → </a:t>
            </a:r>
            <a:r>
              <a:rPr sz="2800" b="1">
                <a:solidFill>
                  <a:srgbClr val="1F232B"/>
                </a:solidFill>
                <a:latin typeface="Calibri"/>
              </a:rPr>
              <a:t>403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tizimga kirilmagan (</a:t>
            </a:r>
            <a:r>
              <a:rPr sz="2576" b="0">
                <a:solidFill>
                  <a:srgbClr val="B02A4A"/>
                </a:solidFill>
                <a:latin typeface="Consolas"/>
              </a:rPr>
              <a:t>IsAuthenticatedOrReadOnly</a:t>
            </a:r>
            <a:r>
              <a:rPr sz="2800" b="0">
                <a:solidFill>
                  <a:srgbClr val="1F232B"/>
                </a:solidFill>
                <a:latin typeface="Calibri"/>
              </a:rPr>
              <a:t>)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58208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39-mavzu · Django REST Framework (DRF) ga kirish. Serializerlar va API View'lar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REST API'da yangi resurs yaratish uchun qaysi HTTP metod?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DELETE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39-mavzu · Django REST Framework (DRF) ga kirish. Serializerlar va API View'lar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REST API'da yangi resurs yaratish uchun qaysi HTTP metod?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POST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DELETE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39-mavzu · Django REST Framework (DRF) ga kirish. Serializerlar va API View'lar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Muvaffaqiyatli yaratilgan resurs uchun status kod?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200 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204 No Content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201 Created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302 Found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39-mavzu · Django REST Framework (DRF) ga kirish. Serializerlar va API View'lar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Muvaffaqiyatli yaratilgan resurs uchun status kod?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200 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204 No Content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201 Created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302 Found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39-mavzu · Django REST Framework (DRF) ga kirish. Serializerlar va API View'lar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Qaysi URL REST qoidalariga mos?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/api/getAllMaqolalar/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/api/maqola/ochirish/5/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/api/maqolaYarat/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/api/maqolalar/5/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39-mavzu · Django REST Framework (DRF) ga kirish. Serializerlar va API View'lar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Qaysi URL REST qoidalariga mos?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/api/getAllMaqolalar/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/api/maqola/ochirish/5/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/api/maqolaYarat/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/api/maqolalar/5/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39-mavzu · Django REST Framework (DRF) ga kirish. Serializerlar va API View'lar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DRF view'ida kelgan JSON ma'lumot qayerda?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request.POST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request.GET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request.data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request.json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39-mavzu · Django REST Framework (DRF) ga kirish. Serializerlar va API View'lar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DRF view'ida kelgan JSON ma'lumot qayerda?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request.POST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request.GET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request.data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request.json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39-mavzu · Django REST Framework (DRF) ga kirish. Serializerlar va API View'lar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25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96668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924100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Kutubxona: </a:t>
            </a:r>
            <a:r>
              <a:rPr sz="2576" b="0">
                <a:solidFill>
                  <a:srgbClr val="B02A4A"/>
                </a:solidFill>
                <a:latin typeface="Consolas"/>
              </a:rPr>
              <a:t>KitobSerializer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/api/kitoblar/</a:t>
            </a:r>
            <a:r>
              <a:rPr sz="2800" b="0">
                <a:solidFill>
                  <a:srgbClr val="1F232B"/>
                </a:solidFill>
                <a:latin typeface="Calibri"/>
              </a:rPr>
              <a:t> (GET, POST)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005124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3032556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https://api.github.com/users/torvalds</a:t>
            </a:r>
            <a:r>
              <a:rPr sz="2800" b="0">
                <a:solidFill>
                  <a:srgbClr val="1F232B"/>
                </a:solidFill>
                <a:latin typeface="Calibri"/>
              </a:rPr>
              <a:t> ni oching — JSON tuzilmasini tahlil qiling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39-mavzu · Django REST Framework (DRF) ga kirish. Serializerlar va API View'lar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API — dasturlar orasidagi interfeys; veb-API </a:t>
            </a:r>
            <a:r>
              <a:rPr sz="2800" b="1">
                <a:solidFill>
                  <a:srgbClr val="1F232B"/>
                </a:solidFill>
                <a:latin typeface="Calibri"/>
              </a:rPr>
              <a:t>JSON</a:t>
            </a:r>
            <a:r>
              <a:rPr sz="2800" b="0">
                <a:solidFill>
                  <a:srgbClr val="1F232B"/>
                </a:solidFill>
                <a:latin typeface="Calibri"/>
              </a:rPr>
              <a:t> qaytaradi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REST: resurs — URL (ot, ko'plik), amal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metod</a:t>
            </a:r>
            <a:r>
              <a:rPr sz="2800" b="0">
                <a:solidFill>
                  <a:srgbClr val="1F232B"/>
                </a:solidFill>
                <a:latin typeface="Calibri"/>
              </a:rPr>
              <a:t>, natija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status kod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pip install djangorestframework</a:t>
            </a:r>
            <a:r>
              <a:rPr sz="2800" b="0">
                <a:solidFill>
                  <a:srgbClr val="1F232B"/>
                </a:solidFill>
                <a:latin typeface="Calibri"/>
              </a:rPr>
              <a:t> + </a:t>
            </a:r>
            <a:r>
              <a:rPr sz="2576" b="0">
                <a:solidFill>
                  <a:srgbClr val="B02A4A"/>
                </a:solidFill>
                <a:latin typeface="Consolas"/>
              </a:rPr>
              <a:t>INSTALLED_APPS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ModelSerializer</a:t>
            </a:r>
            <a:r>
              <a:rPr sz="2800" b="0">
                <a:solidFill>
                  <a:srgbClr val="1F232B"/>
                </a:solidFill>
                <a:latin typeface="Calibri"/>
              </a:rPr>
              <a:t>; </a:t>
            </a:r>
            <a:r>
              <a:rPr sz="2576" b="0">
                <a:solidFill>
                  <a:srgbClr val="B02A4A"/>
                </a:solidFill>
                <a:latin typeface="Consolas"/>
              </a:rPr>
              <a:t>validate_maydon()</a:t>
            </a:r>
            <a:r>
              <a:rPr sz="2800" b="0">
                <a:solidFill>
                  <a:srgbClr val="1F232B"/>
                </a:solidFill>
                <a:latin typeface="Calibri"/>
              </a:rPr>
              <a:t>; </a:t>
            </a:r>
            <a:r>
              <a:rPr sz="2576" b="0">
                <a:solidFill>
                  <a:srgbClr val="B02A4A"/>
                </a:solidFill>
                <a:latin typeface="Consolas"/>
              </a:rPr>
              <a:t>many=True</a:t>
            </a:r>
            <a:r>
              <a:rPr sz="2800" b="0">
                <a:solidFill>
                  <a:srgbClr val="1F232B"/>
                </a:solidFill>
                <a:latin typeface="Calibri"/>
              </a:rPr>
              <a:t>; </a:t>
            </a:r>
            <a:r>
              <a:rPr sz="2576" b="0">
                <a:solidFill>
                  <a:srgbClr val="B02A4A"/>
                </a:solidFill>
                <a:latin typeface="Consolas"/>
              </a:rPr>
              <a:t>is_valid()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save()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errors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742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@api_view</a:t>
            </a:r>
            <a:r>
              <a:rPr sz="2800" b="0">
                <a:solidFill>
                  <a:srgbClr val="1F232B"/>
                </a:solidFill>
                <a:latin typeface="Calibri"/>
              </a:rPr>
              <a:t> / </a:t>
            </a:r>
            <a:r>
              <a:rPr sz="2576" b="0">
                <a:solidFill>
                  <a:srgbClr val="B02A4A"/>
                </a:solidFill>
                <a:latin typeface="Consolas"/>
              </a:rPr>
              <a:t>APIView</a:t>
            </a:r>
            <a:r>
              <a:rPr sz="2800" b="0">
                <a:solidFill>
                  <a:srgbClr val="1F232B"/>
                </a:solidFill>
                <a:latin typeface="Calibri"/>
              </a:rPr>
              <a:t> + </a:t>
            </a:r>
            <a:r>
              <a:rPr sz="2576" b="0">
                <a:solidFill>
                  <a:srgbClr val="B02A4A"/>
                </a:solidFill>
                <a:latin typeface="Consolas"/>
              </a:rPr>
              <a:t>Response(data, status=...)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902708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E3F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40. DRF yordamida REST API yaratish. CRUD API ishlab chiqish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39-mavzu: Django REST Framework (DRF) ga kirish. Serializerlar va API View'lar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