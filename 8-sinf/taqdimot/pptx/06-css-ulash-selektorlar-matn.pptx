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 Zen Garden saytini ko'rsating: HTML bir xil, faqat CSS fayl almashadi.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.karta.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Ko'k.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nav ichidagi barcha havolalarni.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Arial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6-MAVZU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CSS ulash usullari, selektorlar va sintaksis. Matn va shriftlar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CSS nima, Inline, Internal va External usullar, qoida sintaksisi, teg/class/id va boshqa selektorlar, kaskad va ustuvorlik, ranglar, matn va shrift xossalari, Google Fonts.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CSS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HTML bilan qanday ishlaydi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CSS'ni ulashning </a:t>
            </a:r>
            <a:r>
              <a:rPr sz="2800" b="1">
                <a:solidFill>
                  <a:srgbClr val="1F232B"/>
                </a:solidFill>
                <a:latin typeface="Calibri"/>
              </a:rPr>
              <a:t>3 usuli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Qoida tuzilishi va </a:t>
            </a:r>
            <a:r>
              <a:rPr sz="2800" b="1">
                <a:solidFill>
                  <a:srgbClr val="1F232B"/>
                </a:solidFill>
                <a:latin typeface="Calibri"/>
              </a:rPr>
              <a:t>selektorlar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Kaskad:</a:t>
            </a:r>
            <a:r>
              <a:rPr sz="2800" b="0">
                <a:solidFill>
                  <a:srgbClr val="1F232B"/>
                </a:solidFill>
                <a:latin typeface="Calibri"/>
              </a:rPr>
              <a:t> qaysi qoida "g'olib"?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Ranglar, matn va shriftlar</a:t>
            </a:r>
            <a:r>
              <a:rPr sz="2800" b="0">
                <a:solidFill>
                  <a:srgbClr val="1F232B"/>
                </a:solidFill>
                <a:latin typeface="Calibri"/>
              </a:rPr>
              <a:t>, Google Fonts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CSS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CSS — sahifaning ko'rinishi: rang, shrift, o'lcham, joylashuv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41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</a:t>
            </a:r>
            <a:r>
              <a:rPr sz="2800" b="0">
                <a:solidFill>
                  <a:srgbClr val="1F232B"/>
                </a:solidFill>
                <a:latin typeface="Calibri"/>
              </a:rPr>
              <a:t>ascading </a:t>
            </a:r>
            <a:r>
              <a:rPr sz="2800" b="1">
                <a:solidFill>
                  <a:srgbClr val="1F232B"/>
                </a:solidFill>
                <a:latin typeface="Calibri"/>
              </a:rPr>
              <a:t>S</a:t>
            </a:r>
            <a:r>
              <a:rPr sz="2800" b="0">
                <a:solidFill>
                  <a:srgbClr val="1F232B"/>
                </a:solidFill>
                <a:latin typeface="Calibri"/>
              </a:rPr>
              <a:t>tyle </a:t>
            </a:r>
            <a:r>
              <a:rPr sz="2800" b="1">
                <a:solidFill>
                  <a:srgbClr val="1F232B"/>
                </a:solidFill>
                <a:latin typeface="Calibri"/>
              </a:rPr>
              <a:t>S</a:t>
            </a:r>
            <a:r>
              <a:rPr sz="2800" b="0">
                <a:solidFill>
                  <a:srgbClr val="1F232B"/>
                </a:solidFill>
                <a:latin typeface="Calibri"/>
              </a:rPr>
              <a:t>heets — kaskadli uslublar jadvali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25043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9951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HTML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tuzilma</a:t>
            </a:r>
            <a:r>
              <a:rPr sz="2800" b="0">
                <a:solidFill>
                  <a:srgbClr val="1F232B"/>
                </a:solidFill>
                <a:latin typeface="Calibri"/>
              </a:rPr>
              <a:t>, CSS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dizayn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5953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308602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308602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00042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O'xshatish:</a:t>
            </a:r>
            <a:r>
              <a:rPr sz="2660" b="0">
                <a:solidFill>
                  <a:srgbClr val="1F232B"/>
                </a:solidFill>
                <a:latin typeface="Calibri"/>
              </a:rPr>
              <a:t> HTML — odamning tanasi, CSS — kiyimi va soch turmagi. Bitta odam turli kiyimda butunlay boshqacha ko'rinadi.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CSS qoidasining tuzilishi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5332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1857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h1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color: blue;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font-size: 32px;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h1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selektor</a:t>
            </a:r>
            <a:r>
              <a:rPr sz="2400" b="0">
                <a:solidFill>
                  <a:srgbClr val="1F232B"/>
                </a:solidFill>
                <a:latin typeface="Calibri"/>
              </a:rPr>
              <a:t>: QAYSI elementlarga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5448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1962911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color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xossa</a:t>
            </a:r>
            <a:r>
              <a:rPr sz="2400" b="0">
                <a:solidFill>
                  <a:srgbClr val="1F232B"/>
                </a:solidFill>
                <a:latin typeface="Calibri"/>
              </a:rPr>
              <a:t>: NIMANI o'zgartiramiz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0007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2889503"/>
            <a:ext cx="4951476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blue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qiymat</a:t>
            </a:r>
            <a:r>
              <a:rPr sz="2400" b="0">
                <a:solidFill>
                  <a:srgbClr val="1F232B"/>
                </a:solidFill>
                <a:latin typeface="Calibri"/>
              </a:rPr>
              <a:t>: QANDAY qilib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02666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3435095"/>
            <a:ext cx="4951476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color: blue;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deklaratsiya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357225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7356" y="3980688"/>
            <a:ext cx="5362956" cy="97993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3980688"/>
            <a:ext cx="82296" cy="97993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5956" y="4072128"/>
            <a:ext cx="4997196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9" b="0">
                <a:solidFill>
                  <a:srgbClr val="1F232B"/>
                </a:solidFill>
                <a:latin typeface="Calibri"/>
              </a:rPr>
              <a:t>Har deklaratsiya oxirida </a:t>
            </a:r>
            <a:r>
              <a:rPr sz="2097" b="0">
                <a:solidFill>
                  <a:srgbClr val="B02A4A"/>
                </a:solidFill>
                <a:latin typeface="Consolas"/>
              </a:rPr>
              <a:t>;</a:t>
            </a:r>
            <a:r>
              <a:rPr sz="2279" b="0">
                <a:solidFill>
                  <a:srgbClr val="1F232B"/>
                </a:solidFill>
                <a:latin typeface="Calibri"/>
              </a:rPr>
              <a:t> majburiy!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8836" y="5180076"/>
            <a:ext cx="4951476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Izoh: </a:t>
            </a:r>
            <a:r>
              <a:rPr sz="2208" b="0">
                <a:solidFill>
                  <a:srgbClr val="B02A4A"/>
                </a:solidFill>
                <a:latin typeface="Consolas"/>
              </a:rPr>
              <a:t>/* ... */</a:t>
            </a:r>
          </a:p>
        </p:txBody>
      </p:sp>
      <p:sp>
        <p:nvSpPr>
          <p:cNvPr id="22" name="Oval 21"/>
          <p:cNvSpPr/>
          <p:nvPr/>
        </p:nvSpPr>
        <p:spPr>
          <a:xfrm>
            <a:off x="6387084" y="531723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CSS'ni ulashning 3 usuli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59696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456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1. Inline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8880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6E6E6"/>
                </a:solidFill>
                <a:latin typeface="Consolas"/>
              </a:rPr>
              <a:t> style=</a:t>
            </a:r>
            <a:r>
              <a:rPr sz="1904" b="0">
                <a:solidFill>
                  <a:srgbClr val="98C379"/>
                </a:solidFill>
                <a:latin typeface="Consolas"/>
              </a:rPr>
              <a:t>"color: red; font-size: 20px;"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Qizil paragraf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37251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211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2.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66435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&lt;style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p { color: green;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&lt;/style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3179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0804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3. External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82363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&lt;link</a:t>
            </a:r>
            <a:r>
              <a:rPr sz="1904" b="0">
                <a:solidFill>
                  <a:srgbClr val="E6E6E6"/>
                </a:solidFill>
                <a:latin typeface="Consolas"/>
              </a:rPr>
              <a:t> rel=</a:t>
            </a:r>
            <a:r>
              <a:rPr sz="1904" b="0">
                <a:solidFill>
                  <a:srgbClr val="98C379"/>
                </a:solidFill>
                <a:latin typeface="Consolas"/>
              </a:rPr>
              <a:t>"stylesheet"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"css/style.css"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Qaysi usul qachon?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41691"/>
          <a:ext cx="11091672" cy="236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Qayerda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Ta'sir doirasi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Inline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style="..."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Bitta element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Tez sinash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&lt;style&gt;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(head'da)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Bitta sahifa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Kichik loyiha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External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.css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fayl +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&lt;link&gt;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Butun sayt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Deyarli har doim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12436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Bitta </a:t>
            </a:r>
            <a:r>
              <a:rPr sz="2576" b="0">
                <a:solidFill>
                  <a:srgbClr val="B02A4A"/>
                </a:solidFill>
                <a:latin typeface="Consolas"/>
              </a:rPr>
              <a:t>style.css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barcha sahifalar; o'zgartirish — bitta faylda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28438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7795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Brauzer faylni xotirada saqlaydi → sayt tezroq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33797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Asosiy selektorlar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9156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402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8340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 { color: #333; }                 /* teg — barcha &lt;p&gt; lar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.muhim { color: crimson; }         /* class — nuqta bilan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#sarlavha { color: navy; }         /* id — panjara bilan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* { font-family: Arial; }          /* universal — hammasi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h2, h3 { color: teal; }            /* guruh — vergul bilan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5345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class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dizayn uchun deyarli doim; bir nechta: 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class="tugma katta qizil"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01347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0704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sahifada </a:t>
            </a:r>
            <a:r>
              <a:rPr sz="2800" b="1">
                <a:solidFill>
                  <a:srgbClr val="1F232B"/>
                </a:solidFill>
                <a:latin typeface="Calibri"/>
              </a:rPr>
              <a:t>yagona</a:t>
            </a:r>
            <a:r>
              <a:rPr sz="2800" b="0">
                <a:solidFill>
                  <a:srgbClr val="1F232B"/>
                </a:solidFill>
                <a:latin typeface="Calibri"/>
              </a:rPr>
              <a:t>; havolalar va JavaScript uchun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6706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Kombinatsiyalangan selektorlar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19224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Selektor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nav 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nav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ichidagi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barcha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(bo'sh joy)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.menyu &gt; 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Faqat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bevosita farzand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p.eslatma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class="eslatma"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bo'lgan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input[type="email"]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Atribut bo'yicha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h2, h3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Ham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h2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ham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h3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(vergul)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Kaskad: qaysi qoida g'olib?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Aniqlik:</a:t>
            </a:r>
            <a:r>
              <a:rPr sz="2400" b="0">
                <a:solidFill>
                  <a:srgbClr val="1F232B"/>
                </a:solidFill>
                <a:latin typeface="Calibri"/>
              </a:rPr>
              <a:t> inline &gt; id &gt; class &gt; teg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Aniqlik teng bo'lsa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keyinroq yozilgani</a:t>
            </a:r>
            <a:r>
              <a:rPr sz="2400" b="0">
                <a:solidFill>
                  <a:srgbClr val="1F232B"/>
                </a:solidFill>
                <a:latin typeface="Calibri"/>
              </a:rPr>
              <a:t> yutadi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70632"/>
            <a:ext cx="11091672" cy="208044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2549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10725912" cy="173297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&lt;style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p { color: blue; 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.matn { color: green; 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#asosiy { color: orange; 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&lt;/style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&lt;p</a:t>
            </a:r>
            <a:r>
              <a:rPr sz="1632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632" b="0">
                <a:solidFill>
                  <a:srgbClr val="98C379"/>
                </a:solidFill>
                <a:latin typeface="Consolas"/>
              </a:rPr>
              <a:t>"matn"</a:t>
            </a:r>
            <a:r>
              <a:rPr sz="1632" b="0">
                <a:solidFill>
                  <a:srgbClr val="E6E6E6"/>
                </a:solidFill>
                <a:latin typeface="Consolas"/>
              </a:rPr>
              <a:t> id=</a:t>
            </a:r>
            <a:r>
              <a:rPr sz="1632" b="0">
                <a:solidFill>
                  <a:srgbClr val="98C379"/>
                </a:solidFill>
                <a:latin typeface="Consolas"/>
              </a:rPr>
              <a:t>"asosiy"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Men to'q sariqman (id yutdi)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&lt;/p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70530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070530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61970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Ko'rsatmalar:</a:t>
            </a:r>
            <a:r>
              <a:rPr sz="2279" b="0">
                <a:solidFill>
                  <a:srgbClr val="1F232B"/>
                </a:solidFill>
                <a:latin typeface="Calibri"/>
              </a:rPr>
              <a:t> direktor (inline) aytgani sinf rahbari (id) va sardor (class) gapidan ustun; umumiy qoida (teg) eng kuchsiz.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Meros (inheritance)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5501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Matnga oid xossalar (</a:t>
            </a:r>
            <a:r>
              <a:rPr sz="2576" b="0">
                <a:solidFill>
                  <a:srgbClr val="B02A4A"/>
                </a:solidFill>
                <a:latin typeface="Consolas"/>
              </a:rPr>
              <a:t>color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font-family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font-size</a:t>
            </a:r>
            <a:r>
              <a:rPr sz="2800" b="0">
                <a:solidFill>
                  <a:srgbClr val="1F232B"/>
                </a:solidFill>
                <a:latin typeface="Calibri"/>
              </a:rPr>
              <a:t>) ota elementdan </a:t>
            </a:r>
            <a:r>
              <a:rPr sz="2800" b="1">
                <a:solidFill>
                  <a:srgbClr val="1F232B"/>
                </a:solidFill>
                <a:latin typeface="Calibri"/>
              </a:rPr>
              <a:t>ichkariga meros</a:t>
            </a:r>
            <a:r>
              <a:rPr sz="2800" b="0">
                <a:solidFill>
                  <a:srgbClr val="1F232B"/>
                </a:solidFill>
                <a:latin typeface="Calibri"/>
              </a:rPr>
              <a:t> o'tadi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1503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0860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Shuning uchun shriftni bir marta </a:t>
            </a:r>
            <a:r>
              <a:rPr sz="2576" b="0">
                <a:solidFill>
                  <a:srgbClr val="B02A4A"/>
                </a:solidFill>
                <a:latin typeface="Consolas"/>
              </a:rPr>
              <a:t>body</a:t>
            </a:r>
            <a:r>
              <a:rPr sz="2800" b="0">
                <a:solidFill>
                  <a:srgbClr val="1F232B"/>
                </a:solidFill>
                <a:latin typeface="Calibri"/>
              </a:rPr>
              <a:t> ga berish kifoya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86862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17697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7256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46881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body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font-family: </a:t>
            </a:r>
            <a:r>
              <a:rPr sz="1904" b="0">
                <a:solidFill>
                  <a:srgbClr val="98C379"/>
                </a:solidFill>
                <a:latin typeface="Consolas"/>
              </a:rPr>
              <a:t>"Segoe UI"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Arial, sans-serif;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color: #1f2937;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Ranglar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14710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957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3894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.r1 { color: tomato; }               /* nom bilan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.r2 { color: #4f46e5; }              /* HEX: #RRGGBB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.r3 { color: #f00; }                 /* qisqa HEX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.r4 { color: rgb(16, 185, 129); }    /* RGB: 0–255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.r5 { color: rgba(0, 0, 0, 0.4); }   /* shaffoflik 0..1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.r6 { color: hsl(280, 70%, 50%); }   /* tus, to'yinganlik, yorqinlik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.fon { background-color: #fef3c7;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38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#ff0000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qizil, </a:t>
            </a:r>
            <a:r>
              <a:rPr sz="2576" b="0">
                <a:solidFill>
                  <a:srgbClr val="B02A4A"/>
                </a:solidFill>
                <a:latin typeface="Consolas"/>
              </a:rPr>
              <a:t>#000000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qora, </a:t>
            </a:r>
            <a:r>
              <a:rPr sz="2576" b="0">
                <a:solidFill>
                  <a:srgbClr val="B02A4A"/>
                </a:solidFill>
                <a:latin typeface="Consolas"/>
              </a:rPr>
              <a:t>#ffffff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oq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56740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5016476"/>
            <a:ext cx="11091672" cy="67830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016476"/>
            <a:ext cx="82296" cy="67830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07916"/>
            <a:ext cx="10725912" cy="5137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Matn va fon o'rtasida yetarli </a:t>
            </a:r>
            <a:r>
              <a:rPr sz="2660" b="1">
                <a:solidFill>
                  <a:srgbClr val="1F232B"/>
                </a:solidFill>
                <a:latin typeface="Calibri"/>
              </a:rPr>
              <a:t>kontrast</a:t>
            </a:r>
            <a:r>
              <a:rPr sz="2660" b="0">
                <a:solidFill>
                  <a:srgbClr val="1F232B"/>
                </a:solidFill>
                <a:latin typeface="Calibri"/>
              </a:rPr>
              <a:t> bo'lsin!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Matn xossalari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31391"/>
          <a:ext cx="11091672" cy="351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Xossa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Qiymatlar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text-align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left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center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right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justify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text-decoration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none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underline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line-through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text-transform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uppercase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lowercase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capitalize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letter-spacing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word-spacing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Harf / so'z oralig'i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line-height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Qator oralig'i (masalan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1.6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text-shadow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2px 2px 4px rgba(0,0,0,.4)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Shriftlar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9318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5844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body {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font-family: </a:t>
            </a:r>
            <a:r>
              <a:rPr sz="1272" b="0">
                <a:solidFill>
                  <a:srgbClr val="98C379"/>
                </a:solidFill>
                <a:latin typeface="Consolas"/>
              </a:rPr>
              <a:t>"Segoe UI"</a:t>
            </a:r>
            <a:r>
              <a:rPr sz="1272" b="0">
                <a:solidFill>
                  <a:srgbClr val="E6E6E6"/>
                </a:solidFill>
                <a:latin typeface="Consolas"/>
              </a:rPr>
              <a:t>, Arial, sans-serif;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font-size: 16px;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font-weight: 400;     /* 100..900; 700 = bold */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font-style: normal;   /* italic */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  line-height: 1.6;</a:t>
            </a:r>
          </a:p>
          <a:p>
            <a:pPr>
              <a:lnSpc>
                <a:spcPct val="100000"/>
              </a:lnSpc>
            </a:pPr>
            <a:r>
              <a:rPr sz="127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serif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"oyoqchali" (Georgia): kitob uslubi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470911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sans-serif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oyoqchasiz (Arial): ekran uchun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524503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monospace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 xil kenglik: kod uchun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4578095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Ro'yxat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zaxira</a:t>
            </a:r>
            <a:r>
              <a:rPr sz="2800" b="0">
                <a:solidFill>
                  <a:srgbClr val="1F232B"/>
                </a:solidFill>
                <a:latin typeface="Calibri"/>
              </a:rPr>
              <a:t> shriftlar; oxirida umumiy oila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47381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Google Fonts va o'lcham birliklari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fonts.google.com</a:t>
            </a:r>
            <a:r>
              <a:rPr sz="2400" b="0">
                <a:solidFill>
                  <a:srgbClr val="1F232B"/>
                </a:solidFill>
                <a:latin typeface="Calibri"/>
              </a:rPr>
              <a:t> → shrift tanlang (Latin Extended!)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"Get embed code" → </a:t>
            </a:r>
            <a:r>
              <a:rPr sz="2208" b="0">
                <a:solidFill>
                  <a:srgbClr val="B02A4A"/>
                </a:solidFill>
                <a:latin typeface="Consolas"/>
              </a:rPr>
              <a:t>&lt;link&gt;</a:t>
            </a:r>
            <a:r>
              <a:rPr sz="2400" b="0">
                <a:solidFill>
                  <a:srgbClr val="1F232B"/>
                </a:solidFill>
                <a:latin typeface="Calibri"/>
              </a:rPr>
              <a:t> ni </a:t>
            </a:r>
            <a:r>
              <a:rPr sz="2208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400" b="0">
                <a:solidFill>
                  <a:srgbClr val="1F232B"/>
                </a:solidFill>
                <a:latin typeface="Calibri"/>
              </a:rPr>
              <a:t> ga qo'ying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CSS: </a:t>
            </a:r>
            <a:r>
              <a:rPr sz="2208" b="0">
                <a:solidFill>
                  <a:srgbClr val="B02A4A"/>
                </a:solidFill>
                <a:latin typeface="Consolas"/>
              </a:rPr>
              <a:t>font-family: "Montserrat", sans-serif;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447288"/>
          <a:ext cx="110916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1206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Birlik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px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Aniq piksel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Ota element shriftiga nisbatan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rem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Sahifa asosiy shriftiga (16px) nisbatan — </a:t>
                      </a:r>
                      <a:r>
                        <a:rPr sz="1920" b="1">
                          <a:solidFill>
                            <a:srgbClr val="1F232B"/>
                          </a:solidFill>
                          <a:latin typeface="Calibri"/>
                        </a:rPr>
                        <a:t>shriftlar uchun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Ota elementga nisbatan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Vizitka saytiga dizayn beramiz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vizitkaga dizayn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css/style.css</a:t>
            </a:r>
            <a:r>
              <a:rPr sz="2800" b="0">
                <a:solidFill>
                  <a:srgbClr val="1F232B"/>
                </a:solidFill>
                <a:latin typeface="Calibri"/>
              </a:rPr>
              <a:t> yarating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sahifaga: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&lt;link rel="stylesheet" href="css/style.css"&gt;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(ichki papkada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../css/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Google Fonts'dan 2 ta shrift ulang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7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body</a:t>
            </a:r>
            <a:r>
              <a:rPr sz="2800" b="0">
                <a:solidFill>
                  <a:srgbClr val="1F232B"/>
                </a:solidFill>
                <a:latin typeface="Calibri"/>
              </a:rPr>
              <a:t>, sarlavhalar, havolalar, </a:t>
            </a:r>
            <a:r>
              <a:rPr sz="2576" b="0">
                <a:solidFill>
                  <a:srgbClr val="B02A4A"/>
                </a:solidFill>
                <a:latin typeface="Consolas"/>
              </a:rPr>
              <a:t>.ajratilgan</a:t>
            </a:r>
            <a:r>
              <a:rPr sz="2800" b="0">
                <a:solidFill>
                  <a:srgbClr val="1F232B"/>
                </a:solidFill>
                <a:latin typeface="Calibri"/>
              </a:rPr>
              <a:t> uchun uslub yozing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75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0149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F12 → Elements → Styles</a:t>
            </a:r>
            <a:r>
              <a:rPr sz="2800" b="0">
                <a:solidFill>
                  <a:srgbClr val="1F232B"/>
                </a:solidFill>
                <a:latin typeface="Calibri"/>
              </a:rPr>
              <a:t>: qaysi qoida ta'sir qilyapti, qaysi biri "yutqazgan"?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namuna CSS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979"/>
            <a:ext cx="11091672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84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84163"/>
            <a:ext cx="10725912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body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font-family: </a:t>
            </a:r>
            <a:r>
              <a:rPr sz="1904" b="0">
                <a:solidFill>
                  <a:srgbClr val="98C379"/>
                </a:solidFill>
                <a:latin typeface="Consolas"/>
              </a:rPr>
              <a:t>"Segoe UI"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Arial, sans-serif;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font-size: 17px;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line-height: 1.7;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color: #1f2937;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background-color: #f9fafb;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h1, h2, h3 { font-family: Georgia, serif; color: #4f46e5;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h1 { font-size: 2.5rem; text-align: center;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nav a { color: #4f46e5; text-decoration: none; font-weight: 600;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.ajratilgan { background-color: #fef3c7; padding: 0 4px;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;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unutilgan: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color: red font-size: 20px;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ikkalasi ham ishlamaydi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CSS'da nuqta unutilgan: </a:t>
            </a:r>
            <a:r>
              <a:rPr sz="2576" b="0">
                <a:solidFill>
                  <a:srgbClr val="B02A4A"/>
                </a:solidFill>
                <a:latin typeface="Consolas"/>
              </a:rPr>
              <a:t>muhim { }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.muhim { }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HTML'da nuqta qo'yilgan: 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class=".muhim"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class="muhim"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CSS fayl yo'li noto'g'ri → Console'da "404 style.css"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colour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text-color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to'g'risi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color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class="karta"</a:t>
            </a:r>
            <a:r>
              <a:rPr sz="2400" b="1">
                <a:solidFill>
                  <a:srgbClr val="1F232B"/>
                </a:solidFill>
                <a:latin typeface="Calibri"/>
              </a:rPr>
              <a:t> bo'lgan elementlarni tanlovchi selektor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#karta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.karta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karta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*karta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class="karta"</a:t>
            </a:r>
            <a:r>
              <a:rPr sz="2400" b="1">
                <a:solidFill>
                  <a:srgbClr val="1F232B"/>
                </a:solidFill>
                <a:latin typeface="Calibri"/>
              </a:rPr>
              <a:t> bo'lgan elementlarni tanlovchi selektor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#karta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.karta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karta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*karta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1">
                <a:solidFill>
                  <a:srgbClr val="B02A4A"/>
                </a:solidFill>
                <a:latin typeface="Consolas"/>
              </a:rPr>
              <a:t>&lt;p class="a" id="b"&gt;</a:t>
            </a:r>
            <a:r>
              <a:rPr sz="2000" b="1">
                <a:solidFill>
                  <a:srgbClr val="1F232B"/>
                </a:solidFill>
                <a:latin typeface="Calibri"/>
              </a:rPr>
              <a:t> uchun </a:t>
            </a:r>
            <a:r>
              <a:rPr sz="1840" b="1">
                <a:solidFill>
                  <a:srgbClr val="B02A4A"/>
                </a:solidFill>
                <a:latin typeface="Consolas"/>
              </a:rPr>
              <a:t>p{color:red}</a:t>
            </a:r>
            <a:r>
              <a:rPr sz="2000" b="1">
                <a:solidFill>
                  <a:srgbClr val="1F232B"/>
                </a:solidFill>
                <a:latin typeface="Calibri"/>
              </a:rPr>
              <a:t>, </a:t>
            </a:r>
            <a:r>
              <a:rPr sz="1840" b="1">
                <a:solidFill>
                  <a:srgbClr val="B02A4A"/>
                </a:solidFill>
                <a:latin typeface="Consolas"/>
              </a:rPr>
              <a:t>.a{color:green}</a:t>
            </a:r>
            <a:r>
              <a:rPr sz="2000" b="1">
                <a:solidFill>
                  <a:srgbClr val="1F232B"/>
                </a:solidFill>
                <a:latin typeface="Calibri"/>
              </a:rPr>
              <a:t>, </a:t>
            </a:r>
            <a:r>
              <a:rPr sz="1840" b="1">
                <a:solidFill>
                  <a:srgbClr val="B02A4A"/>
                </a:solidFill>
                <a:latin typeface="Consolas"/>
              </a:rPr>
              <a:t>#b{color:blue}</a:t>
            </a:r>
            <a:r>
              <a:rPr sz="2000" b="1">
                <a:solidFill>
                  <a:srgbClr val="1F232B"/>
                </a:solidFill>
                <a:latin typeface="Calibri"/>
              </a:rPr>
              <a:t> yozilgan. Matn qanday rangda?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Qizil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Yashil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Qora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Ko'k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1">
                <a:solidFill>
                  <a:srgbClr val="B02A4A"/>
                </a:solidFill>
                <a:latin typeface="Consolas"/>
              </a:rPr>
              <a:t>&lt;p class="a" id="b"&gt;</a:t>
            </a:r>
            <a:r>
              <a:rPr sz="2000" b="1">
                <a:solidFill>
                  <a:srgbClr val="1F232B"/>
                </a:solidFill>
                <a:latin typeface="Calibri"/>
              </a:rPr>
              <a:t> uchun </a:t>
            </a:r>
            <a:r>
              <a:rPr sz="1840" b="1">
                <a:solidFill>
                  <a:srgbClr val="B02A4A"/>
                </a:solidFill>
                <a:latin typeface="Consolas"/>
              </a:rPr>
              <a:t>p{color:red}</a:t>
            </a:r>
            <a:r>
              <a:rPr sz="2000" b="1">
                <a:solidFill>
                  <a:srgbClr val="1F232B"/>
                </a:solidFill>
                <a:latin typeface="Calibri"/>
              </a:rPr>
              <a:t>, </a:t>
            </a:r>
            <a:r>
              <a:rPr sz="1840" b="1">
                <a:solidFill>
                  <a:srgbClr val="B02A4A"/>
                </a:solidFill>
                <a:latin typeface="Consolas"/>
              </a:rPr>
              <a:t>.a{color:green}</a:t>
            </a:r>
            <a:r>
              <a:rPr sz="2000" b="1">
                <a:solidFill>
                  <a:srgbClr val="1F232B"/>
                </a:solidFill>
                <a:latin typeface="Calibri"/>
              </a:rPr>
              <a:t>, </a:t>
            </a:r>
            <a:r>
              <a:rPr sz="1840" b="1">
                <a:solidFill>
                  <a:srgbClr val="B02A4A"/>
                </a:solidFill>
                <a:latin typeface="Consolas"/>
              </a:rPr>
              <a:t>#b{color:blue}</a:t>
            </a:r>
            <a:r>
              <a:rPr sz="2000" b="1">
                <a:solidFill>
                  <a:srgbClr val="1F232B"/>
                </a:solidFill>
                <a:latin typeface="Calibri"/>
              </a:rPr>
              <a:t> yozilgan. Matn qanday rangda?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Qizil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Yashil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Qora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39902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Ko'k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nav a</a:t>
            </a:r>
            <a:r>
              <a:rPr sz="2400" b="1">
                <a:solidFill>
                  <a:srgbClr val="1F232B"/>
                </a:solidFill>
                <a:latin typeface="Calibri"/>
              </a:rPr>
              <a:t> selektori nimani tanlaydi?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nav</a:t>
            </a:r>
            <a:r>
              <a:rPr sz="1900" b="0">
                <a:solidFill>
                  <a:srgbClr val="1F232B"/>
                </a:solidFill>
                <a:latin typeface="Calibri"/>
              </a:rPr>
              <a:t> ichidagi barcha havolalarni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nav</a:t>
            </a:r>
            <a:r>
              <a:rPr sz="1900" b="0">
                <a:solidFill>
                  <a:srgbClr val="1F232B"/>
                </a:solidFill>
                <a:latin typeface="Calibri"/>
              </a:rPr>
              <a:t> va barcha </a:t>
            </a:r>
            <a:r>
              <a:rPr sz="1748" b="0">
                <a:solidFill>
                  <a:srgbClr val="B02A4A"/>
                </a:solidFill>
                <a:latin typeface="Consolas"/>
              </a:rPr>
              <a:t>a</a:t>
            </a:r>
            <a:r>
              <a:rPr sz="1900" b="0">
                <a:solidFill>
                  <a:srgbClr val="1F232B"/>
                </a:solidFill>
                <a:latin typeface="Calibri"/>
              </a:rPr>
              <a:t> larni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birinchi havolani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</a:t>
            </a:r>
            <a:r>
              <a:rPr sz="1900" b="0">
                <a:solidFill>
                  <a:srgbClr val="1F232B"/>
                </a:solidFill>
                <a:latin typeface="Calibri"/>
              </a:rPr>
              <a:t> ichidagi </a:t>
            </a:r>
            <a:r>
              <a:rPr sz="1748" b="0">
                <a:solidFill>
                  <a:srgbClr val="B02A4A"/>
                </a:solidFill>
                <a:latin typeface="Consolas"/>
              </a:rPr>
              <a:t>nav</a:t>
            </a:r>
            <a:r>
              <a:rPr sz="1900" b="0">
                <a:solidFill>
                  <a:srgbClr val="1F232B"/>
                </a:solidFill>
                <a:latin typeface="Calibri"/>
              </a:rPr>
              <a:t> ni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nav a</a:t>
            </a:r>
            <a:r>
              <a:rPr sz="2400" b="1">
                <a:solidFill>
                  <a:srgbClr val="1F232B"/>
                </a:solidFill>
                <a:latin typeface="Calibri"/>
              </a:rPr>
              <a:t> selektori nimani tanlaydi?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nav</a:t>
            </a:r>
            <a:r>
              <a:rPr sz="1900" b="1">
                <a:solidFill>
                  <a:srgbClr val="1F232B"/>
                </a:solidFill>
                <a:latin typeface="Calibri"/>
              </a:rPr>
              <a:t> ichidagi barcha havolalarni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nav</a:t>
            </a:r>
            <a:r>
              <a:rPr sz="1900" b="0">
                <a:solidFill>
                  <a:srgbClr val="1F232B"/>
                </a:solidFill>
                <a:latin typeface="Calibri"/>
              </a:rPr>
              <a:t> va barcha </a:t>
            </a:r>
            <a:r>
              <a:rPr sz="1748" b="0">
                <a:solidFill>
                  <a:srgbClr val="B02A4A"/>
                </a:solidFill>
                <a:latin typeface="Consolas"/>
              </a:rPr>
              <a:t>a</a:t>
            </a:r>
            <a:r>
              <a:rPr sz="1900" b="0">
                <a:solidFill>
                  <a:srgbClr val="1F232B"/>
                </a:solidFill>
                <a:latin typeface="Calibri"/>
              </a:rPr>
              <a:t> larni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birinchi havolani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</a:t>
            </a:r>
            <a:r>
              <a:rPr sz="1900" b="0">
                <a:solidFill>
                  <a:srgbClr val="1F232B"/>
                </a:solidFill>
                <a:latin typeface="Calibri"/>
              </a:rPr>
              <a:t> ichidagi </a:t>
            </a:r>
            <a:r>
              <a:rPr sz="1748" b="0">
                <a:solidFill>
                  <a:srgbClr val="B02A4A"/>
                </a:solidFill>
                <a:latin typeface="Consolas"/>
              </a:rPr>
              <a:t>nav</a:t>
            </a:r>
            <a:r>
              <a:rPr sz="1900" b="0">
                <a:solidFill>
                  <a:srgbClr val="1F232B"/>
                </a:solidFill>
                <a:latin typeface="Calibri"/>
              </a:rPr>
              <a:t> ni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font-family: "Roboto", Arial, sans-serif;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kompyuterda Roboto bo'lmasa?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Matn ko'rinmaydi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Arial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 chiqadi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Times New Roman ishlatiladi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font-family: "Roboto", Arial, sans-serif;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kompyuterda Roboto bo'lmasa?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Matn ko'rinmaydi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Arial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 chiqadi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Times New Roman ishlatiladi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CSS Diner</a:t>
            </a:r>
            <a:r>
              <a:rPr sz="2800" b="0">
                <a:solidFill>
                  <a:srgbClr val="1F232B"/>
                </a:solidFill>
                <a:latin typeface="Calibri"/>
              </a:rPr>
              <a:t> o'yinida kamida 12-darajagacha o'ting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047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79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coolors.co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4–5 rangli palitra tanlab, vizitkaga qo'llang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713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3456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"Sinfimiz gazetasi"ga gazeta uslubida dizayn: serif shrift, katta sarlavha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6-mavzu · CSS ulash usullari, selektorlar va sintaksis. Matn va shriftlar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Qoida: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selektor { xossa: qiymat; }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External CSS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asosiy usul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Selektorlar: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p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.class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#id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*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a, b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 b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 &gt; b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Ustuvorlik: inline &gt; id &gt; class &gt; teg; teng bo'lsa — keyingisi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Matn: </a:t>
            </a:r>
            <a:r>
              <a:rPr sz="2576" b="0">
                <a:solidFill>
                  <a:srgbClr val="B02A4A"/>
                </a:solidFill>
                <a:latin typeface="Consolas"/>
              </a:rPr>
              <a:t>color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text-align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line-height</a:t>
            </a:r>
            <a:r>
              <a:rPr sz="2800" b="0">
                <a:solidFill>
                  <a:srgbClr val="1F232B"/>
                </a:solidFill>
                <a:latin typeface="Calibri"/>
              </a:rPr>
              <a:t>; shrift: </a:t>
            </a:r>
            <a:r>
              <a:rPr sz="2576" b="0">
                <a:solidFill>
                  <a:srgbClr val="B02A4A"/>
                </a:solidFill>
                <a:latin typeface="Consolas"/>
              </a:rPr>
              <a:t>font-family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font-size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font-weight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7. CSS background va border xossalari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6-mavzu: CSS ulash usullari, selektorlar va sintaksis. Matn va shriftlar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