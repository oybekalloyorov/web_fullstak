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git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Git — kompyuterdagi dastur, GitHub — internetdagi sayt.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git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Sahifada 5 ta h1 sarlavha.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E2552B"/>
                </a:solidFill>
                <a:latin typeface="Calibri"/>
              </a:rPr>
              <a:t>11-MAVZU  ·  I BOB. HTML VA 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Git va GitHub, hosting va SEO bo'yicha umumiy bilimlar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Versiyalarni boshqarish tizimi nima, Git'ni o'rnatish, init, add, commit, status, log; GitHub'da repozitoriya, push va clone; GitHub Pages; SEO asoslari: title, description, sarlavhalar, alt, tezlik.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Versiyalarni boshqarish</a:t>
            </a:r>
            <a:r>
              <a:rPr sz="2800" b="0">
                <a:solidFill>
                  <a:srgbClr val="1F232B"/>
                </a:solidFill>
                <a:latin typeface="Calibri"/>
              </a:rPr>
              <a:t> nima va nega kerak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Git buyruqlari: </a:t>
            </a:r>
            <a:r>
              <a:rPr sz="2576" b="0">
                <a:solidFill>
                  <a:srgbClr val="B02A4A"/>
                </a:solidFill>
                <a:latin typeface="Consolas"/>
              </a:rPr>
              <a:t>init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status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add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commit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log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GitHub</a:t>
            </a:r>
            <a:r>
              <a:rPr sz="2800" b="0">
                <a:solidFill>
                  <a:srgbClr val="1F232B"/>
                </a:solidFill>
                <a:latin typeface="Calibri"/>
              </a:rPr>
              <a:t>'da repozitoriya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push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GitHub Pages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bepul hosting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SEO</a:t>
            </a:r>
            <a:r>
              <a:rPr sz="2800" b="0">
                <a:solidFill>
                  <a:srgbClr val="1F232B"/>
                </a:solidFill>
                <a:latin typeface="Calibri"/>
              </a:rPr>
              <a:t> asoslari: Google'da yuqorida chiqish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Versiyalarni boshqarish nima?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0255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referat.docx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referat_yangi.docx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referat_yangi_OXIRGI_2.docx</a:t>
            </a:r>
            <a:r>
              <a:rPr sz="2800" b="0">
                <a:solidFill>
                  <a:srgbClr val="1F232B"/>
                </a:solidFill>
                <a:latin typeface="Calibri"/>
              </a:rPr>
              <a:t>... Qaysi biri oxirgisi? 🤯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66257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56144"/>
            <a:ext cx="11091672" cy="156337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E2552B"/>
                </a:solidFill>
                <a:latin typeface="Calibri"/>
              </a:rPr>
              <a:t>Git — loyihaning har bir saqlangan holatini eslab qoluvchi tizim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29242"/>
            <a:ext cx="11091672" cy="152285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229242"/>
            <a:ext cx="82296" cy="152285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20682"/>
            <a:ext cx="10725912" cy="13582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O'yindagi "save":</a:t>
            </a:r>
            <a:r>
              <a:rPr sz="2660" b="0">
                <a:solidFill>
                  <a:srgbClr val="1F232B"/>
                </a:solidFill>
                <a:latin typeface="Calibri"/>
              </a:rPr>
              <a:t> qiyin bosqichdan oldin saqlaysiz, yutqazsangiz — o'sha nuqtaga qaytasiz. Git'dagi </a:t>
            </a:r>
            <a:r>
              <a:rPr sz="2660" b="1">
                <a:solidFill>
                  <a:srgbClr val="1F232B"/>
                </a:solidFill>
                <a:latin typeface="Calibri"/>
              </a:rPr>
              <a:t>commit</a:t>
            </a:r>
            <a:r>
              <a:rPr sz="2660" b="0">
                <a:solidFill>
                  <a:srgbClr val="1F232B"/>
                </a:solidFill>
                <a:latin typeface="Calibri"/>
              </a:rPr>
              <a:t> — xuddi shunday saqlash nuqtasi.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Git nima beradi?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📜 To'liq </a:t>
            </a:r>
            <a:r>
              <a:rPr sz="2600" b="1">
                <a:solidFill>
                  <a:srgbClr val="1F232B"/>
                </a:solidFill>
                <a:latin typeface="Calibri"/>
              </a:rPr>
              <a:t>tarix</a:t>
            </a:r>
            <a:r>
              <a:rPr sz="2600" b="0">
                <a:solidFill>
                  <a:srgbClr val="1F232B"/>
                </a:solidFill>
                <a:latin typeface="Calibri"/>
              </a:rPr>
              <a:t>: kim, qachon, nimani o'zgartirgan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6591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94662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⏪ Xato qilsangiz — </a:t>
            </a:r>
            <a:r>
              <a:rPr sz="2600" b="1">
                <a:solidFill>
                  <a:srgbClr val="1F232B"/>
                </a:solidFill>
                <a:latin typeface="Calibri"/>
              </a:rPr>
              <a:t>oldingi holatga</a:t>
            </a:r>
            <a:r>
              <a:rPr sz="2600" b="0">
                <a:solidFill>
                  <a:srgbClr val="1F232B"/>
                </a:solidFill>
                <a:latin typeface="Calibri"/>
              </a:rPr>
              <a:t> qaytish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4325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72004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👥 </a:t>
            </a:r>
            <a:r>
              <a:rPr sz="2600" b="1">
                <a:solidFill>
                  <a:srgbClr val="1F232B"/>
                </a:solidFill>
                <a:latin typeface="Calibri"/>
              </a:rPr>
              <a:t>Jamoa</a:t>
            </a:r>
            <a:r>
              <a:rPr sz="2600" b="0">
                <a:solidFill>
                  <a:srgbClr val="1F232B"/>
                </a:solidFill>
                <a:latin typeface="Calibri"/>
              </a:rPr>
              <a:t> bo'lib bir loyihada ishlash (13-mavzu)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2059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149346"/>
            <a:ext cx="10680192" cy="4676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600" b="0">
                <a:solidFill>
                  <a:srgbClr val="1F232B"/>
                </a:solidFill>
                <a:latin typeface="Calibri"/>
              </a:rPr>
              <a:t>☁️ GitHub'da saqlash — kompyuter buzilsa ham loyiha yo'qolmaydi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29793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726688"/>
          <a:ext cx="11091672" cy="2236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59054">
                <a:tc>
                  <a:txBody>
                    <a:bodyPr/>
                    <a:lstStyle/>
                    <a:p/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Git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1">
                          <a:solidFill>
                            <a:srgbClr val="FFFFFF"/>
                          </a:solidFill>
                          <a:latin typeface="Calibri"/>
                        </a:rPr>
                        <a:t>GitHub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559054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Nima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Dastur (kompyuterda)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Veb-sayt (github.com)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59054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Versiyalarni saqlaydi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Loyihalarni internetda saqlaydi, ulashadi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59054"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O'xshatish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Fotoapparat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80" b="0">
                          <a:solidFill>
                            <a:srgbClr val="1F232B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Git'ni o'rnatish va sozlash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27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git-scm.com</a:t>
            </a:r>
            <a:r>
              <a:rPr sz="2800" b="0">
                <a:solidFill>
                  <a:srgbClr val="1F232B"/>
                </a:solidFill>
                <a:latin typeface="Calibri"/>
              </a:rPr>
              <a:t> dan yuklab o'rnating (standart sozlamalar)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VS Code: </a:t>
            </a:r>
            <a:r>
              <a:rPr sz="2800" b="1">
                <a:solidFill>
                  <a:srgbClr val="1F232B"/>
                </a:solidFill>
                <a:latin typeface="Calibri"/>
              </a:rPr>
              <a:t>Terminal → New Terminal</a:t>
            </a:r>
            <a:r>
              <a:rPr sz="2800" b="0">
                <a:solidFill>
                  <a:srgbClr val="1F232B"/>
                </a:solidFill>
                <a:latin typeface="Calibri"/>
              </a:rPr>
              <a:t> (Ctrl+`)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Bir marta o'zingizni tanishtiring: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47288"/>
            <a:ext cx="11091672" cy="139647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0215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Terminal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76472"/>
            <a:ext cx="10725912" cy="10489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git --version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git config --global user.name </a:t>
            </a:r>
            <a:r>
              <a:rPr sz="1904" b="0">
                <a:solidFill>
                  <a:srgbClr val="98C379"/>
                </a:solidFill>
                <a:latin typeface="Consolas"/>
              </a:rPr>
              <a:t>"Ismingiz Familiyangiz"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git config --global user.email </a:t>
            </a:r>
            <a:r>
              <a:rPr sz="1904" b="0">
                <a:solidFill>
                  <a:srgbClr val="98C379"/>
                </a:solidFill>
                <a:latin typeface="Consolas"/>
              </a:rPr>
              <a:t>"sizning@gmail.com"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Uchta hudud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08447"/>
            <a:ext cx="11091672" cy="133069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6331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37631"/>
            <a:ext cx="10725912" cy="98322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773" b="0">
                <a:solidFill>
                  <a:srgbClr val="E6E6E6"/>
                </a:solidFill>
                <a:latin typeface="Consolas"/>
              </a:rPr>
              <a:t>📁 Ishchi papka  ── git add ──▶  📋 Staging  ── git commit ──▶  🗄️ Repozitoriya</a:t>
            </a:r>
          </a:p>
          <a:p>
            <a:pPr>
              <a:lnSpc>
                <a:spcPct val="100000"/>
              </a:lnSpc>
            </a:pPr>
            <a:r>
              <a:rPr sz="1773" b="0">
                <a:solidFill>
                  <a:srgbClr val="E6E6E6"/>
                </a:solidFill>
                <a:latin typeface="Consolas"/>
              </a:rPr>
              <a:t> (tahrirlayotgan     (suratga kiradigan        (saqlangan tarix)</a:t>
            </a:r>
          </a:p>
          <a:p>
            <a:pPr>
              <a:lnSpc>
                <a:spcPct val="100000"/>
              </a:lnSpc>
            </a:pPr>
            <a:r>
              <a:rPr sz="1773" b="0">
                <a:solidFill>
                  <a:srgbClr val="E6E6E6"/>
                </a:solidFill>
                <a:latin typeface="Consolas"/>
              </a:rPr>
              <a:t>  fayllar)            fayllar)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58598"/>
            <a:ext cx="11091672" cy="152285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258598"/>
            <a:ext cx="82296" cy="152285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50038"/>
            <a:ext cx="10725912" cy="13582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Guruh surati:</a:t>
            </a:r>
            <a:r>
              <a:rPr sz="2660" b="0">
                <a:solidFill>
                  <a:srgbClr val="1F232B"/>
                </a:solidFill>
                <a:latin typeface="Calibri"/>
              </a:rPr>
              <a:t> ishchi papka — sinf xonasi; </a:t>
            </a:r>
            <a:r>
              <a:rPr sz="2447" b="0">
                <a:solidFill>
                  <a:srgbClr val="B02A4A"/>
                </a:solidFill>
                <a:latin typeface="Consolas"/>
              </a:rPr>
              <a:t>git add</a:t>
            </a:r>
            <a:r>
              <a:rPr sz="2660" b="0">
                <a:solidFill>
                  <a:srgbClr val="1F232B"/>
                </a:solidFill>
                <a:latin typeface="Calibri"/>
              </a:rPr>
              <a:t> — suratga tushadiganlarni oldinga chaqirish; </a:t>
            </a:r>
            <a:r>
              <a:rPr sz="2447" b="0">
                <a:solidFill>
                  <a:srgbClr val="B02A4A"/>
                </a:solidFill>
                <a:latin typeface="Consolas"/>
              </a:rPr>
              <a:t>git commit</a:t>
            </a:r>
            <a:r>
              <a:rPr sz="2660" b="0">
                <a:solidFill>
                  <a:srgbClr val="1F232B"/>
                </a:solidFill>
                <a:latin typeface="Calibri"/>
              </a:rPr>
              <a:t> — "chik!", surat albomga qo'shildi.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Asosiy buyruqlar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7338"/>
            <a:ext cx="11091672" cy="235403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6220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36522"/>
            <a:ext cx="10725912" cy="20065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git init                     # loyihada Git'ni yoqish (bir marta)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git status                   # nima o'zgardi?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git add index.html           # bitta faylni tayyorlash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git add .                    # barcha o'zgarishlar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git commit -m </a:t>
            </a:r>
            <a:r>
              <a:rPr sz="1904" b="0">
                <a:solidFill>
                  <a:srgbClr val="98C379"/>
                </a:solidFill>
                <a:latin typeface="Consolas"/>
              </a:rPr>
              <a:t>"Bosh sahifa va menyu qo'shildi"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6E6E6"/>
                </a:solidFill>
                <a:latin typeface="Consolas"/>
              </a:rPr>
              <a:t>git log --oneline            # tarix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80825"/>
            <a:ext cx="11091672" cy="1077285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3568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Natija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10009"/>
            <a:ext cx="10725912" cy="7298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1F232B"/>
                </a:solidFill>
                <a:latin typeface="Consolas"/>
              </a:rPr>
              <a:t>a3f9c2e Bosh sahifa va menyu qo'shildi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1F232B"/>
                </a:solidFill>
                <a:latin typeface="Consolas"/>
              </a:rPr>
              <a:t>1b7d004 Loyiha boshlandi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Yaxshi commit izohi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8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156337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E2552B"/>
                </a:solidFill>
                <a:latin typeface="Calibri"/>
              </a:rPr>
              <a:t>"fix", "o'zgarish", "asdf" ❌ → "Aloqa sahifasiga forma qo'shildi" 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9041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Nima qilinganini </a:t>
            </a:r>
            <a:r>
              <a:rPr sz="2800" b="1">
                <a:solidFill>
                  <a:srgbClr val="1F232B"/>
                </a:solidFill>
                <a:latin typeface="Calibri"/>
              </a:rPr>
              <a:t>aniq</a:t>
            </a:r>
            <a:r>
              <a:rPr sz="2800" b="0">
                <a:solidFill>
                  <a:srgbClr val="1F232B"/>
                </a:solidFill>
                <a:latin typeface="Calibri"/>
              </a:rPr>
              <a:t> yozing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250437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69951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Kichik, mantiqiy qadamlar bilan </a:t>
            </a:r>
            <a:r>
              <a:rPr sz="2800" b="1">
                <a:solidFill>
                  <a:srgbClr val="1F232B"/>
                </a:solidFill>
                <a:latin typeface="Calibri"/>
              </a:rPr>
              <a:t>tez-tez</a:t>
            </a:r>
            <a:r>
              <a:rPr sz="2800" b="0">
                <a:solidFill>
                  <a:srgbClr val="1F232B"/>
                </a:solidFill>
                <a:latin typeface="Calibri"/>
              </a:rPr>
              <a:t> commit qiling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85953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0860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VS Code: </a:t>
            </a:r>
            <a:r>
              <a:rPr sz="2800" b="1">
                <a:solidFill>
                  <a:srgbClr val="1F232B"/>
                </a:solidFill>
                <a:latin typeface="Calibri"/>
              </a:rPr>
              <a:t>Source Control</a:t>
            </a:r>
            <a:r>
              <a:rPr sz="2800" b="0">
                <a:solidFill>
                  <a:srgbClr val="1F232B"/>
                </a:solidFill>
                <a:latin typeface="Calibri"/>
              </a:rPr>
              <a:t> paneli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+</a:t>
            </a:r>
            <a:r>
              <a:rPr sz="2800" b="0">
                <a:solidFill>
                  <a:srgbClr val="1F232B"/>
                </a:solidFill>
                <a:latin typeface="Calibri"/>
              </a:rPr>
              <a:t> (add), izoh + ✓ (commit)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46862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GitHub'ga yuklash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27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300" b="1">
                <a:solidFill>
                  <a:srgbClr val="1F232B"/>
                </a:solidFill>
                <a:latin typeface="Calibri"/>
              </a:rPr>
              <a:t>github.com</a:t>
            </a:r>
            <a:r>
              <a:rPr sz="1300" b="0">
                <a:solidFill>
                  <a:srgbClr val="1F232B"/>
                </a:solidFill>
                <a:latin typeface="Calibri"/>
              </a:rPr>
              <a:t> da ro'yxatdan o'ting (nom — portfolio manzilingiz bo'ladi!)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300" b="1">
                <a:solidFill>
                  <a:srgbClr val="1F232B"/>
                </a:solidFill>
                <a:latin typeface="Calibri"/>
              </a:rPr>
              <a:t>+ → New repository</a:t>
            </a:r>
            <a:r>
              <a:rPr sz="1300" b="0">
                <a:solidFill>
                  <a:srgbClr val="1F232B"/>
                </a:solidFill>
                <a:latin typeface="Calibri"/>
              </a:rPr>
              <a:t> → nom: </a:t>
            </a:r>
            <a:r>
              <a:rPr sz="1196" b="0">
                <a:solidFill>
                  <a:srgbClr val="B02A4A"/>
                </a:solidFill>
                <a:latin typeface="Consolas"/>
              </a:rPr>
              <a:t>portfolio</a:t>
            </a:r>
            <a:r>
              <a:rPr sz="1300" b="0">
                <a:solidFill>
                  <a:srgbClr val="1F232B"/>
                </a:solidFill>
                <a:latin typeface="Calibri"/>
              </a:rPr>
              <a:t>, Public → Create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300" b="0">
                <a:solidFill>
                  <a:srgbClr val="1F232B"/>
                </a:solidFill>
                <a:latin typeface="Calibri"/>
              </a:rPr>
              <a:t>Terminalda: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47288"/>
            <a:ext cx="11091672" cy="883493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0215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Terminal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76472"/>
            <a:ext cx="10725912" cy="53602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884" b="0">
                <a:solidFill>
                  <a:srgbClr val="E6E6E6"/>
                </a:solidFill>
                <a:latin typeface="Consolas"/>
              </a:rPr>
              <a:t>git branch -M main</a:t>
            </a:r>
          </a:p>
          <a:p>
            <a:pPr>
              <a:lnSpc>
                <a:spcPct val="100000"/>
              </a:lnSpc>
            </a:pPr>
            <a:r>
              <a:rPr sz="884" b="0">
                <a:solidFill>
                  <a:srgbClr val="E6E6E6"/>
                </a:solidFill>
                <a:latin typeface="Consolas"/>
              </a:rPr>
              <a:t>git remote add origin https://github.com/USERNAME/portfolio.git</a:t>
            </a:r>
          </a:p>
          <a:p>
            <a:pPr>
              <a:lnSpc>
                <a:spcPct val="100000"/>
              </a:lnSpc>
            </a:pPr>
            <a:r>
              <a:rPr sz="884" b="0">
                <a:solidFill>
                  <a:srgbClr val="E6E6E6"/>
                </a:solidFill>
                <a:latin typeface="Consolas"/>
              </a:rPr>
              <a:t>git push -u origin main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550237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4577669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300" b="0">
                <a:solidFill>
                  <a:srgbClr val="1F232B"/>
                </a:solidFill>
                <a:latin typeface="Calibri"/>
              </a:rPr>
              <a:t>Keyingi safar — uchta buyruq: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26893"/>
            <a:ext cx="11091672" cy="883493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28175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56077"/>
            <a:ext cx="10725912" cy="53602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884" b="0">
                <a:solidFill>
                  <a:srgbClr val="E6E6E6"/>
                </a:solidFill>
                <a:latin typeface="Consolas"/>
              </a:rPr>
              <a:t>git add .</a:t>
            </a:r>
          </a:p>
          <a:p>
            <a:pPr>
              <a:lnSpc>
                <a:spcPct val="100000"/>
              </a:lnSpc>
            </a:pPr>
            <a:r>
              <a:rPr sz="884" b="0">
                <a:solidFill>
                  <a:srgbClr val="E6E6E6"/>
                </a:solidFill>
                <a:latin typeface="Consolas"/>
              </a:rPr>
              <a:t>git commit -m </a:t>
            </a:r>
            <a:r>
              <a:rPr sz="884" b="0">
                <a:solidFill>
                  <a:srgbClr val="98C379"/>
                </a:solidFill>
                <a:latin typeface="Consolas"/>
              </a:rPr>
              <a:t>"Loyihalar bo'limi qo'shildi"</a:t>
            </a:r>
          </a:p>
          <a:p>
            <a:pPr>
              <a:lnSpc>
                <a:spcPct val="100000"/>
              </a:lnSpc>
            </a:pPr>
            <a:r>
              <a:rPr sz="884" b="0">
                <a:solidFill>
                  <a:srgbClr val="E6E6E6"/>
                </a:solidFill>
                <a:latin typeface="Consolas"/>
              </a:rPr>
              <a:t>git push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clone va pull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5295"/>
            <a:ext cx="11091672" cy="990456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9015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64479"/>
            <a:ext cx="10725912" cy="6429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45" b="0">
                <a:solidFill>
                  <a:srgbClr val="E6E6E6"/>
                </a:solidFill>
                <a:latin typeface="Consolas"/>
              </a:rPr>
              <a:t>git clone https://github.com/USERNAME/portfolio.git   # yuklab olish</a:t>
            </a:r>
          </a:p>
          <a:p>
            <a:pPr>
              <a:lnSpc>
                <a:spcPct val="100000"/>
              </a:lnSpc>
            </a:pPr>
            <a:r>
              <a:rPr sz="1645" b="0">
                <a:solidFill>
                  <a:srgbClr val="E6E6E6"/>
                </a:solidFill>
                <a:latin typeface="Consolas"/>
              </a:rPr>
              <a:t>git pull                                               # yangi o'zgarishlarni olish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4520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Maktabda ishladingiz → uyda </a:t>
            </a:r>
            <a:r>
              <a:rPr sz="2576" b="0">
                <a:solidFill>
                  <a:srgbClr val="B02A4A"/>
                </a:solidFill>
                <a:latin typeface="Consolas"/>
              </a:rPr>
              <a:t>git pull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davom etasiz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10522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554300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554300"/>
            <a:ext cx="82296" cy="110058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45740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660" b="0">
                <a:solidFill>
                  <a:srgbClr val="1F232B"/>
                </a:solidFill>
                <a:latin typeface="Calibri"/>
              </a:rPr>
              <a:t>GitHub'ga </a:t>
            </a:r>
            <a:r>
              <a:rPr sz="2660" b="1">
                <a:solidFill>
                  <a:srgbClr val="1F232B"/>
                </a:solidFill>
                <a:latin typeface="Calibri"/>
              </a:rPr>
              <a:t>parollar</a:t>
            </a:r>
            <a:r>
              <a:rPr sz="2660" b="0">
                <a:solidFill>
                  <a:srgbClr val="1F232B"/>
                </a:solidFill>
                <a:latin typeface="Calibri"/>
              </a:rPr>
              <a:t>, shaxsiy ma'lumotlar, katta videolarni yuklamang — public repozitoriyani butun dunyo ko'radi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Hosting: GitHub Pages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27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Repozitoriyada </a:t>
            </a:r>
            <a:r>
              <a:rPr sz="2800" b="1">
                <a:solidFill>
                  <a:srgbClr val="1F232B"/>
                </a:solidFill>
                <a:latin typeface="Calibri"/>
              </a:rPr>
              <a:t>Settings → Pages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Source: </a:t>
            </a:r>
            <a:r>
              <a:rPr sz="2800" b="1">
                <a:solidFill>
                  <a:srgbClr val="1F232B"/>
                </a:solidFill>
                <a:latin typeface="Calibri"/>
              </a:rPr>
              <a:t>Deploy from a branch</a:t>
            </a:r>
            <a:r>
              <a:rPr sz="2800" b="0">
                <a:solidFill>
                  <a:srgbClr val="1F232B"/>
                </a:solidFill>
                <a:latin typeface="Calibri"/>
              </a:rPr>
              <a:t>, Branch: </a:t>
            </a:r>
            <a:r>
              <a:rPr sz="2576" b="0">
                <a:solidFill>
                  <a:srgbClr val="B02A4A"/>
                </a:solidFill>
                <a:latin typeface="Consolas"/>
              </a:rPr>
              <a:t>main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/ (root)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Save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1–2 daqiqadan so'ng: </a:t>
            </a:r>
            <a:r>
              <a:rPr sz="2576" b="0">
                <a:solidFill>
                  <a:srgbClr val="B02A4A"/>
                </a:solidFill>
                <a:latin typeface="Consolas"/>
              </a:rPr>
              <a:t>https://USERNAME.github.io/portfolio/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79088"/>
            <a:ext cx="11091672" cy="678307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879088"/>
            <a:ext cx="82296" cy="67830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70528"/>
            <a:ext cx="10725912" cy="51371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660" b="0">
                <a:solidFill>
                  <a:srgbClr val="1F232B"/>
                </a:solidFill>
                <a:latin typeface="Calibri"/>
              </a:rPr>
              <a:t>Bosh sahifa fayli aynan </a:t>
            </a:r>
            <a:r>
              <a:rPr sz="2447" b="0">
                <a:solidFill>
                  <a:srgbClr val="B02A4A"/>
                </a:solidFill>
                <a:latin typeface="Consolas"/>
              </a:rPr>
              <a:t>index.html</a:t>
            </a:r>
            <a:r>
              <a:rPr sz="2660" b="0">
                <a:solidFill>
                  <a:srgbClr val="1F232B"/>
                </a:solidFill>
                <a:latin typeface="Calibri"/>
              </a:rPr>
              <a:t> bo'lishi kerak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7685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13-mavzuda: </a:t>
            </a:r>
            <a:r>
              <a:rPr sz="2800" b="1">
                <a:solidFill>
                  <a:srgbClr val="1F232B"/>
                </a:solidFill>
                <a:latin typeface="Calibri"/>
              </a:rPr>
              <a:t>Netlify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800" b="1">
                <a:solidFill>
                  <a:srgbClr val="1F232B"/>
                </a:solidFill>
                <a:latin typeface="Calibri"/>
              </a:rPr>
              <a:t>Vercel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93687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F6CCBF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FAE5DF"/>
                </a:solidFill>
                <a:latin typeface="Calibri"/>
              </a:rPr>
              <a:t>Google'da yuqorida chiqish — Search Engine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6CCBF"/>
                </a:solidFill>
                <a:latin typeface="Calibri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SEO qoidalari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43557"/>
          <a:ext cx="11091672" cy="4015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5019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Qoida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Qanday</a:t>
                      </a:r>
                    </a:p>
                  </a:txBody>
                  <a:tcPr marL="73152" marR="73152" marT="36576" marB="36576">
                    <a:solidFill>
                      <a:srgbClr val="E2552B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Mazmunli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&lt;title&gt;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Har sahifada har xil, 50–60 belgi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meta description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Natijadagi tavsif, 150–160 belgi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Bitta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&lt;h1&gt;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tartibli sarlavhalar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h1 → h2 → h3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Semantik teglar, rasmlarda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alt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4–5-mavzular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Tushunarli manzillar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/loyihalar.html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✅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/page1.html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 ❌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Tezlik va mobilga moslik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Siqilgan rasmlar, responsiv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0190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Sifatli mazmun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Eng muhimi!</a:t>
                      </a:r>
                    </a:p>
                  </a:txBody>
                  <a:tcPr marL="73152" marR="73152" marT="36576" marB="36576">
                    <a:solidFill>
                      <a:srgbClr val="FCF1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SEO: head va Lighthouse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86191"/>
            <a:ext cx="11091672" cy="1981997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4105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5375"/>
            <a:ext cx="10725912" cy="163452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534" b="0">
                <a:solidFill>
                  <a:srgbClr val="E06C75"/>
                </a:solidFill>
                <a:latin typeface="Consolas"/>
              </a:rPr>
              <a:t>&lt;head</a:t>
            </a:r>
            <a:r>
              <a:rPr sz="153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534" b="0">
                <a:solidFill>
                  <a:srgbClr val="E6E6E6"/>
                </a:solidFill>
                <a:latin typeface="Consolas"/>
              </a:rPr>
              <a:t>  </a:t>
            </a:r>
            <a:r>
              <a:rPr sz="1534" b="0">
                <a:solidFill>
                  <a:srgbClr val="E06C75"/>
                </a:solidFill>
                <a:latin typeface="Consolas"/>
              </a:rPr>
              <a:t>&lt;title</a:t>
            </a:r>
            <a:r>
              <a:rPr sz="1534" b="0">
                <a:solidFill>
                  <a:srgbClr val="E06C75"/>
                </a:solidFill>
                <a:latin typeface="Consolas"/>
              </a:rPr>
              <a:t>&gt;</a:t>
            </a:r>
            <a:r>
              <a:rPr sz="1534" b="0">
                <a:solidFill>
                  <a:srgbClr val="E6E6E6"/>
                </a:solidFill>
                <a:latin typeface="Consolas"/>
              </a:rPr>
              <a:t>Ali Valiyev — yosh veb-dasturchi portfoliosi</a:t>
            </a:r>
            <a:r>
              <a:rPr sz="1534" b="0">
                <a:solidFill>
                  <a:srgbClr val="E06C75"/>
                </a:solidFill>
                <a:latin typeface="Consolas"/>
              </a:rPr>
              <a:t>&lt;/title</a:t>
            </a:r>
            <a:r>
              <a:rPr sz="153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534" b="0">
                <a:solidFill>
                  <a:srgbClr val="E6E6E6"/>
                </a:solidFill>
                <a:latin typeface="Consolas"/>
              </a:rPr>
              <a:t>  </a:t>
            </a:r>
            <a:r>
              <a:rPr sz="1534" b="0">
                <a:solidFill>
                  <a:srgbClr val="E06C75"/>
                </a:solidFill>
                <a:latin typeface="Consolas"/>
              </a:rPr>
              <a:t>&lt;meta</a:t>
            </a:r>
            <a:r>
              <a:rPr sz="1534" b="0">
                <a:solidFill>
                  <a:srgbClr val="E6E6E6"/>
                </a:solidFill>
                <a:latin typeface="Consolas"/>
              </a:rPr>
              <a:t> name=</a:t>
            </a:r>
            <a:r>
              <a:rPr sz="1534" b="0">
                <a:solidFill>
                  <a:srgbClr val="98C379"/>
                </a:solidFill>
                <a:latin typeface="Consolas"/>
              </a:rPr>
              <a:t>"description"</a:t>
            </a:r>
          </a:p>
          <a:p>
            <a:pPr>
              <a:lnSpc>
                <a:spcPct val="100000"/>
              </a:lnSpc>
            </a:pPr>
            <a:r>
              <a:rPr sz="1534" b="0">
                <a:solidFill>
                  <a:srgbClr val="E6E6E6"/>
                </a:solidFill>
                <a:latin typeface="Consolas"/>
              </a:rPr>
              <a:t>        content=</a:t>
            </a:r>
            <a:r>
              <a:rPr sz="1534" b="0">
                <a:solidFill>
                  <a:srgbClr val="98C379"/>
                </a:solidFill>
                <a:latin typeface="Consolas"/>
              </a:rPr>
              <a:t>"8-sinf o'quvchisi Ali Valiyevning loyihalari: HTML, CSS va JavaScript."</a:t>
            </a:r>
            <a:r>
              <a:rPr sz="153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534" b="0">
                <a:solidFill>
                  <a:srgbClr val="E6E6E6"/>
                </a:solidFill>
                <a:latin typeface="Consolas"/>
              </a:rPr>
              <a:t>  </a:t>
            </a:r>
            <a:r>
              <a:rPr sz="1534" b="0">
                <a:solidFill>
                  <a:srgbClr val="E06C75"/>
                </a:solidFill>
                <a:latin typeface="Consolas"/>
              </a:rPr>
              <a:t>&lt;html</a:t>
            </a:r>
            <a:r>
              <a:rPr sz="1534" b="0">
                <a:solidFill>
                  <a:srgbClr val="E6E6E6"/>
                </a:solidFill>
                <a:latin typeface="Consolas"/>
              </a:rPr>
              <a:t> lang=</a:t>
            </a:r>
            <a:r>
              <a:rPr sz="1534" b="0">
                <a:solidFill>
                  <a:srgbClr val="98C379"/>
                </a:solidFill>
                <a:latin typeface="Consolas"/>
              </a:rPr>
              <a:t>"uz"</a:t>
            </a:r>
            <a:r>
              <a:rPr sz="153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534" b="0">
                <a:solidFill>
                  <a:srgbClr val="E06C75"/>
                </a:solidFill>
                <a:latin typeface="Consolas"/>
              </a:rPr>
              <a:t>&lt;/head</a:t>
            </a:r>
            <a:r>
              <a:rPr sz="1534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88764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F12 → Lighthouse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SEO + Performance → Analyze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04766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496737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90+ ball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a'lo natija; har bir muammo va yechim ko'rsatiladi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656757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 (6 va 7-loyihalar)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27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Git'ni o'rnating va sozlang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portfolio/</a:t>
            </a:r>
            <a:r>
              <a:rPr sz="2400" b="0">
                <a:solidFill>
                  <a:srgbClr val="1F232B"/>
                </a:solidFill>
                <a:latin typeface="Calibri"/>
              </a:rPr>
              <a:t> da </a:t>
            </a:r>
            <a:r>
              <a:rPr sz="2208" b="0">
                <a:solidFill>
                  <a:srgbClr val="B02A4A"/>
                </a:solidFill>
                <a:latin typeface="Consolas"/>
              </a:rPr>
              <a:t>git init</a:t>
            </a:r>
            <a:r>
              <a:rPr sz="2400" b="0">
                <a:solidFill>
                  <a:srgbClr val="1F232B"/>
                </a:solidFill>
                <a:latin typeface="Calibri"/>
              </a:rPr>
              <a:t> → </a:t>
            </a:r>
            <a:r>
              <a:rPr sz="2208" b="0">
                <a:solidFill>
                  <a:srgbClr val="B02A4A"/>
                </a:solidFill>
                <a:latin typeface="Consolas"/>
              </a:rPr>
              <a:t>git add .</a:t>
            </a:r>
            <a:r>
              <a:rPr sz="2400" b="0">
                <a:solidFill>
                  <a:srgbClr val="1F232B"/>
                </a:solidFill>
                <a:latin typeface="Calibri"/>
              </a:rPr>
              <a:t> → </a:t>
            </a:r>
            <a:r>
              <a:rPr sz="2208" b="0">
                <a:solidFill>
                  <a:srgbClr val="B02A4A"/>
                </a:solidFill>
                <a:latin typeface="Consolas"/>
              </a:rPr>
              <a:t>git commit -m "..."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GitHub'da repozitoriya yarating va </a:t>
            </a:r>
            <a:r>
              <a:rPr sz="2400" b="1">
                <a:solidFill>
                  <a:srgbClr val="1F232B"/>
                </a:solidFill>
                <a:latin typeface="Calibri"/>
              </a:rPr>
              <a:t>push</a:t>
            </a:r>
            <a:r>
              <a:rPr sz="2400" b="0">
                <a:solidFill>
                  <a:srgbClr val="1F232B"/>
                </a:solidFill>
                <a:latin typeface="Calibri"/>
              </a:rPr>
              <a:t> qiling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4747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O'zgarish kiriting → yana add → commit → push; </a:t>
            </a:r>
            <a:r>
              <a:rPr sz="2400" b="1">
                <a:solidFill>
                  <a:srgbClr val="1F232B"/>
                </a:solidFill>
                <a:latin typeface="Calibri"/>
              </a:rPr>
              <a:t>commits</a:t>
            </a:r>
            <a:r>
              <a:rPr sz="2400" b="0">
                <a:solidFill>
                  <a:srgbClr val="1F232B"/>
                </a:solidFill>
                <a:latin typeface="Calibri"/>
              </a:rPr>
              <a:t> tarixini ko'ring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15137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GitHub Pages</a:t>
            </a:r>
            <a:r>
              <a:rPr sz="2400" b="0">
                <a:solidFill>
                  <a:srgbClr val="1F232B"/>
                </a:solidFill>
                <a:latin typeface="Calibri"/>
              </a:rPr>
              <a:t>'ni yoqing va saytni telefondan oching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482803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title</a:t>
            </a:r>
            <a:r>
              <a:rPr sz="2400" b="0">
                <a:solidFill>
                  <a:srgbClr val="1F232B"/>
                </a:solidFill>
                <a:latin typeface="Calibri"/>
              </a:rPr>
              <a:t> + </a:t>
            </a:r>
            <a:r>
              <a:rPr sz="2208" b="0">
                <a:solidFill>
                  <a:srgbClr val="B02A4A"/>
                </a:solidFill>
                <a:latin typeface="Consolas"/>
              </a:rPr>
              <a:t>description</a:t>
            </a:r>
            <a:r>
              <a:rPr sz="2400" b="0">
                <a:solidFill>
                  <a:srgbClr val="1F232B"/>
                </a:solidFill>
                <a:latin typeface="Calibri"/>
              </a:rPr>
              <a:t> qo'shib, Lighthouse SEO ni </a:t>
            </a:r>
            <a:r>
              <a:rPr sz="2400" b="1">
                <a:solidFill>
                  <a:srgbClr val="1F232B"/>
                </a:solidFill>
                <a:latin typeface="Calibri"/>
              </a:rPr>
              <a:t>90+</a:t>
            </a:r>
            <a:r>
              <a:rPr sz="2400" b="0">
                <a:solidFill>
                  <a:srgbClr val="1F232B"/>
                </a:solidFill>
                <a:latin typeface="Calibri"/>
              </a:rPr>
              <a:t> ga yetkazing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47725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92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550468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README.md</a:t>
            </a:r>
            <a:r>
              <a:rPr sz="2400" b="0">
                <a:solidFill>
                  <a:srgbClr val="1F232B"/>
                </a:solidFill>
                <a:latin typeface="Calibri"/>
              </a:rPr>
              <a:t> — loyiha haqida qisqacha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git add</a:t>
            </a:r>
            <a:r>
              <a:rPr sz="2800" b="0">
                <a:solidFill>
                  <a:srgbClr val="1F232B"/>
                </a:solidFill>
                <a:latin typeface="Calibri"/>
              </a:rPr>
              <a:t> unutilgan → "nothing added to commit"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git init</a:t>
            </a:r>
            <a:r>
              <a:rPr sz="2800" b="0">
                <a:solidFill>
                  <a:srgbClr val="1F232B"/>
                </a:solidFill>
                <a:latin typeface="Calibri"/>
              </a:rPr>
              <a:t> noto'g'ri papkada (butun Ish stoli!)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GitHub Pages ochilmaydi — bosh fayl </a:t>
            </a:r>
            <a:r>
              <a:rPr sz="2576" b="0">
                <a:solidFill>
                  <a:srgbClr val="B02A4A"/>
                </a:solidFill>
                <a:latin typeface="Consolas"/>
              </a:rPr>
              <a:t>index.html</a:t>
            </a:r>
            <a:r>
              <a:rPr sz="2800" b="0">
                <a:solidFill>
                  <a:srgbClr val="1F232B"/>
                </a:solidFill>
                <a:latin typeface="Calibri"/>
              </a:rPr>
              <a:t> emas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Rasmlar ko'rinmaydi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Logo.PNG</a:t>
            </a:r>
            <a:r>
              <a:rPr sz="2800" b="0">
                <a:solidFill>
                  <a:srgbClr val="1F232B"/>
                </a:solidFill>
                <a:latin typeface="Calibri"/>
              </a:rPr>
              <a:t> ≠ </a:t>
            </a:r>
            <a:r>
              <a:rPr sz="2576" b="0">
                <a:solidFill>
                  <a:srgbClr val="B02A4A"/>
                </a:solidFill>
                <a:latin typeface="Consolas"/>
              </a:rPr>
              <a:t>logo.png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O'zgarishlarni "saqlash nuqtasi" sifatida tarixga yozuvchi buyruq?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git add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git push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git commit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git init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O'zgarishlarni "saqlash nuqtasi" sifatida tarixga yozuvchi buyruq?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git add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git push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git commit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git init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Git va GitHub farqi nimada?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Git — kompyuterdagi dastur, GitHub — internetdagi sayt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565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565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Ular bir xil narsa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709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40492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709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GitHub — dastur, Git — sayt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853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9636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853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Git faqat internetda ishlaydi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Git va GitHub farqi nimada?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Git — kompyuterdagi dastur, GitHub — internetdagi sayt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565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565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Ular bir xil narsa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709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40492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709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GitHub — dastur, Git — sayt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853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9636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853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Git faqat internetda ishlaydi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Lokal commit'larni GitHub'ga yuborish buyrug'i?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git pull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git clone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git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git push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Lokal commit'larni GitHub'ga yuborish buyrug'i?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git pull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git clone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git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git push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SEO uchun foydali EMAS narsa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Rasmlarda alt matni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Saytning telefonga moslashishi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Sahifada 5 ta h1 sarlavha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Tez yuklanish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SEO uchun foydali EMAS narsa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Rasmlarda alt matni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Saytning telefonga moslashishi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Sahifada 5 ta h1 sarlavha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Tez yuklanish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27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78254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80568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Barcha loyihalarni alohida repozitoriyalarga joylang + GitHub Pages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86709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914141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Har loyihada kamida </a:t>
            </a:r>
            <a:r>
              <a:rPr sz="2800" b="1">
                <a:solidFill>
                  <a:srgbClr val="1F232B"/>
                </a:solidFill>
                <a:latin typeface="Calibri"/>
              </a:rPr>
              <a:t>5 ta mazmunli commit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63366"/>
            <a:ext cx="457200" cy="457200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590797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GitHub profilini bezang: rasm, bio, </a:t>
            </a:r>
            <a:r>
              <a:rPr sz="2576" b="0">
                <a:solidFill>
                  <a:srgbClr val="B02A4A"/>
                </a:solidFill>
                <a:latin typeface="Consolas"/>
              </a:rPr>
              <a:t>USERNAME/USERNAME</a:t>
            </a:r>
            <a:r>
              <a:rPr sz="2800" b="0">
                <a:solidFill>
                  <a:srgbClr val="1F232B"/>
                </a:solidFill>
                <a:latin typeface="Calibri"/>
              </a:rPr>
              <a:t> profil README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11-mavzu · Git va GitHub, hosting va SEO bo'yicha umumiy bilimlar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26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Git — versiyalar tizimi, GitHub — kodni internetda saqlash platformasi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Sikl: o'zgartirish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git add .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git commit -m "..."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git push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4503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git status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git log --oneline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git clone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git pull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684523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3359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GitHub Pages: Settings → Pages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main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293615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742688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SEO: title, description, bitta h1, semantika, alt, tezlik, mobil, sifatli mazmun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902708"/>
            <a:ext cx="118872" cy="118872"/>
          </a:xfrm>
          <a:prstGeom prst="ellipse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5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E25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12. CSS animatsiyalar va transformatsiyalar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11-mavzu: Git va GitHub, hosting va SEO bo'yicha umumiy bilimlar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