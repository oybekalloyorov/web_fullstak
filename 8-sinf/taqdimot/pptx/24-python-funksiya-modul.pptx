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def.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random.randint(1, 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json.dump().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2F6FAD"/>
                </a:solidFill>
                <a:latin typeface="Calibri"/>
              </a:rPr>
              <a:t>24-MAVZU  ·  III BOB. PYTHON VA MA'LUMOTLAR BAZASI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Python funksiyalar, modullar va standart kutubxonalar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def, parametrlar, standart qiymatlar, return, nomlangan argumentlar, lambda, ko'rinish doirasi, docstring; o'z modulini yaratish va import; math, random, datetime, json, os standart kutubxonalari; pip va tashqi paketlar.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Funksiya yaratish: </a:t>
            </a:r>
            <a:r>
              <a:rPr sz="2576" b="0">
                <a:solidFill>
                  <a:srgbClr val="B02A4A"/>
                </a:solidFill>
                <a:latin typeface="Consolas"/>
              </a:rPr>
              <a:t>def</a:t>
            </a:r>
            <a:r>
              <a:rPr sz="2800" b="0">
                <a:solidFill>
                  <a:srgbClr val="1F232B"/>
                </a:solidFill>
                <a:latin typeface="Calibri"/>
              </a:rPr>
              <a:t>, parametrlar,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return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Standart qiymat, nomlangan argumentlar, </a:t>
            </a:r>
            <a:r>
              <a:rPr sz="2576" b="0">
                <a:solidFill>
                  <a:srgbClr val="B02A4A"/>
                </a:solidFill>
                <a:latin typeface="Consolas"/>
              </a:rPr>
              <a:t>lambda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Kodni </a:t>
            </a:r>
            <a:r>
              <a:rPr sz="2800" b="1">
                <a:solidFill>
                  <a:srgbClr val="1F232B"/>
                </a:solidFill>
                <a:latin typeface="Calibri"/>
              </a:rPr>
              <a:t>modullarga</a:t>
            </a:r>
            <a:r>
              <a:rPr sz="2800" b="0">
                <a:solidFill>
                  <a:srgbClr val="1F232B"/>
                </a:solidFill>
                <a:latin typeface="Calibri"/>
              </a:rPr>
              <a:t> bo'lish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import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Standart kutubxonalar: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math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random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datetime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json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os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pip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tashqi kutubxonalar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Funksiyalar: def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8633"/>
            <a:ext cx="11091672" cy="294680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349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7817"/>
            <a:ext cx="10725912" cy="25993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salomlash(ism):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98C379"/>
                </a:solidFill>
                <a:latin typeface="Consolas"/>
              </a:rPr>
              <a:t>""</a:t>
            </a:r>
            <a:r>
              <a:rPr sz="1496" b="0">
                <a:solidFill>
                  <a:srgbClr val="98C379"/>
                </a:solidFill>
                <a:latin typeface="Consolas"/>
              </a:rPr>
              <a:t>"Berilgan ism bilan salomlashadi."</a:t>
            </a:r>
            <a:r>
              <a:rPr sz="1496" b="0">
                <a:solidFill>
                  <a:srgbClr val="98C379"/>
                </a:solidFill>
                <a:latin typeface="Consolas"/>
              </a:rPr>
              <a:t>""</a:t>
            </a:r>
            <a:r>
              <a:rPr sz="1496" b="0">
                <a:solidFill>
                  <a:srgbClr val="E6E6E6"/>
                </a:solidFill>
                <a:latin typeface="Consolas"/>
              </a:rPr>
              <a:t>     # docstring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(f</a:t>
            </a:r>
            <a:r>
              <a:rPr sz="1496" b="0">
                <a:solidFill>
                  <a:srgbClr val="98C379"/>
                </a:solidFill>
                <a:latin typeface="Consolas"/>
              </a:rPr>
              <a:t>"Assalomu alaykum, {ism}!"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salomlash(</a:t>
            </a:r>
            <a:r>
              <a:rPr sz="1496" b="0">
                <a:solidFill>
                  <a:srgbClr val="98C379"/>
                </a:solidFill>
                <a:latin typeface="Consolas"/>
              </a:rPr>
              <a:t>"Madina"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tortburchak_yuzi(eni, boyi):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eni * boyi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yuza = tortburchak_yuzi(5, 3)          # 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634895"/>
          <a:ext cx="11091672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25704"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function qosh(a, b) { return a + b; }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def qosh(a, b): return a + b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const qosh = (a, b) =&gt; a + b;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qosh = lambda a, b: a + 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Parametrlar turlari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45165"/>
            <a:ext cx="11091672" cy="400604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02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349"/>
            <a:ext cx="10725912" cy="36585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73" b="0">
                <a:solidFill>
                  <a:srgbClr val="C678DD"/>
                </a:solidFill>
                <a:latin typeface="Consolas"/>
              </a:rPr>
              <a:t>def</a:t>
            </a:r>
            <a:r>
              <a:rPr sz="1773" b="0">
                <a:solidFill>
                  <a:srgbClr val="E6E6E6"/>
                </a:solidFill>
                <a:latin typeface="Consolas"/>
              </a:rPr>
              <a:t> darajaga(son, daraja=2):           # standart qiymat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   </a:t>
            </a:r>
            <a:r>
              <a:rPr sz="1773" b="0">
                <a:solidFill>
                  <a:srgbClr val="C678DD"/>
                </a:solidFill>
                <a:latin typeface="Consolas"/>
              </a:rPr>
              <a:t>return</a:t>
            </a:r>
            <a:r>
              <a:rPr sz="1773" b="0">
                <a:solidFill>
                  <a:srgbClr val="E6E6E6"/>
                </a:solidFill>
                <a:latin typeface="Consolas"/>
              </a:rPr>
              <a:t> son ** daraja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darajaga(5)        # 25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darajaga(2, 10)    # 1024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C678DD"/>
                </a:solidFill>
                <a:latin typeface="Consolas"/>
              </a:rPr>
              <a:t>def</a:t>
            </a:r>
            <a:r>
              <a:rPr sz="1773" b="0">
                <a:solidFill>
                  <a:srgbClr val="E6E6E6"/>
                </a:solidFill>
                <a:latin typeface="Consolas"/>
              </a:rPr>
              <a:t> anketa(ism, yosh, shahar=</a:t>
            </a:r>
            <a:r>
              <a:rPr sz="1773" b="0">
                <a:solidFill>
                  <a:srgbClr val="98C379"/>
                </a:solidFill>
                <a:latin typeface="Consolas"/>
              </a:rPr>
              <a:t>"Toshkent"</a:t>
            </a:r>
            <a:r>
              <a:rPr sz="1773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   </a:t>
            </a:r>
            <a:r>
              <a:rPr sz="1773" b="0">
                <a:solidFill>
                  <a:srgbClr val="C678DD"/>
                </a:solidFill>
                <a:latin typeface="Consolas"/>
              </a:rPr>
              <a:t>print</a:t>
            </a:r>
            <a:r>
              <a:rPr sz="1773" b="0">
                <a:solidFill>
                  <a:srgbClr val="E6E6E6"/>
                </a:solidFill>
                <a:latin typeface="Consolas"/>
              </a:rPr>
              <a:t>(f</a:t>
            </a:r>
            <a:r>
              <a:rPr sz="1773" b="0">
                <a:solidFill>
                  <a:srgbClr val="98C379"/>
                </a:solidFill>
                <a:latin typeface="Consolas"/>
              </a:rPr>
              <a:t>"{ism}, {yosh} yosh, {shahar}"</a:t>
            </a:r>
            <a:r>
              <a:rPr sz="1773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anketa(yosh=15, ism=</a:t>
            </a:r>
            <a:r>
              <a:rPr sz="1773" b="0">
                <a:solidFill>
                  <a:srgbClr val="98C379"/>
                </a:solidFill>
                <a:latin typeface="Consolas"/>
              </a:rPr>
              <a:t>"Laylo"</a:t>
            </a:r>
            <a:r>
              <a:rPr sz="1773" b="0">
                <a:solidFill>
                  <a:srgbClr val="E6E6E6"/>
                </a:solidFill>
                <a:latin typeface="Consolas"/>
              </a:rPr>
              <a:t>, shahar=</a:t>
            </a:r>
            <a:r>
              <a:rPr sz="1773" b="0">
                <a:solidFill>
                  <a:srgbClr val="98C379"/>
                </a:solidFill>
                <a:latin typeface="Consolas"/>
              </a:rPr>
              <a:t>"Xiva"</a:t>
            </a:r>
            <a:r>
              <a:rPr sz="1773" b="0">
                <a:solidFill>
                  <a:srgbClr val="E6E6E6"/>
                </a:solidFill>
                <a:latin typeface="Consolas"/>
              </a:rPr>
              <a:t>)   # nomlangan — tartib muhim emas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C678DD"/>
                </a:solidFill>
                <a:latin typeface="Consolas"/>
              </a:rPr>
              <a:t>def</a:t>
            </a:r>
            <a:r>
              <a:rPr sz="1773" b="0">
                <a:solidFill>
                  <a:srgbClr val="E6E6E6"/>
                </a:solidFill>
                <a:latin typeface="Consolas"/>
              </a:rPr>
              <a:t> ortacha(*sonlar):                  # istalgan sonli argument → tuple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   </a:t>
            </a:r>
            <a:r>
              <a:rPr sz="1773" b="0">
                <a:solidFill>
                  <a:srgbClr val="C678DD"/>
                </a:solidFill>
                <a:latin typeface="Consolas"/>
              </a:rPr>
              <a:t>return</a:t>
            </a:r>
            <a:r>
              <a:rPr sz="1773" b="0">
                <a:solidFill>
                  <a:srgbClr val="E6E6E6"/>
                </a:solidFill>
                <a:latin typeface="Consolas"/>
              </a:rPr>
              <a:t> sum(sonlar) / len(sonlar)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ortacha(4, 5, 3, 5)                    # 4.25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lambda va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5601"/>
            <a:ext cx="11091672" cy="36991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046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4785"/>
            <a:ext cx="10725912" cy="33517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kvadrat = </a:t>
            </a:r>
            <a:r>
              <a:rPr sz="1768" b="0">
                <a:solidFill>
                  <a:srgbClr val="C678DD"/>
                </a:solidFill>
                <a:latin typeface="Consolas"/>
              </a:rPr>
              <a:t>lambda</a:t>
            </a:r>
            <a:r>
              <a:rPr sz="1768" b="0">
                <a:solidFill>
                  <a:srgbClr val="E6E6E6"/>
                </a:solidFill>
                <a:latin typeface="Consolas"/>
              </a:rPr>
              <a:t> x: x * x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kvadrat(7)    # 49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oquvchilar = [(</a:t>
            </a:r>
            <a:r>
              <a:rPr sz="1768" b="0">
                <a:solidFill>
                  <a:srgbClr val="98C379"/>
                </a:solidFill>
                <a:latin typeface="Consolas"/>
              </a:rPr>
              <a:t>"Ali"</a:t>
            </a:r>
            <a:r>
              <a:rPr sz="1768" b="0">
                <a:solidFill>
                  <a:srgbClr val="E6E6E6"/>
                </a:solidFill>
                <a:latin typeface="Consolas"/>
              </a:rPr>
              <a:t>, 85), (</a:t>
            </a:r>
            <a:r>
              <a:rPr sz="1768" b="0">
                <a:solidFill>
                  <a:srgbClr val="98C379"/>
                </a:solidFill>
                <a:latin typeface="Consolas"/>
              </a:rPr>
              <a:t>"Vali"</a:t>
            </a:r>
            <a:r>
              <a:rPr sz="1768" b="0">
                <a:solidFill>
                  <a:srgbClr val="E6E6E6"/>
                </a:solidFill>
                <a:latin typeface="Consolas"/>
              </a:rPr>
              <a:t>, 92), (</a:t>
            </a:r>
            <a:r>
              <a:rPr sz="1768" b="0">
                <a:solidFill>
                  <a:srgbClr val="98C379"/>
                </a:solidFill>
                <a:latin typeface="Consolas"/>
              </a:rPr>
              <a:t>"Gani"</a:t>
            </a:r>
            <a:r>
              <a:rPr sz="1768" b="0">
                <a:solidFill>
                  <a:srgbClr val="E6E6E6"/>
                </a:solidFill>
                <a:latin typeface="Consolas"/>
              </a:rPr>
              <a:t>, 78)]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oquvchilar.sort(key=</a:t>
            </a:r>
            <a:r>
              <a:rPr sz="1768" b="0">
                <a:solidFill>
                  <a:srgbClr val="C678DD"/>
                </a:solidFill>
                <a:latin typeface="Consolas"/>
              </a:rPr>
              <a:t>lambda</a:t>
            </a:r>
            <a:r>
              <a:rPr sz="1768" b="0">
                <a:solidFill>
                  <a:srgbClr val="E6E6E6"/>
                </a:solidFill>
                <a:latin typeface="Consolas"/>
              </a:rPr>
              <a:t> o: o[1], reverse=</a:t>
            </a:r>
            <a:r>
              <a:rPr sz="1768" b="0">
                <a:solidFill>
                  <a:srgbClr val="C678DD"/>
                </a:solidFill>
                <a:latin typeface="Consolas"/>
              </a:rPr>
              <a:t>True</a:t>
            </a:r>
            <a:r>
              <a:rPr sz="1768" b="0">
                <a:solidFill>
                  <a:srgbClr val="E6E6E6"/>
                </a:solidFill>
                <a:latin typeface="Consolas"/>
              </a:rPr>
              <a:t>)   # ball bo'yicha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maktab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"5-maktab"</a:t>
            </a:r>
            <a:r>
              <a:rPr sz="1768" b="0">
                <a:solidFill>
                  <a:srgbClr val="E6E6E6"/>
                </a:solidFill>
                <a:latin typeface="Consolas"/>
              </a:rPr>
              <a:t>          # global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def</a:t>
            </a:r>
            <a:r>
              <a:rPr sz="1768" b="0">
                <a:solidFill>
                  <a:srgbClr val="E6E6E6"/>
                </a:solidFill>
                <a:latin typeface="Consolas"/>
              </a:rPr>
              <a:t> tanishtir():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ism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"Laylo"</a:t>
            </a:r>
            <a:r>
              <a:rPr sz="1768" b="0">
                <a:solidFill>
                  <a:srgbClr val="E6E6E6"/>
                </a:solidFill>
                <a:latin typeface="Consolas"/>
              </a:rPr>
              <a:t>            # lokal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</a:t>
            </a:r>
            <a:r>
              <a:rPr sz="1768" b="0">
                <a:solidFill>
                  <a:srgbClr val="C678DD"/>
                </a:solidFill>
                <a:latin typeface="Consolas"/>
              </a:rPr>
              <a:t>print</a:t>
            </a:r>
            <a:r>
              <a:rPr sz="1768" b="0">
                <a:solidFill>
                  <a:srgbClr val="E6E6E6"/>
                </a:solidFill>
                <a:latin typeface="Consolas"/>
              </a:rPr>
              <a:t>(ism, maktab)       # ✅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7F848E"/>
                </a:solidFill>
                <a:latin typeface="Consolas"/>
              </a:rPr>
              <a:t># print(ism)                 ❌ NameError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44232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Yaxshi funksiya:</a:t>
            </a:r>
            <a:r>
              <a:rPr sz="2600" b="0">
                <a:solidFill>
                  <a:srgbClr val="1F232B"/>
                </a:solidFill>
                <a:latin typeface="Calibri"/>
              </a:rPr>
              <a:t> ma'lumotni parametrdan oladi, natijani </a:t>
            </a:r>
            <a:r>
              <a:rPr sz="2392" b="0">
                <a:solidFill>
                  <a:srgbClr val="B02A4A"/>
                </a:solidFill>
                <a:latin typeface="Consolas"/>
              </a:rPr>
              <a:t>return</a:t>
            </a:r>
            <a:r>
              <a:rPr sz="2600" b="0">
                <a:solidFill>
                  <a:srgbClr val="1F232B"/>
                </a:solidFill>
                <a:latin typeface="Calibri"/>
              </a:rPr>
              <a:t> qiladi; bitta vazifa; nomi fe'l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49282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Modullar — kodni fayllarga bo'lish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367406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82296" cy="236740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4997196" cy="220281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Asboblar qutisi:</a:t>
            </a:r>
            <a:r>
              <a:rPr sz="2660" b="0">
                <a:solidFill>
                  <a:srgbClr val="1F232B"/>
                </a:solidFill>
                <a:latin typeface="Calibri"/>
              </a:rPr>
              <a:t> usta har safar bolg'a yasamaydi — tayyor qutidan oladi. Modul — bir marta yozilgan funksiyalar to'plami.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04183"/>
            <a:ext cx="5362956" cy="171565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59047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geometriya.py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33367"/>
            <a:ext cx="4997196" cy="13681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PI = 3.14159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def</a:t>
            </a:r>
            <a:r>
              <a:rPr sz="1904" b="0">
                <a:solidFill>
                  <a:srgbClr val="E6E6E6"/>
                </a:solidFill>
                <a:latin typeface="Consolas"/>
              </a:rPr>
              <a:t> doira_yuzi(r):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904" b="0">
                <a:solidFill>
                  <a:srgbClr val="E6E6E6"/>
                </a:solidFill>
                <a:latin typeface="Consolas"/>
              </a:rPr>
              <a:t> PI * r **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7356" y="1417320"/>
            <a:ext cx="5362956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0236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main.py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0236" y="1746504"/>
            <a:ext cx="4997196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import</a:t>
            </a:r>
            <a:r>
              <a:rPr sz="1904" b="0">
                <a:solidFill>
                  <a:srgbClr val="E6E6E6"/>
                </a:solidFill>
                <a:latin typeface="Consolas"/>
              </a:rPr>
              <a:t> geometriya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geometriya.doira_yuzi(5)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geometriya </a:t>
            </a:r>
            <a:r>
              <a:rPr sz="1904" b="0">
                <a:solidFill>
                  <a:srgbClr val="C678DD"/>
                </a:solidFill>
                <a:latin typeface="Consolas"/>
              </a:rPr>
              <a:t>import</a:t>
            </a:r>
            <a:r>
              <a:rPr sz="1904" b="0">
                <a:solidFill>
                  <a:srgbClr val="E6E6E6"/>
                </a:solidFill>
                <a:latin typeface="Consolas"/>
              </a:rPr>
              <a:t> doira_yuzi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doira_yuzi(5)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import</a:t>
            </a:r>
            <a:r>
              <a:rPr sz="1904" b="0">
                <a:solidFill>
                  <a:srgbClr val="E6E6E6"/>
                </a:solidFill>
                <a:latin typeface="Consolas"/>
              </a:rPr>
              <a:t> geometriya </a:t>
            </a:r>
            <a:r>
              <a:rPr sz="1904" b="0">
                <a:solidFill>
                  <a:srgbClr val="C678DD"/>
                </a:solidFill>
                <a:latin typeface="Consolas"/>
              </a:rPr>
              <a:t>as</a:t>
            </a:r>
            <a:r>
              <a:rPr sz="1904" b="0">
                <a:solidFill>
                  <a:srgbClr val="E6E6E6"/>
                </a:solidFill>
                <a:latin typeface="Consolas"/>
              </a:rPr>
              <a:t> g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g.PI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if __name__ == "__main__":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47403"/>
            <a:ext cx="11091672" cy="267321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226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geometriya.py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6587"/>
            <a:ext cx="10725912" cy="23257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def</a:t>
            </a:r>
            <a:r>
              <a:rPr sz="1904" b="0">
                <a:solidFill>
                  <a:srgbClr val="E6E6E6"/>
                </a:solidFill>
                <a:latin typeface="Consolas"/>
              </a:rPr>
              <a:t> doira_yuzi(r):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904" b="0">
                <a:solidFill>
                  <a:srgbClr val="E6E6E6"/>
                </a:solidFill>
                <a:latin typeface="Consolas"/>
              </a:rPr>
              <a:t> 3.14159 * r ** 2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__name__ == </a:t>
            </a:r>
            <a:r>
              <a:rPr sz="1904" b="0">
                <a:solidFill>
                  <a:srgbClr val="98C379"/>
                </a:solidFill>
                <a:latin typeface="Consolas"/>
              </a:rPr>
              <a:t>"__main__"</a:t>
            </a:r>
            <a:r>
              <a:rPr sz="1904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    # FAQAT fayl to'g'ridan-to'g'ri ishga tushirilganda bajariladi;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    # import qilinganda — bajarilmaydi. Sinash uchun qulay.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"Sinov:"</a:t>
            </a:r>
            <a:r>
              <a:rPr sz="1904" b="0">
                <a:solidFill>
                  <a:srgbClr val="E6E6E6"/>
                </a:solidFill>
                <a:latin typeface="Consolas"/>
              </a:rPr>
              <a:t>, doira_yuzi(2))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40077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440077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31517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O'z faylingizni </a:t>
            </a:r>
            <a:r>
              <a:rPr sz="2447" b="0">
                <a:solidFill>
                  <a:srgbClr val="B02A4A"/>
                </a:solidFill>
                <a:latin typeface="Consolas"/>
              </a:rPr>
              <a:t>random.py</a:t>
            </a:r>
            <a:r>
              <a:rPr sz="2660" b="0">
                <a:solidFill>
                  <a:srgbClr val="1F232B"/>
                </a:solidFill>
                <a:latin typeface="Calibri"/>
              </a:rPr>
              <a:t>, </a:t>
            </a:r>
            <a:r>
              <a:rPr sz="2447" b="0">
                <a:solidFill>
                  <a:srgbClr val="B02A4A"/>
                </a:solidFill>
                <a:latin typeface="Consolas"/>
              </a:rPr>
              <a:t>math.py</a:t>
            </a:r>
            <a:r>
              <a:rPr sz="2660" b="0">
                <a:solidFill>
                  <a:srgbClr val="1F232B"/>
                </a:solidFill>
                <a:latin typeface="Calibri"/>
              </a:rPr>
              <a:t> deb atamang — Python standart modul o'rniga sizning faylingizni oladi!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math va random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10960"/>
            <a:ext cx="11091672" cy="420150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6582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0144"/>
            <a:ext cx="10725912" cy="385403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7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870" b="0">
                <a:solidFill>
                  <a:srgbClr val="E6E6E6"/>
                </a:solidFill>
                <a:latin typeface="Consolas"/>
              </a:rPr>
              <a:t> math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math.sqrt(144)        # 12.0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math.pi               # 3.141592653589793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math.ceil(4.1)        # 5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math.factorial(5)     # 120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math.gcd(24, 36)      # 12 — EKUB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870" b="0">
                <a:solidFill>
                  <a:srgbClr val="E6E6E6"/>
                </a:solidFill>
                <a:latin typeface="Consolas"/>
              </a:rPr>
              <a:t> random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random.randint(1, 6)                          # 🎲 1..6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random.choice([</a:t>
            </a:r>
            <a:r>
              <a:rPr sz="1870" b="0">
                <a:solidFill>
                  <a:srgbClr val="98C379"/>
                </a:solidFill>
                <a:latin typeface="Consolas"/>
              </a:rPr>
              <a:t>"tosh"</a:t>
            </a:r>
            <a:r>
              <a:rPr sz="1870" b="0">
                <a:solidFill>
                  <a:srgbClr val="E6E6E6"/>
                </a:solidFill>
                <a:latin typeface="Consolas"/>
              </a:rPr>
              <a:t>, </a:t>
            </a:r>
            <a:r>
              <a:rPr sz="1870" b="0">
                <a:solidFill>
                  <a:srgbClr val="98C379"/>
                </a:solidFill>
                <a:latin typeface="Consolas"/>
              </a:rPr>
              <a:t>"qaychi"</a:t>
            </a:r>
            <a:r>
              <a:rPr sz="1870" b="0">
                <a:solidFill>
                  <a:srgbClr val="E6E6E6"/>
                </a:solidFill>
                <a:latin typeface="Consolas"/>
              </a:rPr>
              <a:t>, </a:t>
            </a:r>
            <a:r>
              <a:rPr sz="1870" b="0">
                <a:solidFill>
                  <a:srgbClr val="98C379"/>
                </a:solidFill>
                <a:latin typeface="Consolas"/>
              </a:rPr>
              <a:t>"qog'oz"</a:t>
            </a:r>
            <a:r>
              <a:rPr sz="1870" b="0">
                <a:solidFill>
                  <a:srgbClr val="E6E6E6"/>
                </a:solidFill>
                <a:latin typeface="Consolas"/>
              </a:rPr>
              <a:t>])   # bittasi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random.sample(range(1, 50), 6)                # 6 ta takrorsiz — lotereya</a:t>
            </a:r>
          </a:p>
          <a:p>
            <a:pPr>
              <a:lnSpc>
                <a:spcPct val="100000"/>
              </a:lnSpc>
            </a:pPr>
            <a:r>
              <a:rPr sz="1870" b="0">
                <a:solidFill>
                  <a:srgbClr val="E6E6E6"/>
                </a:solidFill>
                <a:latin typeface="Consolas"/>
              </a:rPr>
              <a:t>random.shuffle(royxat)                        # aralashtirish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datetime — sana va vaqt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6695"/>
            <a:ext cx="11091672" cy="331159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2155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5879"/>
            <a:ext cx="10725912" cy="2964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datetime </a:t>
            </a:r>
            <a:r>
              <a:rPr sz="1904" b="0">
                <a:solidFill>
                  <a:srgbClr val="C678DD"/>
                </a:solidFill>
                <a:latin typeface="Consolas"/>
              </a:rPr>
              <a:t>import</a:t>
            </a:r>
            <a:r>
              <a:rPr sz="1904" b="0">
                <a:solidFill>
                  <a:srgbClr val="E6E6E6"/>
                </a:solidFill>
                <a:latin typeface="Consolas"/>
              </a:rPr>
              <a:t> datetime, date, timedelta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hozir = datetime.now()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hozir.strftime(</a:t>
            </a:r>
            <a:r>
              <a:rPr sz="1904" b="0">
                <a:solidFill>
                  <a:srgbClr val="98C379"/>
                </a:solidFill>
                <a:latin typeface="Consolas"/>
              </a:rPr>
              <a:t>"%d.%m.%Y %H:%M"</a:t>
            </a:r>
            <a:r>
              <a:rPr sz="1904" b="0">
                <a:solidFill>
                  <a:srgbClr val="E6E6E6"/>
                </a:solidFill>
                <a:latin typeface="Consolas"/>
              </a:rPr>
              <a:t>)     # 06.10.2026 14:35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tugilgan = date(2012, 3, 21)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bugun = date.today()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"Yashagan kunlar:"</a:t>
            </a:r>
            <a:r>
              <a:rPr sz="1904" b="0">
                <a:solidFill>
                  <a:srgbClr val="E6E6E6"/>
                </a:solidFill>
                <a:latin typeface="Consolas"/>
              </a:rPr>
              <a:t>, (bugun - tugilgan).days)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"Bir haftadan keyin:"</a:t>
            </a:r>
            <a:r>
              <a:rPr sz="1904" b="0">
                <a:solidFill>
                  <a:srgbClr val="E6E6E6"/>
                </a:solidFill>
                <a:latin typeface="Consolas"/>
              </a:rPr>
              <a:t>, bugun + timedelta(days=7))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json — ma'lumotlarni saqlash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5680"/>
            <a:ext cx="11091672" cy="319759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054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4864"/>
            <a:ext cx="10725912" cy="28501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json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oquvchilar = [{</a:t>
            </a:r>
            <a:r>
              <a:rPr sz="1496" b="0">
                <a:solidFill>
                  <a:srgbClr val="98C379"/>
                </a:solidFill>
                <a:latin typeface="Consolas"/>
              </a:rPr>
              <a:t>"ism"</a:t>
            </a:r>
            <a:r>
              <a:rPr sz="1496" b="0">
                <a:solidFill>
                  <a:srgbClr val="E6E6E6"/>
                </a:solidFill>
                <a:latin typeface="Consolas"/>
              </a:rPr>
              <a:t>: </a:t>
            </a:r>
            <a:r>
              <a:rPr sz="1496" b="0">
                <a:solidFill>
                  <a:srgbClr val="98C379"/>
                </a:solidFill>
                <a:latin typeface="Consolas"/>
              </a:rPr>
              <a:t>"Ali"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"baho"</a:t>
            </a:r>
            <a:r>
              <a:rPr sz="1496" b="0">
                <a:solidFill>
                  <a:srgbClr val="E6E6E6"/>
                </a:solidFill>
                <a:latin typeface="Consolas"/>
              </a:rPr>
              <a:t>: 5}, {</a:t>
            </a:r>
            <a:r>
              <a:rPr sz="1496" b="0">
                <a:solidFill>
                  <a:srgbClr val="98C379"/>
                </a:solidFill>
                <a:latin typeface="Consolas"/>
              </a:rPr>
              <a:t>"ism"</a:t>
            </a:r>
            <a:r>
              <a:rPr sz="1496" b="0">
                <a:solidFill>
                  <a:srgbClr val="E6E6E6"/>
                </a:solidFill>
                <a:latin typeface="Consolas"/>
              </a:rPr>
              <a:t>: </a:t>
            </a:r>
            <a:r>
              <a:rPr sz="1496" b="0">
                <a:solidFill>
                  <a:srgbClr val="98C379"/>
                </a:solidFill>
                <a:latin typeface="Consolas"/>
              </a:rPr>
              <a:t>"Zarina"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"baho"</a:t>
            </a:r>
            <a:r>
              <a:rPr sz="1496" b="0">
                <a:solidFill>
                  <a:srgbClr val="E6E6E6"/>
                </a:solidFill>
                <a:latin typeface="Consolas"/>
              </a:rPr>
              <a:t>: 4}]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with</a:t>
            </a:r>
            <a:r>
              <a:rPr sz="1496" b="0">
                <a:solidFill>
                  <a:srgbClr val="E6E6E6"/>
                </a:solidFill>
                <a:latin typeface="Consolas"/>
              </a:rPr>
              <a:t> open(</a:t>
            </a:r>
            <a:r>
              <a:rPr sz="1496" b="0">
                <a:solidFill>
                  <a:srgbClr val="98C379"/>
                </a:solidFill>
                <a:latin typeface="Consolas"/>
              </a:rPr>
              <a:t>"oquvchilar.json"</a:t>
            </a:r>
            <a:r>
              <a:rPr sz="1496" b="0">
                <a:solidFill>
                  <a:srgbClr val="E6E6E6"/>
                </a:solidFill>
                <a:latin typeface="Consolas"/>
              </a:rPr>
              <a:t>, </a:t>
            </a:r>
            <a:r>
              <a:rPr sz="1496" b="0">
                <a:solidFill>
                  <a:srgbClr val="98C379"/>
                </a:solidFill>
                <a:latin typeface="Consolas"/>
              </a:rPr>
              <a:t>"w"</a:t>
            </a:r>
            <a:r>
              <a:rPr sz="1496" b="0">
                <a:solidFill>
                  <a:srgbClr val="E6E6E6"/>
                </a:solidFill>
                <a:latin typeface="Consolas"/>
              </a:rPr>
              <a:t>, encoding=</a:t>
            </a:r>
            <a:r>
              <a:rPr sz="1496" b="0">
                <a:solidFill>
                  <a:srgbClr val="98C379"/>
                </a:solidFill>
                <a:latin typeface="Consolas"/>
              </a:rPr>
              <a:t>"utf-8"</a:t>
            </a:r>
            <a:r>
              <a:rPr sz="1496" b="0">
                <a:solidFill>
                  <a:srgbClr val="E6E6E6"/>
                </a:solidFill>
                <a:latin typeface="Consolas"/>
              </a:rPr>
              <a:t>)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f: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json.dump(oquvchilar, f, ensure_ascii=</a:t>
            </a:r>
            <a:r>
              <a:rPr sz="1496" b="0">
                <a:solidFill>
                  <a:srgbClr val="C678DD"/>
                </a:solidFill>
                <a:latin typeface="Consolas"/>
              </a:rPr>
              <a:t>False</a:t>
            </a:r>
            <a:r>
              <a:rPr sz="1496" b="0">
                <a:solidFill>
                  <a:srgbClr val="E6E6E6"/>
                </a:solidFill>
                <a:latin typeface="Consolas"/>
              </a:rPr>
              <a:t>, indent=2)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with</a:t>
            </a:r>
            <a:r>
              <a:rPr sz="1496" b="0">
                <a:solidFill>
                  <a:srgbClr val="E6E6E6"/>
                </a:solidFill>
                <a:latin typeface="Consolas"/>
              </a:rPr>
              <a:t> open(</a:t>
            </a:r>
            <a:r>
              <a:rPr sz="1496" b="0">
                <a:solidFill>
                  <a:srgbClr val="98C379"/>
                </a:solidFill>
                <a:latin typeface="Consolas"/>
              </a:rPr>
              <a:t>"oquvchilar.json"</a:t>
            </a:r>
            <a:r>
              <a:rPr sz="1496" b="0">
                <a:solidFill>
                  <a:srgbClr val="E6E6E6"/>
                </a:solidFill>
                <a:latin typeface="Consolas"/>
              </a:rPr>
              <a:t>, encoding=</a:t>
            </a:r>
            <a:r>
              <a:rPr sz="1496" b="0">
                <a:solidFill>
                  <a:srgbClr val="98C379"/>
                </a:solidFill>
                <a:latin typeface="Consolas"/>
              </a:rPr>
              <a:t>"utf-8"</a:t>
            </a:r>
            <a:r>
              <a:rPr sz="1496" b="0">
                <a:solidFill>
                  <a:srgbClr val="E6E6E6"/>
                </a:solidFill>
                <a:latin typeface="Consolas"/>
              </a:rPr>
              <a:t>) </a:t>
            </a:r>
            <a:r>
              <a:rPr sz="1496" b="0">
                <a:solidFill>
                  <a:srgbClr val="C678DD"/>
                </a:solidFill>
                <a:latin typeface="Consolas"/>
              </a:rPr>
              <a:t>as</a:t>
            </a:r>
            <a:r>
              <a:rPr sz="1496" b="0">
                <a:solidFill>
                  <a:srgbClr val="E6E6E6"/>
                </a:solidFill>
                <a:latin typeface="Consolas"/>
              </a:rPr>
              <a:t> f: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qayta = json.load(f)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json.dumps({</a:t>
            </a:r>
            <a:r>
              <a:rPr sz="1496" b="0">
                <a:solidFill>
                  <a:srgbClr val="98C379"/>
                </a:solidFill>
                <a:latin typeface="Consolas"/>
              </a:rPr>
              <a:t>"ok"</a:t>
            </a:r>
            <a:r>
              <a:rPr sz="1496" b="0">
                <a:solidFill>
                  <a:srgbClr val="E6E6E6"/>
                </a:solidFill>
                <a:latin typeface="Consolas"/>
              </a:rPr>
              <a:t>: </a:t>
            </a:r>
            <a:r>
              <a:rPr sz="1496" b="0">
                <a:solidFill>
                  <a:srgbClr val="C678DD"/>
                </a:solidFill>
                <a:latin typeface="Consolas"/>
              </a:rPr>
              <a:t>True</a:t>
            </a:r>
            <a:r>
              <a:rPr sz="1496" b="0">
                <a:solidFill>
                  <a:srgbClr val="E6E6E6"/>
                </a:solidFill>
                <a:latin typeface="Consolas"/>
              </a:rPr>
              <a:t>})     # matnga: </a:t>
            </a:r>
            <a:r>
              <a:rPr sz="1496" b="0">
                <a:solidFill>
                  <a:srgbClr val="98C379"/>
                </a:solidFill>
                <a:latin typeface="Consolas"/>
              </a:rPr>
              <a:t>'{"ok": true}'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json.loads(</a:t>
            </a:r>
            <a:r>
              <a:rPr sz="1496" b="0">
                <a:solidFill>
                  <a:srgbClr val="98C379"/>
                </a:solidFill>
                <a:latin typeface="Consolas"/>
              </a:rPr>
              <a:t>'{"ok": true}'</a:t>
            </a:r>
            <a:r>
              <a:rPr sz="1496" b="0">
                <a:solidFill>
                  <a:srgbClr val="E6E6E6"/>
                </a:solidFill>
                <a:latin typeface="Consolas"/>
              </a:rPr>
              <a:t>)   # matndan dict'ga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62732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JSON — dasturlar o'rtasida ma'lumot almashishning eng mashhur formati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98846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76574"/>
            <a:ext cx="10680192" cy="753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ensure_ascii=False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o'zbekcha harflar o'qiladigan holda; </a:t>
            </a:r>
            <a:r>
              <a:rPr sz="2024" b="0">
                <a:solidFill>
                  <a:srgbClr val="B02A4A"/>
                </a:solidFill>
                <a:latin typeface="Consolas"/>
              </a:rPr>
              <a:t>indent=2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chiroyli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50230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os va pip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6215"/>
            <a:ext cx="11091672" cy="169285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107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5399"/>
            <a:ext cx="10725912" cy="13453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os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os.getcwd()                          # joriy papka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os.listdir(</a:t>
            </a:r>
            <a:r>
              <a:rPr sz="1496" b="0">
                <a:solidFill>
                  <a:srgbClr val="98C379"/>
                </a:solidFill>
                <a:latin typeface="Consolas"/>
              </a:rPr>
              <a:t>"."</a:t>
            </a:r>
            <a:r>
              <a:rPr sz="1496" b="0">
                <a:solidFill>
                  <a:srgbClr val="E6E6E6"/>
                </a:solidFill>
                <a:latin typeface="Consolas"/>
              </a:rPr>
              <a:t>)                      # fayllar ro'yxati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os.path.exists(</a:t>
            </a:r>
            <a:r>
              <a:rPr sz="1496" b="0">
                <a:solidFill>
                  <a:srgbClr val="98C379"/>
                </a:solidFill>
                <a:latin typeface="Consolas"/>
              </a:rPr>
              <a:t>"oquvchilar.json"</a:t>
            </a:r>
            <a:r>
              <a:rPr sz="1496" b="0">
                <a:solidFill>
                  <a:srgbClr val="E6E6E6"/>
                </a:solidFill>
                <a:latin typeface="Consolas"/>
              </a:rPr>
              <a:t>)    # bormi?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os.makedirs(</a:t>
            </a:r>
            <a:r>
              <a:rPr sz="1496" b="0">
                <a:solidFill>
                  <a:srgbClr val="98C379"/>
                </a:solidFill>
                <a:latin typeface="Consolas"/>
              </a:rPr>
              <a:t>"hisobotlar"</a:t>
            </a:r>
            <a:r>
              <a:rPr sz="1496" b="0">
                <a:solidFill>
                  <a:srgbClr val="E6E6E6"/>
                </a:solidFill>
                <a:latin typeface="Consolas"/>
              </a:rPr>
              <a:t>, exist_ok=</a:t>
            </a:r>
            <a:r>
              <a:rPr sz="1496" b="0">
                <a:solidFill>
                  <a:srgbClr val="C678DD"/>
                </a:solidFill>
                <a:latin typeface="Consolas"/>
              </a:rPr>
              <a:t>True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68530"/>
            <a:ext cx="11091672" cy="119128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2339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97714"/>
            <a:ext cx="10725912" cy="843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pip install requests     # PyPI</a:t>
            </a:r>
            <a:r>
              <a:rPr sz="1496" b="0">
                <a:solidFill>
                  <a:srgbClr val="98C379"/>
                </a:solidFill>
                <a:latin typeface="Consolas"/>
              </a:rPr>
              <a:t>'dan paket o'</a:t>
            </a:r>
            <a:r>
              <a:rPr sz="1496" b="0">
                <a:solidFill>
                  <a:srgbClr val="E6E6E6"/>
                </a:solidFill>
                <a:latin typeface="Consolas"/>
              </a:rPr>
              <a:t>rnatish (500 000+ paket)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pip install django       # 33-mavzuda!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pip 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79267"/>
            <a:ext cx="11091672" cy="119128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3413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08451"/>
            <a:ext cx="10725912" cy="843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requests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javob = requests.get(</a:t>
            </a:r>
            <a:r>
              <a:rPr sz="1496" b="0">
                <a:solidFill>
                  <a:srgbClr val="98C379"/>
                </a:solidFill>
                <a:latin typeface="Consolas"/>
              </a:rPr>
              <a:t>"https://api.github.com/users/torvalds"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(javob.json()[</a:t>
            </a:r>
            <a:r>
              <a:rPr sz="1496" b="0">
                <a:solidFill>
                  <a:srgbClr val="98C379"/>
                </a:solidFill>
                <a:latin typeface="Consolas"/>
              </a:rPr>
              <a:t>"name"</a:t>
            </a:r>
            <a:r>
              <a:rPr sz="1496" b="0">
                <a:solidFill>
                  <a:srgbClr val="E6E6E6"/>
                </a:solidFill>
                <a:latin typeface="Consolas"/>
              </a:rPr>
              <a:t>])   # Linus Torvalds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O'z modulingiz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yordamchi.py</a:t>
            </a:r>
            <a:r>
              <a:rPr sz="2800" b="0">
                <a:solidFill>
                  <a:srgbClr val="1F232B"/>
                </a:solidFill>
                <a:latin typeface="Calibri"/>
              </a:rPr>
              <a:t>: </a:t>
            </a:r>
            <a:r>
              <a:rPr sz="2576" b="0">
                <a:solidFill>
                  <a:srgbClr val="B02A4A"/>
                </a:solidFill>
                <a:latin typeface="Consolas"/>
              </a:rPr>
              <a:t>son_sora(matn, eng_kichik, eng_katta)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tubmi(n)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main.py</a:t>
            </a:r>
            <a:r>
              <a:rPr sz="2800" b="0">
                <a:solidFill>
                  <a:srgbClr val="1F232B"/>
                </a:solidFill>
                <a:latin typeface="Calibri"/>
              </a:rPr>
              <a:t> da sinang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2577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53208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Lotereya: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random.sample</a:t>
            </a:r>
            <a:r>
              <a:rPr sz="2800" b="0">
                <a:solidFill>
                  <a:srgbClr val="1F232B"/>
                </a:solidFill>
                <a:latin typeface="Calibri"/>
              </a:rPr>
              <a:t> + foydalanuvchi sonlari → set kesishmasi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34232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661664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Tug'ilgan kun:</a:t>
            </a:r>
            <a:r>
              <a:rPr sz="2800" b="0">
                <a:solidFill>
                  <a:srgbClr val="1F232B"/>
                </a:solidFill>
                <a:latin typeface="Calibri"/>
              </a:rPr>
              <a:t> necha kun yashadingiz, keyingisiga necha kun qoldi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42688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477012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16-loyihani</a:t>
            </a:r>
            <a:r>
              <a:rPr sz="2800" b="0">
                <a:solidFill>
                  <a:srgbClr val="1F232B"/>
                </a:solidFill>
                <a:latin typeface="Calibri"/>
              </a:rPr>
              <a:t> JSON'ga saqlaydigan qiling: ishga tushganda </a:t>
            </a:r>
            <a:r>
              <a:rPr sz="2576" b="0">
                <a:solidFill>
                  <a:srgbClr val="B02A4A"/>
                </a:solidFill>
                <a:latin typeface="Consolas"/>
              </a:rPr>
              <a:t>json.load</a:t>
            </a:r>
            <a:r>
              <a:rPr sz="2800" b="0">
                <a:solidFill>
                  <a:srgbClr val="1F232B"/>
                </a:solidFill>
                <a:latin typeface="Calibri"/>
              </a:rPr>
              <a:t>, o'zgarishdan keyin </a:t>
            </a:r>
            <a:r>
              <a:rPr sz="2576" b="0">
                <a:solidFill>
                  <a:srgbClr val="B02A4A"/>
                </a:solidFill>
                <a:latin typeface="Consolas"/>
              </a:rPr>
              <a:t>json.dump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Funksiyani e'lon qilishdan </a:t>
            </a:r>
            <a:r>
              <a:rPr sz="2800" b="1">
                <a:solidFill>
                  <a:srgbClr val="1F232B"/>
                </a:solidFill>
                <a:latin typeface="Calibri"/>
              </a:rPr>
              <a:t>oldin</a:t>
            </a:r>
            <a:r>
              <a:rPr sz="2800" b="0">
                <a:solidFill>
                  <a:srgbClr val="1F232B"/>
                </a:solidFill>
                <a:latin typeface="Calibri"/>
              </a:rPr>
              <a:t> chaqirish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return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None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Faylni </a:t>
            </a:r>
            <a:r>
              <a:rPr sz="2576" b="0">
                <a:solidFill>
                  <a:srgbClr val="B02A4A"/>
                </a:solidFill>
                <a:latin typeface="Consolas"/>
              </a:rPr>
              <a:t>random.py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math.py</a:t>
            </a:r>
            <a:r>
              <a:rPr sz="2800" b="0">
                <a:solidFill>
                  <a:srgbClr val="1F232B"/>
                </a:solidFill>
                <a:latin typeface="Calibri"/>
              </a:rPr>
              <a:t> deb atash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ModuleNotFoundError: No module named 'requests'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pip install requests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Python'da funksiya qaysi kalit so'z bilan yaratiladi?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function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func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Python'da funksiya qaysi kalit so'z bilan yaratiladi?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function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def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func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def f(a, b=10): return a + b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</a:t>
            </a:r>
            <a:r>
              <a:rPr sz="2208" b="1">
                <a:solidFill>
                  <a:srgbClr val="B02A4A"/>
                </a:solidFill>
                <a:latin typeface="Consolas"/>
              </a:rPr>
              <a:t>f(5)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def f(a, b=10): return a + b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</a:t>
            </a:r>
            <a:r>
              <a:rPr sz="2208" b="1">
                <a:solidFill>
                  <a:srgbClr val="B02A4A"/>
                </a:solidFill>
                <a:latin typeface="Consolas"/>
              </a:rPr>
              <a:t>f(5)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1 dan 6 gacha tasodifiy butun son beruvchi kod?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random.randint(1, 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random.random(6)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math.random(1, 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randint(6)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1 dan 6 gacha tasodifiy butun son beruvchi kod?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random.randint(1, 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random.random(6)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math.random(1, 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randint(6)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Python dict'ni JSON faylga yozuvchi funksiya?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json.load()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json.read()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file.json()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json.dump()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Python dict'ni JSON faylga yozuvchi funksiya?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json.load()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json.read()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file.json()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json.dump()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78254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0568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Parol generatori: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random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string</a:t>
            </a:r>
            <a:r>
              <a:rPr sz="2800" b="0">
                <a:solidFill>
                  <a:srgbClr val="1F232B"/>
                </a:solidFill>
                <a:latin typeface="Calibri"/>
              </a:rPr>
              <a:t> modullari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5491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48234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"Bugungi maslahat":</a:t>
            </a:r>
            <a:r>
              <a:rPr sz="2800" b="0">
                <a:solidFill>
                  <a:srgbClr val="1F232B"/>
                </a:solidFill>
                <a:latin typeface="Calibri"/>
              </a:rPr>
              <a:t> tasodifiy, JSON'da saqlanadi, bir kunda takrorlanmaydi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6336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590797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matn_yordamchi.py</a:t>
            </a:r>
            <a:r>
              <a:rPr sz="2800" b="0">
                <a:solidFill>
                  <a:srgbClr val="1F232B"/>
                </a:solidFill>
                <a:latin typeface="Calibri"/>
              </a:rPr>
              <a:t>: so'zlar soni, unlilar soni, palindrom tekshiruvi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24-mavzu · Python funksiyalar, modullar va standart kutubxonalar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def nom(param, standart=qiymat): return natija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*args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lambda x: ...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Modul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.py</a:t>
            </a:r>
            <a:r>
              <a:rPr sz="2800" b="0">
                <a:solidFill>
                  <a:srgbClr val="1F232B"/>
                </a:solidFill>
                <a:latin typeface="Calibri"/>
              </a:rPr>
              <a:t> fayl: </a:t>
            </a:r>
            <a:r>
              <a:rPr sz="2576" b="0">
                <a:solidFill>
                  <a:srgbClr val="B02A4A"/>
                </a:solidFill>
                <a:latin typeface="Consolas"/>
              </a:rPr>
              <a:t>import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from ... import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as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if __name__ == "__main__":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math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random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datetime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json</a:t>
            </a:r>
            <a:r>
              <a:rPr sz="2800" b="0">
                <a:solidFill>
                  <a:srgbClr val="1F232B"/>
                </a:solidFill>
                <a:latin typeface="Calibri"/>
              </a:rPr>
              <a:t> (dump/load), </a:t>
            </a:r>
            <a:r>
              <a:rPr sz="2576" b="0">
                <a:solidFill>
                  <a:srgbClr val="B02A4A"/>
                </a:solidFill>
                <a:latin typeface="Consolas"/>
              </a:rPr>
              <a:t>os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pip install nom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25. Obyektga yo'naltirilgan dasturlash (OOP)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24-mavzu: Python funksiyalar, modullar va standart kutubxonalar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