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&lt;main&gt;.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A) &lt;article&gt;.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&lt;span&gt;.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Sahifa avtomatik chiroyli bo'lib qoladi.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🏛️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E2552B"/>
                </a:solidFill>
                <a:latin typeface="Calibri"/>
              </a:rPr>
              <a:t>5-MAVZU  ·  I BOB. HTML VA CSS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1F232B"/>
                </a:solidFill>
                <a:latin typeface="Calibri"/>
              </a:rPr>
              <a:t>HTML5 semantik teglari va ularning roli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Semantik HTML nima, header, nav, main, section, article, aside, footer teglarining vazifalari, div va span farqi, SEO va foydalanish qulayligi (accessibility) uchun ahamiyati.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5-mavzu · HTML5 semantik teglari va ularning roli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"Semantik"</a:t>
            </a:r>
            <a:r>
              <a:rPr sz="2800" b="0">
                <a:solidFill>
                  <a:srgbClr val="1F232B"/>
                </a:solidFill>
                <a:latin typeface="Calibri"/>
              </a:rPr>
              <a:t> so'zining ma'nosi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Sahifa qismlarini ifodalovchi </a:t>
            </a:r>
            <a:r>
              <a:rPr sz="2800" b="1">
                <a:solidFill>
                  <a:srgbClr val="1F232B"/>
                </a:solidFill>
                <a:latin typeface="Calibri"/>
              </a:rPr>
              <a:t>HTML5 teglari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section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576" b="0">
                <a:solidFill>
                  <a:srgbClr val="B02A4A"/>
                </a:solidFill>
                <a:latin typeface="Consolas"/>
              </a:rPr>
              <a:t>article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div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576" b="0">
                <a:solidFill>
                  <a:srgbClr val="B02A4A"/>
                </a:solidFill>
                <a:latin typeface="Consolas"/>
              </a:rPr>
              <a:t>span</a:t>
            </a:r>
            <a:r>
              <a:rPr sz="2800" b="0">
                <a:solidFill>
                  <a:srgbClr val="1F232B"/>
                </a:solidFill>
                <a:latin typeface="Calibri"/>
              </a:rPr>
              <a:t> farqi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Semantika </a:t>
            </a:r>
            <a:r>
              <a:rPr sz="2800" b="1">
                <a:solidFill>
                  <a:srgbClr val="1F232B"/>
                </a:solidFill>
                <a:latin typeface="Calibri"/>
              </a:rPr>
              <a:t>Google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800" b="1">
                <a:solidFill>
                  <a:srgbClr val="1F232B"/>
                </a:solidFill>
                <a:latin typeface="Calibri"/>
              </a:rPr>
              <a:t>ko'zi ojizlar</a:t>
            </a:r>
            <a:r>
              <a:rPr sz="2800" b="0">
                <a:solidFill>
                  <a:srgbClr val="1F232B"/>
                </a:solidFill>
                <a:latin typeface="Calibri"/>
              </a:rPr>
              <a:t> uchun nega muhim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Vizitka saytini semantik tuzilmaga keltirish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"Semantik" nima degani?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5-mavzu · HTML5 semantik teglari va ularning roli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884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060" b="1">
                <a:solidFill>
                  <a:srgbClr val="E2552B"/>
                </a:solidFill>
                <a:latin typeface="Calibri"/>
              </a:rPr>
              <a:t>Semantika — ma'no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45893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&lt;div&gt;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hech narsa demaydi: "shunchaki quti"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60591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054985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&lt;nav&gt;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"bu yerda menyu bor"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215005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664077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&lt;footer&gt;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"bu sahifaning pastki qismi"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3824097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4273169"/>
            <a:ext cx="11091672" cy="1522857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73169"/>
            <a:ext cx="82296" cy="1522857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64609"/>
            <a:ext cx="10725912" cy="135826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1">
                <a:solidFill>
                  <a:srgbClr val="1F232B"/>
                </a:solidFill>
                <a:latin typeface="Calibri"/>
              </a:rPr>
              <a:t>Ko'chish qutilari:</a:t>
            </a:r>
            <a:r>
              <a:rPr sz="2660" b="0">
                <a:solidFill>
                  <a:srgbClr val="1F232B"/>
                </a:solidFill>
                <a:latin typeface="Calibri"/>
              </a:rPr>
              <a:t> hammasiga "quti" deb yozsangiz (div) — har birini ochib ko'rishga to'g'ri keladi. "Kitoblar", "Idishlar" deb yozsangiz (header, article) — hamma darhol tushunadi.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Sahifaning semantik tuzilmasi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5-mavzu · HTML5 semantik teglari va ularning roli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10837"/>
            <a:ext cx="11091672" cy="363077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65701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Matn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40021"/>
            <a:ext cx="10725912" cy="328330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┌──────────────── &lt;header&gt; logo, sarlavha ────────────────┐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│                 &lt;nav&gt; menyu                              │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├──────────────────────────────────────┬───────────────────┤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│ &lt;main&gt;                               │ &lt;aside&gt;           │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│   &lt;section&gt; bo'lim                   │   yon panel       │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│     &lt;article&gt; maqola &lt;/article&gt;      │                   │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│     &lt;article&gt; maqola &lt;/article&gt;      │                   │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├──────────────────────────────────────┴───────────────────┤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│ &lt;footer&gt; mualliflik huquqi, aloqa                        │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└──────────────────────────────────────────────────────────┘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Asosiy semantik teglar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5-mavzu · HTML5 semantik teglari va ularning roli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95729"/>
          <a:ext cx="11091672" cy="4288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476503"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Teg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Vazifasi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476503"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&lt;header&gt;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Kirish qismi: logo, sayt nomi, menyu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476503"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&lt;nav&gt;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Asosiy navigatsiya havolalari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6503"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&lt;main&gt;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Asosiy, noyob mazmun — </a:t>
                      </a:r>
                      <a:r>
                        <a:rPr sz="2080" b="1">
                          <a:solidFill>
                            <a:srgbClr val="1F232B"/>
                          </a:solidFill>
                          <a:latin typeface="Calibri"/>
                        </a:rPr>
                        <a:t>faqat bitta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476503"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&lt;section&gt;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Mavzu bo'yicha bo'lim (sarlavhali)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6503"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&lt;article&gt;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Mustaqil mazmun: yangilik, post, kartochka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476503"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&lt;aside&gt;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Qo'shimcha: yon panel, "O'xshash maqolalar"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6503"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&lt;footer&gt;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Pastki qism: huquq, aloqa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476511"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&lt;time&gt;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&lt;address&gt;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&lt;figure&gt;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Sana, aloqa, rasm + izoh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section yoki article?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5-mavzu · HTML5 semantik teglari va ularning roli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156337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060" b="1">
                <a:solidFill>
                  <a:srgbClr val="E2552B"/>
                </a:solidFill>
                <a:latin typeface="Calibri"/>
              </a:rPr>
              <a:t>"Bu qismni boshqa saytga alohida olib qo'ysam, tushunarli bo'ladimi?"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9041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Ha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&lt;article&gt;</a:t>
            </a:r>
            <a:r>
              <a:rPr sz="2800" b="0">
                <a:solidFill>
                  <a:srgbClr val="1F232B"/>
                </a:solidFill>
                <a:latin typeface="Calibri"/>
              </a:rPr>
              <a:t>: yangilik, mahsulot kartasi, izoh, forum posti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250437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69951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Yo'q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&lt;section&gt;</a:t>
            </a:r>
            <a:r>
              <a:rPr sz="2800" b="0">
                <a:solidFill>
                  <a:srgbClr val="1F232B"/>
                </a:solidFill>
                <a:latin typeface="Calibri"/>
              </a:rPr>
              <a:t>: "Bizning xizmatlar" — faqat shu sayt kontekstida ma'noli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85953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53102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Ichma-ich bo'lishi mumkin: "Yangiliklar" section ichida bir nechta article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91312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div va span — ma'nosiz konteynerlar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5-mavzu · HTML5 semantik teglari va ularning roli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139647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10725912" cy="10489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&lt;div</a:t>
            </a:r>
            <a:r>
              <a:rPr sz="1904" b="0">
                <a:solidFill>
                  <a:srgbClr val="E6E6E6"/>
                </a:solidFill>
                <a:latin typeface="Consolas"/>
              </a:rPr>
              <a:t> class=</a:t>
            </a:r>
            <a:r>
              <a:rPr sz="1904" b="0">
                <a:solidFill>
                  <a:srgbClr val="98C379"/>
                </a:solidFill>
                <a:latin typeface="Consolas"/>
              </a:rPr>
              <a:t>"kartochka"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&lt;p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Bugun havo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&lt;span</a:t>
            </a:r>
            <a:r>
              <a:rPr sz="1904" b="0">
                <a:solidFill>
                  <a:srgbClr val="E6E6E6"/>
                </a:solidFill>
                <a:latin typeface="Consolas"/>
              </a:rPr>
              <a:t> class=</a:t>
            </a:r>
            <a:r>
              <a:rPr sz="1904" b="0">
                <a:solidFill>
                  <a:srgbClr val="98C379"/>
                </a:solidFill>
                <a:latin typeface="Consolas"/>
              </a:rPr>
              <a:t>"harorat"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+28°C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&lt;/span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, quyoshli.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&lt;/p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&lt;/div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33247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&lt;div&gt;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blok</a:t>
            </a:r>
            <a:r>
              <a:rPr sz="2800" b="0">
                <a:solidFill>
                  <a:srgbClr val="1F232B"/>
                </a:solidFill>
                <a:latin typeface="Calibri"/>
              </a:rPr>
              <a:t> konteyner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193267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642339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&lt;span&gt;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qator ichidagi</a:t>
            </a:r>
            <a:r>
              <a:rPr sz="2800" b="0">
                <a:solidFill>
                  <a:srgbClr val="1F232B"/>
                </a:solidFill>
                <a:latin typeface="Calibri"/>
              </a:rPr>
              <a:t> konteyner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3802359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4251431"/>
            <a:ext cx="11091672" cy="1100581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51431"/>
            <a:ext cx="82296" cy="110058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42871"/>
            <a:ext cx="10725912" cy="9359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⚠️ </a:t>
            </a:r>
            <a:r>
              <a:rPr sz="2660" b="0">
                <a:solidFill>
                  <a:srgbClr val="1F232B"/>
                </a:solidFill>
                <a:latin typeface="Calibri"/>
              </a:rPr>
              <a:t>Qoida: avval mos semantik teg bormi — o'ylang. Hech biri mos kelmasa, faqat CSS uchun — </a:t>
            </a:r>
            <a:r>
              <a:rPr sz="2447" b="0">
                <a:solidFill>
                  <a:srgbClr val="B02A4A"/>
                </a:solidFill>
                <a:latin typeface="Consolas"/>
              </a:rPr>
              <a:t>div</a:t>
            </a:r>
            <a:r>
              <a:rPr sz="2660" b="0">
                <a:solidFill>
                  <a:srgbClr val="1F232B"/>
                </a:solidFill>
                <a:latin typeface="Calibri"/>
              </a:rPr>
              <a:t>/</a:t>
            </a:r>
            <a:r>
              <a:rPr sz="2447" b="0">
                <a:solidFill>
                  <a:srgbClr val="B02A4A"/>
                </a:solidFill>
                <a:latin typeface="Consolas"/>
              </a:rPr>
              <a:t>span</a:t>
            </a:r>
            <a:r>
              <a:rPr sz="2660" b="0">
                <a:solidFill>
                  <a:srgbClr val="1F23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Blok va inline elementlar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5-mavzu · HTML5 semantik teglari va ularning roli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32660"/>
          <a:ext cx="11091672" cy="2363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90804">
                <a:tc>
                  <a:txBody>
                    <a:bodyPr/>
                    <a:lstStyle/>
                    <a:p/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Blok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Inline (qator ichida)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Misollar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div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p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h1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ul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li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table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form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section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span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a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strong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em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img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input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label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Joylashuvi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Yangi qatordan boshlanadi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Matn bilan bir qatorda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Kengligi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Butun kenglikni egallaydi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Faqat o'z mazmunicha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Semantika nima uchun muhim?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5-mavzu · HTML5 semantik teglari va ularning roli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24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702689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730121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SEO:</a:t>
            </a:r>
            <a:r>
              <a:rPr sz="2800" b="0">
                <a:solidFill>
                  <a:srgbClr val="1F232B"/>
                </a:solidFill>
                <a:latin typeface="Calibri"/>
              </a:rPr>
              <a:t> Google roboti sahifani kod orqali o'qiydi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main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article</a:t>
            </a:r>
            <a:r>
              <a:rPr sz="2800" b="0">
                <a:solidFill>
                  <a:srgbClr val="1F232B"/>
                </a:solidFill>
                <a:latin typeface="Calibri"/>
              </a:rPr>
              <a:t> unga "asosiy mazmun shu yerda" deydi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811144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838576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Accessibility:</a:t>
            </a:r>
            <a:r>
              <a:rPr sz="2800" b="0">
                <a:solidFill>
                  <a:srgbClr val="1F232B"/>
                </a:solidFill>
                <a:latin typeface="Calibri"/>
              </a:rPr>
              <a:t> ekran o'quvchi dasturlar "Navigatsiyaga o'tish", "Keyingi maqola" buyruqlarini semantik teglar orqali beradi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919601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947033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Jamoada ishlash: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&lt;footer&gt;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ni ko'rgan dasturchi darhol tushunadi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"div sho'rva" → semantik kod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5-mavzu · HTML5 semantik teglari va ularning roli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62956" cy="289983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❌ Oldin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4997196" cy="255236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31" b="0">
                <a:solidFill>
                  <a:srgbClr val="E06C75"/>
                </a:solidFill>
                <a:latin typeface="Consolas"/>
              </a:rPr>
              <a:t>&lt;div</a:t>
            </a:r>
            <a:r>
              <a:rPr sz="1631" b="0">
                <a:solidFill>
                  <a:srgbClr val="E6E6E6"/>
                </a:solidFill>
                <a:latin typeface="Consolas"/>
              </a:rPr>
              <a:t> id=</a:t>
            </a:r>
            <a:r>
              <a:rPr sz="1631" b="0">
                <a:solidFill>
                  <a:srgbClr val="98C379"/>
                </a:solidFill>
                <a:latin typeface="Consolas"/>
              </a:rPr>
              <a:t>"tepa"</a:t>
            </a:r>
            <a:r>
              <a:rPr sz="1631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631" b="0">
                <a:solidFill>
                  <a:srgbClr val="E6E6E6"/>
                </a:solidFill>
                <a:latin typeface="Consolas"/>
              </a:rPr>
              <a:t>  </a:t>
            </a:r>
            <a:r>
              <a:rPr sz="1631" b="0">
                <a:solidFill>
                  <a:srgbClr val="E06C75"/>
                </a:solidFill>
                <a:latin typeface="Consolas"/>
              </a:rPr>
              <a:t>&lt;div</a:t>
            </a:r>
            <a:r>
              <a:rPr sz="1631" b="0">
                <a:solidFill>
                  <a:srgbClr val="E6E6E6"/>
                </a:solidFill>
                <a:latin typeface="Consolas"/>
              </a:rPr>
              <a:t> class=</a:t>
            </a:r>
            <a:r>
              <a:rPr sz="1631" b="0">
                <a:solidFill>
                  <a:srgbClr val="98C379"/>
                </a:solidFill>
                <a:latin typeface="Consolas"/>
              </a:rPr>
              <a:t>"logo"</a:t>
            </a:r>
            <a:r>
              <a:rPr sz="1631" b="0">
                <a:solidFill>
                  <a:srgbClr val="E06C75"/>
                </a:solidFill>
                <a:latin typeface="Consolas"/>
              </a:rPr>
              <a:t>&gt;</a:t>
            </a:r>
            <a:r>
              <a:rPr sz="1631" b="0">
                <a:solidFill>
                  <a:srgbClr val="E6E6E6"/>
                </a:solidFill>
                <a:latin typeface="Consolas"/>
              </a:rPr>
              <a:t>Maktab №5</a:t>
            </a:r>
            <a:r>
              <a:rPr sz="1631" b="0">
                <a:solidFill>
                  <a:srgbClr val="E06C75"/>
                </a:solidFill>
                <a:latin typeface="Consolas"/>
              </a:rPr>
              <a:t>&lt;/div</a:t>
            </a:r>
            <a:r>
              <a:rPr sz="1631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631" b="0">
                <a:solidFill>
                  <a:srgbClr val="E6E6E6"/>
                </a:solidFill>
                <a:latin typeface="Consolas"/>
              </a:rPr>
              <a:t>  </a:t>
            </a:r>
            <a:r>
              <a:rPr sz="1631" b="0">
                <a:solidFill>
                  <a:srgbClr val="E06C75"/>
                </a:solidFill>
                <a:latin typeface="Consolas"/>
              </a:rPr>
              <a:t>&lt;div</a:t>
            </a:r>
            <a:r>
              <a:rPr sz="1631" b="0">
                <a:solidFill>
                  <a:srgbClr val="E6E6E6"/>
                </a:solidFill>
                <a:latin typeface="Consolas"/>
              </a:rPr>
              <a:t> class=</a:t>
            </a:r>
            <a:r>
              <a:rPr sz="1631" b="0">
                <a:solidFill>
                  <a:srgbClr val="98C379"/>
                </a:solidFill>
                <a:latin typeface="Consolas"/>
              </a:rPr>
              <a:t>"menu"</a:t>
            </a:r>
            <a:r>
              <a:rPr sz="1631" b="0">
                <a:solidFill>
                  <a:srgbClr val="E06C75"/>
                </a:solidFill>
                <a:latin typeface="Consolas"/>
              </a:rPr>
              <a:t>&gt;</a:t>
            </a:r>
            <a:r>
              <a:rPr sz="1631" b="0">
                <a:solidFill>
                  <a:srgbClr val="E6E6E6"/>
                </a:solidFill>
                <a:latin typeface="Consolas"/>
              </a:rPr>
              <a:t>...</a:t>
            </a:r>
            <a:r>
              <a:rPr sz="1631" b="0">
                <a:solidFill>
                  <a:srgbClr val="E06C75"/>
                </a:solidFill>
                <a:latin typeface="Consolas"/>
              </a:rPr>
              <a:t>&lt;/div</a:t>
            </a:r>
            <a:r>
              <a:rPr sz="1631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631" b="0">
                <a:solidFill>
                  <a:srgbClr val="E06C75"/>
                </a:solidFill>
                <a:latin typeface="Consolas"/>
              </a:rPr>
              <a:t>&lt;/div</a:t>
            </a:r>
            <a:r>
              <a:rPr sz="1631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631" b="0">
                <a:solidFill>
                  <a:srgbClr val="E06C75"/>
                </a:solidFill>
                <a:latin typeface="Consolas"/>
              </a:rPr>
              <a:t>&lt;div</a:t>
            </a:r>
            <a:r>
              <a:rPr sz="1631" b="0">
                <a:solidFill>
                  <a:srgbClr val="E6E6E6"/>
                </a:solidFill>
                <a:latin typeface="Consolas"/>
              </a:rPr>
              <a:t> class=</a:t>
            </a:r>
            <a:r>
              <a:rPr sz="1631" b="0">
                <a:solidFill>
                  <a:srgbClr val="98C379"/>
                </a:solidFill>
                <a:latin typeface="Consolas"/>
              </a:rPr>
              <a:t>"yangilik"</a:t>
            </a:r>
            <a:r>
              <a:rPr sz="1631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631" b="0">
                <a:solidFill>
                  <a:srgbClr val="E6E6E6"/>
                </a:solidFill>
                <a:latin typeface="Consolas"/>
              </a:rPr>
              <a:t>  </a:t>
            </a:r>
            <a:r>
              <a:rPr sz="1631" b="0">
                <a:solidFill>
                  <a:srgbClr val="E06C75"/>
                </a:solidFill>
                <a:latin typeface="Consolas"/>
              </a:rPr>
              <a:t>&lt;div</a:t>
            </a:r>
            <a:r>
              <a:rPr sz="1631" b="0">
                <a:solidFill>
                  <a:srgbClr val="E6E6E6"/>
                </a:solidFill>
                <a:latin typeface="Consolas"/>
              </a:rPr>
              <a:t> class=</a:t>
            </a:r>
            <a:r>
              <a:rPr sz="1631" b="0">
                <a:solidFill>
                  <a:srgbClr val="98C379"/>
                </a:solidFill>
                <a:latin typeface="Consolas"/>
              </a:rPr>
              <a:t>"sarlavha"</a:t>
            </a:r>
            <a:r>
              <a:rPr sz="1631" b="0">
                <a:solidFill>
                  <a:srgbClr val="E06C75"/>
                </a:solidFill>
                <a:latin typeface="Consolas"/>
              </a:rPr>
              <a:t>&gt;</a:t>
            </a:r>
            <a:r>
              <a:rPr sz="1631" b="0">
                <a:solidFill>
                  <a:srgbClr val="E6E6E6"/>
                </a:solidFill>
                <a:latin typeface="Consolas"/>
              </a:rPr>
              <a:t>Bellashuv</a:t>
            </a:r>
            <a:r>
              <a:rPr sz="1631" b="0">
                <a:solidFill>
                  <a:srgbClr val="E06C75"/>
                </a:solidFill>
                <a:latin typeface="Consolas"/>
              </a:rPr>
              <a:t>&lt;/div</a:t>
            </a:r>
            <a:r>
              <a:rPr sz="1631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631" b="0">
                <a:solidFill>
                  <a:srgbClr val="E6E6E6"/>
                </a:solidFill>
                <a:latin typeface="Consolas"/>
              </a:rPr>
              <a:t>  </a:t>
            </a:r>
            <a:r>
              <a:rPr sz="1631" b="0">
                <a:solidFill>
                  <a:srgbClr val="E06C75"/>
                </a:solidFill>
                <a:latin typeface="Consolas"/>
              </a:rPr>
              <a:t>&lt;div</a:t>
            </a:r>
            <a:r>
              <a:rPr sz="1631" b="0">
                <a:solidFill>
                  <a:srgbClr val="E06C75"/>
                </a:solidFill>
                <a:latin typeface="Consolas"/>
              </a:rPr>
              <a:t>&gt;</a:t>
            </a:r>
            <a:r>
              <a:rPr sz="1631" b="0">
                <a:solidFill>
                  <a:srgbClr val="E6E6E6"/>
                </a:solidFill>
                <a:latin typeface="Consolas"/>
              </a:rPr>
              <a:t>8-sinflar o'rtasida...</a:t>
            </a:r>
            <a:r>
              <a:rPr sz="1631" b="0">
                <a:solidFill>
                  <a:srgbClr val="E06C75"/>
                </a:solidFill>
                <a:latin typeface="Consolas"/>
              </a:rPr>
              <a:t>&lt;/div</a:t>
            </a:r>
            <a:r>
              <a:rPr sz="1631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631" b="0">
                <a:solidFill>
                  <a:srgbClr val="E06C75"/>
                </a:solidFill>
                <a:latin typeface="Consolas"/>
              </a:rPr>
              <a:t>&lt;/div</a:t>
            </a:r>
            <a:r>
              <a:rPr sz="1631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631" b="0">
                <a:solidFill>
                  <a:srgbClr val="E06C75"/>
                </a:solidFill>
                <a:latin typeface="Consolas"/>
              </a:rPr>
              <a:t>&lt;div</a:t>
            </a:r>
            <a:r>
              <a:rPr sz="1631" b="0">
                <a:solidFill>
                  <a:srgbClr val="E6E6E6"/>
                </a:solidFill>
                <a:latin typeface="Consolas"/>
              </a:rPr>
              <a:t> id=</a:t>
            </a:r>
            <a:r>
              <a:rPr sz="1631" b="0">
                <a:solidFill>
                  <a:srgbClr val="98C379"/>
                </a:solidFill>
                <a:latin typeface="Consolas"/>
              </a:rPr>
              <a:t>"past"</a:t>
            </a:r>
            <a:r>
              <a:rPr sz="1631" b="0">
                <a:solidFill>
                  <a:srgbClr val="E06C75"/>
                </a:solidFill>
                <a:latin typeface="Consolas"/>
              </a:rPr>
              <a:t>&gt;</a:t>
            </a:r>
            <a:r>
              <a:rPr sz="1631" b="0">
                <a:solidFill>
                  <a:srgbClr val="E6E6E6"/>
                </a:solidFill>
                <a:latin typeface="Consolas"/>
              </a:rPr>
              <a:t>© 2026</a:t>
            </a:r>
            <a:r>
              <a:rPr sz="1631" b="0">
                <a:solidFill>
                  <a:srgbClr val="E06C75"/>
                </a:solidFill>
                <a:latin typeface="Consolas"/>
              </a:rPr>
              <a:t>&lt;/div</a:t>
            </a:r>
            <a:r>
              <a:rPr sz="1631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7356" y="1417320"/>
            <a:ext cx="5362956" cy="316163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0236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✅ Keyin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0236" y="1746504"/>
            <a:ext cx="4997196" cy="281416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53" b="0">
                <a:solidFill>
                  <a:srgbClr val="E06C75"/>
                </a:solidFill>
                <a:latin typeface="Consolas"/>
              </a:rPr>
              <a:t>&lt;header</a:t>
            </a:r>
            <a:r>
              <a:rPr sz="1353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353" b="0">
                <a:solidFill>
                  <a:srgbClr val="E6E6E6"/>
                </a:solidFill>
                <a:latin typeface="Consolas"/>
              </a:rPr>
              <a:t>  </a:t>
            </a:r>
            <a:r>
              <a:rPr sz="1353" b="0">
                <a:solidFill>
                  <a:srgbClr val="E06C75"/>
                </a:solidFill>
                <a:latin typeface="Consolas"/>
              </a:rPr>
              <a:t>&lt;h1</a:t>
            </a:r>
            <a:r>
              <a:rPr sz="1353" b="0">
                <a:solidFill>
                  <a:srgbClr val="E06C75"/>
                </a:solidFill>
                <a:latin typeface="Consolas"/>
              </a:rPr>
              <a:t>&gt;</a:t>
            </a:r>
            <a:r>
              <a:rPr sz="1353" b="0">
                <a:solidFill>
                  <a:srgbClr val="E6E6E6"/>
                </a:solidFill>
                <a:latin typeface="Consolas"/>
              </a:rPr>
              <a:t>Maktab №5</a:t>
            </a:r>
            <a:r>
              <a:rPr sz="1353" b="0">
                <a:solidFill>
                  <a:srgbClr val="E06C75"/>
                </a:solidFill>
                <a:latin typeface="Consolas"/>
              </a:rPr>
              <a:t>&lt;/h1</a:t>
            </a:r>
            <a:r>
              <a:rPr sz="1353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353" b="0">
                <a:solidFill>
                  <a:srgbClr val="E6E6E6"/>
                </a:solidFill>
                <a:latin typeface="Consolas"/>
              </a:rPr>
              <a:t>  </a:t>
            </a:r>
            <a:r>
              <a:rPr sz="1353" b="0">
                <a:solidFill>
                  <a:srgbClr val="E06C75"/>
                </a:solidFill>
                <a:latin typeface="Consolas"/>
              </a:rPr>
              <a:t>&lt;nav</a:t>
            </a:r>
            <a:r>
              <a:rPr sz="1353" b="0">
                <a:solidFill>
                  <a:srgbClr val="E06C75"/>
                </a:solidFill>
                <a:latin typeface="Consolas"/>
              </a:rPr>
              <a:t>&gt;</a:t>
            </a:r>
            <a:r>
              <a:rPr sz="1353" b="0">
                <a:solidFill>
                  <a:srgbClr val="E6E6E6"/>
                </a:solidFill>
                <a:latin typeface="Consolas"/>
              </a:rPr>
              <a:t>...</a:t>
            </a:r>
            <a:r>
              <a:rPr sz="1353" b="0">
                <a:solidFill>
                  <a:srgbClr val="E06C75"/>
                </a:solidFill>
                <a:latin typeface="Consolas"/>
              </a:rPr>
              <a:t>&lt;/nav</a:t>
            </a:r>
            <a:r>
              <a:rPr sz="1353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353" b="0">
                <a:solidFill>
                  <a:srgbClr val="E06C75"/>
                </a:solidFill>
                <a:latin typeface="Consolas"/>
              </a:rPr>
              <a:t>&lt;/header</a:t>
            </a:r>
            <a:r>
              <a:rPr sz="1353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353" b="0">
                <a:solidFill>
                  <a:srgbClr val="E06C75"/>
                </a:solidFill>
                <a:latin typeface="Consolas"/>
              </a:rPr>
              <a:t>&lt;main</a:t>
            </a:r>
            <a:r>
              <a:rPr sz="1353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353" b="0">
                <a:solidFill>
                  <a:srgbClr val="E6E6E6"/>
                </a:solidFill>
                <a:latin typeface="Consolas"/>
              </a:rPr>
              <a:t>  </a:t>
            </a:r>
            <a:r>
              <a:rPr sz="1353" b="0">
                <a:solidFill>
                  <a:srgbClr val="E06C75"/>
                </a:solidFill>
                <a:latin typeface="Consolas"/>
              </a:rPr>
              <a:t>&lt;article</a:t>
            </a:r>
            <a:r>
              <a:rPr sz="1353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353" b="0">
                <a:solidFill>
                  <a:srgbClr val="E6E6E6"/>
                </a:solidFill>
                <a:latin typeface="Consolas"/>
              </a:rPr>
              <a:t>    </a:t>
            </a:r>
            <a:r>
              <a:rPr sz="1353" b="0">
                <a:solidFill>
                  <a:srgbClr val="E06C75"/>
                </a:solidFill>
                <a:latin typeface="Consolas"/>
              </a:rPr>
              <a:t>&lt;h2</a:t>
            </a:r>
            <a:r>
              <a:rPr sz="1353" b="0">
                <a:solidFill>
                  <a:srgbClr val="E06C75"/>
                </a:solidFill>
                <a:latin typeface="Consolas"/>
              </a:rPr>
              <a:t>&gt;</a:t>
            </a:r>
            <a:r>
              <a:rPr sz="1353" b="0">
                <a:solidFill>
                  <a:srgbClr val="E6E6E6"/>
                </a:solidFill>
                <a:latin typeface="Consolas"/>
              </a:rPr>
              <a:t>Bellashuv</a:t>
            </a:r>
            <a:r>
              <a:rPr sz="1353" b="0">
                <a:solidFill>
                  <a:srgbClr val="E06C75"/>
                </a:solidFill>
                <a:latin typeface="Consolas"/>
              </a:rPr>
              <a:t>&lt;/h2</a:t>
            </a:r>
            <a:r>
              <a:rPr sz="1353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353" b="0">
                <a:solidFill>
                  <a:srgbClr val="E6E6E6"/>
                </a:solidFill>
                <a:latin typeface="Consolas"/>
              </a:rPr>
              <a:t>    </a:t>
            </a:r>
            <a:r>
              <a:rPr sz="1353" b="0">
                <a:solidFill>
                  <a:srgbClr val="E06C75"/>
                </a:solidFill>
                <a:latin typeface="Consolas"/>
              </a:rPr>
              <a:t>&lt;time</a:t>
            </a:r>
            <a:r>
              <a:rPr sz="1353" b="0">
                <a:solidFill>
                  <a:srgbClr val="E6E6E6"/>
                </a:solidFill>
                <a:latin typeface="Consolas"/>
              </a:rPr>
              <a:t> datetime=</a:t>
            </a:r>
            <a:r>
              <a:rPr sz="1353" b="0">
                <a:solidFill>
                  <a:srgbClr val="98C379"/>
                </a:solidFill>
                <a:latin typeface="Consolas"/>
              </a:rPr>
              <a:t>"2026-10-02"</a:t>
            </a:r>
            <a:r>
              <a:rPr sz="1353" b="0">
                <a:solidFill>
                  <a:srgbClr val="E06C75"/>
                </a:solidFill>
                <a:latin typeface="Consolas"/>
              </a:rPr>
              <a:t>&gt;</a:t>
            </a:r>
            <a:r>
              <a:rPr sz="1353" b="0">
                <a:solidFill>
                  <a:srgbClr val="E6E6E6"/>
                </a:solidFill>
                <a:latin typeface="Consolas"/>
              </a:rPr>
              <a:t>2-oktabr</a:t>
            </a:r>
            <a:r>
              <a:rPr sz="1353" b="0">
                <a:solidFill>
                  <a:srgbClr val="E06C75"/>
                </a:solidFill>
                <a:latin typeface="Consolas"/>
              </a:rPr>
              <a:t>&lt;/time</a:t>
            </a:r>
            <a:r>
              <a:rPr sz="1353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353" b="0">
                <a:solidFill>
                  <a:srgbClr val="E6E6E6"/>
                </a:solidFill>
                <a:latin typeface="Consolas"/>
              </a:rPr>
              <a:t>    </a:t>
            </a:r>
            <a:r>
              <a:rPr sz="1353" b="0">
                <a:solidFill>
                  <a:srgbClr val="E06C75"/>
                </a:solidFill>
                <a:latin typeface="Consolas"/>
              </a:rPr>
              <a:t>&lt;p</a:t>
            </a:r>
            <a:r>
              <a:rPr sz="1353" b="0">
                <a:solidFill>
                  <a:srgbClr val="E06C75"/>
                </a:solidFill>
                <a:latin typeface="Consolas"/>
              </a:rPr>
              <a:t>&gt;</a:t>
            </a:r>
            <a:r>
              <a:rPr sz="1353" b="0">
                <a:solidFill>
                  <a:srgbClr val="E6E6E6"/>
                </a:solidFill>
                <a:latin typeface="Consolas"/>
              </a:rPr>
              <a:t>8-sinflar o'rtasida...</a:t>
            </a:r>
            <a:r>
              <a:rPr sz="1353" b="0">
                <a:solidFill>
                  <a:srgbClr val="E06C75"/>
                </a:solidFill>
                <a:latin typeface="Consolas"/>
              </a:rPr>
              <a:t>&lt;/p</a:t>
            </a:r>
            <a:r>
              <a:rPr sz="1353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353" b="0">
                <a:solidFill>
                  <a:srgbClr val="E6E6E6"/>
                </a:solidFill>
                <a:latin typeface="Consolas"/>
              </a:rPr>
              <a:t>  </a:t>
            </a:r>
            <a:r>
              <a:rPr sz="1353" b="0">
                <a:solidFill>
                  <a:srgbClr val="E06C75"/>
                </a:solidFill>
                <a:latin typeface="Consolas"/>
              </a:rPr>
              <a:t>&lt;/article</a:t>
            </a:r>
            <a:r>
              <a:rPr sz="1353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353" b="0">
                <a:solidFill>
                  <a:srgbClr val="E06C75"/>
                </a:solidFill>
                <a:latin typeface="Consolas"/>
              </a:rPr>
              <a:t>&lt;/main</a:t>
            </a:r>
            <a:r>
              <a:rPr sz="1353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353" b="0">
                <a:solidFill>
                  <a:srgbClr val="E06C75"/>
                </a:solidFill>
                <a:latin typeface="Consolas"/>
              </a:rPr>
              <a:t>&lt;footer</a:t>
            </a:r>
            <a:r>
              <a:rPr sz="1353" b="0">
                <a:solidFill>
                  <a:srgbClr val="E06C75"/>
                </a:solidFill>
                <a:latin typeface="Consolas"/>
              </a:rPr>
              <a:t>&gt;</a:t>
            </a:r>
            <a:r>
              <a:rPr sz="1353" b="0">
                <a:solidFill>
                  <a:srgbClr val="E6E6E6"/>
                </a:solidFill>
                <a:latin typeface="Consolas"/>
              </a:rPr>
              <a:t>&amp;copy; 2026</a:t>
            </a:r>
            <a:r>
              <a:rPr sz="1353" b="0">
                <a:solidFill>
                  <a:srgbClr val="E06C75"/>
                </a:solidFill>
                <a:latin typeface="Consolas"/>
              </a:rPr>
              <a:t>&lt;/footer</a:t>
            </a:r>
            <a:r>
              <a:rPr sz="1353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SEO uchun head qismi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5-mavzu · HTML5 semantik teglari va ularning roli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1675"/>
            <a:ext cx="11091672" cy="190616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76539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50859"/>
            <a:ext cx="10725912" cy="155868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50" b="0">
                <a:solidFill>
                  <a:srgbClr val="E06C75"/>
                </a:solidFill>
                <a:latin typeface="Consolas"/>
              </a:rPr>
              <a:t>&lt;head</a:t>
            </a:r>
            <a:r>
              <a:rPr sz="175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50" b="0">
                <a:solidFill>
                  <a:srgbClr val="E6E6E6"/>
                </a:solidFill>
                <a:latin typeface="Consolas"/>
              </a:rPr>
              <a:t>  </a:t>
            </a:r>
            <a:r>
              <a:rPr sz="1750" b="0">
                <a:solidFill>
                  <a:srgbClr val="E06C75"/>
                </a:solidFill>
                <a:latin typeface="Consolas"/>
              </a:rPr>
              <a:t>&lt;title</a:t>
            </a:r>
            <a:r>
              <a:rPr sz="1750" b="0">
                <a:solidFill>
                  <a:srgbClr val="E06C75"/>
                </a:solidFill>
                <a:latin typeface="Consolas"/>
              </a:rPr>
              <a:t>&gt;</a:t>
            </a:r>
            <a:r>
              <a:rPr sz="1750" b="0">
                <a:solidFill>
                  <a:srgbClr val="E6E6E6"/>
                </a:solidFill>
                <a:latin typeface="Consolas"/>
              </a:rPr>
              <a:t>Maktab №5 — Samarqand shahridagi umumta'lim maktabi</a:t>
            </a:r>
            <a:r>
              <a:rPr sz="1750" b="0">
                <a:solidFill>
                  <a:srgbClr val="E06C75"/>
                </a:solidFill>
                <a:latin typeface="Consolas"/>
              </a:rPr>
              <a:t>&lt;/title</a:t>
            </a:r>
            <a:r>
              <a:rPr sz="175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50" b="0">
                <a:solidFill>
                  <a:srgbClr val="E6E6E6"/>
                </a:solidFill>
                <a:latin typeface="Consolas"/>
              </a:rPr>
              <a:t>  </a:t>
            </a:r>
            <a:r>
              <a:rPr sz="1750" b="0">
                <a:solidFill>
                  <a:srgbClr val="E06C75"/>
                </a:solidFill>
                <a:latin typeface="Consolas"/>
              </a:rPr>
              <a:t>&lt;meta</a:t>
            </a:r>
            <a:r>
              <a:rPr sz="1750" b="0">
                <a:solidFill>
                  <a:srgbClr val="E6E6E6"/>
                </a:solidFill>
                <a:latin typeface="Consolas"/>
              </a:rPr>
              <a:t> name=</a:t>
            </a:r>
            <a:r>
              <a:rPr sz="1750" b="0">
                <a:solidFill>
                  <a:srgbClr val="98C379"/>
                </a:solidFill>
                <a:latin typeface="Consolas"/>
              </a:rPr>
              <a:t>"description"</a:t>
            </a:r>
          </a:p>
          <a:p>
            <a:pPr>
              <a:lnSpc>
                <a:spcPct val="100000"/>
              </a:lnSpc>
            </a:pPr>
            <a:r>
              <a:rPr sz="1750" b="0">
                <a:solidFill>
                  <a:srgbClr val="E6E6E6"/>
                </a:solidFill>
                <a:latin typeface="Consolas"/>
              </a:rPr>
              <a:t>        content=</a:t>
            </a:r>
            <a:r>
              <a:rPr sz="1750" b="0">
                <a:solidFill>
                  <a:srgbClr val="98C379"/>
                </a:solidFill>
                <a:latin typeface="Consolas"/>
              </a:rPr>
              <a:t>"Maktab №5 yangiliklari, dars jadvali, to'garaklar va aloqa."</a:t>
            </a:r>
            <a:r>
              <a:rPr sz="175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50" b="0">
                <a:solidFill>
                  <a:srgbClr val="E06C75"/>
                </a:solidFill>
                <a:latin typeface="Consolas"/>
              </a:rPr>
              <a:t>&lt;/head</a:t>
            </a:r>
            <a:r>
              <a:rPr sz="1750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47293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&lt;title&gt;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Google natijasidagi ko'k sarlavha; har sahifada </a:t>
            </a:r>
            <a:r>
              <a:rPr sz="2800" b="1">
                <a:solidFill>
                  <a:srgbClr val="1F232B"/>
                </a:solidFill>
                <a:latin typeface="Calibri"/>
              </a:rPr>
              <a:t>har xil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90731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800885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description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sarlavha ostidagi tavsif (150–160 belgi)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960905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vizitkani semantik qilish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5-mavzu · HTML5 semantik teglari va ularning roli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24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Menyuni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&lt;header&gt;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+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&lt;nav&gt;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ga, asosiy mazmunni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&lt;main&gt;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ga o'rang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52577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5532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"Men haqimda", "Ko'nikmalarim" — alohida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&lt;section&gt;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+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&lt;h2&gt;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02432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2298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Har bir hobbi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&lt;article&gt;</a:t>
            </a:r>
            <a:r>
              <a:rPr sz="2800" b="0">
                <a:solidFill>
                  <a:srgbClr val="1F232B"/>
                </a:solidFill>
                <a:latin typeface="Calibri"/>
              </a:rPr>
              <a:t>; "Qiziqarli fakt"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&lt;aside&gt;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879088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90652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&lt;footer&gt;</a:t>
            </a:r>
            <a:r>
              <a:rPr sz="2800" b="0">
                <a:solidFill>
                  <a:srgbClr val="1F232B"/>
                </a:solidFill>
                <a:latin typeface="Calibri"/>
              </a:rPr>
              <a:t>: </a:t>
            </a:r>
            <a:r>
              <a:rPr sz="2576" b="0">
                <a:solidFill>
                  <a:srgbClr val="B02A4A"/>
                </a:solidFill>
                <a:latin typeface="Consolas"/>
              </a:rPr>
              <a:t>&amp;copy;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&lt;address&gt;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555744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458317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Mazmunli </a:t>
            </a:r>
            <a:r>
              <a:rPr sz="2576" b="0">
                <a:solidFill>
                  <a:srgbClr val="B02A4A"/>
                </a:solidFill>
                <a:latin typeface="Consolas"/>
              </a:rPr>
              <a:t>title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576" b="0">
                <a:solidFill>
                  <a:srgbClr val="B02A4A"/>
                </a:solidFill>
                <a:latin typeface="Consolas"/>
              </a:rPr>
              <a:t>description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232400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525983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validator.w3.org</a:t>
            </a:r>
            <a:r>
              <a:rPr sz="2800" b="0">
                <a:solidFill>
                  <a:srgbClr val="1F232B"/>
                </a:solidFill>
                <a:latin typeface="Calibri"/>
              </a:rPr>
              <a:t> da tekshiring — xatolar 0 bo'lsin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5-mavzu · HTML5 semantik teglari va ularning roli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Sahifada bir nechta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&lt;main&gt;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Har bir havola guruhini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&lt;nav&gt;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qilish — faqat </a:t>
            </a:r>
            <a:r>
              <a:rPr sz="2800" b="1">
                <a:solidFill>
                  <a:srgbClr val="1F232B"/>
                </a:solidFill>
                <a:latin typeface="Calibri"/>
              </a:rPr>
              <a:t>asosiy</a:t>
            </a:r>
            <a:r>
              <a:rPr sz="2800" b="0">
                <a:solidFill>
                  <a:srgbClr val="1F232B"/>
                </a:solidFill>
                <a:latin typeface="Calibri"/>
              </a:rPr>
              <a:t> navigatsiya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Sarlavhasiz, faqat dizayn uchun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&lt;section&gt;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bu </a:t>
            </a:r>
            <a:r>
              <a:rPr sz="2576" b="0">
                <a:solidFill>
                  <a:srgbClr val="B02A4A"/>
                </a:solidFill>
                <a:latin typeface="Consolas"/>
              </a:rPr>
              <a:t>div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&lt;header&gt;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&lt;head&gt;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ni adashtirish: head — ko'rinmas meta, header — ko'rinadigan tepa qism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5-mavzu · HTML5 semantik teglari va ularning roli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Sahifaning asosiy, noyob mazmuni qaysi teg ichida bo'ladi?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&lt;section&gt;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&lt;main&gt;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&lt;body&gt;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&lt;header&gt;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5-mavzu · HTML5 semantik teglari va ularning roli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Sahifaning asosiy, noyob mazmuni qaysi teg ichida bo'ladi?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&lt;section&gt;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&lt;main&gt;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&lt;body&gt;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&lt;header&gt;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5-mavzu · HTML5 semantik teglari va ularning roli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Blogdagi alohida post uchun eng mos teg qaysi?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&lt;article&gt;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&lt;aside&gt;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&lt;nav&gt;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&lt;span&gt;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5-mavzu · HTML5 semantik teglari va ularning roli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Blogdagi alohida post uchun eng mos teg qaysi?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&lt;article&gt;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&lt;aside&gt;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&lt;nav&gt;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&lt;span&gt;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5-mavzu · HTML5 semantik teglari va ularning roli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Qaysi element inline (qator ichida)?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&lt;div&gt;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&lt;p&gt;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&lt;span&gt;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&lt;section&gt;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5-mavzu · HTML5 semantik teglari va ularning roli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Qaysi element inline (qator ichida)?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&lt;div&gt;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&lt;p&gt;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&lt;span&gt;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&lt;section&gt;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5-mavzu · HTML5 semantik teglari va ularning roli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Semantik teglar nima uchun foydali EMAS?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Google sahifani yaxshiroq tushunadi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Sahifa avtomatik chiroyli bo'lib qoladi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Ekran o'quvchilar qulayroq ishlaydi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Kod o'qilishi osonlashadi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5-mavzu · HTML5 semantik teglari va ularning roli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Semantik teglar nima uchun foydali EMAS?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Google sahifani yaxshiroq tushunadi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Sahifa avtomatik chiroyli bo'lib qoladi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Ekran o'quvchilar qulayroq ishlaydi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Kod o'qilishi osonlashadi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5-mavzu · HTML5 semantik teglari va ularning roli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24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96668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924100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Yangiliklar saytini </a:t>
            </a:r>
            <a:r>
              <a:rPr sz="2800" b="1">
                <a:solidFill>
                  <a:srgbClr val="1F232B"/>
                </a:solidFill>
                <a:latin typeface="Calibri"/>
              </a:rPr>
              <a:t>F12 → Elements</a:t>
            </a:r>
            <a:r>
              <a:rPr sz="2800" b="0">
                <a:solidFill>
                  <a:srgbClr val="1F232B"/>
                </a:solidFill>
                <a:latin typeface="Calibri"/>
              </a:rPr>
              <a:t> da oching: qaysi semantik teglar bor — yozing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005124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3032556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"Sinfimiz gazetasi": </a:t>
            </a:r>
            <a:r>
              <a:rPr sz="2576" b="0">
                <a:solidFill>
                  <a:srgbClr val="B02A4A"/>
                </a:solidFill>
                <a:latin typeface="Consolas"/>
              </a:rPr>
              <a:t>header</a:t>
            </a:r>
            <a:r>
              <a:rPr sz="2800" b="0">
                <a:solidFill>
                  <a:srgbClr val="1F232B"/>
                </a:solidFill>
                <a:latin typeface="Calibri"/>
              </a:rPr>
              <a:t> + </a:t>
            </a:r>
            <a:r>
              <a:rPr sz="2576" b="0">
                <a:solidFill>
                  <a:srgbClr val="B02A4A"/>
                </a:solidFill>
                <a:latin typeface="Consolas"/>
              </a:rPr>
              <a:t>nav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main</a:t>
            </a:r>
            <a:r>
              <a:rPr sz="2800" b="0">
                <a:solidFill>
                  <a:srgbClr val="1F232B"/>
                </a:solidFill>
                <a:latin typeface="Calibri"/>
              </a:rPr>
              <a:t> da 3 ta </a:t>
            </a:r>
            <a:r>
              <a:rPr sz="2576" b="0">
                <a:solidFill>
                  <a:srgbClr val="B02A4A"/>
                </a:solidFill>
                <a:latin typeface="Consolas"/>
              </a:rPr>
              <a:t>article</a:t>
            </a:r>
            <a:r>
              <a:rPr sz="2800" b="0">
                <a:solidFill>
                  <a:srgbClr val="1F232B"/>
                </a:solidFill>
                <a:latin typeface="Calibri"/>
              </a:rPr>
              <a:t> (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&lt;time&gt;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bilan), </a:t>
            </a:r>
            <a:r>
              <a:rPr sz="2576" b="0">
                <a:solidFill>
                  <a:srgbClr val="B02A4A"/>
                </a:solidFill>
                <a:latin typeface="Consolas"/>
              </a:rPr>
              <a:t>aside</a:t>
            </a:r>
            <a:r>
              <a:rPr sz="2800" b="0">
                <a:solidFill>
                  <a:srgbClr val="1F232B"/>
                </a:solidFill>
                <a:latin typeface="Calibri"/>
              </a:rPr>
              <a:t> (tug'ilgan kunlar), </a:t>
            </a:r>
            <a:r>
              <a:rPr sz="2576" b="0">
                <a:solidFill>
                  <a:srgbClr val="B02A4A"/>
                </a:solidFill>
                <a:latin typeface="Consolas"/>
              </a:rPr>
              <a:t>footer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5-mavzu · HTML5 semantik teglari va ularning roli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Semantik teg — nomi mazmunini aytadigan teg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header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nav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main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section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article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aside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footer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Mustaqil mazmun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article</a:t>
            </a:r>
            <a:r>
              <a:rPr sz="2800" b="0">
                <a:solidFill>
                  <a:srgbClr val="1F232B"/>
                </a:solidFill>
                <a:latin typeface="Calibri"/>
              </a:rPr>
              <a:t>, bo'lim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section</a:t>
            </a:r>
            <a:r>
              <a:rPr sz="2800" b="0">
                <a:solidFill>
                  <a:srgbClr val="1F232B"/>
                </a:solidFill>
                <a:latin typeface="Calibri"/>
              </a:rPr>
              <a:t>, dizayn uchun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div</a:t>
            </a:r>
            <a:r>
              <a:rPr sz="2800" b="0">
                <a:solidFill>
                  <a:srgbClr val="1F232B"/>
                </a:solidFill>
                <a:latin typeface="Calibri"/>
              </a:rPr>
              <a:t>/</a:t>
            </a:r>
            <a:r>
              <a:rPr sz="2576" b="0">
                <a:solidFill>
                  <a:srgbClr val="B02A4A"/>
                </a:solidFill>
                <a:latin typeface="Consolas"/>
              </a:rPr>
              <a:t>span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Semantika: </a:t>
            </a:r>
            <a:r>
              <a:rPr sz="2800" b="1">
                <a:solidFill>
                  <a:srgbClr val="1F232B"/>
                </a:solidFill>
                <a:latin typeface="Calibri"/>
              </a:rPr>
              <a:t>SEO + accessibility + o'qiluvchanlik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81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Ko'rinishga ta'sir qilmaydi — dizayn CSS'ning ishi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45820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6. CSS ulash usullari, selektorlar va sintaksis. Matn va shriftlar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5-mavzu: HTML5 semantik teglari va ularning roli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