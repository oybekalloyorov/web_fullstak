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 dars I–II boblardagi HTML/CSS/JS bilimlarini Django bilan birlashtiradi!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B) {{ ism }}.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render(request, "shablon.html", kontekst).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A) {% extends "base.html" %}.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To'g'ri javob: C) {% empty %}.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0584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5400" b="0">
                <a:solidFill>
                  <a:srgbClr val="1F232B"/>
                </a:solidFill>
                <a:latin typeface="Segoe UI Emoji"/>
              </a:rPr>
              <a:t>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1005840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00" b="1">
                <a:solidFill>
                  <a:srgbClr val="1F7A4D"/>
                </a:solidFill>
                <a:latin typeface="Calibri"/>
              </a:rPr>
              <a:t>35-MAVZU  ·  IV BOB. PYTHON, POSTGRESQL VA DJANGO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2606040"/>
            <a:ext cx="10058400" cy="1737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3600" b="1">
                <a:solidFill>
                  <a:srgbClr val="1F232B"/>
                </a:solidFill>
                <a:latin typeface="Calibri"/>
              </a:rPr>
              <a:t>Django Template tizimi va dinamik sahifalar. Template va statik fayllar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343400"/>
            <a:ext cx="9875520" cy="11887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800" b="0">
                <a:solidFill>
                  <a:srgbClr val="5B6370"/>
                </a:solidFill>
                <a:latin typeface="Calibri"/>
              </a:rPr>
              <a:t>render() va kontekst, Django Template Language: o'zgaruvchilar, {% if %}, {% for %}, filtrlar, {% url %}; shablon merosi (extends, block, include); CSS, JavaScript va rasmlar — static fayllar.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Bugun nimani o'rganamiz?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HTML'ni </a:t>
            </a:r>
            <a:r>
              <a:rPr sz="2800" b="1">
                <a:solidFill>
                  <a:srgbClr val="1F232B"/>
                </a:solidFill>
                <a:latin typeface="Calibri"/>
              </a:rPr>
              <a:t>shablon</a:t>
            </a:r>
            <a:r>
              <a:rPr sz="2800" b="0">
                <a:solidFill>
                  <a:srgbClr val="1F232B"/>
                </a:solidFill>
                <a:latin typeface="Calibri"/>
              </a:rPr>
              <a:t> (template) fayllarda saqlash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26412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View'dan shablonga ma'lumot: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render()</a:t>
            </a:r>
            <a:r>
              <a:rPr sz="2800" b="0">
                <a:solidFill>
                  <a:srgbClr val="1F232B"/>
                </a:solidFill>
                <a:latin typeface="Calibri"/>
              </a:rPr>
              <a:t> va </a:t>
            </a:r>
            <a:r>
              <a:rPr sz="2800" b="1">
                <a:solidFill>
                  <a:srgbClr val="1F232B"/>
                </a:solidFill>
                <a:latin typeface="Calibri"/>
              </a:rPr>
              <a:t>kontekst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186432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35504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Django shablon tili: o'zgaruvchilar, shartlar, sikllar, filtrlar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279552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1">
                <a:solidFill>
                  <a:srgbClr val="1F232B"/>
                </a:solidFill>
                <a:latin typeface="Calibri"/>
              </a:rPr>
              <a:t>Shablon merosi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umumiy skelet bir marta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CSS, JS, rasmlar — </a:t>
            </a:r>
            <a:r>
              <a:rPr sz="2800" b="1">
                <a:solidFill>
                  <a:srgbClr val="1F232B"/>
                </a:solidFill>
                <a:latin typeface="Calibri"/>
              </a:rPr>
              <a:t>static</a:t>
            </a:r>
            <a:r>
              <a:rPr sz="2800" b="0">
                <a:solidFill>
                  <a:srgbClr val="1F232B"/>
                </a:solidFill>
                <a:latin typeface="Calibri"/>
              </a:rPr>
              <a:t> fayllar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Template nima?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48121"/>
            <a:ext cx="11091672" cy="1287145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190" b="1">
                <a:solidFill>
                  <a:srgbClr val="1F7A4D"/>
                </a:solidFill>
                <a:latin typeface="Calibri"/>
              </a:rPr>
              <a:t>Template — "bo'sh joylari" bor HTML fayl; Django ularni ma'lumot bilan to'ldiradi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844994"/>
            <a:ext cx="11091672" cy="1251394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844994"/>
            <a:ext cx="82296" cy="125139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36434"/>
            <a:ext cx="10725912" cy="108680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090" b="0">
                <a:solidFill>
                  <a:srgbClr val="1F232B"/>
                </a:solidFill>
                <a:latin typeface="Calibri"/>
              </a:rPr>
              <a:t>💡 </a:t>
            </a:r>
            <a:r>
              <a:rPr sz="2090" b="1">
                <a:solidFill>
                  <a:srgbClr val="1F232B"/>
                </a:solidFill>
                <a:latin typeface="Calibri"/>
              </a:rPr>
              <a:t>Tabriknoma shabloni:</a:t>
            </a:r>
            <a:r>
              <a:rPr sz="2090" b="0">
                <a:solidFill>
                  <a:srgbClr val="1F232B"/>
                </a:solidFill>
                <a:latin typeface="Calibri"/>
              </a:rPr>
              <a:t> "Hurmatli ________, sizni ________ bilan tabriklaymiz!" Shablon bir xil — ism va sabab har safar boshqa. </a:t>
            </a:r>
            <a:r>
              <a:rPr sz="1922" b="0">
                <a:solidFill>
                  <a:srgbClr val="B02A4A"/>
                </a:solidFill>
                <a:latin typeface="Consolas"/>
              </a:rPr>
              <a:t>&lt;h1&gt;{{ sarlavha }}&lt;/h1&gt;</a:t>
            </a:r>
            <a:r>
              <a:rPr sz="2090" b="0">
                <a:solidFill>
                  <a:srgbClr val="1F232B"/>
                </a:solidFill>
                <a:latin typeface="Calibri"/>
              </a:rPr>
              <a:t> — har maqolaga o'z sarlavhasi.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315845"/>
            <a:ext cx="11091672" cy="169285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370709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45029"/>
            <a:ext cx="10725912" cy="134538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blog/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└── templates/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└── blog/            ← ilova nomi ikki marta — nomlar to'qnashmasin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├── bosh_sahifa.html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└── maqola.html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render() va kontekst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21169"/>
            <a:ext cx="11091672" cy="4200753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6033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Python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50353"/>
            <a:ext cx="10725912" cy="3853281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django.shortcuts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render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from</a:t>
            </a:r>
            <a:r>
              <a:rPr sz="1496" b="0">
                <a:solidFill>
                  <a:srgbClr val="E6E6E6"/>
                </a:solidFill>
                <a:latin typeface="Consolas"/>
              </a:rPr>
              <a:t> django.http </a:t>
            </a:r>
            <a:r>
              <a:rPr sz="1496" b="0">
                <a:solidFill>
                  <a:srgbClr val="C678DD"/>
                </a:solidFill>
                <a:latin typeface="Consolas"/>
              </a:rPr>
              <a:t>import</a:t>
            </a:r>
            <a:r>
              <a:rPr sz="1496" b="0">
                <a:solidFill>
                  <a:srgbClr val="E6E6E6"/>
                </a:solidFill>
                <a:latin typeface="Consolas"/>
              </a:rPr>
              <a:t> Http404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bosh_sahifa(request):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kontekst = {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98C379"/>
                </a:solidFill>
                <a:latin typeface="Consolas"/>
              </a:rPr>
              <a:t>"sarlavha"</a:t>
            </a:r>
            <a:r>
              <a:rPr sz="1496" b="0">
                <a:solidFill>
                  <a:srgbClr val="E6E6E6"/>
                </a:solidFill>
                <a:latin typeface="Consolas"/>
              </a:rPr>
              <a:t>: </a:t>
            </a:r>
            <a:r>
              <a:rPr sz="1496" b="0">
                <a:solidFill>
                  <a:srgbClr val="98C379"/>
                </a:solidFill>
                <a:latin typeface="Consolas"/>
              </a:rPr>
              <a:t>"Maktab blogi"</a:t>
            </a:r>
            <a:r>
              <a:rPr sz="1496" b="0">
                <a:solidFill>
                  <a:srgbClr val="E6E6E6"/>
                </a:solidFill>
                <a:latin typeface="Consolas"/>
              </a:rPr>
              <a:t>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98C379"/>
                </a:solidFill>
                <a:latin typeface="Consolas"/>
              </a:rPr>
              <a:t>"maqolalar"</a:t>
            </a:r>
            <a:r>
              <a:rPr sz="1496" b="0">
                <a:solidFill>
                  <a:srgbClr val="E6E6E6"/>
                </a:solidFill>
                <a:latin typeface="Consolas"/>
              </a:rPr>
              <a:t>: MAQOLALAR,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}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"blog/bosh_sahifa.html"</a:t>
            </a:r>
            <a:r>
              <a:rPr sz="1496" b="0">
                <a:solidFill>
                  <a:srgbClr val="E6E6E6"/>
                </a:solidFill>
                <a:latin typeface="Consolas"/>
              </a:rPr>
              <a:t>, kontekst)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C678DD"/>
                </a:solidFill>
                <a:latin typeface="Consolas"/>
              </a:rPr>
              <a:t>def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maqola(request, id):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for</a:t>
            </a:r>
            <a:r>
              <a:rPr sz="1496" b="0">
                <a:solidFill>
                  <a:srgbClr val="E6E6E6"/>
                </a:solidFill>
                <a:latin typeface="Consolas"/>
              </a:rPr>
              <a:t> m </a:t>
            </a:r>
            <a:r>
              <a:rPr sz="1496" b="0">
                <a:solidFill>
                  <a:srgbClr val="C678DD"/>
                </a:solidFill>
                <a:latin typeface="Consolas"/>
              </a:rPr>
              <a:t>in</a:t>
            </a:r>
            <a:r>
              <a:rPr sz="1496" b="0">
                <a:solidFill>
                  <a:srgbClr val="E6E6E6"/>
                </a:solidFill>
                <a:latin typeface="Consolas"/>
              </a:rPr>
              <a:t> MAQOLALAR: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if</a:t>
            </a:r>
            <a:r>
              <a:rPr sz="1496" b="0">
                <a:solidFill>
                  <a:srgbClr val="E6E6E6"/>
                </a:solidFill>
                <a:latin typeface="Consolas"/>
              </a:rPr>
              <a:t> m[</a:t>
            </a:r>
            <a:r>
              <a:rPr sz="1496" b="0">
                <a:solidFill>
                  <a:srgbClr val="98C379"/>
                </a:solidFill>
                <a:latin typeface="Consolas"/>
              </a:rPr>
              <a:t>"id"</a:t>
            </a:r>
            <a:r>
              <a:rPr sz="1496" b="0">
                <a:solidFill>
                  <a:srgbClr val="E6E6E6"/>
                </a:solidFill>
                <a:latin typeface="Consolas"/>
              </a:rPr>
              <a:t>] == id: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        </a:t>
            </a:r>
            <a:r>
              <a:rPr sz="1496" b="0">
                <a:solidFill>
                  <a:srgbClr val="C678DD"/>
                </a:solidFill>
                <a:latin typeface="Consolas"/>
              </a:rPr>
              <a:t>return</a:t>
            </a:r>
            <a:r>
              <a:rPr sz="1496" b="0">
                <a:solidFill>
                  <a:srgbClr val="E6E6E6"/>
                </a:solidFill>
                <a:latin typeface="Consolas"/>
              </a:rPr>
              <a:t> render(request, </a:t>
            </a:r>
            <a:r>
              <a:rPr sz="1496" b="0">
                <a:solidFill>
                  <a:srgbClr val="98C379"/>
                </a:solidFill>
                <a:latin typeface="Consolas"/>
              </a:rPr>
              <a:t>"blog/maqola.html"</a:t>
            </a:r>
            <a:r>
              <a:rPr sz="1496" b="0">
                <a:solidFill>
                  <a:srgbClr val="E6E6E6"/>
                </a:solidFill>
                <a:latin typeface="Consolas"/>
              </a:rPr>
              <a:t>, {</a:t>
            </a:r>
            <a:r>
              <a:rPr sz="1496" b="0">
                <a:solidFill>
                  <a:srgbClr val="98C379"/>
                </a:solidFill>
                <a:latin typeface="Consolas"/>
              </a:rPr>
              <a:t>"maqola"</a:t>
            </a:r>
            <a:r>
              <a:rPr sz="1496" b="0">
                <a:solidFill>
                  <a:srgbClr val="E6E6E6"/>
                </a:solidFill>
                <a:latin typeface="Consolas"/>
              </a:rPr>
              <a:t>: m})</a:t>
            </a:r>
          </a:p>
          <a:p>
            <a:pPr>
              <a:lnSpc>
                <a:spcPct val="100000"/>
              </a:lnSpc>
            </a:pPr>
            <a:r>
              <a:rPr sz="1496" b="0">
                <a:solidFill>
                  <a:srgbClr val="E6E6E6"/>
                </a:solidFill>
                <a:latin typeface="Consolas"/>
              </a:rPr>
              <a:t>    raise Http404(</a:t>
            </a:r>
            <a:r>
              <a:rPr sz="1496" b="0">
                <a:solidFill>
                  <a:srgbClr val="98C379"/>
                </a:solidFill>
                <a:latin typeface="Consolas"/>
              </a:rPr>
              <a:t>"Maqola topilmadi"</a:t>
            </a:r>
            <a:r>
              <a:rPr sz="1496" b="0">
                <a:solidFill>
                  <a:srgbClr val="E6E6E6"/>
                </a:solidFill>
                <a:latin typeface="Consolas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841378"/>
            <a:ext cx="10680192" cy="40411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024" b="0">
                <a:solidFill>
                  <a:srgbClr val="B02A4A"/>
                </a:solidFill>
                <a:latin typeface="Consolas"/>
              </a:rPr>
              <a:t>render()</a:t>
            </a:r>
            <a:r>
              <a:rPr sz="2200" b="0">
                <a:solidFill>
                  <a:srgbClr val="1F232B"/>
                </a:solidFill>
                <a:latin typeface="Calibri"/>
              </a:rPr>
              <a:t> — shablonni topadi, kontekst bilan to'ldiradi, tayyor HTML qaytaradi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59671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Django Template Language (DTL)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5 /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30644"/>
          <a:ext cx="11091672" cy="225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7224"/>
                <a:gridCol w="3697224"/>
                <a:gridCol w="3697224"/>
              </a:tblGrid>
              <a:tr h="451104"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Sintaksis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1">
                          <a:solidFill>
                            <a:srgbClr val="FFFFFF"/>
                          </a:solidFill>
                          <a:latin typeface="Calibri"/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{{ ... }}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O'zgaruvchi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{{ maqola.sarlavha }}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{% ... %}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Teg — mantiq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{% for m in maqolalar %}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{{ x|filtr }}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Filtr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{{ ism|upper }}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51104"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{# ... #}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20" b="0">
                          <a:solidFill>
                            <a:srgbClr val="1F232B"/>
                          </a:solidFill>
                          <a:latin typeface="Calibri"/>
                        </a:rPr>
                        <a:t>Izoh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66" b="0">
                          <a:solidFill>
                            <a:srgbClr val="B02A4A"/>
                          </a:solidFill>
                          <a:latin typeface="Consolas"/>
                        </a:rPr>
                        <a:t>{# ko'rinmaydi #}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3905620"/>
            <a:ext cx="11091672" cy="986088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9604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234804"/>
            <a:ext cx="10725912" cy="63861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&lt;h1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06C75"/>
                </a:solidFill>
                <a:latin typeface="Consolas"/>
              </a:rPr>
              <a:t>{{ maqola.sarlavha }}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        {# dict kaliti / atribut — nuqta bilan #}</a:t>
            </a:r>
          </a:p>
          <a:p>
            <a:pPr>
              <a:lnSpc>
                <a:spcPct val="100000"/>
              </a:lnSpc>
            </a:pPr>
            <a:r>
              <a:rPr sz="1632" b="0">
                <a:solidFill>
                  <a:srgbClr val="E06C75"/>
                </a:solidFill>
                <a:latin typeface="Consolas"/>
              </a:rPr>
              <a:t>&lt;p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  <a:r>
              <a:rPr sz="1632" b="0">
                <a:solidFill>
                  <a:srgbClr val="E6E6E6"/>
                </a:solidFill>
                <a:latin typeface="Consolas"/>
              </a:rPr>
              <a:t>Kategoriya: </a:t>
            </a:r>
            <a:r>
              <a:rPr sz="1632" b="0">
                <a:solidFill>
                  <a:srgbClr val="E06C75"/>
                </a:solidFill>
                <a:latin typeface="Consolas"/>
              </a:rPr>
              <a:t>{{ maqola.kategoriya }}</a:t>
            </a:r>
            <a:r>
              <a:rPr sz="1632" b="0">
                <a:solidFill>
                  <a:srgbClr val="E06C75"/>
                </a:solidFill>
                <a:latin typeface="Consolas"/>
              </a:rPr>
              <a:t>&lt;/p</a:t>
            </a:r>
            <a:r>
              <a:rPr sz="1632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5111165"/>
            <a:ext cx="11091672" cy="979931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5111165"/>
            <a:ext cx="82296" cy="979931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5202605"/>
            <a:ext cx="10725912" cy="8153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2279" b="0">
                <a:solidFill>
                  <a:srgbClr val="1F232B"/>
                </a:solidFill>
                <a:latin typeface="Calibri"/>
              </a:rPr>
              <a:t>💡 </a:t>
            </a:r>
            <a:r>
              <a:rPr sz="2279" b="1">
                <a:solidFill>
                  <a:srgbClr val="1F232B"/>
                </a:solidFill>
                <a:latin typeface="Calibri"/>
              </a:rPr>
              <a:t>Avtomatik xavfsizlik:</a:t>
            </a:r>
            <a:r>
              <a:rPr sz="2279" b="0">
                <a:solidFill>
                  <a:srgbClr val="1F232B"/>
                </a:solidFill>
                <a:latin typeface="Calibri"/>
              </a:rPr>
              <a:t> matnda </a:t>
            </a:r>
            <a:r>
              <a:rPr sz="2097" b="0">
                <a:solidFill>
                  <a:srgbClr val="B02A4A"/>
                </a:solidFill>
                <a:latin typeface="Consolas"/>
              </a:rPr>
              <a:t>&lt;script&gt;</a:t>
            </a:r>
            <a:r>
              <a:rPr sz="2279" b="0">
                <a:solidFill>
                  <a:srgbClr val="1F232B"/>
                </a:solidFill>
                <a:latin typeface="Calibri"/>
              </a:rPr>
              <a:t> bo'lsa, Django uni zararsiz matnga aylantiradi — </a:t>
            </a:r>
            <a:r>
              <a:rPr sz="2279" b="1">
                <a:solidFill>
                  <a:srgbClr val="1F232B"/>
                </a:solidFill>
                <a:latin typeface="Calibri"/>
              </a:rPr>
              <a:t>XSS</a:t>
            </a:r>
            <a:r>
              <a:rPr sz="2279" b="0">
                <a:solidFill>
                  <a:srgbClr val="1F232B"/>
                </a:solidFill>
                <a:latin typeface="Calibri"/>
              </a:rPr>
              <a:t>'dan himoya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if va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31747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28273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{% if maqolalar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&lt;p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Jami </a:t>
            </a:r>
            <a:r>
              <a:rPr sz="1020" b="0">
                <a:solidFill>
                  <a:srgbClr val="E06C75"/>
                </a:solidFill>
                <a:latin typeface="Consolas"/>
              </a:rPr>
              <a:t>{{ maqolalar|length }}</a:t>
            </a:r>
            <a:r>
              <a:rPr sz="1020" b="0">
                <a:solidFill>
                  <a:srgbClr val="E6E6E6"/>
                </a:solidFill>
                <a:latin typeface="Consolas"/>
              </a:rPr>
              <a:t> ta maqola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&lt;/p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{% else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&lt;p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Hozircha maqola yo'q 😔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&lt;/p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{% endif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&lt;ul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{% for m in maqolalar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&lt;li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{{ forloop.counter }}</a:t>
            </a:r>
            <a:r>
              <a:rPr sz="1020" b="0">
                <a:solidFill>
                  <a:srgbClr val="E6E6E6"/>
                </a:solidFill>
                <a:latin typeface="Consolas"/>
              </a:rPr>
              <a:t>.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&lt;a</a:t>
            </a:r>
            <a:r>
              <a:rPr sz="102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020" b="0">
                <a:solidFill>
                  <a:srgbClr val="98C379"/>
                </a:solidFill>
                <a:latin typeface="Consolas"/>
              </a:rPr>
              <a:t>"{% url 'blog:maqola' m.id %}"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06C75"/>
                </a:solidFill>
                <a:latin typeface="Consolas"/>
              </a:rPr>
              <a:t>{{ m.sarlavha }}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{% empty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&lt;li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Maqolalar yo'q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&lt;/li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{% endfor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&lt;/ul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811572"/>
            <a:ext cx="10680192" cy="2929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80" b="0">
                <a:solidFill>
                  <a:srgbClr val="B02A4A"/>
                </a:solidFill>
                <a:latin typeface="Consolas"/>
              </a:rPr>
              <a:t>{% url 'blog:maqola' m.id %}</a:t>
            </a:r>
            <a:r>
              <a:rPr sz="1500" b="0">
                <a:solidFill>
                  <a:srgbClr val="1F232B"/>
                </a:solidFill>
                <a:latin typeface="Calibri"/>
              </a:rPr>
              <a:t> — manzillarni qo'lda yozmang!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489729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5214289"/>
            <a:ext cx="10680192" cy="29298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380" b="0">
                <a:solidFill>
                  <a:srgbClr val="B02A4A"/>
                </a:solidFill>
                <a:latin typeface="Consolas"/>
              </a:rPr>
              <a:t>forloop.counter</a:t>
            </a:r>
            <a:r>
              <a:rPr sz="1500" b="0">
                <a:solidFill>
                  <a:srgbClr val="1F232B"/>
                </a:solidFill>
                <a:latin typeface="Calibri"/>
              </a:rPr>
              <a:t>, </a:t>
            </a:r>
            <a:r>
              <a:rPr sz="1380" b="0">
                <a:solidFill>
                  <a:srgbClr val="B02A4A"/>
                </a:solidFill>
                <a:latin typeface="Consolas"/>
              </a:rPr>
              <a:t>forloop.first</a:t>
            </a:r>
            <a:r>
              <a:rPr sz="1500" b="0">
                <a:solidFill>
                  <a:srgbClr val="1F232B"/>
                </a:solidFill>
                <a:latin typeface="Calibri"/>
              </a:rPr>
              <a:t>, </a:t>
            </a:r>
            <a:r>
              <a:rPr sz="1380" b="0">
                <a:solidFill>
                  <a:srgbClr val="B02A4A"/>
                </a:solidFill>
                <a:latin typeface="Consolas"/>
              </a:rPr>
              <a:t>forloop.last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5300014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5617006"/>
            <a:ext cx="11091672" cy="48225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5617006"/>
            <a:ext cx="82296" cy="48225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708446"/>
            <a:ext cx="10725912" cy="317658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425" b="0">
                <a:solidFill>
                  <a:srgbClr val="1F232B"/>
                </a:solidFill>
                <a:latin typeface="Calibri"/>
              </a:rPr>
              <a:t>⚠️ </a:t>
            </a:r>
            <a:r>
              <a:rPr sz="1425" b="0">
                <a:solidFill>
                  <a:srgbClr val="1F232B"/>
                </a:solidFill>
                <a:latin typeface="Calibri"/>
              </a:rPr>
              <a:t>Shablonda faqat </a:t>
            </a:r>
            <a:r>
              <a:rPr sz="1425" b="1">
                <a:solidFill>
                  <a:srgbClr val="1F232B"/>
                </a:solidFill>
                <a:latin typeface="Calibri"/>
              </a:rPr>
              <a:t>ko'rsatish</a:t>
            </a:r>
            <a:r>
              <a:rPr sz="1425" b="0">
                <a:solidFill>
                  <a:srgbClr val="1F232B"/>
                </a:solidFill>
                <a:latin typeface="Calibri"/>
              </a:rPr>
              <a:t> mantiqi; hisob-kitob va bazaga so'rov — view'ning ishi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Filtrlar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22552"/>
            <a:ext cx="11091672" cy="2992404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77416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1736"/>
            <a:ext cx="10725912" cy="26449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ism|upper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       → ALI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ism|title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       → Ali Valiyev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matn|truncatewords:20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→ birinchi 20 so'z...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maqolalar|length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→ 3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sana|date:"d.m.Y"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→ 06.10.2026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narx|floatformat:2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→ 12500.00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izoh|default:"Izoh yo'q"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→ bo'sh bo'lsa</a:t>
            </a:r>
          </a:p>
          <a:p>
            <a:pPr>
              <a:lnSpc>
                <a:spcPct val="100000"/>
              </a:lnSpc>
            </a:pPr>
            <a:r>
              <a:rPr sz="1904" b="0">
                <a:solidFill>
                  <a:srgbClr val="E06C75"/>
                </a:solidFill>
                <a:latin typeface="Consolas"/>
              </a:rPr>
              <a:t>{{ matn|linebreaks }}</a:t>
            </a:r>
            <a:r>
              <a:rPr sz="1904" b="0">
                <a:solidFill>
                  <a:srgbClr val="E6E6E6"/>
                </a:solidFill>
                <a:latin typeface="Consolas"/>
              </a:rPr>
              <a:t>          → qatorlarni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&lt;p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va </a:t>
            </a:r>
            <a:r>
              <a:rPr sz="1904" b="0">
                <a:solidFill>
                  <a:srgbClr val="E06C75"/>
                </a:solidFill>
                <a:latin typeface="Consolas"/>
              </a:rPr>
              <a:t>&lt;br</a:t>
            </a:r>
            <a:r>
              <a:rPr sz="1904" b="0">
                <a:solidFill>
                  <a:srgbClr val="E06C75"/>
                </a:solidFill>
                <a:latin typeface="Consolas"/>
              </a:rPr>
              <a:t>&gt;</a:t>
            </a:r>
            <a:r>
              <a:rPr sz="1904" b="0">
                <a:solidFill>
                  <a:srgbClr val="E6E6E6"/>
                </a:solidFill>
                <a:latin typeface="Consolas"/>
              </a:rPr>
              <a:t> ga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BBD7C9"/>
                </a:solidFill>
                <a:latin typeface="Calibri"/>
              </a:rPr>
              <a:t>BO'LIM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Shablon merosi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332720" cy="1463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DDEBE4"/>
                </a:solidFill>
                <a:latin typeface="Calibri"/>
              </a:rPr>
              <a:t>Umumiy skelet bir marta yoziladi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BBD7C9"/>
                </a:solidFill>
                <a:latin typeface="Calibri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base.html — umumiy skelet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38475"/>
            <a:ext cx="11091672" cy="708469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38475"/>
            <a:ext cx="82296" cy="708469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9915"/>
            <a:ext cx="10725912" cy="543877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425" b="0">
                <a:solidFill>
                  <a:srgbClr val="1F232B"/>
                </a:solidFill>
                <a:latin typeface="Calibri"/>
              </a:rPr>
              <a:t>💡 </a:t>
            </a:r>
            <a:r>
              <a:rPr sz="1425" b="1">
                <a:solidFill>
                  <a:srgbClr val="1F232B"/>
                </a:solidFill>
                <a:latin typeface="Calibri"/>
              </a:rPr>
              <a:t>Daftar varag'i:</a:t>
            </a:r>
            <a:r>
              <a:rPr sz="1425" b="0">
                <a:solidFill>
                  <a:srgbClr val="1F232B"/>
                </a:solidFill>
                <a:latin typeface="Calibri"/>
              </a:rPr>
              <a:t> har varaqda bir xil chiziqlar va hoshiya (base.html). Har varaqqa faqat o'sha kunning darsi yoziladi (</a:t>
            </a:r>
            <a:r>
              <a:rPr sz="1311" b="0">
                <a:solidFill>
                  <a:srgbClr val="B02A4A"/>
                </a:solidFill>
                <a:latin typeface="Consolas"/>
              </a:rPr>
              <a:t>block content</a:t>
            </a:r>
            <a:r>
              <a:rPr sz="1425" b="0">
                <a:solidFill>
                  <a:srgbClr val="1F232B"/>
                </a:solidFill>
                <a:latin typeface="Calibri"/>
              </a:rPr>
              <a:t>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66401"/>
            <a:ext cx="11091672" cy="368777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421265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blog/templates/blog/base.html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695585"/>
            <a:ext cx="10725912" cy="334030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{% load static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&lt;!DOCTYPE html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&lt;html</a:t>
            </a:r>
            <a:r>
              <a:rPr sz="1020" b="0">
                <a:solidFill>
                  <a:srgbClr val="E6E6E6"/>
                </a:solidFill>
                <a:latin typeface="Consolas"/>
              </a:rPr>
              <a:t> lang=</a:t>
            </a:r>
            <a:r>
              <a:rPr sz="1020" b="0">
                <a:solidFill>
                  <a:srgbClr val="98C379"/>
                </a:solidFill>
                <a:latin typeface="Consolas"/>
              </a:rPr>
              <a:t>"uz"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&lt;head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&lt;meta</a:t>
            </a:r>
            <a:r>
              <a:rPr sz="1020" b="0">
                <a:solidFill>
                  <a:srgbClr val="E6E6E6"/>
                </a:solidFill>
                <a:latin typeface="Consolas"/>
              </a:rPr>
              <a:t> charset=</a:t>
            </a:r>
            <a:r>
              <a:rPr sz="1020" b="0">
                <a:solidFill>
                  <a:srgbClr val="98C379"/>
                </a:solidFill>
                <a:latin typeface="Consolas"/>
              </a:rPr>
              <a:t>"UTF-8"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&lt;title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06C75"/>
                </a:solidFill>
                <a:latin typeface="Consolas"/>
              </a:rPr>
              <a:t>{% block title %}</a:t>
            </a:r>
            <a:r>
              <a:rPr sz="1020" b="0">
                <a:solidFill>
                  <a:srgbClr val="E6E6E6"/>
                </a:solidFill>
                <a:latin typeface="Consolas"/>
              </a:rPr>
              <a:t>Maktab blogi</a:t>
            </a:r>
            <a:r>
              <a:rPr sz="1020" b="0">
                <a:solidFill>
                  <a:srgbClr val="E06C75"/>
                </a:solidFill>
                <a:latin typeface="Consolas"/>
              </a:rPr>
              <a:t>{% endblock %}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&lt;/title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&lt;link</a:t>
            </a:r>
            <a:r>
              <a:rPr sz="1020" b="0">
                <a:solidFill>
                  <a:srgbClr val="E6E6E6"/>
                </a:solidFill>
                <a:latin typeface="Consolas"/>
              </a:rPr>
              <a:t> rel=</a:t>
            </a:r>
            <a:r>
              <a:rPr sz="1020" b="0">
                <a:solidFill>
                  <a:srgbClr val="98C379"/>
                </a:solidFill>
                <a:latin typeface="Consolas"/>
              </a:rPr>
              <a:t>"stylesheet"</a:t>
            </a:r>
            <a:r>
              <a:rPr sz="102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020" b="0">
                <a:solidFill>
                  <a:srgbClr val="98C379"/>
                </a:solidFill>
                <a:latin typeface="Consolas"/>
              </a:rPr>
              <a:t>"{% static 'blog/css/style.css' %}"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&lt;/head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&lt;body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&lt;header</a:t>
            </a:r>
            <a:r>
              <a:rPr sz="1020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020" b="0">
                <a:solidFill>
                  <a:srgbClr val="98C379"/>
                </a:solidFill>
                <a:latin typeface="Consolas"/>
              </a:rPr>
              <a:t>"header"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&lt;a</a:t>
            </a:r>
            <a:r>
              <a:rPr sz="1020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020" b="0">
                <a:solidFill>
                  <a:srgbClr val="98C379"/>
                </a:solidFill>
                <a:latin typeface="Consolas"/>
              </a:rPr>
              <a:t>"logo"</a:t>
            </a:r>
            <a:r>
              <a:rPr sz="102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020" b="0">
                <a:solidFill>
                  <a:srgbClr val="98C379"/>
                </a:solidFill>
                <a:latin typeface="Consolas"/>
              </a:rPr>
              <a:t>"{% url 'blog:bosh' %}"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📰 Maktab blogi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&lt;nav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&lt;a</a:t>
            </a:r>
            <a:r>
              <a:rPr sz="1020" b="0">
                <a:solidFill>
                  <a:srgbClr val="E6E6E6"/>
                </a:solidFill>
                <a:latin typeface="Consolas"/>
              </a:rPr>
              <a:t> href=</a:t>
            </a:r>
            <a:r>
              <a:rPr sz="1020" b="0">
                <a:solidFill>
                  <a:srgbClr val="98C379"/>
                </a:solidFill>
                <a:latin typeface="Consolas"/>
              </a:rPr>
              <a:t>"{% url 'blog:haqida' %}"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Biz haqimizda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&lt;/a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&lt;/nav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&lt;/header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&lt;main</a:t>
            </a:r>
            <a:r>
              <a:rPr sz="1020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020" b="0">
                <a:solidFill>
                  <a:srgbClr val="98C379"/>
                </a:solidFill>
                <a:latin typeface="Consolas"/>
              </a:rPr>
              <a:t>"konteyner"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  </a:t>
            </a:r>
            <a:r>
              <a:rPr sz="1020" b="0">
                <a:solidFill>
                  <a:srgbClr val="E06C75"/>
                </a:solidFill>
                <a:latin typeface="Consolas"/>
              </a:rPr>
              <a:t>{% block content %}</a:t>
            </a:r>
            <a:r>
              <a:rPr sz="1020" b="0">
                <a:solidFill>
                  <a:srgbClr val="E06C75"/>
                </a:solidFill>
                <a:latin typeface="Consolas"/>
              </a:rPr>
              <a:t>{% endblock %}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&lt;/main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6E6E6"/>
                </a:solidFill>
                <a:latin typeface="Consolas"/>
              </a:rPr>
              <a:t>  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&lt;footer</a:t>
            </a:r>
            <a:r>
              <a:rPr sz="1020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020" b="0">
                <a:solidFill>
                  <a:srgbClr val="98C379"/>
                </a:solidFill>
                <a:latin typeface="Consolas"/>
              </a:rPr>
              <a:t>"footer"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  <a:r>
              <a:rPr sz="1020" b="0">
                <a:solidFill>
                  <a:srgbClr val="E6E6E6"/>
                </a:solidFill>
                <a:latin typeface="Consolas"/>
              </a:rPr>
              <a:t>© 2026 Maktab blogi</a:t>
            </a:r>
            <a:r>
              <a:rPr sz="1020" b="0">
                <a:solidFill>
                  <a:srgbClr val="E06C75"/>
                </a:solidFill>
                <a:latin typeface="Consolas"/>
              </a:rPr>
              <a:t>&lt;/footer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&lt;/body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20" b="0">
                <a:solidFill>
                  <a:srgbClr val="E06C75"/>
                </a:solidFill>
                <a:latin typeface="Consolas"/>
              </a:rPr>
              <a:t>&lt;/html</a:t>
            </a:r>
            <a:r>
              <a:rPr sz="1020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extends, block, include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362956" cy="269601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bosh_sahifa.html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4997196" cy="234854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extends "blog/base.html"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block title %}</a:t>
            </a:r>
            <a:r>
              <a:rPr sz="1224" b="0">
                <a:solidFill>
                  <a:srgbClr val="E6E6E6"/>
                </a:solidFill>
                <a:latin typeface="Consolas"/>
              </a:rPr>
              <a:t>Bosh sahifa</a:t>
            </a:r>
            <a:r>
              <a:rPr sz="1224" b="0">
                <a:solidFill>
                  <a:srgbClr val="E06C75"/>
                </a:solidFill>
                <a:latin typeface="Consolas"/>
              </a:rPr>
              <a:t>{% endblock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block content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&lt;h1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  <a:r>
              <a:rPr sz="1224" b="0">
                <a:solidFill>
                  <a:srgbClr val="E6E6E6"/>
                </a:solidFill>
                <a:latin typeface="Consolas"/>
              </a:rPr>
              <a:t>So'nggi maqolalar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&lt;/h1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&lt;div</a:t>
            </a:r>
            <a:r>
              <a:rPr sz="122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224" b="0">
                <a:solidFill>
                  <a:srgbClr val="98C379"/>
                </a:solidFill>
                <a:latin typeface="Consolas"/>
              </a:rPr>
              <a:t>"kartalar"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for m in maqolalar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include "blog/_karta.html"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{% endfor %}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&lt;/div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{% endblock %}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7356" y="1417320"/>
            <a:ext cx="5362956" cy="2490825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0236" y="1472184"/>
            <a:ext cx="4997196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_karta.html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0236" y="1746504"/>
            <a:ext cx="4997196" cy="214335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&lt;article</a:t>
            </a:r>
            <a:r>
              <a:rPr sz="122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224" b="0">
                <a:solidFill>
                  <a:srgbClr val="98C379"/>
                </a:solidFill>
                <a:latin typeface="Consolas"/>
              </a:rPr>
              <a:t>"karta"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&lt;span</a:t>
            </a:r>
            <a:r>
              <a:rPr sz="1224" b="0">
                <a:solidFill>
                  <a:srgbClr val="E6E6E6"/>
                </a:solidFill>
                <a:latin typeface="Consolas"/>
              </a:rPr>
              <a:t> class=</a:t>
            </a:r>
            <a:r>
              <a:rPr sz="1224" b="0">
                <a:solidFill>
                  <a:srgbClr val="98C379"/>
                </a:solidFill>
                <a:latin typeface="Consolas"/>
              </a:rPr>
              <a:t>"belgi"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{{ m.kategoriya }}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&lt;/span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&lt;h3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&lt;a</a:t>
            </a:r>
            <a:r>
              <a:rPr sz="1224" b="0">
                <a:solidFill>
                  <a:srgbClr val="E6E6E6"/>
                </a:solidFill>
                <a:latin typeface="Consolas"/>
              </a:rPr>
              <a:t> href=</a:t>
            </a:r>
            <a:r>
              <a:rPr sz="1224" b="0">
                <a:solidFill>
                  <a:srgbClr val="98C379"/>
                </a:solidFill>
                <a:latin typeface="Consolas"/>
              </a:rPr>
              <a:t>"{% url 'blog:maqola' m.id %}"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{{ m.sarlavha }}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&lt;/a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6E6E6"/>
                </a:solidFill>
                <a:latin typeface="Consolas"/>
              </a:rPr>
              <a:t>  </a:t>
            </a:r>
            <a:r>
              <a:rPr sz="1224" b="0">
                <a:solidFill>
                  <a:srgbClr val="E06C75"/>
                </a:solidFill>
                <a:latin typeface="Consolas"/>
              </a:rPr>
              <a:t>&lt;/h3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224" b="0">
                <a:solidFill>
                  <a:srgbClr val="E06C75"/>
                </a:solidFill>
                <a:latin typeface="Consolas"/>
              </a:rPr>
              <a:t>&lt;/article</a:t>
            </a:r>
            <a:r>
              <a:rPr sz="1224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77356" y="4127601"/>
          <a:ext cx="5362956" cy="1956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478"/>
                <a:gridCol w="2681478"/>
              </a:tblGrid>
              <a:tr h="489204">
                <a:tc>
                  <a:txBody>
                    <a:bodyPr/>
                    <a:lstStyle/>
                    <a:p>
                      <a:r>
                        <a:rPr sz="1440" b="1">
                          <a:solidFill>
                            <a:srgbClr val="FFFFFF"/>
                          </a:solidFill>
                          <a:latin typeface="Calibri"/>
                        </a:rPr>
                        <a:t>Teg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40" b="1">
                          <a:solidFill>
                            <a:srgbClr val="FFFFFF"/>
                          </a:solidFill>
                          <a:latin typeface="Calibri"/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1F7A4D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324" b="0">
                          <a:solidFill>
                            <a:srgbClr val="B02A4A"/>
                          </a:solidFill>
                          <a:latin typeface="Consolas"/>
                        </a:rPr>
                        <a:t>{% extends %}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40" b="0">
                          <a:solidFill>
                            <a:srgbClr val="1F232B"/>
                          </a:solidFill>
                          <a:latin typeface="Calibri"/>
                        </a:rPr>
                        <a:t>Ota shablondan meros (</a:t>
                      </a:r>
                      <a:r>
                        <a:rPr sz="1440" b="1">
                          <a:solidFill>
                            <a:srgbClr val="1F232B"/>
                          </a:solidFill>
                          <a:latin typeface="Calibri"/>
                        </a:rPr>
                        <a:t>birinchi qator</a:t>
                      </a:r>
                      <a:r>
                        <a:rPr sz="1440" b="0">
                          <a:solidFill>
                            <a:srgbClr val="1F232B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324" b="0">
                          <a:solidFill>
                            <a:srgbClr val="B02A4A"/>
                          </a:solidFill>
                          <a:latin typeface="Consolas"/>
                        </a:rPr>
                        <a:t>{% block %}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40" b="0">
                          <a:solidFill>
                            <a:srgbClr val="1F232B"/>
                          </a:solidFill>
                          <a:latin typeface="Calibri"/>
                        </a:rPr>
                        <a:t>O'zgaradigan joy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9204">
                <a:tc>
                  <a:txBody>
                    <a:bodyPr/>
                    <a:lstStyle/>
                    <a:p>
                      <a:r>
                        <a:rPr sz="1324" b="0">
                          <a:solidFill>
                            <a:srgbClr val="B02A4A"/>
                          </a:solidFill>
                          <a:latin typeface="Consolas"/>
                        </a:rPr>
                        <a:t>{% include %}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40" b="0">
                          <a:solidFill>
                            <a:srgbClr val="1F232B"/>
                          </a:solidFill>
                          <a:latin typeface="Calibri"/>
                        </a:rPr>
                        <a:t>Bo'lakni qo'shish (karta, menyu)</a:t>
                      </a:r>
                    </a:p>
                  </a:txBody>
                  <a:tcPr marL="73152" marR="73152" marT="36576" marB="36576">
                    <a:solidFill>
                      <a:srgbClr val="EDF4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Static fayllar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1672" cy="116848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7218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Matn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746504"/>
            <a:ext cx="10725912" cy="82100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blog/static/blog/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├── css/style.css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├── js/main.js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└── img/logo.png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05257"/>
            <a:ext cx="11091672" cy="1168481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60121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Django shablon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34441"/>
            <a:ext cx="10725912" cy="821009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06C75"/>
                </a:solidFill>
                <a:latin typeface="Consolas"/>
              </a:rPr>
              <a:t>{% load static %}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06C75"/>
                </a:solidFill>
                <a:latin typeface="Consolas"/>
              </a:rPr>
              <a:t>&lt;link</a:t>
            </a:r>
            <a:r>
              <a:rPr sz="1088" b="0">
                <a:solidFill>
                  <a:srgbClr val="E6E6E6"/>
                </a:solidFill>
                <a:latin typeface="Consolas"/>
              </a:rPr>
              <a:t> rel=</a:t>
            </a:r>
            <a:r>
              <a:rPr sz="1088" b="0">
                <a:solidFill>
                  <a:srgbClr val="98C379"/>
                </a:solidFill>
                <a:latin typeface="Consolas"/>
              </a:rPr>
              <a:t>"stylesheet"</a:t>
            </a:r>
            <a:r>
              <a:rPr sz="1088" b="0">
                <a:solidFill>
                  <a:srgbClr val="E6E6E6"/>
                </a:solidFill>
                <a:latin typeface="Consolas"/>
              </a:rPr>
              <a:t> href=</a:t>
            </a:r>
            <a:r>
              <a:rPr sz="1088" b="0">
                <a:solidFill>
                  <a:srgbClr val="98C379"/>
                </a:solidFill>
                <a:latin typeface="Consolas"/>
              </a:rPr>
              <a:t>"{% static 'blog/css/style.css' %}"</a:t>
            </a:r>
            <a:r>
              <a:rPr sz="108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06C75"/>
                </a:solidFill>
                <a:latin typeface="Consolas"/>
              </a:rPr>
              <a:t>&lt;script</a:t>
            </a:r>
            <a:r>
              <a:rPr sz="1088" b="0">
                <a:solidFill>
                  <a:srgbClr val="E6E6E6"/>
                </a:solidFill>
                <a:latin typeface="Consolas"/>
              </a:rPr>
              <a:t> src=</a:t>
            </a:r>
            <a:r>
              <a:rPr sz="1088" b="0">
                <a:solidFill>
                  <a:srgbClr val="98C379"/>
                </a:solidFill>
                <a:latin typeface="Consolas"/>
              </a:rPr>
              <a:t>"{% static 'blog/js/main.js' %}"</a:t>
            </a:r>
            <a:r>
              <a:rPr sz="1088" b="0">
                <a:solidFill>
                  <a:srgbClr val="E06C75"/>
                </a:solidFill>
                <a:latin typeface="Consolas"/>
              </a:rPr>
              <a:t>&gt;</a:t>
            </a:r>
            <a:r>
              <a:rPr sz="1088" b="0">
                <a:solidFill>
                  <a:srgbClr val="E06C75"/>
                </a:solidFill>
                <a:latin typeface="Consolas"/>
              </a:rPr>
              <a:t>&lt;/script</a:t>
            </a:r>
            <a:r>
              <a:rPr sz="1088" b="0">
                <a:solidFill>
                  <a:srgbClr val="E06C75"/>
                </a:solidFill>
                <a:latin typeface="Consolas"/>
              </a:rPr>
              <a:t>&gt;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06C75"/>
                </a:solidFill>
                <a:latin typeface="Consolas"/>
              </a:rPr>
              <a:t>&lt;img</a:t>
            </a:r>
            <a:r>
              <a:rPr sz="1088" b="0">
                <a:solidFill>
                  <a:srgbClr val="E6E6E6"/>
                </a:solidFill>
                <a:latin typeface="Consolas"/>
              </a:rPr>
              <a:t> src=</a:t>
            </a:r>
            <a:r>
              <a:rPr sz="1088" b="0">
                <a:solidFill>
                  <a:srgbClr val="98C379"/>
                </a:solidFill>
                <a:latin typeface="Consolas"/>
              </a:rPr>
              <a:t>"{% static 'blog/img/logo.png' %}"</a:t>
            </a:r>
            <a:r>
              <a:rPr sz="1088" b="0">
                <a:solidFill>
                  <a:srgbClr val="E6E6E6"/>
                </a:solidFill>
                <a:latin typeface="Consolas"/>
              </a:rPr>
              <a:t> alt=</a:t>
            </a:r>
            <a:r>
              <a:rPr sz="1088" b="0">
                <a:solidFill>
                  <a:srgbClr val="98C379"/>
                </a:solidFill>
                <a:latin typeface="Consolas"/>
              </a:rPr>
              <a:t>"Logo"</a:t>
            </a:r>
            <a:r>
              <a:rPr sz="1088" b="0">
                <a:solidFill>
                  <a:srgbClr val="E06C75"/>
                </a:solidFill>
                <a:latin typeface="Consolas"/>
              </a:rP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93194"/>
            <a:ext cx="11091672" cy="803696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248058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settings.py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2378"/>
            <a:ext cx="10725912" cy="45622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STATIC_URL = </a:t>
            </a:r>
            <a:r>
              <a:rPr sz="1088" b="0">
                <a:solidFill>
                  <a:srgbClr val="98C379"/>
                </a:solidFill>
                <a:latin typeface="Consolas"/>
              </a:rPr>
              <a:t>"static/"</a:t>
            </a:r>
          </a:p>
          <a:p>
            <a:pPr>
              <a:lnSpc>
                <a:spcPct val="100000"/>
              </a:lnSpc>
            </a:pPr>
            <a:r>
              <a:rPr sz="1088" b="0">
                <a:solidFill>
                  <a:srgbClr val="E6E6E6"/>
                </a:solidFill>
                <a:latin typeface="Consolas"/>
              </a:rPr>
              <a:t>STATIC_ROOT = BASE_DIR / </a:t>
            </a:r>
            <a:r>
              <a:rPr sz="1088" b="0">
                <a:solidFill>
                  <a:srgbClr val="98C379"/>
                </a:solidFill>
                <a:latin typeface="Consolas"/>
              </a:rPr>
              <a:t>"staticfiles"</a:t>
            </a:r>
            <a:r>
              <a:rPr sz="1088" b="0">
                <a:solidFill>
                  <a:srgbClr val="E6E6E6"/>
                </a:solidFill>
                <a:latin typeface="Consolas"/>
              </a:rPr>
              <a:t>    # serverga joylashda (41-mavzu)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6347"/>
            <a:ext cx="10680192" cy="3088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600" b="1">
                <a:solidFill>
                  <a:srgbClr val="1F232B"/>
                </a:solidFill>
                <a:latin typeface="Calibri"/>
              </a:rPr>
              <a:t>Media</a:t>
            </a:r>
            <a:r>
              <a:rPr sz="1600" b="0">
                <a:solidFill>
                  <a:srgbClr val="1F232B"/>
                </a:solidFill>
                <a:latin typeface="Calibri"/>
              </a:rPr>
              <a:t> — foydalanuvchi yuklaydigan fayllar (rasmlar, avatarlar) — 36-mavzu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530778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8640" y="5634939"/>
            <a:ext cx="11091672" cy="497332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634939"/>
            <a:ext cx="82296" cy="49733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726379"/>
            <a:ext cx="10725912" cy="3327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520" b="0">
                <a:solidFill>
                  <a:srgbClr val="1F232B"/>
                </a:solidFill>
                <a:latin typeface="Calibri"/>
              </a:rPr>
              <a:t>⚠️ </a:t>
            </a:r>
            <a:r>
              <a:rPr sz="1520" b="0">
                <a:solidFill>
                  <a:srgbClr val="1F232B"/>
                </a:solidFill>
                <a:latin typeface="Calibri"/>
              </a:rPr>
              <a:t>O'zgarish ko'rinmasa — </a:t>
            </a:r>
            <a:r>
              <a:rPr sz="1520" b="1">
                <a:solidFill>
                  <a:srgbClr val="1F232B"/>
                </a:solidFill>
                <a:latin typeface="Calibri"/>
              </a:rPr>
              <a:t>Ctrl+F5</a:t>
            </a:r>
            <a:r>
              <a:rPr sz="1520" b="0">
                <a:solidFill>
                  <a:srgbClr val="1F232B"/>
                </a:solidFill>
                <a:latin typeface="Calibri"/>
              </a:rPr>
              <a:t>; yangi static papkadan keyin serverni qayta ishga tushiring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Amaliyot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444752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base.html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, </a:t>
            </a:r>
            <a:r>
              <a:rPr sz="1564" b="0">
                <a:solidFill>
                  <a:srgbClr val="B02A4A"/>
                </a:solidFill>
                <a:latin typeface="Consolas"/>
              </a:rPr>
              <a:t>bosh_sahifa.html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, </a:t>
            </a:r>
            <a:r>
              <a:rPr sz="1564" b="0">
                <a:solidFill>
                  <a:srgbClr val="B02A4A"/>
                </a:solidFill>
                <a:latin typeface="Consolas"/>
              </a:rPr>
              <a:t>_karta.html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, </a:t>
            </a:r>
            <a:r>
              <a:rPr sz="1564" b="0">
                <a:solidFill>
                  <a:srgbClr val="B02A4A"/>
                </a:solidFill>
                <a:latin typeface="Consolas"/>
              </a:rPr>
              <a:t>maqola.html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 + view'larni </a:t>
            </a:r>
            <a:r>
              <a:rPr sz="1564" b="0">
                <a:solidFill>
                  <a:srgbClr val="B02A4A"/>
                </a:solidFill>
                <a:latin typeface="Consolas"/>
              </a:rPr>
              <a:t>render</a:t>
            </a:r>
            <a:r>
              <a:rPr sz="1700" b="0">
                <a:solidFill>
                  <a:srgbClr val="1F232B"/>
                </a:solidFill>
                <a:latin typeface="Calibri"/>
              </a:rPr>
              <a:t> ga o'tkazing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093976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121408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style.css</a:t>
            </a:r>
            <a:r>
              <a:rPr sz="1700" b="0">
                <a:solidFill>
                  <a:srgbClr val="1F232B"/>
                </a:solidFill>
                <a:latin typeface="Calibri"/>
              </a:rPr>
              <a:t> — portfolio kabi chiroyli dizayn (Grid kartalar, soya, hover)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2798064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haqida.html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 — </a:t>
            </a:r>
            <a:r>
              <a:rPr sz="1564" b="0">
                <a:solidFill>
                  <a:srgbClr val="B02A4A"/>
                </a:solidFill>
                <a:latin typeface="Consolas"/>
              </a:rPr>
              <a:t>base.html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 dan meros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19" y="3474720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main.js</a:t>
            </a:r>
            <a:r>
              <a:rPr sz="1700" b="0">
                <a:solidFill>
                  <a:srgbClr val="1F232B"/>
                </a:solidFill>
                <a:latin typeface="Calibri"/>
              </a:rPr>
              <a:t> — 🌙 tungi rejim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36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19" y="4151376"/>
            <a:ext cx="10451592" cy="5669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564" b="0">
                <a:solidFill>
                  <a:srgbClr val="B02A4A"/>
                </a:solidFill>
                <a:latin typeface="Consolas"/>
              </a:rPr>
              <a:t>kategoriya.html</a:t>
            </a:r>
            <a:r>
              <a:rPr sz="1700" b="0">
                <a:solidFill>
                  <a:srgbClr val="1F232B"/>
                </a:solidFill>
                <a:latin typeface="Calibri"/>
              </a:rPr>
              <a:t>: </a:t>
            </a:r>
            <a:r>
              <a:rPr sz="1564" b="0">
                <a:solidFill>
                  <a:srgbClr val="B02A4A"/>
                </a:solidFill>
                <a:latin typeface="Consolas"/>
              </a:rPr>
              <a:t>{{ nomi|title }}</a:t>
            </a:r>
            <a:r>
              <a:rPr sz="1700" b="0">
                <a:solidFill>
                  <a:srgbClr val="1F232B"/>
                </a:solidFill>
                <a:latin typeface="Calibri"/>
              </a:rPr>
              <a:t> + kartalar (</a:t>
            </a:r>
            <a:r>
              <a:rPr sz="1564" b="0">
                <a:solidFill>
                  <a:srgbClr val="B02A4A"/>
                </a:solidFill>
                <a:latin typeface="Consolas"/>
              </a:rPr>
              <a:t>include</a:t>
            </a:r>
            <a:r>
              <a:rPr sz="17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00600"/>
            <a:ext cx="11091672" cy="1214079"/>
          </a:xfrm>
          <a:prstGeom prst="roundRect">
            <a:avLst>
              <a:gd name="adj" fmla="val 8000"/>
            </a:avLst>
          </a:prstGeom>
          <a:solidFill>
            <a:srgbClr val="282C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55464"/>
            <a:ext cx="10725912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1">
                <a:solidFill>
                  <a:srgbClr val="9CA3AF"/>
                </a:solidFill>
                <a:latin typeface="Calibri"/>
              </a:rPr>
              <a:t>CSS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725912" cy="866607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.kartalar { display: grid; grid-template-columns: repeat(auto-fill, minmax(260px, 1fr)); gap: 20px; 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.karta { background: white; padding: 20px; border-radius: 14px;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         box-shadow: 0 6px 18px rgba(0,0,0,.06); transition: transform .2s; }</a:t>
            </a:r>
          </a:p>
          <a:p>
            <a:pPr>
              <a:lnSpc>
                <a:spcPct val="100000"/>
              </a:lnSpc>
            </a:pPr>
            <a:r>
              <a:rPr sz="1156" b="0">
                <a:solidFill>
                  <a:srgbClr val="E6E6E6"/>
                </a:solidFill>
                <a:latin typeface="Consolas"/>
              </a:rPr>
              <a:t>.karta:hover { transform: translateY(-4px); 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Ko'p uchraydigan xatolar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TemplateDoesNotExist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yo'l xato yoki papka 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</a:t>
            </a:r>
            <a:r>
              <a:rPr sz="2800" b="0">
                <a:solidFill>
                  <a:srgbClr val="1F232B"/>
                </a:solidFill>
                <a:latin typeface="Calibri"/>
              </a:rPr>
              <a:t> (s siz); to'g'risi </a:t>
            </a:r>
            <a:r>
              <a:rPr sz="2576" b="0">
                <a:solidFill>
                  <a:srgbClr val="B02A4A"/>
                </a:solidFill>
                <a:latin typeface="Consolas"/>
              </a:rPr>
              <a:t>blog/templates/blog/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Invalid block tag 'static'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load static %}</a:t>
            </a:r>
            <a:r>
              <a:rPr sz="2800" b="0">
                <a:solidFill>
                  <a:srgbClr val="1F232B"/>
                </a:solidFill>
                <a:latin typeface="Calibri"/>
              </a:rPr>
              <a:t> yo'q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80004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endfor %}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endif %}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endblock %}</a:t>
            </a:r>
            <a:r>
              <a:rPr sz="2800" b="0">
                <a:solidFill>
                  <a:srgbClr val="1F232B"/>
                </a:solidFill>
                <a:latin typeface="Calibri"/>
              </a:rPr>
              <a:t> unutilgan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2400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689096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extends %}</a:t>
            </a:r>
            <a:r>
              <a:rPr sz="2800" b="0">
                <a:solidFill>
                  <a:srgbClr val="1F232B"/>
                </a:solidFill>
                <a:latin typeface="Calibri"/>
              </a:rPr>
              <a:t> birinchi qatorda emas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3849116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298188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❌ </a:t>
            </a:r>
            <a:r>
              <a:rPr sz="2576" b="0">
                <a:solidFill>
                  <a:srgbClr val="B02A4A"/>
                </a:solidFill>
                <a:latin typeface="Consolas"/>
              </a:rPr>
              <a:t>{{ maqola[sarlavha] }}</a:t>
            </a:r>
            <a:r>
              <a:rPr sz="2800" b="0">
                <a:solidFill>
                  <a:srgbClr val="1F232B"/>
                </a:solidFill>
                <a:latin typeface="Calibri"/>
              </a:rPr>
              <a:t> — DTL'da faqat nuqta: </a:t>
            </a:r>
            <a:r>
              <a:rPr sz="2576" b="0">
                <a:solidFill>
                  <a:srgbClr val="B02A4A"/>
                </a:solidFill>
                <a:latin typeface="Consolas"/>
              </a:rPr>
              <a:t>{{ maqola.sarlavha }}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4458208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14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Shablonda o'zgaruvchi qiymatini chiqarish sintaksisi?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ism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{{ ism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${ism}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&lt;?= ism ?&gt;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15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Shablonda o'zgaruvchi qiymatini chiqarish sintaksisi?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ism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{{ ism }}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${ism}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&lt;?= ism ?&gt;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16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View'dan shablonga ma'lumot qanday uzatiladi?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Global o'zgaruvchi orqali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 orqali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render(request, "shablon.html", kontekst)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localStorage orqali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17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View'dan shablonga ma'lumot qanday uzatiladi?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Global o'zgaruvchi orqali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URL orqali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render(request, "shablon.html", kontekst)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900" b="0">
                <a:solidFill>
                  <a:srgbClr val="1F232B"/>
                </a:solidFill>
                <a:latin typeface="Calibri"/>
              </a:rPr>
              <a:t>localStorage orqali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18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Umumiy skeletdan meros olish uchun qaysi teg?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extends "base.html"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include "base.html"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import base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inherit base %}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19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Umumiy skeletdan meros olish uchun qaysi teg?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{% extends "base.html"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include "base.html"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import base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inherit base %}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20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Sikl ichida ro'yxat bo'sh bo'lgandagi holat uchun qaysi teg?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else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none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empty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null %}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Savol — javob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21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11091672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400" b="1">
                <a:solidFill>
                  <a:srgbClr val="1F232B"/>
                </a:solidFill>
                <a:latin typeface="Calibri"/>
              </a:rPr>
              <a:t>Sikl ichida ro'yxat bo'sh bo'lgandagi holat uchun qaysi teg?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else %}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20421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27648" y="22204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20421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none %}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87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134868"/>
            <a:ext cx="420624" cy="420624"/>
          </a:xfrm>
          <a:prstGeom prst="ellipse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1">
                <a:solidFill>
                  <a:srgbClr val="B02A4A"/>
                </a:solidFill>
                <a:latin typeface="Consolas"/>
              </a:rPr>
              <a:t>{% empty %}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2956560"/>
            <a:ext cx="5449824" cy="77724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1587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327648" y="3134868"/>
            <a:ext cx="420624" cy="420624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2007" y="2956560"/>
            <a:ext cx="4581144" cy="7772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1748" b="0">
                <a:solidFill>
                  <a:srgbClr val="B02A4A"/>
                </a:solidFill>
                <a:latin typeface="Consolas"/>
              </a:rPr>
              <a:t>{% null %}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🏠 Uyga vazifa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22 / 24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1702689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1730121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Blogni to'liq </a:t>
            </a:r>
            <a:r>
              <a:rPr sz="2800" b="1">
                <a:solidFill>
                  <a:srgbClr val="1F232B"/>
                </a:solidFill>
                <a:latin typeface="Calibri"/>
              </a:rPr>
              <a:t>responsiv</a:t>
            </a:r>
            <a:r>
              <a:rPr sz="2800" b="0">
                <a:solidFill>
                  <a:srgbClr val="1F232B"/>
                </a:solidFill>
                <a:latin typeface="Calibri"/>
              </a:rPr>
              <a:t> qiling: telefonda bitta ustun, burger menyu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11144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19" y="2838576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Maxsus </a:t>
            </a:r>
            <a:r>
              <a:rPr sz="2800" b="1">
                <a:solidFill>
                  <a:srgbClr val="1F232B"/>
                </a:solidFill>
                <a:latin typeface="Calibri"/>
              </a:rPr>
              <a:t>404 sahifa</a:t>
            </a:r>
            <a:r>
              <a:rPr sz="2800" b="0">
                <a:solidFill>
                  <a:srgbClr val="1F232B"/>
                </a:solidFill>
                <a:latin typeface="Calibri"/>
              </a:rPr>
              <a:t>: 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templates/404.html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(41-mavzuda tekshiramiz)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919601"/>
            <a:ext cx="457200" cy="457200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4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19" y="3947033"/>
            <a:ext cx="10451592" cy="998728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pages</a:t>
            </a:r>
            <a:r>
              <a:rPr sz="2800" b="0">
                <a:solidFill>
                  <a:srgbClr val="1F232B"/>
                </a:solidFill>
                <a:latin typeface="Calibri"/>
              </a:rPr>
              <a:t> ilovasi ham umumiy </a:t>
            </a:r>
            <a:r>
              <a:rPr sz="2576" b="0">
                <a:solidFill>
                  <a:srgbClr val="B02A4A"/>
                </a:solidFill>
                <a:latin typeface="Consolas"/>
              </a:rPr>
              <a:t>base.html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 dan meros olsin (</a:t>
            </a:r>
            <a:r>
              <a:rPr sz="2576" b="0">
                <a:solidFill>
                  <a:srgbClr val="B02A4A"/>
                </a:solidFill>
                <a:latin typeface="Consolas"/>
              </a:rPr>
              <a:t>TEMPLATES[0]["DIRS"]</a:t>
            </a:r>
            <a:r>
              <a:rPr sz="2800" b="0">
                <a:solidFill>
                  <a:srgbClr val="1F232B"/>
                </a:solidFill>
                <a:latin typeface="Calibri"/>
              </a:rPr>
              <a:t>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r>
              <a:rPr sz="3000" b="1">
                <a:solidFill>
                  <a:srgbClr val="1F232B"/>
                </a:solidFill>
                <a:latin typeface="Calibri"/>
              </a:rPr>
              <a:t>✅ Yodda tuting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115568"/>
            <a:ext cx="1005840" cy="54864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100" b="0">
                <a:solidFill>
                  <a:srgbClr val="5B6370"/>
                </a:solidFill>
                <a:latin typeface="Calibri"/>
              </a:rPr>
              <a:t>35-mavzu · Django Template tizimi va dinamik sahifalar. Template va statik fayllar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6400800"/>
            <a:ext cx="141732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/>
            <a:r>
              <a:rPr sz="1100" b="0">
                <a:solidFill>
                  <a:srgbClr val="5B6370"/>
                </a:solidFill>
                <a:latin typeface="Calibri"/>
              </a:rPr>
              <a:t>23 /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Shablonlar: </a:t>
            </a:r>
            <a:r>
              <a:rPr sz="2576" b="0">
                <a:solidFill>
                  <a:srgbClr val="B02A4A"/>
                </a:solidFill>
                <a:latin typeface="Consolas"/>
              </a:rPr>
              <a:t>ilova/templates/ilova/*.html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render(request, "...", {...})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577340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470911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576" b="0">
                <a:solidFill>
                  <a:srgbClr val="B02A4A"/>
                </a:solidFill>
                <a:latin typeface="Consolas"/>
              </a:rPr>
              <a:t>{{ o'zgaruvchi }}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teg %}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{{ x|filtr }}</a:t>
            </a:r>
            <a:r>
              <a:rPr sz="2800" b="0">
                <a:solidFill>
                  <a:srgbClr val="1F232B"/>
                </a:solidFill>
                <a:latin typeface="Calibri"/>
              </a:rPr>
              <a:t>;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for %}...{% empty %}</a:t>
            </a:r>
            <a:r>
              <a:rPr sz="2800" b="0">
                <a:solidFill>
                  <a:srgbClr val="1F232B"/>
                </a:solidFill>
                <a:latin typeface="Calibri"/>
              </a:rPr>
              <a:t>,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url %}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2630931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524503"/>
            <a:ext cx="10680192" cy="943863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Meros: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extends %}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block %}</a:t>
            </a:r>
            <a:r>
              <a:rPr sz="2800" b="0">
                <a:solidFill>
                  <a:srgbClr val="1F232B"/>
                </a:solidFill>
                <a:latin typeface="Calibri"/>
              </a:rPr>
              <a:t>; bo'laklar —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include %}</a:t>
            </a:r>
          </a:p>
        </p:txBody>
      </p:sp>
      <p:sp>
        <p:nvSpPr>
          <p:cNvPr id="12" name="Oval 11"/>
          <p:cNvSpPr/>
          <p:nvPr/>
        </p:nvSpPr>
        <p:spPr>
          <a:xfrm>
            <a:off x="658368" y="3684523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578095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Static: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load static %}</a:t>
            </a:r>
            <a:r>
              <a:rPr sz="2800" b="0">
                <a:solidFill>
                  <a:srgbClr val="1F232B"/>
                </a:solidFill>
                <a:latin typeface="Calibri"/>
              </a:rPr>
              <a:t> + </a:t>
            </a:r>
            <a:r>
              <a:rPr sz="2576" b="0">
                <a:solidFill>
                  <a:srgbClr val="B02A4A"/>
                </a:solidFill>
                <a:latin typeface="Consolas"/>
              </a:rPr>
              <a:t>{% static 'yo'l' %}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738115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187187"/>
            <a:ext cx="10680192" cy="499364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800" b="0">
                <a:solidFill>
                  <a:srgbClr val="1F232B"/>
                </a:solidFill>
                <a:latin typeface="Calibri"/>
              </a:rPr>
              <a:t>Django matnni avtomatik ekranlaydi — XSS'dan himoya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347207"/>
            <a:ext cx="118872" cy="118872"/>
          </a:xfrm>
          <a:prstGeom prst="ellipse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7A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548640"/>
            <a:ext cx="11091672" cy="5760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48640"/>
            <a:ext cx="164592" cy="5760720"/>
          </a:xfrm>
          <a:prstGeom prst="rect">
            <a:avLst/>
          </a:prstGeom>
          <a:solidFill>
            <a:srgbClr val="1F7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463040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6000" b="0">
                <a:solidFill>
                  <a:srgbClr val="1F232B"/>
                </a:solidFill>
                <a:latin typeface="Segoe UI Emoji"/>
              </a:rPr>
              <a:t>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651760"/>
            <a:ext cx="1005840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4800" b="1">
                <a:solidFill>
                  <a:srgbClr val="1F232B"/>
                </a:solidFill>
                <a:latin typeface="Calibri"/>
              </a:rPr>
              <a:t>Savollar bormi?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749039"/>
            <a:ext cx="10058400" cy="10972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2200" b="0">
                <a:solidFill>
                  <a:srgbClr val="5B6370"/>
                </a:solidFill>
                <a:latin typeface="Calibri"/>
              </a:rPr>
              <a:t>Keyingi mavzu: </a:t>
            </a:r>
            <a:r>
              <a:rPr sz="2200" b="1">
                <a:solidFill>
                  <a:srgbClr val="5B6370"/>
                </a:solidFill>
                <a:latin typeface="Calibri"/>
              </a:rPr>
              <a:t>36. Django Models va ORM texnologiyasi. Model yaratish va migratsiyalar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5669280"/>
            <a:ext cx="10058400" cy="411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r>
              <a:rPr sz="1400" b="1">
                <a:solidFill>
                  <a:srgbClr val="5B6370"/>
                </a:solidFill>
                <a:latin typeface="Calibri"/>
              </a:rPr>
              <a:t>8-sinf · Web Full-stack dasturlash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35-mavzu: Django Template tizimi va dinamik sahifalar. Template va statik fayllar</dc:title>
  <dc:subject/>
  <dc:creator>8-sinf · Web Full-stack dasturlash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