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admin.py da admin.site.register(Model).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{% csrf_token %}.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form.is_valid().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@login_required.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1F7A4D"/>
                </a:solidFill>
                <a:latin typeface="Calibri"/>
              </a:rPr>
              <a:t>37-MAVZU  ·  IV BOB. PYTHON, POSTGRESQL VA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Django Admin panel bilan ishlash. Django Forms yordamida ma'lumotlarni qabul qilish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Superuser, modellarni admin'da ro'yxatdan o'tkazish va sozlash (list_display, search_fields, list_filter, prepopulated_fields); Form va ModelForm, CSRF himoyasi, validatsiya, clean metodlari, xabarlar; ro'yxatdan o'tish va kirish tizimi.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Django'ning tayyor </a:t>
            </a:r>
            <a:r>
              <a:rPr sz="2800" b="1">
                <a:solidFill>
                  <a:srgbClr val="1F232B"/>
                </a:solidFill>
                <a:latin typeface="Calibri"/>
              </a:rPr>
              <a:t>admin paneli</a:t>
            </a:r>
            <a:r>
              <a:rPr sz="2800" b="0">
                <a:solidFill>
                  <a:srgbClr val="1F232B"/>
                </a:solidFill>
                <a:latin typeface="Calibri"/>
              </a:rPr>
              <a:t> va uni sozlash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Django Forms:</a:t>
            </a:r>
            <a:r>
              <a:rPr sz="2800" b="0">
                <a:solidFill>
                  <a:srgbClr val="1F232B"/>
                </a:solidFill>
                <a:latin typeface="Calibri"/>
              </a:rPr>
              <a:t> ma'lumotni qabul qilish, tekshirish, saqlash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CSRF</a:t>
            </a:r>
            <a:r>
              <a:rPr sz="2800" b="0">
                <a:solidFill>
                  <a:srgbClr val="1F232B"/>
                </a:solidFill>
                <a:latin typeface="Calibri"/>
              </a:rPr>
              <a:t> hujumi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csrf_token %}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O'z </a:t>
            </a:r>
            <a:r>
              <a:rPr sz="2800" b="1">
                <a:solidFill>
                  <a:srgbClr val="1F232B"/>
                </a:solidFill>
                <a:latin typeface="Calibri"/>
              </a:rPr>
              <a:t>validatsiya</a:t>
            </a:r>
            <a:r>
              <a:rPr sz="2800" b="0">
                <a:solidFill>
                  <a:srgbClr val="1F232B"/>
                </a:solidFill>
                <a:latin typeface="Calibri"/>
              </a:rPr>
              <a:t> qoidalaringiz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Ro'yxatdan o'tish va kirish</a:t>
            </a:r>
            <a:r>
              <a:rPr sz="2800" b="0">
                <a:solidFill>
                  <a:srgbClr val="1F232B"/>
                </a:solidFill>
                <a:latin typeface="Calibri"/>
              </a:rPr>
              <a:t> tizimi (24–25-loyihalar)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Django Admin — tayyor boshqaruv paneli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98608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6386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python manage.py createsuperuser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7F848E"/>
                </a:solidFill>
                <a:latin typeface="Consolas"/>
              </a:rPr>
              <a:t># Username: admin   Password: ******** (ko'rinmaydi — normal)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2864"/>
            <a:ext cx="11091672" cy="180685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7772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blog/admin.py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2048"/>
            <a:ext cx="10725912" cy="145938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from</a:t>
            </a:r>
            <a:r>
              <a:rPr sz="1632" b="0">
                <a:solidFill>
                  <a:srgbClr val="E6E6E6"/>
                </a:solidFill>
                <a:latin typeface="Consolas"/>
              </a:rPr>
              <a:t> django.contrib </a:t>
            </a:r>
            <a:r>
              <a:rPr sz="163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632" b="0">
                <a:solidFill>
                  <a:srgbClr val="E6E6E6"/>
                </a:solidFill>
                <a:latin typeface="Consolas"/>
              </a:rPr>
              <a:t> admin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from</a:t>
            </a:r>
            <a:r>
              <a:rPr sz="1632" b="0">
                <a:solidFill>
                  <a:srgbClr val="E6E6E6"/>
                </a:solidFill>
                <a:latin typeface="Consolas"/>
              </a:rPr>
              <a:t> .models </a:t>
            </a:r>
            <a:r>
              <a:rPr sz="163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632" b="0">
                <a:solidFill>
                  <a:srgbClr val="E6E6E6"/>
                </a:solidFill>
                <a:latin typeface="Consolas"/>
              </a:rPr>
              <a:t> Kategoriya, Maqola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admin.site.register(Kategoriya)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admin.site.register(Maqola)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49175"/>
            <a:ext cx="10680192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http://127.0.0.1:8000/admin/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qo'shish, tahrirlash, o'chirish — </a:t>
            </a:r>
            <a:r>
              <a:rPr sz="2400" b="1">
                <a:solidFill>
                  <a:srgbClr val="1F232B"/>
                </a:solidFill>
                <a:latin typeface="Calibri"/>
              </a:rPr>
              <a:t>bir qator kod yozmasdan!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8633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575767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Ro'yxatda obyektlar </a:t>
            </a:r>
            <a:r>
              <a:rPr sz="2208" b="0">
                <a:solidFill>
                  <a:srgbClr val="B02A4A"/>
                </a:solidFill>
                <a:latin typeface="Consolas"/>
              </a:rPr>
              <a:t>__str__</a:t>
            </a:r>
            <a:r>
              <a:rPr sz="2400" b="0">
                <a:solidFill>
                  <a:srgbClr val="1F232B"/>
                </a:solidFill>
                <a:latin typeface="Calibri"/>
              </a:rPr>
              <a:t> matni bilan ko'rinadi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71292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Admin'ni sozlash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2169"/>
            <a:ext cx="11091672" cy="262761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703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1353"/>
            <a:ext cx="10725912" cy="228014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@admin.register(Kategoriya)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class</a:t>
            </a:r>
            <a:r>
              <a:rPr sz="1088" b="0">
                <a:solidFill>
                  <a:srgbClr val="E6E6E6"/>
                </a:solidFill>
                <a:latin typeface="Consolas"/>
              </a:rPr>
              <a:t> KategoriyaAdmin(admin.ModelAdmin):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list_display = [</a:t>
            </a:r>
            <a:r>
              <a:rPr sz="1088" b="0">
                <a:solidFill>
                  <a:srgbClr val="98C379"/>
                </a:solidFill>
                <a:latin typeface="Consolas"/>
              </a:rPr>
              <a:t>"nomi"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"slug"</a:t>
            </a:r>
            <a:r>
              <a:rPr sz="108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prepopulated_fields = {</a:t>
            </a:r>
            <a:r>
              <a:rPr sz="1088" b="0">
                <a:solidFill>
                  <a:srgbClr val="98C379"/>
                </a:solidFill>
                <a:latin typeface="Consolas"/>
              </a:rPr>
              <a:t>"slug"</a:t>
            </a:r>
            <a:r>
              <a:rPr sz="1088" b="0">
                <a:solidFill>
                  <a:srgbClr val="E6E6E6"/>
                </a:solidFill>
                <a:latin typeface="Consolas"/>
              </a:rPr>
              <a:t>: (</a:t>
            </a:r>
            <a:r>
              <a:rPr sz="1088" b="0">
                <a:solidFill>
                  <a:srgbClr val="98C379"/>
                </a:solidFill>
                <a:latin typeface="Consolas"/>
              </a:rPr>
              <a:t>"nomi"</a:t>
            </a:r>
            <a:r>
              <a:rPr sz="1088" b="0">
                <a:solidFill>
                  <a:srgbClr val="E6E6E6"/>
                </a:solidFill>
                <a:latin typeface="Consolas"/>
              </a:rPr>
              <a:t>,)}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@admin.register(Maqola)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class</a:t>
            </a:r>
            <a:r>
              <a:rPr sz="1088" b="0">
                <a:solidFill>
                  <a:srgbClr val="E6E6E6"/>
                </a:solidFill>
                <a:latin typeface="Consolas"/>
              </a:rPr>
              <a:t> MaqolaAdmin(admin.ModelAdmin):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list_display = [</a:t>
            </a:r>
            <a:r>
              <a:rPr sz="1088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"muallif"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"chop_etilgan"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"korishlar"</a:t>
            </a:r>
            <a:r>
              <a:rPr sz="108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list_filter = [</a:t>
            </a:r>
            <a:r>
              <a:rPr sz="1088" b="0">
                <a:solidFill>
                  <a:srgbClr val="98C379"/>
                </a:solidFill>
                <a:latin typeface="Consolas"/>
              </a:rPr>
              <a:t>"chop_etilgan"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"yaratilgan"</a:t>
            </a:r>
            <a:r>
              <a:rPr sz="108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search_fields = [</a:t>
            </a:r>
            <a:r>
              <a:rPr sz="1088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"matn"</a:t>
            </a:r>
            <a:r>
              <a:rPr sz="108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list_editable = [</a:t>
            </a:r>
            <a:r>
              <a:rPr sz="1088" b="0">
                <a:solidFill>
                  <a:srgbClr val="98C379"/>
                </a:solidFill>
                <a:latin typeface="Consolas"/>
              </a:rPr>
              <a:t>"chop_etilgan"</a:t>
            </a:r>
            <a:r>
              <a:rPr sz="108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readonly_fields = [</a:t>
            </a:r>
            <a:r>
              <a:rPr sz="1088" b="0">
                <a:solidFill>
                  <a:srgbClr val="98C379"/>
                </a:solidFill>
                <a:latin typeface="Consolas"/>
              </a:rPr>
              <a:t>"korishlar"</a:t>
            </a:r>
            <a:r>
              <a:rPr sz="1088" b="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289245"/>
          <a:ext cx="11091672" cy="1747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349503"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FFFFFF"/>
                          </a:solidFill>
                          <a:latin typeface="Calibri"/>
                        </a:rPr>
                        <a:t>Sozlama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349503">
                <a:tc>
                  <a:txBody>
                    <a:bodyPr/>
                    <a:lstStyle/>
                    <a:p>
                      <a:r>
                        <a:rPr sz="1177" b="0">
                          <a:solidFill>
                            <a:srgbClr val="B02A4A"/>
                          </a:solidFill>
                          <a:latin typeface="Consolas"/>
                        </a:rPr>
                        <a:t>list_display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F232B"/>
                          </a:solidFill>
                          <a:latin typeface="Calibri"/>
                        </a:rPr>
                        <a:t>Ro'yxatdagi ustunlar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349503">
                <a:tc>
                  <a:txBody>
                    <a:bodyPr/>
                    <a:lstStyle/>
                    <a:p>
                      <a:r>
                        <a:rPr sz="1177" b="0">
                          <a:solidFill>
                            <a:srgbClr val="B02A4A"/>
                          </a:solidFill>
                          <a:latin typeface="Consolas"/>
                        </a:rPr>
                        <a:t>list_filter</a:t>
                      </a:r>
                      <a:r>
                        <a:rPr sz="128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1177" b="0">
                          <a:solidFill>
                            <a:srgbClr val="B02A4A"/>
                          </a:solidFill>
                          <a:latin typeface="Consolas"/>
                        </a:rPr>
                        <a:t>search_fields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F232B"/>
                          </a:solidFill>
                          <a:latin typeface="Calibri"/>
                        </a:rPr>
                        <a:t>Filtrlar / qidiruv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9503">
                <a:tc>
                  <a:txBody>
                    <a:bodyPr/>
                    <a:lstStyle/>
                    <a:p>
                      <a:r>
                        <a:rPr sz="1177" b="0">
                          <a:solidFill>
                            <a:srgbClr val="B02A4A"/>
                          </a:solidFill>
                          <a:latin typeface="Consolas"/>
                        </a:rPr>
                        <a:t>list_editable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F232B"/>
                          </a:solidFill>
                          <a:latin typeface="Calibri"/>
                        </a:rPr>
                        <a:t>Ro'yxatning o'zida tahrirlash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349507">
                <a:tc>
                  <a:txBody>
                    <a:bodyPr/>
                    <a:lstStyle/>
                    <a:p>
                      <a:r>
                        <a:rPr sz="1177" b="0">
                          <a:solidFill>
                            <a:srgbClr val="B02A4A"/>
                          </a:solidFill>
                          <a:latin typeface="Consolas"/>
                        </a:rPr>
                        <a:t>prepopulated_fields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1F232B"/>
                          </a:solidFill>
                          <a:latin typeface="Calibri"/>
                        </a:rPr>
                        <a:t>Slug avtomatik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Django Forms — nima uchun?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Admin — faqat ma'murlar uchun; oddiy foydalanuvchilarga </a:t>
            </a:r>
            <a:r>
              <a:rPr sz="2800" b="1">
                <a:solidFill>
                  <a:srgbClr val="1F232B"/>
                </a:solidFill>
                <a:latin typeface="Calibri"/>
              </a:rPr>
              <a:t>sayt ichida</a:t>
            </a:r>
            <a:r>
              <a:rPr sz="2800" b="0">
                <a:solidFill>
                  <a:srgbClr val="1F232B"/>
                </a:solidFill>
                <a:latin typeface="Calibri"/>
              </a:rPr>
              <a:t> forma kerak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Brauzerdagi tekshiruvni chetlab o'tish oson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server ham tekshirishi shart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524503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5193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HTML yaratadi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input, label avtomatik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0116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422859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Tekshiradi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majburiy maydon, email, uzunlik, o'z qoidalaringiz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309616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33704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Tozalaydi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kerakli turga aylantiradi va xavfsiz qiladi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Oddiy Form: "Aloqa"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63917"/>
            <a:ext cx="11091672" cy="389889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1878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blog/forms.py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93101"/>
            <a:ext cx="10725912" cy="35514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587" b="0">
                <a:solidFill>
                  <a:srgbClr val="C678DD"/>
                </a:solidFill>
                <a:latin typeface="Consolas"/>
              </a:rPr>
              <a:t>from</a:t>
            </a:r>
            <a:r>
              <a:rPr sz="1587" b="0">
                <a:solidFill>
                  <a:srgbClr val="E6E6E6"/>
                </a:solidFill>
                <a:latin typeface="Consolas"/>
              </a:rPr>
              <a:t> django </a:t>
            </a:r>
            <a:r>
              <a:rPr sz="1587" b="0">
                <a:solidFill>
                  <a:srgbClr val="C678DD"/>
                </a:solidFill>
                <a:latin typeface="Consolas"/>
              </a:rPr>
              <a:t>import</a:t>
            </a:r>
            <a:r>
              <a:rPr sz="1587" b="0">
                <a:solidFill>
                  <a:srgbClr val="E6E6E6"/>
                </a:solidFill>
                <a:latin typeface="Consolas"/>
              </a:rPr>
              <a:t> forms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C678DD"/>
                </a:solidFill>
                <a:latin typeface="Consolas"/>
              </a:rPr>
              <a:t>class</a:t>
            </a:r>
            <a:r>
              <a:rPr sz="1587" b="0">
                <a:solidFill>
                  <a:srgbClr val="E6E6E6"/>
                </a:solidFill>
                <a:latin typeface="Consolas"/>
              </a:rPr>
              <a:t> AloqaForm(forms.Form):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   ism = forms.CharField(label=</a:t>
            </a:r>
            <a:r>
              <a:rPr sz="1587" b="0">
                <a:solidFill>
                  <a:srgbClr val="98C379"/>
                </a:solidFill>
                <a:latin typeface="Consolas"/>
              </a:rPr>
              <a:t>"Ismingiz"</a:t>
            </a:r>
            <a:r>
              <a:rPr sz="1587" b="0">
                <a:solidFill>
                  <a:srgbClr val="E6E6E6"/>
                </a:solidFill>
                <a:latin typeface="Consolas"/>
              </a:rPr>
              <a:t>, max_length=100)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   email = forms.EmailField(label=</a:t>
            </a:r>
            <a:r>
              <a:rPr sz="1587" b="0">
                <a:solidFill>
                  <a:srgbClr val="98C379"/>
                </a:solidFill>
                <a:latin typeface="Consolas"/>
              </a:rPr>
              <a:t>"Email"</a:t>
            </a:r>
            <a:r>
              <a:rPr sz="1587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   mavzu = forms.ChoiceField(choices=[(</a:t>
            </a:r>
            <a:r>
              <a:rPr sz="1587" b="0">
                <a:solidFill>
                  <a:srgbClr val="98C379"/>
                </a:solidFill>
                <a:latin typeface="Consolas"/>
              </a:rPr>
              <a:t>"taklif"</a:t>
            </a:r>
            <a:r>
              <a:rPr sz="1587" b="0">
                <a:solidFill>
                  <a:srgbClr val="E6E6E6"/>
                </a:solidFill>
                <a:latin typeface="Consolas"/>
              </a:rPr>
              <a:t>, </a:t>
            </a:r>
            <a:r>
              <a:rPr sz="1587" b="0">
                <a:solidFill>
                  <a:srgbClr val="98C379"/>
                </a:solidFill>
                <a:latin typeface="Consolas"/>
              </a:rPr>
              <a:t>"Taklif"</a:t>
            </a:r>
            <a:r>
              <a:rPr sz="1587" b="0">
                <a:solidFill>
                  <a:srgbClr val="E6E6E6"/>
                </a:solidFill>
                <a:latin typeface="Consolas"/>
              </a:rPr>
              <a:t>), (</a:t>
            </a:r>
            <a:r>
              <a:rPr sz="1587" b="0">
                <a:solidFill>
                  <a:srgbClr val="98C379"/>
                </a:solidFill>
                <a:latin typeface="Consolas"/>
              </a:rPr>
              <a:t>"xato"</a:t>
            </a:r>
            <a:r>
              <a:rPr sz="1587" b="0">
                <a:solidFill>
                  <a:srgbClr val="E6E6E6"/>
                </a:solidFill>
                <a:latin typeface="Consolas"/>
              </a:rPr>
              <a:t>, </a:t>
            </a:r>
            <a:r>
              <a:rPr sz="1587" b="0">
                <a:solidFill>
                  <a:srgbClr val="98C379"/>
                </a:solidFill>
                <a:latin typeface="Consolas"/>
              </a:rPr>
              <a:t>"Xato haqida"</a:t>
            </a:r>
            <a:r>
              <a:rPr sz="1587" b="0">
                <a:solidFill>
                  <a:srgbClr val="E6E6E6"/>
                </a:solidFill>
                <a:latin typeface="Consolas"/>
              </a:rPr>
              <a:t>)])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   xabar = forms.CharField(widget=forms.Textarea(attrs={</a:t>
            </a:r>
            <a:r>
              <a:rPr sz="1587" b="0">
                <a:solidFill>
                  <a:srgbClr val="98C379"/>
                </a:solidFill>
                <a:latin typeface="Consolas"/>
              </a:rPr>
              <a:t>"rows"</a:t>
            </a:r>
            <a:r>
              <a:rPr sz="1587" b="0">
                <a:solidFill>
                  <a:srgbClr val="E6E6E6"/>
                </a:solidFill>
                <a:latin typeface="Consolas"/>
              </a:rPr>
              <a:t>: 5}), min_length=10)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   </a:t>
            </a:r>
            <a:r>
              <a:rPr sz="1587" b="0">
                <a:solidFill>
                  <a:srgbClr val="C678DD"/>
                </a:solidFill>
                <a:latin typeface="Consolas"/>
              </a:rPr>
              <a:t>def</a:t>
            </a:r>
            <a:r>
              <a:rPr sz="1587" b="0">
                <a:solidFill>
                  <a:srgbClr val="E6E6E6"/>
                </a:solidFill>
                <a:latin typeface="Consolas"/>
              </a:rPr>
              <a:t> clean_ism(</a:t>
            </a:r>
            <a:r>
              <a:rPr sz="1587" b="0">
                <a:solidFill>
                  <a:srgbClr val="C678DD"/>
                </a:solidFill>
                <a:latin typeface="Consolas"/>
              </a:rPr>
              <a:t>self</a:t>
            </a:r>
            <a:r>
              <a:rPr sz="1587" b="0">
                <a:solidFill>
                  <a:srgbClr val="E6E6E6"/>
                </a:solidFill>
                <a:latin typeface="Consolas"/>
              </a:rPr>
              <a:t>):                       # o'z tekshiruvimiz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       ism = </a:t>
            </a:r>
            <a:r>
              <a:rPr sz="1587" b="0">
                <a:solidFill>
                  <a:srgbClr val="C678DD"/>
                </a:solidFill>
                <a:latin typeface="Consolas"/>
              </a:rPr>
              <a:t>self</a:t>
            </a:r>
            <a:r>
              <a:rPr sz="1587" b="0">
                <a:solidFill>
                  <a:srgbClr val="E6E6E6"/>
                </a:solidFill>
                <a:latin typeface="Consolas"/>
              </a:rPr>
              <a:t>.cleaned_data[</a:t>
            </a:r>
            <a:r>
              <a:rPr sz="1587" b="0">
                <a:solidFill>
                  <a:srgbClr val="98C379"/>
                </a:solidFill>
                <a:latin typeface="Consolas"/>
              </a:rPr>
              <a:t>"ism"</a:t>
            </a:r>
            <a:r>
              <a:rPr sz="1587" b="0">
                <a:solidFill>
                  <a:srgbClr val="E6E6E6"/>
                </a:solidFill>
                <a:latin typeface="Consolas"/>
              </a:rPr>
              <a:t>].strip()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587" b="0">
                <a:solidFill>
                  <a:srgbClr val="C678DD"/>
                </a:solidFill>
                <a:latin typeface="Consolas"/>
              </a:rPr>
              <a:t>if</a:t>
            </a:r>
            <a:r>
              <a:rPr sz="1587" b="0">
                <a:solidFill>
                  <a:srgbClr val="E6E6E6"/>
                </a:solidFill>
                <a:latin typeface="Consolas"/>
              </a:rPr>
              <a:t> any(b.isdigit() </a:t>
            </a:r>
            <a:r>
              <a:rPr sz="1587" b="0">
                <a:solidFill>
                  <a:srgbClr val="C678DD"/>
                </a:solidFill>
                <a:latin typeface="Consolas"/>
              </a:rPr>
              <a:t>for</a:t>
            </a:r>
            <a:r>
              <a:rPr sz="1587" b="0">
                <a:solidFill>
                  <a:srgbClr val="E6E6E6"/>
                </a:solidFill>
                <a:latin typeface="Consolas"/>
              </a:rPr>
              <a:t> b </a:t>
            </a:r>
            <a:r>
              <a:rPr sz="1587" b="0">
                <a:solidFill>
                  <a:srgbClr val="C678DD"/>
                </a:solidFill>
                <a:latin typeface="Consolas"/>
              </a:rPr>
              <a:t>in</a:t>
            </a:r>
            <a:r>
              <a:rPr sz="1587" b="0">
                <a:solidFill>
                  <a:srgbClr val="E6E6E6"/>
                </a:solidFill>
                <a:latin typeface="Consolas"/>
              </a:rPr>
              <a:t> ism):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           raise forms.ValidationError(</a:t>
            </a:r>
            <a:r>
              <a:rPr sz="1587" b="0">
                <a:solidFill>
                  <a:srgbClr val="98C379"/>
                </a:solidFill>
                <a:latin typeface="Consolas"/>
              </a:rPr>
              <a:t>"Ismda raqam bo'lmasligi kerak"</a:t>
            </a:r>
            <a:r>
              <a:rPr sz="1587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587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587" b="0">
                <a:solidFill>
                  <a:srgbClr val="C678DD"/>
                </a:solidFill>
                <a:latin typeface="Consolas"/>
              </a:rPr>
              <a:t>return</a:t>
            </a:r>
            <a:r>
              <a:rPr sz="1587" b="0">
                <a:solidFill>
                  <a:srgbClr val="E6E6E6"/>
                </a:solidFill>
                <a:latin typeface="Consolas"/>
              </a:rPr>
              <a:t> ism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View: forma sxemasi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9765"/>
            <a:ext cx="11091672" cy="34483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462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8949"/>
            <a:ext cx="10725912" cy="31009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django.contrib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messages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aloqa(request):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request.method == </a:t>
            </a:r>
            <a:r>
              <a:rPr sz="1496" b="0">
                <a:solidFill>
                  <a:srgbClr val="98C379"/>
                </a:solidFill>
                <a:latin typeface="Consolas"/>
              </a:rPr>
              <a:t>"POST"</a:t>
            </a:r>
            <a:r>
              <a:rPr sz="1496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form = AloqaForm(request.POST)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form.is_valid():                         # ✅ tekshiruvdan o'tdi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    data = form.cleaned_data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    messages.success(request, </a:t>
            </a:r>
            <a:r>
              <a:rPr sz="1496" b="0">
                <a:solidFill>
                  <a:srgbClr val="98C379"/>
                </a:solidFill>
                <a:latin typeface="Consolas"/>
              </a:rPr>
              <a:t>"Rahmat! Xabaringiz yuborildi."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redirect(</a:t>
            </a:r>
            <a:r>
              <a:rPr sz="1496" b="0">
                <a:solidFill>
                  <a:srgbClr val="98C379"/>
                </a:solidFill>
                <a:latin typeface="Consolas"/>
              </a:rPr>
              <a:t>"blog:aloqa"</a:t>
            </a:r>
            <a:r>
              <a:rPr sz="1496" b="0">
                <a:solidFill>
                  <a:srgbClr val="E6E6E6"/>
                </a:solidFill>
                <a:latin typeface="Consolas"/>
              </a:rPr>
              <a:t>)           # qayta yuborilmasin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else</a:t>
            </a:r>
            <a:r>
              <a:rPr sz="1496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form = AloqaForm()                          # GET — bo'sh forma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496" b="0">
                <a:solidFill>
                  <a:srgbClr val="98C379"/>
                </a:solidFill>
                <a:latin typeface="Consolas"/>
              </a:rPr>
              <a:t>"blog/aloqa.html"</a:t>
            </a:r>
            <a:r>
              <a:rPr sz="1496" b="0">
                <a:solidFill>
                  <a:srgbClr val="E6E6E6"/>
                </a:solidFill>
                <a:latin typeface="Consolas"/>
              </a:rPr>
              <a:t>, {</a:t>
            </a:r>
            <a:r>
              <a:rPr sz="1496" b="0">
                <a:solidFill>
                  <a:srgbClr val="98C379"/>
                </a:solidFill>
                <a:latin typeface="Consolas"/>
              </a:rPr>
              <a:t>"form"</a:t>
            </a:r>
            <a:r>
              <a:rPr sz="1496" b="0">
                <a:solidFill>
                  <a:srgbClr val="E6E6E6"/>
                </a:solidFill>
                <a:latin typeface="Consolas"/>
              </a:rPr>
              <a:t>: form})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07606"/>
            <a:ext cx="11091672" cy="94049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6247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36790"/>
            <a:ext cx="10725912" cy="59301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GET → bo'sh forma  →  POST → Form(request.POST) → is_valid()?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                           ✅ saqlash → redirect   ❌ xatolar bilan qayta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Shablon va CSRF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10238"/>
            <a:ext cx="11091672" cy="180685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6510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Django shablon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39422"/>
            <a:ext cx="10725912" cy="145938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06C75"/>
                </a:solidFill>
                <a:latin typeface="Consolas"/>
              </a:rPr>
              <a:t>&lt;form</a:t>
            </a:r>
            <a:r>
              <a:rPr sz="1632" b="0">
                <a:solidFill>
                  <a:srgbClr val="E6E6E6"/>
                </a:solidFill>
                <a:latin typeface="Consolas"/>
              </a:rPr>
              <a:t> method=</a:t>
            </a:r>
            <a:r>
              <a:rPr sz="1632" b="0">
                <a:solidFill>
                  <a:srgbClr val="98C379"/>
                </a:solidFill>
                <a:latin typeface="Consolas"/>
              </a:rPr>
              <a:t>"post"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E06C75"/>
                </a:solidFill>
                <a:latin typeface="Consolas"/>
              </a:rPr>
              <a:t>{% csrf_token %}</a:t>
            </a:r>
            <a:r>
              <a:rPr sz="1632" b="0">
                <a:solidFill>
                  <a:srgbClr val="E6E6E6"/>
                </a:solidFill>
                <a:latin typeface="Consolas"/>
              </a:rPr>
              <a:t>         {# ⬅ MAJBURIY #}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E06C75"/>
                </a:solidFill>
                <a:latin typeface="Consolas"/>
              </a:rPr>
              <a:t>{{ form.as_p }}</a:t>
            </a:r>
            <a:r>
              <a:rPr sz="1632" b="0">
                <a:solidFill>
                  <a:srgbClr val="E6E6E6"/>
                </a:solidFill>
                <a:latin typeface="Consolas"/>
              </a:rPr>
              <a:t>          {# barcha maydonlar, xatolar bilan #}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E06C75"/>
                </a:solidFill>
                <a:latin typeface="Consolas"/>
              </a:rPr>
              <a:t>&lt;button</a:t>
            </a:r>
            <a:r>
              <a:rPr sz="1632" b="0">
                <a:solidFill>
                  <a:srgbClr val="E6E6E6"/>
                </a:solidFill>
                <a:latin typeface="Consolas"/>
              </a:rPr>
              <a:t> type=</a:t>
            </a:r>
            <a:r>
              <a:rPr sz="1632" b="0">
                <a:solidFill>
                  <a:srgbClr val="98C379"/>
                </a:solidFill>
                <a:latin typeface="Consolas"/>
              </a:rPr>
              <a:t>"submit"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  <a:r>
              <a:rPr sz="1632" b="0">
                <a:solidFill>
                  <a:srgbClr val="E6E6E6"/>
                </a:solidFill>
                <a:latin typeface="Consolas"/>
              </a:rPr>
              <a:t>Yuborish</a:t>
            </a:r>
            <a:r>
              <a:rPr sz="1632" b="0">
                <a:solidFill>
                  <a:srgbClr val="E06C75"/>
                </a:solidFill>
                <a:latin typeface="Consolas"/>
              </a:rPr>
              <a:t>&lt;/button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06C75"/>
                </a:solidFill>
                <a:latin typeface="Consolas"/>
              </a:rPr>
              <a:t>&lt;/form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36548"/>
            <a:ext cx="11091672" cy="13418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36548"/>
            <a:ext cx="82296" cy="13418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27988"/>
            <a:ext cx="10725912" cy="11772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CSRF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yovuz sayt </a:t>
            </a:r>
            <a:r>
              <a:rPr sz="2279" b="1">
                <a:solidFill>
                  <a:srgbClr val="1F232B"/>
                </a:solidFill>
                <a:latin typeface="Calibri"/>
              </a:rPr>
              <a:t>sizning brauzeringiz nomidan</a:t>
            </a:r>
            <a:r>
              <a:rPr sz="2279" b="0">
                <a:solidFill>
                  <a:srgbClr val="1F232B"/>
                </a:solidFill>
                <a:latin typeface="Calibri"/>
              </a:rPr>
              <a:t> boshqa saytga yashirin forma yuboradi ("barcha maqolalarni o'chir"). </a:t>
            </a:r>
            <a:r>
              <a:rPr sz="2097" b="0">
                <a:solidFill>
                  <a:srgbClr val="B02A4A"/>
                </a:solidFill>
                <a:latin typeface="Consolas"/>
              </a:rPr>
              <a:t>{% csrf_token %}</a:t>
            </a:r>
            <a:r>
              <a:rPr sz="2279" b="0">
                <a:solidFill>
                  <a:srgbClr val="1F232B"/>
                </a:solidFill>
                <a:latin typeface="Calibri"/>
              </a:rPr>
              <a:t> yashirin maxfiy kod qo'shadi — Django faqat shu kod to'g'ri bo'lsa qabul qiladi.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97886"/>
            <a:ext cx="11091672" cy="617982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097886"/>
            <a:ext cx="82296" cy="61798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89326"/>
            <a:ext cx="10725912" cy="4533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⚠️ </a:t>
            </a:r>
            <a:r>
              <a:rPr sz="2279" b="0">
                <a:solidFill>
                  <a:srgbClr val="1F232B"/>
                </a:solidFill>
                <a:latin typeface="Calibri"/>
              </a:rPr>
              <a:t>Usiz: </a:t>
            </a:r>
            <a:r>
              <a:rPr sz="2279" b="1">
                <a:solidFill>
                  <a:srgbClr val="1F232B"/>
                </a:solidFill>
                <a:latin typeface="Calibri"/>
              </a:rPr>
              <a:t>403 Forbidden — CSRF verification failed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ModelForm — modeldan avtomatik forma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244"/>
            <a:ext cx="11091672" cy="45427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1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428"/>
            <a:ext cx="10725912" cy="41952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class</a:t>
            </a:r>
            <a:r>
              <a:rPr sz="1360" b="0">
                <a:solidFill>
                  <a:srgbClr val="E6E6E6"/>
                </a:solidFill>
                <a:latin typeface="Consolas"/>
              </a:rPr>
              <a:t> MaqolaForm(forms.ModelForm):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class</a:t>
            </a:r>
            <a:r>
              <a:rPr sz="1360" b="0">
                <a:solidFill>
                  <a:srgbClr val="E6E6E6"/>
                </a:solidFill>
                <a:latin typeface="Consolas"/>
              </a:rPr>
              <a:t> Meta: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model = Maqola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fields = [</a:t>
            </a:r>
            <a:r>
              <a:rPr sz="1360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"matn"</a:t>
            </a:r>
            <a:r>
              <a:rPr sz="1360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widgets = {</a:t>
            </a:r>
            <a:r>
              <a:rPr sz="1360" b="0">
                <a:solidFill>
                  <a:srgbClr val="98C379"/>
                </a:solidFill>
                <a:latin typeface="Consolas"/>
              </a:rPr>
              <a:t>"matn"</a:t>
            </a:r>
            <a:r>
              <a:rPr sz="1360" b="0">
                <a:solidFill>
                  <a:srgbClr val="E6E6E6"/>
                </a:solidFill>
                <a:latin typeface="Consolas"/>
              </a:rPr>
              <a:t>: forms.Textarea(attrs={</a:t>
            </a:r>
            <a:r>
              <a:rPr sz="1360" b="0">
                <a:solidFill>
                  <a:srgbClr val="98C379"/>
                </a:solidFill>
                <a:latin typeface="Consolas"/>
              </a:rPr>
              <a:t>"rows"</a:t>
            </a:r>
            <a:r>
              <a:rPr sz="1360" b="0">
                <a:solidFill>
                  <a:srgbClr val="E6E6E6"/>
                </a:solidFill>
                <a:latin typeface="Consolas"/>
              </a:rPr>
              <a:t>: 8})}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@login_required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maqola_yozish(request):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if</a:t>
            </a:r>
            <a:r>
              <a:rPr sz="1360" b="0">
                <a:solidFill>
                  <a:srgbClr val="E6E6E6"/>
                </a:solidFill>
                <a:latin typeface="Consolas"/>
              </a:rPr>
              <a:t> request.method == </a:t>
            </a:r>
            <a:r>
              <a:rPr sz="1360" b="0">
                <a:solidFill>
                  <a:srgbClr val="98C379"/>
                </a:solidFill>
                <a:latin typeface="Consolas"/>
              </a:rPr>
              <a:t>"POST"</a:t>
            </a:r>
            <a:r>
              <a:rPr sz="1360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form = MaqolaForm(request.POST)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if</a:t>
            </a:r>
            <a:r>
              <a:rPr sz="1360" b="0">
                <a:solidFill>
                  <a:srgbClr val="E6E6E6"/>
                </a:solidFill>
                <a:latin typeface="Consolas"/>
              </a:rPr>
              <a:t> form.is_valid():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    maqola = form.save(commit=</a:t>
            </a:r>
            <a:r>
              <a:rPr sz="1360" b="0">
                <a:solidFill>
                  <a:srgbClr val="C678DD"/>
                </a:solidFill>
                <a:latin typeface="Consolas"/>
              </a:rPr>
              <a:t>False</a:t>
            </a:r>
            <a:r>
              <a:rPr sz="1360" b="0">
                <a:solidFill>
                  <a:srgbClr val="E6E6E6"/>
                </a:solidFill>
                <a:latin typeface="Consolas"/>
              </a:rPr>
              <a:t>)     # hali bazaga yozilmadi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    maqola.muallif = request.user        # formada yo'q maydon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    maqola.save()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 redirect(maqola)              # get_absolute_url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else</a:t>
            </a:r>
            <a:r>
              <a:rPr sz="1360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form = MaqolaForm()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360" b="0">
                <a:solidFill>
                  <a:srgbClr val="98C379"/>
                </a:solidFill>
                <a:latin typeface="Consolas"/>
              </a:rPr>
              <a:t>"blog/yozish.html"</a:t>
            </a:r>
            <a:r>
              <a:rPr sz="1360" b="0">
                <a:solidFill>
                  <a:srgbClr val="E6E6E6"/>
                </a:solidFill>
                <a:latin typeface="Consolas"/>
              </a:rPr>
              <a:t>, {</a:t>
            </a:r>
            <a:r>
              <a:rPr sz="1360" b="0">
                <a:solidFill>
                  <a:srgbClr val="98C379"/>
                </a:solidFill>
                <a:latin typeface="Consolas"/>
              </a:rPr>
              <a:t>"form"</a:t>
            </a:r>
            <a:r>
              <a:rPr sz="1360" b="0">
                <a:solidFill>
                  <a:srgbClr val="E6E6E6"/>
                </a:solidFill>
                <a:latin typeface="Consolas"/>
              </a:rPr>
              <a:t>: form})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BBD7C9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Ro'yxatdan o'tish va kirish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DDEBE4"/>
                </a:solidFill>
                <a:latin typeface="Calibri"/>
              </a:rPr>
              <a:t>Django'da foydalanuvchilar tizimi tayyor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BBD7C9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Kirish va chiqish — tayyor view'lar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52178"/>
            <a:ext cx="11091672" cy="72502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704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config/urls.py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81362"/>
            <a:ext cx="10725912" cy="37755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06" b="0">
                <a:solidFill>
                  <a:srgbClr val="E6E6E6"/>
                </a:solidFill>
                <a:latin typeface="Consolas"/>
              </a:rPr>
              <a:t>path(</a:t>
            </a:r>
            <a:r>
              <a:rPr sz="1706" b="0">
                <a:solidFill>
                  <a:srgbClr val="98C379"/>
                </a:solidFill>
                <a:latin typeface="Consolas"/>
              </a:rPr>
              <a:t>"accounts/"</a:t>
            </a:r>
            <a:r>
              <a:rPr sz="1706" b="0">
                <a:solidFill>
                  <a:srgbClr val="E6E6E6"/>
                </a:solidFill>
                <a:latin typeface="Consolas"/>
              </a:rPr>
              <a:t>, include(</a:t>
            </a:r>
            <a:r>
              <a:rPr sz="1706" b="0">
                <a:solidFill>
                  <a:srgbClr val="98C379"/>
                </a:solidFill>
                <a:latin typeface="Consolas"/>
              </a:rPr>
              <a:t>"django.contrib.auth.urls"</a:t>
            </a:r>
            <a:r>
              <a:rPr sz="1706" b="0">
                <a:solidFill>
                  <a:srgbClr val="E6E6E6"/>
                </a:solidFill>
                <a:latin typeface="Consolas"/>
              </a:rPr>
              <a:t>)),   # login/, logout/,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96659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5152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settings.py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5843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LOGIN_REDIRECT_URL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"blog:bosh"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LOGOUT_REDIRECT_URL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"blog:bosh"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LOGIN_URL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"login"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12587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Shablon: </a:t>
            </a:r>
            <a:r>
              <a:rPr sz="2576" b="0">
                <a:solidFill>
                  <a:srgbClr val="B02A4A"/>
                </a:solidFill>
                <a:latin typeface="Consolas"/>
              </a:rPr>
              <a:t>templates/registration/login.html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csrf_token %}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{{ form.as_p }}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37260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Ro'yxatdan o'tish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6182"/>
            <a:ext cx="11091672" cy="457166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104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5366"/>
            <a:ext cx="10725912" cy="42241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96" b="0">
                <a:solidFill>
                  <a:srgbClr val="C678DD"/>
                </a:solidFill>
                <a:latin typeface="Consolas"/>
              </a:rPr>
              <a:t>from</a:t>
            </a:r>
            <a:r>
              <a:rPr sz="1896" b="0">
                <a:solidFill>
                  <a:srgbClr val="E6E6E6"/>
                </a:solidFill>
                <a:latin typeface="Consolas"/>
              </a:rPr>
              <a:t> django.contrib.auth </a:t>
            </a:r>
            <a:r>
              <a:rPr sz="18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896" b="0">
                <a:solidFill>
                  <a:srgbClr val="E6E6E6"/>
                </a:solidFill>
                <a:latin typeface="Consolas"/>
              </a:rPr>
              <a:t> login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C678DD"/>
                </a:solidFill>
                <a:latin typeface="Consolas"/>
              </a:rPr>
              <a:t>from</a:t>
            </a:r>
            <a:r>
              <a:rPr sz="1896" b="0">
                <a:solidFill>
                  <a:srgbClr val="E6E6E6"/>
                </a:solidFill>
                <a:latin typeface="Consolas"/>
              </a:rPr>
              <a:t> django.contrib.auth.forms </a:t>
            </a:r>
            <a:r>
              <a:rPr sz="18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896" b="0">
                <a:solidFill>
                  <a:srgbClr val="E6E6E6"/>
                </a:solidFill>
                <a:latin typeface="Consolas"/>
              </a:rPr>
              <a:t> UserCreationForm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C678DD"/>
                </a:solidFill>
                <a:latin typeface="Consolas"/>
              </a:rPr>
              <a:t>def</a:t>
            </a:r>
            <a:r>
              <a:rPr sz="1896" b="0">
                <a:solidFill>
                  <a:srgbClr val="E6E6E6"/>
                </a:solidFill>
                <a:latin typeface="Consolas"/>
              </a:rPr>
              <a:t> royxatdan_otish(request):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  </a:t>
            </a:r>
            <a:r>
              <a:rPr sz="1896" b="0">
                <a:solidFill>
                  <a:srgbClr val="C678DD"/>
                </a:solidFill>
                <a:latin typeface="Consolas"/>
              </a:rPr>
              <a:t>if</a:t>
            </a:r>
            <a:r>
              <a:rPr sz="1896" b="0">
                <a:solidFill>
                  <a:srgbClr val="E6E6E6"/>
                </a:solidFill>
                <a:latin typeface="Consolas"/>
              </a:rPr>
              <a:t> request.method == </a:t>
            </a:r>
            <a:r>
              <a:rPr sz="1896" b="0">
                <a:solidFill>
                  <a:srgbClr val="98C379"/>
                </a:solidFill>
                <a:latin typeface="Consolas"/>
              </a:rPr>
              <a:t>"POST"</a:t>
            </a:r>
            <a:r>
              <a:rPr sz="1896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      form = UserCreationForm(request.POST)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896" b="0">
                <a:solidFill>
                  <a:srgbClr val="C678DD"/>
                </a:solidFill>
                <a:latin typeface="Consolas"/>
              </a:rPr>
              <a:t>if</a:t>
            </a:r>
            <a:r>
              <a:rPr sz="1896" b="0">
                <a:solidFill>
                  <a:srgbClr val="E6E6E6"/>
                </a:solidFill>
                <a:latin typeface="Consolas"/>
              </a:rPr>
              <a:t> form.is_valid():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          user = form.save()              # parol avtomatik xeshlanadi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          login(request, user)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8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896" b="0">
                <a:solidFill>
                  <a:srgbClr val="E6E6E6"/>
                </a:solidFill>
                <a:latin typeface="Consolas"/>
              </a:rPr>
              <a:t> redirect(</a:t>
            </a:r>
            <a:r>
              <a:rPr sz="1896" b="0">
                <a:solidFill>
                  <a:srgbClr val="98C379"/>
                </a:solidFill>
                <a:latin typeface="Consolas"/>
              </a:rPr>
              <a:t>"blog:bosh"</a:t>
            </a:r>
            <a:r>
              <a:rPr sz="18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  </a:t>
            </a:r>
            <a:r>
              <a:rPr sz="1896" b="0">
                <a:solidFill>
                  <a:srgbClr val="C678DD"/>
                </a:solidFill>
                <a:latin typeface="Consolas"/>
              </a:rPr>
              <a:t>else</a:t>
            </a:r>
            <a:r>
              <a:rPr sz="1896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      form = UserCreationForm()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    </a:t>
            </a:r>
            <a:r>
              <a:rPr sz="18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896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896" b="0">
                <a:solidFill>
                  <a:srgbClr val="98C379"/>
                </a:solidFill>
                <a:latin typeface="Consolas"/>
              </a:rPr>
              <a:t>"blog/royxat.html"</a:t>
            </a:r>
            <a:r>
              <a:rPr sz="1896" b="0">
                <a:solidFill>
                  <a:srgbClr val="E6E6E6"/>
                </a:solidFill>
                <a:latin typeface="Consolas"/>
              </a:rPr>
              <a:t>, {</a:t>
            </a:r>
            <a:r>
              <a:rPr sz="1896" b="0">
                <a:solidFill>
                  <a:srgbClr val="98C379"/>
                </a:solidFill>
                <a:latin typeface="Consolas"/>
              </a:rPr>
              <a:t>"form"</a:t>
            </a:r>
            <a:r>
              <a:rPr sz="1896" b="0">
                <a:solidFill>
                  <a:srgbClr val="E6E6E6"/>
                </a:solidFill>
                <a:latin typeface="Consolas"/>
              </a:rPr>
              <a:t>: form})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Menyu: foydalanuvchi holatiga qarab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3167"/>
            <a:ext cx="11091672" cy="18402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4803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base.html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22351"/>
            <a:ext cx="10725912" cy="14928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93" b="0">
                <a:solidFill>
                  <a:srgbClr val="E06C75"/>
                </a:solidFill>
                <a:latin typeface="Consolas"/>
              </a:rPr>
              <a:t>{% if user.is_authenticated %}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👤 </a:t>
            </a:r>
            <a:r>
              <a:rPr sz="1393" b="0">
                <a:solidFill>
                  <a:srgbClr val="E06C75"/>
                </a:solidFill>
                <a:latin typeface="Consolas"/>
              </a:rPr>
              <a:t>{{ user.username }}</a:t>
            </a:r>
            <a:r>
              <a:rPr sz="1393" b="0">
                <a:solidFill>
                  <a:srgbClr val="E6E6E6"/>
                </a:solidFill>
                <a:latin typeface="Consolas"/>
              </a:rPr>
              <a:t> · </a:t>
            </a:r>
            <a:r>
              <a:rPr sz="1393" b="0">
                <a:solidFill>
                  <a:srgbClr val="E06C75"/>
                </a:solidFill>
                <a:latin typeface="Consolas"/>
              </a:rPr>
              <a:t>&lt;a</a:t>
            </a:r>
            <a:r>
              <a:rPr sz="1393" b="0">
                <a:solidFill>
                  <a:srgbClr val="E6E6E6"/>
                </a:solidFill>
                <a:latin typeface="Consolas"/>
              </a:rPr>
              <a:t> href=</a:t>
            </a:r>
            <a:r>
              <a:rPr sz="1393" b="0">
                <a:solidFill>
                  <a:srgbClr val="98C379"/>
                </a:solidFill>
                <a:latin typeface="Consolas"/>
              </a:rPr>
              <a:t>"{% url 'blog:yozish' %}"</a:t>
            </a:r>
            <a:r>
              <a:rPr sz="1393" b="0">
                <a:solidFill>
                  <a:srgbClr val="E06C75"/>
                </a:solidFill>
                <a:latin typeface="Consolas"/>
              </a:rPr>
              <a:t>&gt;</a:t>
            </a:r>
            <a:r>
              <a:rPr sz="1393" b="0">
                <a:solidFill>
                  <a:srgbClr val="E6E6E6"/>
                </a:solidFill>
                <a:latin typeface="Consolas"/>
              </a:rPr>
              <a:t>✍️ Maqola yozish</a:t>
            </a:r>
            <a:r>
              <a:rPr sz="1393" b="0">
                <a:solidFill>
                  <a:srgbClr val="E06C75"/>
                </a:solidFill>
                <a:latin typeface="Consolas"/>
              </a:rPr>
              <a:t>&lt;/a</a:t>
            </a:r>
            <a:r>
              <a:rPr sz="139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</a:t>
            </a:r>
            <a:r>
              <a:rPr sz="1393" b="0">
                <a:solidFill>
                  <a:srgbClr val="E06C75"/>
                </a:solidFill>
                <a:latin typeface="Consolas"/>
              </a:rPr>
              <a:t>&lt;form</a:t>
            </a:r>
            <a:r>
              <a:rPr sz="1393" b="0">
                <a:solidFill>
                  <a:srgbClr val="E6E6E6"/>
                </a:solidFill>
                <a:latin typeface="Consolas"/>
              </a:rPr>
              <a:t> method=</a:t>
            </a:r>
            <a:r>
              <a:rPr sz="1393" b="0">
                <a:solidFill>
                  <a:srgbClr val="98C379"/>
                </a:solidFill>
                <a:latin typeface="Consolas"/>
              </a:rPr>
              <a:t>"post"</a:t>
            </a:r>
            <a:r>
              <a:rPr sz="1393" b="0">
                <a:solidFill>
                  <a:srgbClr val="E6E6E6"/>
                </a:solidFill>
                <a:latin typeface="Consolas"/>
              </a:rPr>
              <a:t> action=</a:t>
            </a:r>
            <a:r>
              <a:rPr sz="1393" b="0">
                <a:solidFill>
                  <a:srgbClr val="98C379"/>
                </a:solidFill>
                <a:latin typeface="Consolas"/>
              </a:rPr>
              <a:t>"{% url 'logout' %}"</a:t>
            </a:r>
            <a:r>
              <a:rPr sz="1393" b="0">
                <a:solidFill>
                  <a:srgbClr val="E06C75"/>
                </a:solidFill>
                <a:latin typeface="Consolas"/>
              </a:rPr>
              <a:t>&gt;</a:t>
            </a:r>
            <a:r>
              <a:rPr sz="1393" b="0">
                <a:solidFill>
                  <a:srgbClr val="E06C75"/>
                </a:solidFill>
                <a:latin typeface="Consolas"/>
              </a:rPr>
              <a:t>{% csrf_token %}</a:t>
            </a:r>
            <a:r>
              <a:rPr sz="1393" b="0">
                <a:solidFill>
                  <a:srgbClr val="E06C75"/>
                </a:solidFill>
                <a:latin typeface="Consolas"/>
              </a:rPr>
              <a:t>&lt;button</a:t>
            </a:r>
            <a:r>
              <a:rPr sz="1393" b="0">
                <a:solidFill>
                  <a:srgbClr val="E06C75"/>
                </a:solidFill>
                <a:latin typeface="Consolas"/>
              </a:rPr>
              <a:t>&gt;</a:t>
            </a:r>
            <a:r>
              <a:rPr sz="1393" b="0">
                <a:solidFill>
                  <a:srgbClr val="E6E6E6"/>
                </a:solidFill>
                <a:latin typeface="Consolas"/>
              </a:rPr>
              <a:t>Chiqish</a:t>
            </a:r>
            <a:r>
              <a:rPr sz="1393" b="0">
                <a:solidFill>
                  <a:srgbClr val="E06C75"/>
                </a:solidFill>
                <a:latin typeface="Consolas"/>
              </a:rPr>
              <a:t>&lt;/button</a:t>
            </a:r>
            <a:r>
              <a:rPr sz="1393" b="0">
                <a:solidFill>
                  <a:srgbClr val="E06C75"/>
                </a:solidFill>
                <a:latin typeface="Consolas"/>
              </a:rPr>
              <a:t>&gt;</a:t>
            </a:r>
            <a:r>
              <a:rPr sz="1393" b="0">
                <a:solidFill>
                  <a:srgbClr val="E06C75"/>
                </a:solidFill>
                <a:latin typeface="Consolas"/>
              </a:rPr>
              <a:t>&lt;/form</a:t>
            </a:r>
            <a:r>
              <a:rPr sz="139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06C75"/>
                </a:solidFill>
                <a:latin typeface="Consolas"/>
              </a:rPr>
              <a:t>{% else %}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</a:t>
            </a:r>
            <a:r>
              <a:rPr sz="1393" b="0">
                <a:solidFill>
                  <a:srgbClr val="E06C75"/>
                </a:solidFill>
                <a:latin typeface="Consolas"/>
              </a:rPr>
              <a:t>&lt;a</a:t>
            </a:r>
            <a:r>
              <a:rPr sz="1393" b="0">
                <a:solidFill>
                  <a:srgbClr val="E6E6E6"/>
                </a:solidFill>
                <a:latin typeface="Consolas"/>
              </a:rPr>
              <a:t> href=</a:t>
            </a:r>
            <a:r>
              <a:rPr sz="1393" b="0">
                <a:solidFill>
                  <a:srgbClr val="98C379"/>
                </a:solidFill>
                <a:latin typeface="Consolas"/>
              </a:rPr>
              <a:t>"{% url 'login' %}"</a:t>
            </a:r>
            <a:r>
              <a:rPr sz="1393" b="0">
                <a:solidFill>
                  <a:srgbClr val="E06C75"/>
                </a:solidFill>
                <a:latin typeface="Consolas"/>
              </a:rPr>
              <a:t>&gt;</a:t>
            </a:r>
            <a:r>
              <a:rPr sz="1393" b="0">
                <a:solidFill>
                  <a:srgbClr val="E6E6E6"/>
                </a:solidFill>
                <a:latin typeface="Consolas"/>
              </a:rPr>
              <a:t>Kirish</a:t>
            </a:r>
            <a:r>
              <a:rPr sz="1393" b="0">
                <a:solidFill>
                  <a:srgbClr val="E06C75"/>
                </a:solidFill>
                <a:latin typeface="Consolas"/>
              </a:rPr>
              <a:t>&lt;/a</a:t>
            </a:r>
            <a:r>
              <a:rPr sz="1393" b="0">
                <a:solidFill>
                  <a:srgbClr val="E06C75"/>
                </a:solidFill>
                <a:latin typeface="Consolas"/>
              </a:rPr>
              <a:t>&gt;</a:t>
            </a:r>
            <a:r>
              <a:rPr sz="1393" b="0">
                <a:solidFill>
                  <a:srgbClr val="E6E6E6"/>
                </a:solidFill>
                <a:latin typeface="Consolas"/>
              </a:rPr>
              <a:t> · </a:t>
            </a:r>
            <a:r>
              <a:rPr sz="1393" b="0">
                <a:solidFill>
                  <a:srgbClr val="E06C75"/>
                </a:solidFill>
                <a:latin typeface="Consolas"/>
              </a:rPr>
              <a:t>&lt;a</a:t>
            </a:r>
            <a:r>
              <a:rPr sz="1393" b="0">
                <a:solidFill>
                  <a:srgbClr val="E6E6E6"/>
                </a:solidFill>
                <a:latin typeface="Consolas"/>
              </a:rPr>
              <a:t> href=</a:t>
            </a:r>
            <a:r>
              <a:rPr sz="1393" b="0">
                <a:solidFill>
                  <a:srgbClr val="98C379"/>
                </a:solidFill>
                <a:latin typeface="Consolas"/>
              </a:rPr>
              <a:t>"{% url 'blog:royxat' %}"</a:t>
            </a:r>
            <a:r>
              <a:rPr sz="1393" b="0">
                <a:solidFill>
                  <a:srgbClr val="E06C75"/>
                </a:solidFill>
                <a:latin typeface="Consolas"/>
              </a:rPr>
              <a:t>&gt;</a:t>
            </a:r>
            <a:r>
              <a:rPr sz="1393" b="0">
                <a:solidFill>
                  <a:srgbClr val="E6E6E6"/>
                </a:solidFill>
                <a:latin typeface="Consolas"/>
              </a:rPr>
              <a:t>Ro'yxatdan o'tish</a:t>
            </a:r>
            <a:r>
              <a:rPr sz="1393" b="0">
                <a:solidFill>
                  <a:srgbClr val="E06C75"/>
                </a:solidFill>
                <a:latin typeface="Consolas"/>
              </a:rPr>
              <a:t>&lt;/a</a:t>
            </a:r>
            <a:r>
              <a:rPr sz="139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06C75"/>
                </a:solidFill>
                <a:latin typeface="Consolas"/>
              </a:rPr>
              <a:t>{% endif %}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52908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752908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844348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Parollar ochiq saqlanmaydi — </a:t>
            </a:r>
            <a:r>
              <a:rPr sz="2447" b="0">
                <a:solidFill>
                  <a:srgbClr val="B02A4A"/>
                </a:solidFill>
                <a:latin typeface="Consolas"/>
              </a:rPr>
              <a:t>pbkdf2_sha256$...</a:t>
            </a:r>
            <a:r>
              <a:rPr sz="2660" b="0">
                <a:solidFill>
                  <a:srgbClr val="1F232B"/>
                </a:solidFill>
                <a:latin typeface="Calibri"/>
              </a:rPr>
              <a:t> xesh. Hatto admin ham parolni bilmaydi!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Admin'ni sozlang, 5 ta maqola qo'shing; filtr, qidiruv, ommaviy amal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25776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3208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"Aloqa" formasi — noto'g'ri ma'lumot bilan sinang;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csrf_token %}</a:t>
            </a:r>
            <a:r>
              <a:rPr sz="2800" b="0">
                <a:solidFill>
                  <a:srgbClr val="1F232B"/>
                </a:solidFill>
                <a:latin typeface="Calibri"/>
              </a:rPr>
              <a:t> ni olib 403 ni ko'ring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34232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616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Xabar</a:t>
            </a:r>
            <a:r>
              <a:rPr sz="2800" b="0">
                <a:solidFill>
                  <a:srgbClr val="1F232B"/>
                </a:solidFill>
                <a:latin typeface="Calibri"/>
              </a:rPr>
              <a:t> modeli + ModelForm → admin'da ko'rinsin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1088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433832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Ro'yxatdan o'tish va kirish/chiqish; menyu foydalanuvchi holatiga qarab o'zgarsin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9343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544677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"Maqola yozish" (</a:t>
            </a:r>
            <a:r>
              <a:rPr sz="2576" b="0">
                <a:solidFill>
                  <a:srgbClr val="B02A4A"/>
                </a:solidFill>
                <a:latin typeface="Consolas"/>
              </a:rPr>
              <a:t>@login_required</a:t>
            </a:r>
            <a:r>
              <a:rPr sz="2800" b="0">
                <a:solidFill>
                  <a:srgbClr val="1F232B"/>
                </a:solidFill>
                <a:latin typeface="Calibri"/>
              </a:rPr>
              <a:t>) — kirmasdan ochib ko'ring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CSRF verification failed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csrf_token %}</a:t>
            </a:r>
            <a:r>
              <a:rPr sz="2800" b="0">
                <a:solidFill>
                  <a:srgbClr val="1F232B"/>
                </a:solidFill>
                <a:latin typeface="Calibri"/>
              </a:rPr>
              <a:t> yoki </a:t>
            </a:r>
            <a:r>
              <a:rPr sz="2576" b="0">
                <a:solidFill>
                  <a:srgbClr val="B02A4A"/>
                </a:solidFill>
                <a:latin typeface="Consolas"/>
              </a:rPr>
              <a:t>method="post"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POST'dan keyin redirect yo'q — yangilansa qayta yuboriladi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cleaned_data</a:t>
            </a:r>
            <a:r>
              <a:rPr sz="2800" b="0">
                <a:solidFill>
                  <a:srgbClr val="1F232B"/>
                </a:solidFill>
                <a:latin typeface="Calibri"/>
              </a:rPr>
              <a:t> ni </a:t>
            </a:r>
            <a:r>
              <a:rPr sz="2576" b="0">
                <a:solidFill>
                  <a:srgbClr val="B02A4A"/>
                </a:solidFill>
                <a:latin typeface="Consolas"/>
              </a:rPr>
              <a:t>is_valid()</a:t>
            </a:r>
            <a:r>
              <a:rPr sz="2800" b="0">
                <a:solidFill>
                  <a:srgbClr val="1F232B"/>
                </a:solidFill>
                <a:latin typeface="Calibri"/>
              </a:rPr>
              <a:t> dan oldin ishlatish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Admin'da model yo'q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admin.py</a:t>
            </a:r>
            <a:r>
              <a:rPr sz="2800" b="0">
                <a:solidFill>
                  <a:srgbClr val="1F232B"/>
                </a:solidFill>
                <a:latin typeface="Calibri"/>
              </a:rPr>
              <a:t> da ro'yxatdan o'tmagan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ModelForm'da </a:t>
            </a:r>
            <a:r>
              <a:rPr sz="2576" b="0">
                <a:solidFill>
                  <a:srgbClr val="B02A4A"/>
                </a:solidFill>
                <a:latin typeface="Consolas"/>
              </a:rPr>
              <a:t>fields</a:t>
            </a:r>
            <a:r>
              <a:rPr sz="2800" b="0">
                <a:solidFill>
                  <a:srgbClr val="1F232B"/>
                </a:solidFill>
                <a:latin typeface="Calibri"/>
              </a:rPr>
              <a:t> ko'rsatilmagan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Modelni admin panelda ko'rsatish uchun nima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settings.py ga qo'shiladi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admin.py</a:t>
            </a:r>
            <a:r>
              <a:rPr sz="1900" b="0">
                <a:solidFill>
                  <a:srgbClr val="1F232B"/>
                </a:solidFill>
                <a:latin typeface="Calibri"/>
              </a:rPr>
              <a:t> da </a:t>
            </a:r>
            <a:r>
              <a:rPr sz="1748" b="0">
                <a:solidFill>
                  <a:srgbClr val="B02A4A"/>
                </a:solidFill>
                <a:latin typeface="Consolas"/>
              </a:rPr>
              <a:t>admin.site.register(Model)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Migratsiya qilinadi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Shablon yaratiladi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Modelni admin panelda ko'rsatish uchun nima qilinadi?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settings.py ga qo'shiladi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admin.py</a:t>
            </a:r>
            <a:r>
              <a:rPr sz="1900" b="1">
                <a:solidFill>
                  <a:srgbClr val="1F232B"/>
                </a:solidFill>
                <a:latin typeface="Calibri"/>
              </a:rPr>
              <a:t> da </a:t>
            </a:r>
            <a:r>
              <a:rPr sz="1748" b="1">
                <a:solidFill>
                  <a:srgbClr val="B02A4A"/>
                </a:solidFill>
                <a:latin typeface="Consolas"/>
              </a:rPr>
              <a:t>admin.site.register(Model)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Migratsiya qilinadi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Shablon yaratiladi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POST formada majburiy bo'lgan xavfsizlik tegi?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csrf_token %}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secure %}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load form %}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token %}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POST formada majburiy bo'lgan xavfsizlik tegi?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{% csrf_token %}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secure %}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load form %}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token %}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Forma ma'lumotlari to'g'riligini tekshiruvchi metod?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form.save()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form.check()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form.is_valid()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form.validate()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Forma ma'lumotlari to'g'riligini tekshiruvchi metod?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form.save()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form.check()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form.is_valid()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form.validate()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View'ni faqat tizimga kirganlar uchun ochiq qiluvchi dekorator?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@admin_only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@csrf_exempt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@staff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@login_required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View'ni faqat tizimga kirganlar uchun ochiq qiluvchi dekorator?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@admin_only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@csrf_exempt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@staff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@login_required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9666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2410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Izohlar: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Izoh</a:t>
            </a:r>
            <a:r>
              <a:rPr sz="2800" b="0">
                <a:solidFill>
                  <a:srgbClr val="1F232B"/>
                </a:solidFill>
                <a:latin typeface="Calibri"/>
              </a:rPr>
              <a:t> modeli (maqola, muallif, matn, sana); faqat kirganlar izoh qoldira oladi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05124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03255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Kutubxona admin'i:</a:t>
            </a:r>
            <a:r>
              <a:rPr sz="2800" b="0">
                <a:solidFill>
                  <a:srgbClr val="1F232B"/>
                </a:solidFill>
                <a:latin typeface="Calibri"/>
              </a:rPr>
              <a:t> muallif, janr, yil; filtr — janr va mavjudlik; qidiruv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37-mavzu · Django Admin panel bilan ishlash. Django Forms yordamida ma'lumotlarni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Admin: </a:t>
            </a:r>
            <a:r>
              <a:rPr sz="2576" b="0">
                <a:solidFill>
                  <a:srgbClr val="B02A4A"/>
                </a:solidFill>
                <a:latin typeface="Consolas"/>
              </a:rPr>
              <a:t>createsuperuser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@admin.register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ModelAdmin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GET → bo'sh forma; POST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is_valid()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cleaned_data</a:t>
            </a:r>
            <a:r>
              <a:rPr sz="2800" b="0">
                <a:solidFill>
                  <a:srgbClr val="1F232B"/>
                </a:solidFill>
                <a:latin typeface="Calibri"/>
              </a:rPr>
              <a:t> / </a:t>
            </a:r>
            <a:r>
              <a:rPr sz="2576" b="0">
                <a:solidFill>
                  <a:srgbClr val="B02A4A"/>
                </a:solidFill>
                <a:latin typeface="Consolas"/>
              </a:rPr>
              <a:t>save()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800" b="1">
                <a:solidFill>
                  <a:srgbClr val="1F232B"/>
                </a:solidFill>
                <a:latin typeface="Calibri"/>
              </a:rPr>
              <a:t>redirect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{% csrf_token %}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har POST formada; </a:t>
            </a:r>
            <a:r>
              <a:rPr sz="2576" b="0">
                <a:solidFill>
                  <a:srgbClr val="B02A4A"/>
                </a:solidFill>
                <a:latin typeface="Consolas"/>
              </a:rPr>
              <a:t>clean_maydon()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o'z tekshiruvlar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ModelForm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save(commit=False)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messages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Auth: </a:t>
            </a:r>
            <a:r>
              <a:rPr sz="2576" b="0">
                <a:solidFill>
                  <a:srgbClr val="B02A4A"/>
                </a:solidFill>
                <a:latin typeface="Consolas"/>
              </a:rPr>
              <a:t>auth.urls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UserCreationForm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login()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@login_required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38. CRUD amallarini yaratish. CRUD asosida mini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37-mavzu: Django Admin panel bilan ishlash. Django Forms yordamida ma'lumotlarni qabul qilish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