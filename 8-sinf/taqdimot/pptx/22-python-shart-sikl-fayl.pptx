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JavaScript'dagi g'oyalar bir xil — faqat yozilishi boshqacha, shuning uchun mavzu tez o'tadi.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2, 4,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Ikki nuqta va chekinish.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"a".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ValueError.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22-MAVZU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Python control flow: shartlar va sikllar.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if, elif, else va chekinish qoidasi; match; for va range(), while, break, continue; try/except bilan xatolarni ushlash; fayllarni ochish, o'qish, yozish va qo'shish (with open). Python kalkulyatori.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Shartlar: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if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elif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else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chekinish</a:t>
            </a:r>
            <a:r>
              <a:rPr sz="2800" b="0">
                <a:solidFill>
                  <a:srgbClr val="1F232B"/>
                </a:solidFill>
                <a:latin typeface="Calibri"/>
              </a:rPr>
              <a:t> qoidasi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Sikllar: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for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range()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while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break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continue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Xatolarni ushlash: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try</a:t>
            </a:r>
            <a:r>
              <a:rPr sz="2800" b="0">
                <a:solidFill>
                  <a:srgbClr val="1F232B"/>
                </a:solidFill>
                <a:latin typeface="Calibri"/>
              </a:rPr>
              <a:t> / </a:t>
            </a:r>
            <a:r>
              <a:rPr sz="2576" b="0">
                <a:solidFill>
                  <a:srgbClr val="B02A4A"/>
                </a:solidFill>
                <a:latin typeface="Consolas"/>
              </a:rPr>
              <a:t>except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Fayllar: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yaratish, yozish, o'qish, qo'shish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Python kalkulyatori</a:t>
            </a:r>
            <a:r>
              <a:rPr sz="2800" b="0">
                <a:solidFill>
                  <a:srgbClr val="1F232B"/>
                </a:solidFill>
                <a:latin typeface="Calibri"/>
              </a:rPr>
              <a:t> (15-loyiha)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if, elif,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8666"/>
            <a:ext cx="11091672" cy="340278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353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7850"/>
            <a:ext cx="10725912" cy="30553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ball = int(input(</a:t>
            </a:r>
            <a:r>
              <a:rPr sz="1768" b="0">
                <a:solidFill>
                  <a:srgbClr val="98C379"/>
                </a:solidFill>
                <a:latin typeface="Consolas"/>
              </a:rPr>
              <a:t>"Ballingiz: "</a:t>
            </a:r>
            <a:r>
              <a:rPr sz="1768" b="0">
                <a:solidFill>
                  <a:srgbClr val="E6E6E6"/>
                </a:solidFill>
                <a:latin typeface="Consolas"/>
              </a:rPr>
              <a:t>))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if</a:t>
            </a:r>
            <a:r>
              <a:rPr sz="1768" b="0">
                <a:solidFill>
                  <a:srgbClr val="E6E6E6"/>
                </a:solidFill>
                <a:latin typeface="Consolas"/>
              </a:rPr>
              <a:t> ball &gt;= 86: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</a:t>
            </a:r>
            <a:r>
              <a:rPr sz="1768" b="0">
                <a:solidFill>
                  <a:srgbClr val="C678DD"/>
                </a:solidFill>
                <a:latin typeface="Consolas"/>
              </a:rPr>
              <a:t>print</a:t>
            </a:r>
            <a:r>
              <a:rPr sz="1768" b="0">
                <a:solidFill>
                  <a:srgbClr val="E6E6E6"/>
                </a:solidFill>
                <a:latin typeface="Consolas"/>
              </a:rPr>
              <a:t>(</a:t>
            </a:r>
            <a:r>
              <a:rPr sz="1768" b="0">
                <a:solidFill>
                  <a:srgbClr val="98C379"/>
                </a:solidFill>
                <a:latin typeface="Consolas"/>
              </a:rPr>
              <a:t>"A'lo! 🏆"</a:t>
            </a:r>
            <a:r>
              <a:rPr sz="176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elif</a:t>
            </a:r>
            <a:r>
              <a:rPr sz="1768" b="0">
                <a:solidFill>
                  <a:srgbClr val="E6E6E6"/>
                </a:solidFill>
                <a:latin typeface="Consolas"/>
              </a:rPr>
              <a:t> ball &gt;= 71:              # JS'dagi </a:t>
            </a:r>
            <a:r>
              <a:rPr sz="1768" b="0">
                <a:solidFill>
                  <a:srgbClr val="98C379"/>
                </a:solidFill>
                <a:latin typeface="Consolas"/>
              </a:rPr>
              <a:t>"else if"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</a:t>
            </a:r>
            <a:r>
              <a:rPr sz="1768" b="0">
                <a:solidFill>
                  <a:srgbClr val="C678DD"/>
                </a:solidFill>
                <a:latin typeface="Consolas"/>
              </a:rPr>
              <a:t>print</a:t>
            </a:r>
            <a:r>
              <a:rPr sz="1768" b="0">
                <a:solidFill>
                  <a:srgbClr val="E6E6E6"/>
                </a:solidFill>
                <a:latin typeface="Consolas"/>
              </a:rPr>
              <a:t>(</a:t>
            </a:r>
            <a:r>
              <a:rPr sz="1768" b="0">
                <a:solidFill>
                  <a:srgbClr val="98C379"/>
                </a:solidFill>
                <a:latin typeface="Consolas"/>
              </a:rPr>
              <a:t>"Yaxshi 👍"</a:t>
            </a:r>
            <a:r>
              <a:rPr sz="176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elif</a:t>
            </a:r>
            <a:r>
              <a:rPr sz="1768" b="0">
                <a:solidFill>
                  <a:srgbClr val="E6E6E6"/>
                </a:solidFill>
                <a:latin typeface="Consolas"/>
              </a:rPr>
              <a:t> ball &gt;= 56: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</a:t>
            </a:r>
            <a:r>
              <a:rPr sz="1768" b="0">
                <a:solidFill>
                  <a:srgbClr val="C678DD"/>
                </a:solidFill>
                <a:latin typeface="Consolas"/>
              </a:rPr>
              <a:t>print</a:t>
            </a:r>
            <a:r>
              <a:rPr sz="1768" b="0">
                <a:solidFill>
                  <a:srgbClr val="E6E6E6"/>
                </a:solidFill>
                <a:latin typeface="Consolas"/>
              </a:rPr>
              <a:t>(</a:t>
            </a:r>
            <a:r>
              <a:rPr sz="1768" b="0">
                <a:solidFill>
                  <a:srgbClr val="98C379"/>
                </a:solidFill>
                <a:latin typeface="Consolas"/>
              </a:rPr>
              <a:t>"Qoniqarli"</a:t>
            </a:r>
            <a:r>
              <a:rPr sz="176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else</a:t>
            </a:r>
            <a:r>
              <a:rPr sz="1768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</a:t>
            </a:r>
            <a:r>
              <a:rPr sz="1768" b="0">
                <a:solidFill>
                  <a:srgbClr val="C678DD"/>
                </a:solidFill>
                <a:latin typeface="Consolas"/>
              </a:rPr>
              <a:t>print</a:t>
            </a:r>
            <a:r>
              <a:rPr sz="1768" b="0">
                <a:solidFill>
                  <a:srgbClr val="E6E6E6"/>
                </a:solidFill>
                <a:latin typeface="Consolas"/>
              </a:rPr>
              <a:t>(</a:t>
            </a:r>
            <a:r>
              <a:rPr sz="1768" b="0">
                <a:solidFill>
                  <a:srgbClr val="98C379"/>
                </a:solidFill>
                <a:latin typeface="Consolas"/>
              </a:rPr>
              <a:t>"Qoniqarsiz 😔"</a:t>
            </a:r>
            <a:r>
              <a:rPr sz="1768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70909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Shart oxirida </a:t>
            </a:r>
            <a:r>
              <a:rPr sz="2600" b="1">
                <a:solidFill>
                  <a:srgbClr val="1F232B"/>
                </a:solidFill>
                <a:latin typeface="Calibri"/>
              </a:rPr>
              <a:t>ikki nuqta</a:t>
            </a:r>
            <a:r>
              <a:rPr sz="2600" b="0">
                <a:solidFill>
                  <a:srgbClr val="1F232B"/>
                </a:solidFill>
                <a:latin typeface="Calibri"/>
              </a:rPr>
              <a:t> </a:t>
            </a:r>
            <a:r>
              <a:rPr sz="2392" b="0">
                <a:solidFill>
                  <a:srgbClr val="B02A4A"/>
                </a:solidFill>
                <a:latin typeface="Consolas"/>
              </a:rPr>
              <a:t>: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219499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48251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else if</a:t>
            </a:r>
            <a:r>
              <a:rPr sz="2600" b="0">
                <a:solidFill>
                  <a:srgbClr val="1F232B"/>
                </a:solidFill>
                <a:latin typeface="Calibri"/>
              </a:rPr>
              <a:t> emas — </a:t>
            </a:r>
            <a:r>
              <a:rPr sz="2392" b="1">
                <a:solidFill>
                  <a:srgbClr val="B02A4A"/>
                </a:solidFill>
                <a:latin typeface="Consolas"/>
              </a:rPr>
              <a:t>elif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79684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Chekinish — Python'ning eng muhim qoidasi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69285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3453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yosh = 15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yosh &gt;= 14: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"Pasport olish mumkin"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# ←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ichida (4 bo'sh joy)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"Tabriklaymiz!"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       # ←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ichida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"Bu har doim chiqadi"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     # ← tashqarida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29635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JS'da bloklar </a:t>
            </a:r>
            <a:r>
              <a:rPr sz="2024" b="0">
                <a:solidFill>
                  <a:srgbClr val="B02A4A"/>
                </a:solidFill>
                <a:latin typeface="Consolas"/>
              </a:rPr>
              <a:t>{ }</a:t>
            </a:r>
            <a:r>
              <a:rPr sz="2200" b="0">
                <a:solidFill>
                  <a:srgbClr val="1F232B"/>
                </a:solidFill>
                <a:latin typeface="Calibri"/>
              </a:rPr>
              <a:t> bilan, Python'da — </a:t>
            </a:r>
            <a:r>
              <a:rPr sz="2024" b="0">
                <a:solidFill>
                  <a:srgbClr val="B02A4A"/>
                </a:solidFill>
                <a:latin typeface="Consolas"/>
              </a:rPr>
              <a:t>:</a:t>
            </a:r>
            <a:r>
              <a:rPr sz="2200" b="0">
                <a:solidFill>
                  <a:srgbClr val="1F232B"/>
                </a:solidFill>
                <a:latin typeface="Calibri"/>
              </a:rPr>
              <a:t> va </a:t>
            </a:r>
            <a:r>
              <a:rPr sz="2200" b="1">
                <a:solidFill>
                  <a:srgbClr val="1F232B"/>
                </a:solidFill>
                <a:latin typeface="Calibri"/>
              </a:rPr>
              <a:t>4 bo'sh joy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455365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843477"/>
            <a:ext cx="11091672" cy="91960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3477"/>
            <a:ext cx="82296" cy="91960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4917"/>
            <a:ext cx="10725912" cy="7550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💡 </a:t>
            </a:r>
            <a:r>
              <a:rPr sz="2090" b="1">
                <a:solidFill>
                  <a:srgbClr val="1F232B"/>
                </a:solidFill>
                <a:latin typeface="Calibri"/>
              </a:rPr>
              <a:t>Kitob mundarijasi:</a:t>
            </a:r>
            <a:r>
              <a:rPr sz="2090" b="0">
                <a:solidFill>
                  <a:srgbClr val="1F232B"/>
                </a:solidFill>
                <a:latin typeface="Calibri"/>
              </a:rPr>
              <a:t> kichik bo'limlar o'ngroqqa surilgan — qaysi bo'limga tegishli ekanini siljishdan bilasiz.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2540"/>
            <a:ext cx="11091672" cy="587819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82540"/>
            <a:ext cx="82296" cy="5878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3980"/>
            <a:ext cx="10725912" cy="42322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922" b="0">
                <a:solidFill>
                  <a:srgbClr val="B02A4A"/>
                </a:solidFill>
                <a:latin typeface="Consolas"/>
              </a:rPr>
              <a:t>IndentationError</a:t>
            </a:r>
            <a:r>
              <a:rPr sz="2090" b="0">
                <a:solidFill>
                  <a:srgbClr val="1F232B"/>
                </a:solidFill>
                <a:latin typeface="Calibri"/>
              </a:rPr>
              <a:t> — chekinish noto'g'ri. Bo'sh joy va Tab'ni aralashtirmang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Qo'shimcha imkoniyatlar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0837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570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0021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holat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"katta"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yosh &gt;= 18 </a:t>
            </a:r>
            <a:r>
              <a:rPr sz="1904" b="0">
                <a:solidFill>
                  <a:srgbClr val="C678DD"/>
                </a:solidFill>
                <a:latin typeface="Consolas"/>
              </a:rPr>
              <a:t>else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98C379"/>
                </a:solidFill>
                <a:latin typeface="Consolas"/>
              </a:rPr>
              <a:t>"voyaga yetmagan"</a:t>
            </a:r>
            <a:r>
              <a:rPr sz="1904" b="0">
                <a:solidFill>
                  <a:srgbClr val="E6E6E6"/>
                </a:solidFill>
                <a:latin typeface="Consolas"/>
              </a:rPr>
              <a:t>   # ternary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12 &lt;= yosh &lt;= 18:          # oraliq — JS</a:t>
            </a:r>
            <a:r>
              <a:rPr sz="1904" b="0">
                <a:solidFill>
                  <a:srgbClr val="98C379"/>
                </a:solidFill>
                <a:latin typeface="Consolas"/>
              </a:rPr>
              <a:t>'da bunday yozib bo'</a:t>
            </a:r>
            <a:r>
              <a:rPr sz="1904" b="0">
                <a:solidFill>
                  <a:srgbClr val="E6E6E6"/>
                </a:solidFill>
                <a:latin typeface="Consolas"/>
              </a:rPr>
              <a:t>lmasdi!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"Maktab yoshi"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match kun:                    # Python 3.10+ — switch o'rniga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case 6 | 7: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"Dam olish 🎉"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case _: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"Ish kuni"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for va range()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2212"/>
            <a:ext cx="11091672" cy="262761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707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1396"/>
            <a:ext cx="10725912" cy="228014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for</a:t>
            </a:r>
            <a:r>
              <a:rPr sz="1632" b="0">
                <a:solidFill>
                  <a:srgbClr val="E6E6E6"/>
                </a:solidFill>
                <a:latin typeface="Consolas"/>
              </a:rPr>
              <a:t> i </a:t>
            </a:r>
            <a:r>
              <a:rPr sz="1632" b="0">
                <a:solidFill>
                  <a:srgbClr val="C678DD"/>
                </a:solidFill>
                <a:latin typeface="Consolas"/>
              </a:rPr>
              <a:t>in</a:t>
            </a:r>
            <a:r>
              <a:rPr sz="1632" b="0">
                <a:solidFill>
                  <a:srgbClr val="E6E6E6"/>
                </a:solidFill>
                <a:latin typeface="Consolas"/>
              </a:rPr>
              <a:t> range(5):            # 0 1 2 3 4   (5 kirmaydi!)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print</a:t>
            </a:r>
            <a:r>
              <a:rPr sz="1632" b="0">
                <a:solidFill>
                  <a:srgbClr val="E6E6E6"/>
                </a:solidFill>
                <a:latin typeface="Consolas"/>
              </a:rPr>
              <a:t>(i, end=</a:t>
            </a:r>
            <a:r>
              <a:rPr sz="1632" b="0">
                <a:solidFill>
                  <a:srgbClr val="98C379"/>
                </a:solidFill>
                <a:latin typeface="Consolas"/>
              </a:rPr>
              <a:t>" "</a:t>
            </a:r>
            <a:r>
              <a:rPr sz="163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for</a:t>
            </a:r>
            <a:r>
              <a:rPr sz="1632" b="0">
                <a:solidFill>
                  <a:srgbClr val="E6E6E6"/>
                </a:solidFill>
                <a:latin typeface="Consolas"/>
              </a:rPr>
              <a:t> i </a:t>
            </a:r>
            <a:r>
              <a:rPr sz="1632" b="0">
                <a:solidFill>
                  <a:srgbClr val="C678DD"/>
                </a:solidFill>
                <a:latin typeface="Consolas"/>
              </a:rPr>
              <a:t>in</a:t>
            </a:r>
            <a:r>
              <a:rPr sz="1632" b="0">
                <a:solidFill>
                  <a:srgbClr val="E6E6E6"/>
                </a:solidFill>
                <a:latin typeface="Consolas"/>
              </a:rPr>
              <a:t> range(1, 6):         # 1 2 3 4 5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...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for</a:t>
            </a:r>
            <a:r>
              <a:rPr sz="1632" b="0">
                <a:solidFill>
                  <a:srgbClr val="E6E6E6"/>
                </a:solidFill>
                <a:latin typeface="Consolas"/>
              </a:rPr>
              <a:t> i </a:t>
            </a:r>
            <a:r>
              <a:rPr sz="1632" b="0">
                <a:solidFill>
                  <a:srgbClr val="C678DD"/>
                </a:solidFill>
                <a:latin typeface="Consolas"/>
              </a:rPr>
              <a:t>in</a:t>
            </a:r>
            <a:r>
              <a:rPr sz="1632" b="0">
                <a:solidFill>
                  <a:srgbClr val="E6E6E6"/>
                </a:solidFill>
                <a:latin typeface="Consolas"/>
              </a:rPr>
              <a:t> range(10, 0, -2):    # 10 8 6 4 2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...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for</a:t>
            </a:r>
            <a:r>
              <a:rPr sz="1632" b="0">
                <a:solidFill>
                  <a:srgbClr val="E6E6E6"/>
                </a:solidFill>
                <a:latin typeface="Consolas"/>
              </a:rPr>
              <a:t> harf </a:t>
            </a:r>
            <a:r>
              <a:rPr sz="1632" b="0">
                <a:solidFill>
                  <a:srgbClr val="C678DD"/>
                </a:solidFill>
                <a:latin typeface="Consolas"/>
              </a:rPr>
              <a:t>in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98C379"/>
                </a:solidFill>
                <a:latin typeface="Consolas"/>
              </a:rPr>
              <a:t>"Python"</a:t>
            </a:r>
            <a:r>
              <a:rPr sz="1632" b="0">
                <a:solidFill>
                  <a:srgbClr val="E6E6E6"/>
                </a:solidFill>
                <a:latin typeface="Consolas"/>
              </a:rPr>
              <a:t>:         # har bir harf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print</a:t>
            </a:r>
            <a:r>
              <a:rPr sz="1632" b="0">
                <a:solidFill>
                  <a:srgbClr val="E6E6E6"/>
                </a:solidFill>
                <a:latin typeface="Consolas"/>
              </a:rPr>
              <a:t>(harf, end=</a:t>
            </a:r>
            <a:r>
              <a:rPr sz="1632" b="0">
                <a:solidFill>
                  <a:srgbClr val="98C379"/>
                </a:solidFill>
                <a:latin typeface="Consolas"/>
              </a:rPr>
              <a:t>"-"</a:t>
            </a:r>
            <a:r>
              <a:rPr sz="1632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79288"/>
          <a:ext cx="11091672" cy="180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511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for (let i = 0; i &lt; 5; i++)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for i in range(5):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for (let i = 1; i &lt;= 10; i += 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for i in range(1, 11, 2):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for (const x of arr)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for x in arr: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Yig'indi va ko'paytirish jadvali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22552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7741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1736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jami = 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i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range(1, 101):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jami += 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"1..100 yig'indi:"</a:t>
            </a:r>
            <a:r>
              <a:rPr sz="1904" b="0">
                <a:solidFill>
                  <a:srgbClr val="E6E6E6"/>
                </a:solidFill>
                <a:latin typeface="Consolas"/>
              </a:rPr>
              <a:t>, jami)   # 5050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son = int(input(</a:t>
            </a:r>
            <a:r>
              <a:rPr sz="1904" b="0">
                <a:solidFill>
                  <a:srgbClr val="98C379"/>
                </a:solidFill>
                <a:latin typeface="Consolas"/>
              </a:rPr>
              <a:t>"Qaysi sonning jadvali? "</a:t>
            </a:r>
            <a:r>
              <a:rPr sz="1904" b="0">
                <a:solidFill>
                  <a:srgbClr val="E6E6E6"/>
                </a:solidFill>
                <a:latin typeface="Consolas"/>
              </a:rPr>
              <a:t>))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i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range(1, 11):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(f</a:t>
            </a:r>
            <a:r>
              <a:rPr sz="1904" b="0">
                <a:solidFill>
                  <a:srgbClr val="98C379"/>
                </a:solidFill>
                <a:latin typeface="Consolas"/>
              </a:rPr>
              <a:t>"{son} × {i:2} = {son * i:3}"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# :2, :3 — tekislash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while, break,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5057"/>
            <a:ext cx="11091672" cy="39499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992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4241"/>
            <a:ext cx="10725912" cy="3602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random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yashirin = random.randint(1, 20)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urinish = 0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while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:                       # </a:t>
            </a:r>
            <a:r>
              <a:rPr sz="1496" b="0">
                <a:solidFill>
                  <a:srgbClr val="C678DD"/>
                </a:solidFill>
                <a:latin typeface="Consolas"/>
              </a:rPr>
              <a:t>break</a:t>
            </a:r>
            <a:r>
              <a:rPr sz="1496" b="0">
                <a:solidFill>
                  <a:srgbClr val="E6E6E6"/>
                </a:solidFill>
                <a:latin typeface="Consolas"/>
              </a:rPr>
              <a:t> bilan chiqamiz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taxmin = int(input(</a:t>
            </a:r>
            <a:r>
              <a:rPr sz="1496" b="0">
                <a:solidFill>
                  <a:srgbClr val="98C379"/>
                </a:solidFill>
                <a:latin typeface="Consolas"/>
              </a:rPr>
              <a:t>"1–20 oralig'ida son: "</a:t>
            </a:r>
            <a:r>
              <a:rPr sz="1496" b="0">
                <a:solidFill>
                  <a:srgbClr val="E6E6E6"/>
                </a:solidFill>
                <a:latin typeface="Consolas"/>
              </a:rPr>
              <a:t>))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urinish += 1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taxmin == yashirin: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(f</a:t>
            </a:r>
            <a:r>
              <a:rPr sz="1496" b="0">
                <a:solidFill>
                  <a:srgbClr val="98C379"/>
                </a:solidFill>
                <a:latin typeface="Consolas"/>
              </a:rPr>
              <a:t>"🎉 Topdingiz! {urinish} ta urinishda"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break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elif</a:t>
            </a:r>
            <a:r>
              <a:rPr sz="1496" b="0">
                <a:solidFill>
                  <a:srgbClr val="E6E6E6"/>
                </a:solidFill>
                <a:latin typeface="Consolas"/>
              </a:rPr>
              <a:t> taxmin &lt; yashirin: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"⬆️ Kattaroq"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else</a:t>
            </a:r>
            <a:r>
              <a:rPr sz="1496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"⬇️ Kichikroq"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34477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continue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keyingi qadamga o'tish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760207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try / except — xatolarni ushlash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7619"/>
            <a:ext cx="11091672" cy="269601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248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6803"/>
            <a:ext cx="10725912" cy="23485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try</a:t>
            </a:r>
            <a:r>
              <a:rPr sz="1496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son = int(input(</a:t>
            </a:r>
            <a:r>
              <a:rPr sz="1496" b="0">
                <a:solidFill>
                  <a:srgbClr val="98C379"/>
                </a:solidFill>
                <a:latin typeface="Consolas"/>
              </a:rPr>
              <a:t>"Son kiriting: "</a:t>
            </a:r>
            <a:r>
              <a:rPr sz="1496" b="0">
                <a:solidFill>
                  <a:srgbClr val="E6E6E6"/>
                </a:solidFill>
                <a:latin typeface="Consolas"/>
              </a:rPr>
              <a:t>))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"Natija:"</a:t>
            </a:r>
            <a:r>
              <a:rPr sz="1496" b="0">
                <a:solidFill>
                  <a:srgbClr val="E6E6E6"/>
                </a:solidFill>
                <a:latin typeface="Consolas"/>
              </a:rPr>
              <a:t>, 100 / son)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except</a:t>
            </a:r>
            <a:r>
              <a:rPr sz="1496" b="0">
                <a:solidFill>
                  <a:srgbClr val="E6E6E6"/>
                </a:solidFill>
                <a:latin typeface="Consolas"/>
              </a:rPr>
              <a:t> ValueError: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"❌ Bu son emas!"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except</a:t>
            </a:r>
            <a:r>
              <a:rPr sz="1496" b="0">
                <a:solidFill>
                  <a:srgbClr val="E6E6E6"/>
                </a:solidFill>
                <a:latin typeface="Consolas"/>
              </a:rPr>
              <a:t> ZeroDivisionError: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"❌ Nolga bo'lib bo'lmaydi!"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finally: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</a:t>
            </a:r>
            <a:r>
              <a:rPr sz="1496" b="0">
                <a:solidFill>
                  <a:srgbClr val="98C379"/>
                </a:solidFill>
                <a:latin typeface="Consolas"/>
              </a:rPr>
              <a:t>"Dastur tugadi"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    # har doim bajariladi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53092"/>
            <a:ext cx="11091672" cy="1191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0795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82276"/>
            <a:ext cx="10725912" cy="843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1F232B"/>
                </a:solidFill>
                <a:latin typeface="Consolas"/>
              </a:rPr>
              <a:t>Son kiriting: abc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1F232B"/>
                </a:solidFill>
                <a:latin typeface="Consolas"/>
              </a:rPr>
              <a:t>❌ Bu son emas!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1F232B"/>
                </a:solidFill>
                <a:latin typeface="Consolas"/>
              </a:rPr>
              <a:t>Dastur tugadi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6382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int("salom")</a:t>
            </a:r>
            <a:r>
              <a:rPr sz="2200" b="0">
                <a:solidFill>
                  <a:srgbClr val="1F232B"/>
                </a:solidFill>
                <a:latin typeface="Calibri"/>
              </a:rPr>
              <a:t> dasturni to'xtatadi — </a:t>
            </a:r>
            <a:r>
              <a:rPr sz="2024" b="0">
                <a:solidFill>
                  <a:srgbClr val="B02A4A"/>
                </a:solidFill>
                <a:latin typeface="Consolas"/>
              </a:rPr>
              <a:t>try</a:t>
            </a:r>
            <a:r>
              <a:rPr sz="2200" b="0">
                <a:solidFill>
                  <a:srgbClr val="1F232B"/>
                </a:solidFill>
                <a:latin typeface="Calibri"/>
              </a:rPr>
              <a:t> uni </a:t>
            </a:r>
            <a:r>
              <a:rPr sz="2200" b="1">
                <a:solidFill>
                  <a:srgbClr val="1F232B"/>
                </a:solidFill>
                <a:latin typeface="Calibri"/>
              </a:rPr>
              <a:t>"yiqilish"dan saqlaydi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88955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C0D3E6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Fayllar bilan ishlash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FE9F2"/>
                </a:solidFill>
                <a:latin typeface="Calibri"/>
              </a:rPr>
              <a:t>Dastur yopilsa ham ma'lumot saqlansin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C0D3E6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Faylga yozish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3280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9806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with</a:t>
            </a:r>
            <a:r>
              <a:rPr sz="1768" b="0">
                <a:solidFill>
                  <a:srgbClr val="E6E6E6"/>
                </a:solidFill>
                <a:latin typeface="Consolas"/>
              </a:rPr>
              <a:t> open(</a:t>
            </a:r>
            <a:r>
              <a:rPr sz="1768" b="0">
                <a:solidFill>
                  <a:srgbClr val="98C379"/>
                </a:solidFill>
                <a:latin typeface="Consolas"/>
              </a:rPr>
              <a:t>"eslatma.txt"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"w"</a:t>
            </a:r>
            <a:r>
              <a:rPr sz="1768" b="0">
                <a:solidFill>
                  <a:srgbClr val="E6E6E6"/>
                </a:solidFill>
                <a:latin typeface="Consolas"/>
              </a:rPr>
              <a:t>, encoding=</a:t>
            </a:r>
            <a:r>
              <a:rPr sz="1768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768" b="0">
                <a:solidFill>
                  <a:srgbClr val="E6E6E6"/>
                </a:solidFill>
                <a:latin typeface="Consolas"/>
              </a:rPr>
              <a:t>) </a:t>
            </a:r>
            <a:r>
              <a:rPr sz="1768" b="0">
                <a:solidFill>
                  <a:srgbClr val="C678DD"/>
                </a:solidFill>
                <a:latin typeface="Consolas"/>
              </a:rPr>
              <a:t>as</a:t>
            </a:r>
            <a:r>
              <a:rPr sz="1768" b="0">
                <a:solidFill>
                  <a:srgbClr val="E6E6E6"/>
                </a:solidFill>
                <a:latin typeface="Consolas"/>
              </a:rPr>
              <a:t> f: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f.write(</a:t>
            </a:r>
            <a:r>
              <a:rPr sz="1768" b="0">
                <a:solidFill>
                  <a:srgbClr val="98C379"/>
                </a:solidFill>
                <a:latin typeface="Consolas"/>
              </a:rPr>
              <a:t>"Birinchi qator\n"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 # \n — yangi qator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f.write(</a:t>
            </a:r>
            <a:r>
              <a:rPr sz="1768" b="0">
                <a:solidFill>
                  <a:srgbClr val="98C379"/>
                </a:solidFill>
                <a:latin typeface="Consolas"/>
              </a:rPr>
              <a:t>"Ikkinchi qator\n"</a:t>
            </a:r>
            <a:r>
              <a:rPr sz="1768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6485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with ... as f: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ish tugagach faylni </a:t>
            </a:r>
            <a:r>
              <a:rPr sz="2600" b="1">
                <a:solidFill>
                  <a:srgbClr val="1F232B"/>
                </a:solidFill>
                <a:latin typeface="Calibri"/>
              </a:rPr>
              <a:t>avtomatik yopadi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1134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42192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encoding="utf-8"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o', g' va emoji uchun. </a:t>
            </a:r>
            <a:r>
              <a:rPr sz="2600" b="1">
                <a:solidFill>
                  <a:srgbClr val="1F232B"/>
                </a:solidFill>
                <a:latin typeface="Calibri"/>
              </a:rPr>
              <a:t>Doim yozing!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69078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119534"/>
          <a:ext cx="11091672" cy="190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650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Rejim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Fayl bor bo'lsa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"r"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O'qish (standart)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O'qiydi (yo'q bo'lsa — xato)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"w"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Yozish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⚠️ Eski mazmunni </a:t>
                      </a:r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o'chiradi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!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"a"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Qo'shish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Oxiriga qo'shadi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Fayldan o'qish va qo'shish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36952"/>
            <a:ext cx="11091672" cy="405297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9181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66136"/>
            <a:ext cx="10725912" cy="370550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96" b="0">
                <a:solidFill>
                  <a:srgbClr val="C678DD"/>
                </a:solidFill>
                <a:latin typeface="Consolas"/>
              </a:rPr>
              <a:t>with</a:t>
            </a:r>
            <a:r>
              <a:rPr sz="1796" b="0">
                <a:solidFill>
                  <a:srgbClr val="E6E6E6"/>
                </a:solidFill>
                <a:latin typeface="Consolas"/>
              </a:rPr>
              <a:t> open(</a:t>
            </a:r>
            <a:r>
              <a:rPr sz="1796" b="0">
                <a:solidFill>
                  <a:srgbClr val="98C379"/>
                </a:solidFill>
                <a:latin typeface="Consolas"/>
              </a:rPr>
              <a:t>"eslatma.txt"</a:t>
            </a:r>
            <a:r>
              <a:rPr sz="1796" b="0">
                <a:solidFill>
                  <a:srgbClr val="E6E6E6"/>
                </a:solidFill>
                <a:latin typeface="Consolas"/>
              </a:rPr>
              <a:t>, encoding=</a:t>
            </a:r>
            <a:r>
              <a:rPr sz="1796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796" b="0">
                <a:solidFill>
                  <a:srgbClr val="E6E6E6"/>
                </a:solidFill>
                <a:latin typeface="Consolas"/>
              </a:rPr>
              <a:t>) </a:t>
            </a:r>
            <a:r>
              <a:rPr sz="1796" b="0">
                <a:solidFill>
                  <a:srgbClr val="C678DD"/>
                </a:solidFill>
                <a:latin typeface="Consolas"/>
              </a:rPr>
              <a:t>as</a:t>
            </a:r>
            <a:r>
              <a:rPr sz="1796" b="0">
                <a:solidFill>
                  <a:srgbClr val="E6E6E6"/>
                </a:solidFill>
                <a:latin typeface="Consolas"/>
              </a:rPr>
              <a:t> f: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  matn = f.read()                         # butun fayl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C678DD"/>
                </a:solidFill>
                <a:latin typeface="Consolas"/>
              </a:rPr>
              <a:t>with</a:t>
            </a:r>
            <a:r>
              <a:rPr sz="1796" b="0">
                <a:solidFill>
                  <a:srgbClr val="E6E6E6"/>
                </a:solidFill>
                <a:latin typeface="Consolas"/>
              </a:rPr>
              <a:t> open(</a:t>
            </a:r>
            <a:r>
              <a:rPr sz="1796" b="0">
                <a:solidFill>
                  <a:srgbClr val="98C379"/>
                </a:solidFill>
                <a:latin typeface="Consolas"/>
              </a:rPr>
              <a:t>"eslatma.txt"</a:t>
            </a:r>
            <a:r>
              <a:rPr sz="1796" b="0">
                <a:solidFill>
                  <a:srgbClr val="E6E6E6"/>
                </a:solidFill>
                <a:latin typeface="Consolas"/>
              </a:rPr>
              <a:t>, encoding=</a:t>
            </a:r>
            <a:r>
              <a:rPr sz="1796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796" b="0">
                <a:solidFill>
                  <a:srgbClr val="E6E6E6"/>
                </a:solidFill>
                <a:latin typeface="Consolas"/>
              </a:rPr>
              <a:t>) </a:t>
            </a:r>
            <a:r>
              <a:rPr sz="1796" b="0">
                <a:solidFill>
                  <a:srgbClr val="C678DD"/>
                </a:solidFill>
                <a:latin typeface="Consolas"/>
              </a:rPr>
              <a:t>as</a:t>
            </a:r>
            <a:r>
              <a:rPr sz="1796" b="0">
                <a:solidFill>
                  <a:srgbClr val="E6E6E6"/>
                </a:solidFill>
                <a:latin typeface="Consolas"/>
              </a:rPr>
              <a:t> f: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  </a:t>
            </a:r>
            <a:r>
              <a:rPr sz="1796" b="0">
                <a:solidFill>
                  <a:srgbClr val="C678DD"/>
                </a:solidFill>
                <a:latin typeface="Consolas"/>
              </a:rPr>
              <a:t>for</a:t>
            </a:r>
            <a:r>
              <a:rPr sz="1796" b="0">
                <a:solidFill>
                  <a:srgbClr val="E6E6E6"/>
                </a:solidFill>
                <a:latin typeface="Consolas"/>
              </a:rPr>
              <a:t> i, qator </a:t>
            </a:r>
            <a:r>
              <a:rPr sz="1796" b="0">
                <a:solidFill>
                  <a:srgbClr val="C678DD"/>
                </a:solidFill>
                <a:latin typeface="Consolas"/>
              </a:rPr>
              <a:t>in</a:t>
            </a:r>
            <a:r>
              <a:rPr sz="1796" b="0">
                <a:solidFill>
                  <a:srgbClr val="E6E6E6"/>
                </a:solidFill>
                <a:latin typeface="Consolas"/>
              </a:rPr>
              <a:t> enumerate(f, start=1):  # qatorma-qator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7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796" b="0">
                <a:solidFill>
                  <a:srgbClr val="E6E6E6"/>
                </a:solidFill>
                <a:latin typeface="Consolas"/>
              </a:rPr>
              <a:t>(i, qator.strip())             # strip() — \n ni olib tashlaydi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796" b="0">
                <a:solidFill>
                  <a:srgbClr val="E6E6E6"/>
                </a:solidFill>
                <a:latin typeface="Consolas"/>
              </a:rPr>
              <a:t> os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C678DD"/>
                </a:solidFill>
                <a:latin typeface="Consolas"/>
              </a:rPr>
              <a:t>with</a:t>
            </a:r>
            <a:r>
              <a:rPr sz="1796" b="0">
                <a:solidFill>
                  <a:srgbClr val="E6E6E6"/>
                </a:solidFill>
                <a:latin typeface="Consolas"/>
              </a:rPr>
              <a:t> open(</a:t>
            </a:r>
            <a:r>
              <a:rPr sz="1796" b="0">
                <a:solidFill>
                  <a:srgbClr val="98C379"/>
                </a:solidFill>
                <a:latin typeface="Consolas"/>
              </a:rPr>
              <a:t>"kundalik.txt"</a:t>
            </a:r>
            <a:r>
              <a:rPr sz="1796" b="0">
                <a:solidFill>
                  <a:srgbClr val="E6E6E6"/>
                </a:solidFill>
                <a:latin typeface="Consolas"/>
              </a:rPr>
              <a:t>, </a:t>
            </a:r>
            <a:r>
              <a:rPr sz="1796" b="0">
                <a:solidFill>
                  <a:srgbClr val="98C379"/>
                </a:solidFill>
                <a:latin typeface="Consolas"/>
              </a:rPr>
              <a:t>"a"</a:t>
            </a:r>
            <a:r>
              <a:rPr sz="1796" b="0">
                <a:solidFill>
                  <a:srgbClr val="E6E6E6"/>
                </a:solidFill>
                <a:latin typeface="Consolas"/>
              </a:rPr>
              <a:t>, encoding=</a:t>
            </a:r>
            <a:r>
              <a:rPr sz="1796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796" b="0">
                <a:solidFill>
                  <a:srgbClr val="E6E6E6"/>
                </a:solidFill>
                <a:latin typeface="Consolas"/>
              </a:rPr>
              <a:t>) </a:t>
            </a:r>
            <a:r>
              <a:rPr sz="1796" b="0">
                <a:solidFill>
                  <a:srgbClr val="C678DD"/>
                </a:solidFill>
                <a:latin typeface="Consolas"/>
              </a:rPr>
              <a:t>as</a:t>
            </a:r>
            <a:r>
              <a:rPr sz="1796" b="0">
                <a:solidFill>
                  <a:srgbClr val="E6E6E6"/>
                </a:solidFill>
                <a:latin typeface="Consolas"/>
              </a:rPr>
              <a:t> f: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  f.write(input(</a:t>
            </a:r>
            <a:r>
              <a:rPr sz="1796" b="0">
                <a:solidFill>
                  <a:srgbClr val="98C379"/>
                </a:solidFill>
                <a:latin typeface="Consolas"/>
              </a:rPr>
              <a:t>"Bugun nima qildingiz? "</a:t>
            </a:r>
            <a:r>
              <a:rPr sz="1796" b="0">
                <a:solidFill>
                  <a:srgbClr val="E6E6E6"/>
                </a:solidFill>
                <a:latin typeface="Consolas"/>
              </a:rPr>
              <a:t>) + </a:t>
            </a:r>
            <a:r>
              <a:rPr sz="1796" b="0">
                <a:solidFill>
                  <a:srgbClr val="98C379"/>
                </a:solidFill>
                <a:latin typeface="Consolas"/>
              </a:rPr>
              <a:t>"\n"</a:t>
            </a:r>
            <a:r>
              <a:rPr sz="17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C678DD"/>
                </a:solidFill>
                <a:latin typeface="Consolas"/>
              </a:rPr>
              <a:t>if</a:t>
            </a:r>
            <a:r>
              <a:rPr sz="1796" b="0">
                <a:solidFill>
                  <a:srgbClr val="E6E6E6"/>
                </a:solidFill>
                <a:latin typeface="Consolas"/>
              </a:rPr>
              <a:t> os.path.exists(</a:t>
            </a:r>
            <a:r>
              <a:rPr sz="1796" b="0">
                <a:solidFill>
                  <a:srgbClr val="98C379"/>
                </a:solidFill>
                <a:latin typeface="Consolas"/>
              </a:rPr>
              <a:t>"kundalik.txt"</a:t>
            </a:r>
            <a:r>
              <a:rPr sz="1796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796" b="0">
                <a:solidFill>
                  <a:srgbClr val="E6E6E6"/>
                </a:solidFill>
                <a:latin typeface="Consolas"/>
              </a:rPr>
              <a:t>   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Python kalkulyatori (15-loyiha)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9249"/>
            <a:ext cx="11091672" cy="455413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411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8433"/>
            <a:ext cx="10725912" cy="420666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def</a:t>
            </a:r>
            <a:r>
              <a:rPr sz="1292" b="0">
                <a:solidFill>
                  <a:srgbClr val="E6E6E6"/>
                </a:solidFill>
                <a:latin typeface="Consolas"/>
              </a:rPr>
              <a:t> son_sora(matn):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while</a:t>
            </a: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  <a:r>
              <a:rPr sz="1292" b="0">
                <a:solidFill>
                  <a:srgbClr val="C678DD"/>
                </a:solidFill>
                <a:latin typeface="Consolas"/>
              </a:rPr>
              <a:t>True</a:t>
            </a:r>
            <a:r>
              <a:rPr sz="1292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try</a:t>
            </a:r>
            <a:r>
              <a:rPr sz="1292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float(input(matn))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except</a:t>
            </a:r>
            <a:r>
              <a:rPr sz="1292" b="0">
                <a:solidFill>
                  <a:srgbClr val="E6E6E6"/>
                </a:solidFill>
                <a:latin typeface="Consolas"/>
              </a:rPr>
              <a:t> ValueError: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print</a:t>
            </a:r>
            <a:r>
              <a:rPr sz="1292" b="0">
                <a:solidFill>
                  <a:srgbClr val="E6E6E6"/>
                </a:solidFill>
                <a:latin typeface="Consolas"/>
              </a:rPr>
              <a:t>(</a:t>
            </a:r>
            <a:r>
              <a:rPr sz="1292" b="0">
                <a:solidFill>
                  <a:srgbClr val="98C379"/>
                </a:solidFill>
                <a:latin typeface="Consolas"/>
              </a:rPr>
              <a:t>"  ⚠️ Iltimos, son kiriting"</a:t>
            </a:r>
            <a:r>
              <a:rPr sz="129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while</a:t>
            </a: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  <a:r>
              <a:rPr sz="1292" b="0">
                <a:solidFill>
                  <a:srgbClr val="C678DD"/>
                </a:solidFill>
                <a:latin typeface="Consolas"/>
              </a:rPr>
              <a:t>True</a:t>
            </a:r>
            <a:r>
              <a:rPr sz="1292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amal = input(</a:t>
            </a:r>
            <a:r>
              <a:rPr sz="1292" b="0">
                <a:solidFill>
                  <a:srgbClr val="98C379"/>
                </a:solidFill>
                <a:latin typeface="Consolas"/>
              </a:rPr>
              <a:t>"Amal (+ - * / ** yoki 'chiqish', 'tarix'): "</a:t>
            </a:r>
            <a:r>
              <a:rPr sz="129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if</a:t>
            </a:r>
            <a:r>
              <a:rPr sz="1292" b="0">
                <a:solidFill>
                  <a:srgbClr val="E6E6E6"/>
                </a:solidFill>
                <a:latin typeface="Consolas"/>
              </a:rPr>
              <a:t> amal == </a:t>
            </a:r>
            <a:r>
              <a:rPr sz="1292" b="0">
                <a:solidFill>
                  <a:srgbClr val="98C379"/>
                </a:solidFill>
                <a:latin typeface="Consolas"/>
              </a:rPr>
              <a:t>"chiqish"</a:t>
            </a:r>
            <a:r>
              <a:rPr sz="1292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break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if</a:t>
            </a:r>
            <a:r>
              <a:rPr sz="1292" b="0">
                <a:solidFill>
                  <a:srgbClr val="E6E6E6"/>
                </a:solidFill>
                <a:latin typeface="Consolas"/>
              </a:rPr>
              <a:t> amal == </a:t>
            </a:r>
            <a:r>
              <a:rPr sz="1292" b="0">
                <a:solidFill>
                  <a:srgbClr val="98C379"/>
                </a:solidFill>
                <a:latin typeface="Consolas"/>
              </a:rPr>
              <a:t>"tarix"</a:t>
            </a:r>
            <a:r>
              <a:rPr sz="1292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with</a:t>
            </a:r>
            <a:r>
              <a:rPr sz="1292" b="0">
                <a:solidFill>
                  <a:srgbClr val="E6E6E6"/>
                </a:solidFill>
                <a:latin typeface="Consolas"/>
              </a:rPr>
              <a:t> open(</a:t>
            </a:r>
            <a:r>
              <a:rPr sz="1292" b="0">
                <a:solidFill>
                  <a:srgbClr val="98C379"/>
                </a:solidFill>
                <a:latin typeface="Consolas"/>
              </a:rPr>
              <a:t>"tarix.txt"</a:t>
            </a:r>
            <a:r>
              <a:rPr sz="1292" b="0">
                <a:solidFill>
                  <a:srgbClr val="E6E6E6"/>
                </a:solidFill>
                <a:latin typeface="Consolas"/>
              </a:rPr>
              <a:t>, encoding=</a:t>
            </a:r>
            <a:r>
              <a:rPr sz="1292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292" b="0">
                <a:solidFill>
                  <a:srgbClr val="E6E6E6"/>
                </a:solidFill>
                <a:latin typeface="Consolas"/>
              </a:rPr>
              <a:t>) </a:t>
            </a:r>
            <a:r>
              <a:rPr sz="1292" b="0">
                <a:solidFill>
                  <a:srgbClr val="C678DD"/>
                </a:solidFill>
                <a:latin typeface="Consolas"/>
              </a:rPr>
              <a:t>as</a:t>
            </a:r>
            <a:r>
              <a:rPr sz="1292" b="0">
                <a:solidFill>
                  <a:srgbClr val="E6E6E6"/>
                </a:solidFill>
                <a:latin typeface="Consolas"/>
              </a:rPr>
              <a:t> f: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print</a:t>
            </a:r>
            <a:r>
              <a:rPr sz="1292" b="0">
                <a:solidFill>
                  <a:srgbClr val="E6E6E6"/>
                </a:solidFill>
                <a:latin typeface="Consolas"/>
              </a:rPr>
              <a:t>(f.read())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continue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a, b = son_sora(</a:t>
            </a:r>
            <a:r>
              <a:rPr sz="1292" b="0">
                <a:solidFill>
                  <a:srgbClr val="98C379"/>
                </a:solidFill>
                <a:latin typeface="Consolas"/>
              </a:rPr>
              <a:t>"1-son: "</a:t>
            </a:r>
            <a:r>
              <a:rPr sz="1292" b="0">
                <a:solidFill>
                  <a:srgbClr val="E6E6E6"/>
                </a:solidFill>
                <a:latin typeface="Consolas"/>
              </a:rPr>
              <a:t>), son_sora(</a:t>
            </a:r>
            <a:r>
              <a:rPr sz="1292" b="0">
                <a:solidFill>
                  <a:srgbClr val="98C379"/>
                </a:solidFill>
                <a:latin typeface="Consolas"/>
              </a:rPr>
              <a:t>"2-son: "</a:t>
            </a:r>
            <a:r>
              <a:rPr sz="129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natija = a + b </a:t>
            </a:r>
            <a:r>
              <a:rPr sz="1292" b="0">
                <a:solidFill>
                  <a:srgbClr val="C678DD"/>
                </a:solidFill>
                <a:latin typeface="Consolas"/>
              </a:rPr>
              <a:t>if</a:t>
            </a:r>
            <a:r>
              <a:rPr sz="1292" b="0">
                <a:solidFill>
                  <a:srgbClr val="E6E6E6"/>
                </a:solidFill>
                <a:latin typeface="Consolas"/>
              </a:rPr>
              <a:t> amal == </a:t>
            </a:r>
            <a:r>
              <a:rPr sz="1292" b="0">
                <a:solidFill>
                  <a:srgbClr val="98C379"/>
                </a:solidFill>
                <a:latin typeface="Consolas"/>
              </a:rPr>
              <a:t>"+"</a:t>
            </a: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  <a:r>
              <a:rPr sz="1292" b="0">
                <a:solidFill>
                  <a:srgbClr val="C678DD"/>
                </a:solidFill>
                <a:latin typeface="Consolas"/>
              </a:rPr>
              <a:t>else</a:t>
            </a:r>
            <a:r>
              <a:rPr sz="1292" b="0">
                <a:solidFill>
                  <a:srgbClr val="E6E6E6"/>
                </a:solidFill>
                <a:latin typeface="Consolas"/>
              </a:rPr>
              <a:t> a - b  # ... va hokazo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with</a:t>
            </a:r>
            <a:r>
              <a:rPr sz="1292" b="0">
                <a:solidFill>
                  <a:srgbClr val="E6E6E6"/>
                </a:solidFill>
                <a:latin typeface="Consolas"/>
              </a:rPr>
              <a:t> open(</a:t>
            </a:r>
            <a:r>
              <a:rPr sz="1292" b="0">
                <a:solidFill>
                  <a:srgbClr val="98C379"/>
                </a:solidFill>
                <a:latin typeface="Consolas"/>
              </a:rPr>
              <a:t>"tarix.txt"</a:t>
            </a:r>
            <a:r>
              <a:rPr sz="1292" b="0">
                <a:solidFill>
                  <a:srgbClr val="E6E6E6"/>
                </a:solidFill>
                <a:latin typeface="Consolas"/>
              </a:rPr>
              <a:t>, </a:t>
            </a:r>
            <a:r>
              <a:rPr sz="1292" b="0">
                <a:solidFill>
                  <a:srgbClr val="98C379"/>
                </a:solidFill>
                <a:latin typeface="Consolas"/>
              </a:rPr>
              <a:t>"a"</a:t>
            </a:r>
            <a:r>
              <a:rPr sz="1292" b="0">
                <a:solidFill>
                  <a:srgbClr val="E6E6E6"/>
                </a:solidFill>
                <a:latin typeface="Consolas"/>
              </a:rPr>
              <a:t>, encoding=</a:t>
            </a:r>
            <a:r>
              <a:rPr sz="1292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292" b="0">
                <a:solidFill>
                  <a:srgbClr val="E6E6E6"/>
                </a:solidFill>
                <a:latin typeface="Consolas"/>
              </a:rPr>
              <a:t>) </a:t>
            </a:r>
            <a:r>
              <a:rPr sz="1292" b="0">
                <a:solidFill>
                  <a:srgbClr val="C678DD"/>
                </a:solidFill>
                <a:latin typeface="Consolas"/>
              </a:rPr>
              <a:t>as</a:t>
            </a:r>
            <a:r>
              <a:rPr sz="1292" b="0">
                <a:solidFill>
                  <a:srgbClr val="E6E6E6"/>
                </a:solidFill>
                <a:latin typeface="Consolas"/>
              </a:rPr>
              <a:t> f: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f.write(f</a:t>
            </a:r>
            <a:r>
              <a:rPr sz="1292" b="0">
                <a:solidFill>
                  <a:srgbClr val="98C379"/>
                </a:solidFill>
                <a:latin typeface="Consolas"/>
              </a:rPr>
              <a:t>"{a} {amal} {b} = {natija}\n"</a:t>
            </a:r>
            <a:r>
              <a:rPr sz="1292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topshiriqlar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amalni va </a:t>
            </a:r>
            <a:r>
              <a:rPr sz="2800" b="1">
                <a:solidFill>
                  <a:srgbClr val="1F232B"/>
                </a:solidFill>
                <a:latin typeface="Calibri"/>
              </a:rPr>
              <a:t>xato kiritishlarni</a:t>
            </a:r>
            <a:r>
              <a:rPr sz="2800" b="0">
                <a:solidFill>
                  <a:srgbClr val="1F232B"/>
                </a:solidFill>
                <a:latin typeface="Calibri"/>
              </a:rPr>
              <a:t> sinab ko'ring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Yangi amallar: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sqrt</a:t>
            </a:r>
            <a:r>
              <a:rPr sz="2800" b="0">
                <a:solidFill>
                  <a:srgbClr val="1F232B"/>
                </a:solidFill>
                <a:latin typeface="Calibri"/>
              </a:rPr>
              <a:t> (ildiz)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%%</a:t>
            </a:r>
            <a:r>
              <a:rPr sz="2800" b="0">
                <a:solidFill>
                  <a:srgbClr val="1F232B"/>
                </a:solidFill>
                <a:latin typeface="Calibri"/>
              </a:rPr>
              <a:t> (foiz)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"tarix" faqat </a:t>
            </a:r>
            <a:r>
              <a:rPr sz="2800" b="1">
                <a:solidFill>
                  <a:srgbClr val="1F232B"/>
                </a:solidFill>
                <a:latin typeface="Calibri"/>
              </a:rPr>
              <a:t>oxirgi 5</a:t>
            </a:r>
            <a:r>
              <a:rPr sz="2800" b="0">
                <a:solidFill>
                  <a:srgbClr val="1F232B"/>
                </a:solidFill>
                <a:latin typeface="Calibri"/>
              </a:rPr>
              <a:t> yozuvni ko'rsatsin: </a:t>
            </a:r>
            <a:r>
              <a:rPr sz="2576" b="0">
                <a:solidFill>
                  <a:srgbClr val="B02A4A"/>
                </a:solidFill>
                <a:latin typeface="Consolas"/>
              </a:rPr>
              <a:t>readlines()[-5:]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tarix.txt</a:t>
            </a:r>
            <a:r>
              <a:rPr sz="2800" b="0">
                <a:solidFill>
                  <a:srgbClr val="1F232B"/>
                </a:solidFill>
                <a:latin typeface="Calibri"/>
              </a:rPr>
              <a:t> ni kompyuterda topib, Bloknot bilan oching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if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for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while</a:t>
            </a:r>
            <a:r>
              <a:rPr sz="2800" b="0">
                <a:solidFill>
                  <a:srgbClr val="1F232B"/>
                </a:solidFill>
                <a:latin typeface="Calibri"/>
              </a:rPr>
              <a:t> oxirida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: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SyntaxError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else if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Python'da </a:t>
            </a:r>
            <a:r>
              <a:rPr sz="2576" b="0">
                <a:solidFill>
                  <a:srgbClr val="B02A4A"/>
                </a:solidFill>
                <a:latin typeface="Consolas"/>
              </a:rPr>
              <a:t>elif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range(1, 10)</a:t>
            </a:r>
            <a:r>
              <a:rPr sz="2800" b="0">
                <a:solidFill>
                  <a:srgbClr val="1F232B"/>
                </a:solidFill>
                <a:latin typeface="Calibri"/>
              </a:rPr>
              <a:t> 10 ni bermaydi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"w"</a:t>
            </a:r>
            <a:r>
              <a:rPr sz="2800" b="0">
                <a:solidFill>
                  <a:srgbClr val="1F232B"/>
                </a:solidFill>
                <a:latin typeface="Calibri"/>
              </a:rPr>
              <a:t> rejimida muhim faylni o'chirib yuborish; qo'shish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"a"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encoding="utf-8"</a:t>
            </a:r>
            <a:r>
              <a:rPr sz="2800" b="0">
                <a:solidFill>
                  <a:srgbClr val="1F232B"/>
                </a:solidFill>
                <a:latin typeface="Calibri"/>
              </a:rPr>
              <a:t> siz — g'alati belgilar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list(range(2, 8, 2))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sonlarni beradi?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2, 4, 6, 8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2, 4, 6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2, 3, 4, 5, 6, 7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8, 6, 4, 2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list(range(2, 8, 2))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sonlarni beradi?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2, 4, 6, 8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2, 4, 6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2, 3, 4, 5, 6, 7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8, 6, 4, 2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Python kod bloklarini qanday belgilaydi?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Jingalak qavslar </a:t>
            </a:r>
            <a:r>
              <a:rPr sz="1748" b="0">
                <a:solidFill>
                  <a:srgbClr val="B02A4A"/>
                </a:solidFill>
                <a:latin typeface="Consolas"/>
              </a:rPr>
              <a:t>{}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begin / end so'zlari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Nuqta-vergul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Ikki nuqta va chekinish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Python kod bloklarini qanday belgilaydi?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Jingalak qavslar </a:t>
            </a:r>
            <a:r>
              <a:rPr sz="1748" b="0">
                <a:solidFill>
                  <a:srgbClr val="B02A4A"/>
                </a:solidFill>
                <a:latin typeface="Consolas"/>
              </a:rPr>
              <a:t>{}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begin / end so'zlari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Nuqta-vergul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Ikki nuqta va chekinish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Fayl mazmunini o'chirmasdan oxiriga yozish rejimi?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"a"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"w"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"r"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"x"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Fayl mazmunini o'chirmasdan oxiriga yozish rejimi?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"a"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"w"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"r"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"x"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int("abc")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xato beradi?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ZeroDivisionError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IndentationError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ValueError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TypeError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int("abc")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xato beradi?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ZeroDivisionError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IndentationError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ValueError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TypeError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5381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8125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Parol tekshiruvchi:</a:t>
            </a:r>
            <a:r>
              <a:rPr sz="2800" b="0">
                <a:solidFill>
                  <a:srgbClr val="1F232B"/>
                </a:solidFill>
                <a:latin typeface="Calibri"/>
              </a:rPr>
              <a:t> 8+ belgi, raqam va katta harf (</a:t>
            </a:r>
            <a:r>
              <a:rPr sz="2576" b="0">
                <a:solidFill>
                  <a:srgbClr val="B02A4A"/>
                </a:solidFill>
                <a:latin typeface="Consolas"/>
              </a:rPr>
              <a:t>isdigit()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isupper()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6227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8970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Kundalik:</a:t>
            </a:r>
            <a:r>
              <a:rPr sz="2800" b="0">
                <a:solidFill>
                  <a:srgbClr val="1F232B"/>
                </a:solidFill>
                <a:latin typeface="Calibri"/>
              </a:rPr>
              <a:t> har ishga tushganda sana va xulosa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kundalik.txt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8931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63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Tub sonlar</a:t>
            </a:r>
            <a:r>
              <a:rPr sz="2800" b="0">
                <a:solidFill>
                  <a:srgbClr val="1F232B"/>
                </a:solidFill>
                <a:latin typeface="Calibri"/>
              </a:rPr>
              <a:t> 1–200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tub.txt</a:t>
            </a:r>
            <a:r>
              <a:rPr sz="2800" b="0">
                <a:solidFill>
                  <a:srgbClr val="1F232B"/>
                </a:solidFill>
                <a:latin typeface="Calibri"/>
              </a:rPr>
              <a:t>, har qatorda bittadan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22-mavzu · Python control flow: shartlar va sikllar. 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if / elif / else: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:</a:t>
            </a:r>
            <a:r>
              <a:rPr sz="2800" b="0">
                <a:solidFill>
                  <a:srgbClr val="1F232B"/>
                </a:solidFill>
                <a:latin typeface="Calibri"/>
              </a:rPr>
              <a:t> va 4 bo'sh joy chekinish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for i in range(boshi, oxiri, qadam):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oxiri kirmaydi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while shart: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break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continue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try: ... except ValueError: ...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dasturni saqlash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with open("f.txt", "r/w/a", encoding="utf-8") as f: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23. Ma'lumot tuzilmalari: list, tuple, set va dictionary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22-mavzu: Python control flow: shartlar va sikllar. Fayllar bilan ishlash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