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False — xato sahifalari maxfiy ma'lumotlarni oshkor qilmasligi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gunicorn.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Domen ALLOWED_HOSTS da yo'q.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O'zgarishlarni GitHub'ga git push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8E3FBF"/>
                </a:solidFill>
                <a:latin typeface="Calibri"/>
              </a:rPr>
              <a:t>41-MAVZU  ·  V BOB. DRF VA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Django loyihasini serverga joylash (Deploy)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Deploy nima, development va production farqi, hosting turlari; loyihani tayyorlash: DEBUG, SECRET_KEY, ALLOWED_HOSTS, gunicorn, whitenoise, dj-database-url, requirements.txt, collectstatic; Render'ga bosqichma-bosqich joylash, PostgreSQL, superuser; PythonAnywhere muqobili; deploy'dan keyingi tekshiruv.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Deploy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nima: "kompyuterimda ishlaydi" → "internetda ishlaydi"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Development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production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farqi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Loyihani serverga </a:t>
            </a:r>
            <a:r>
              <a:rPr sz="2800" b="1">
                <a:solidFill>
                  <a:srgbClr val="1F232B"/>
                </a:solidFill>
                <a:latin typeface="Calibri"/>
              </a:rPr>
              <a:t>tayyorlash</a:t>
            </a:r>
            <a:r>
              <a:rPr sz="2800" b="0">
                <a:solidFill>
                  <a:srgbClr val="1F232B"/>
                </a:solidFill>
                <a:latin typeface="Calibri"/>
              </a:rPr>
              <a:t>: xavfsizlik, statik fayllar, server dasturi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Render</a:t>
            </a:r>
            <a:r>
              <a:rPr sz="2800" b="0">
                <a:solidFill>
                  <a:srgbClr val="1F232B"/>
                </a:solidFill>
                <a:latin typeface="Calibri"/>
              </a:rPr>
              <a:t>'ga PostgreSQL bilan joylash (30-loyiha)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Joylangan saytni tekshirish va yangilash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Deploy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2865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Hozircha blog faqat </a:t>
            </a:r>
            <a:r>
              <a:rPr sz="2576" b="0">
                <a:solidFill>
                  <a:srgbClr val="B02A4A"/>
                </a:solidFill>
                <a:latin typeface="Consolas"/>
              </a:rPr>
              <a:t>127.0.0.1:8000</a:t>
            </a:r>
            <a:r>
              <a:rPr sz="2800" b="0">
                <a:solidFill>
                  <a:srgbClr val="1F232B"/>
                </a:solidFill>
                <a:latin typeface="Calibri"/>
              </a:rPr>
              <a:t> da — uni hech kim ko'ra olmaydi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8867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82246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8E3FBF"/>
                </a:solidFill>
                <a:latin typeface="Calibri"/>
              </a:rPr>
              <a:t>Deploy — dasturni internetga ulangan serverga o'rnatish va ishga tushirish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55344"/>
            <a:ext cx="11091672" cy="1945132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55344"/>
            <a:ext cx="82296" cy="19451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46784"/>
            <a:ext cx="10725912" cy="17805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Uy oshxonasi va restoran:</a:t>
            </a:r>
            <a:r>
              <a:rPr sz="2660" b="0">
                <a:solidFill>
                  <a:srgbClr val="1F232B"/>
                </a:solidFill>
                <a:latin typeface="Calibri"/>
              </a:rPr>
              <a:t> uyda pishirish (development) — xato qilsangiz hech kim bilmaydi. Restoran (production) — sanitariya qoidalari (xavfsizlik), katta oshxona (server), 24/7 ish, ko'p mijoz. Retsept bir xil — talablar boshqa.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Development va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06931"/>
          <a:ext cx="1109167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0350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Qayerda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Sizning kompyuteringiz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Internetdagi server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DEBUG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True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— batafsil xatolar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False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— xatolar yashirin!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runserver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gunicorn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Statik fayllar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Django o'zi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collectstatic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+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WhiteNoise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Maxfiy kalitlar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.env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fayl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Muhit o'zgaruvchilari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Manzil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127.0.0.1:8000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https://maktab-blog.onrender.com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Hosting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9457"/>
          <a:ext cx="11091672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3398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Platforma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Turi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Afzalligi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E'tibor bering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1F232B"/>
                          </a:solidFill>
                          <a:latin typeface="Calibri"/>
                        </a:rPr>
                        <a:t>Render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PaaS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GitHub'dan avtomatik, PostgreSQL, HTTPS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Bepul tarifda "uxlaydi"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Railway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PaaS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Juda oson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Bepul limit cheklangan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PythonAnywhere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Python hosting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O'quvchilarga eng oddiy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Bepulda PostgreSQL yo'q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VPS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Virtual server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To'liq nazorat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Hammasini o'zingiz sozlaysiz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838833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PaaS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server va tarmoqni platforma boshqaradi, siz faqat kod berasiz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97599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5384425"/>
            <a:ext cx="11091672" cy="61798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384425"/>
            <a:ext cx="82296" cy="61798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75865"/>
            <a:ext cx="10725912" cy="4533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9" b="0">
                <a:solidFill>
                  <a:srgbClr val="1F232B"/>
                </a:solidFill>
                <a:latin typeface="Calibri"/>
              </a:rPr>
              <a:t>Tariflar o'zgaradi — joylashdan oldin platforma saytida tekshiring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DDC5EB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1-bosqich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EEE2F5"/>
                </a:solidFill>
                <a:latin typeface="Calibri"/>
              </a:rPr>
              <a:t>Loyihani production uchun tayyorlash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DDC5EB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Kerakli paketlar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3986"/>
            <a:ext cx="11091672" cy="98608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885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3170"/>
            <a:ext cx="10725912" cy="638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pip install gunicorn whitenoise dj-database-url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pip freeze &gt; requirements.txt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709531"/>
          <a:ext cx="11091672" cy="210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273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Paket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gunicorn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Production server (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runserver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o'rniga)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whitenoise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Statik fayllarni (CSS, JS) tez va xavfsiz berish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dj-database-url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Bazani bitta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DATABASE_URL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satridan sozlash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60120" y="5038203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gunicorn</a:t>
            </a:r>
            <a:r>
              <a:rPr sz="2400" b="0">
                <a:solidFill>
                  <a:srgbClr val="1F232B"/>
                </a:solidFill>
                <a:latin typeface="Calibri"/>
              </a:rPr>
              <a:t> Windows'da ishlamaydi — normal: u faqat serverda (Linux). Kompyuteringizda </a:t>
            </a:r>
            <a:r>
              <a:rPr sz="2208" b="0">
                <a:solidFill>
                  <a:srgbClr val="B02A4A"/>
                </a:solidFill>
                <a:latin typeface="Consolas"/>
              </a:rPr>
              <a:t>runserver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17536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settings.py — xavfsizlik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521"/>
            <a:ext cx="11091672" cy="399556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38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705"/>
            <a:ext cx="10725912" cy="36480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632" b="0">
                <a:solidFill>
                  <a:srgbClr val="E6E6E6"/>
                </a:solidFill>
                <a:latin typeface="Consolas"/>
              </a:rPr>
              <a:t> os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632" b="0">
                <a:solidFill>
                  <a:srgbClr val="E6E6E6"/>
                </a:solidFill>
                <a:latin typeface="Consolas"/>
              </a:rPr>
              <a:t> dj_database_url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SECRET_KEY = os.environ[</a:t>
            </a:r>
            <a:r>
              <a:rPr sz="1632" b="0">
                <a:solidFill>
                  <a:srgbClr val="98C379"/>
                </a:solidFill>
                <a:latin typeface="Consolas"/>
              </a:rPr>
              <a:t>"SECRET_KEY"</a:t>
            </a:r>
            <a:r>
              <a:rPr sz="1632" b="0">
                <a:solidFill>
                  <a:srgbClr val="E6E6E6"/>
                </a:solidFill>
                <a:latin typeface="Consolas"/>
              </a:rPr>
              <a:t>]             # yo</a:t>
            </a:r>
            <a:r>
              <a:rPr sz="1632" b="0">
                <a:solidFill>
                  <a:srgbClr val="98C379"/>
                </a:solidFill>
                <a:latin typeface="Consolas"/>
              </a:rPr>
              <a:t>'q bo'</a:t>
            </a:r>
            <a:r>
              <a:rPr sz="1632" b="0">
                <a:solidFill>
                  <a:srgbClr val="E6E6E6"/>
                </a:solidFill>
                <a:latin typeface="Consolas"/>
              </a:rPr>
              <a:t>lsa — xato (ataylab!)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DEBUG = os.getenv(</a:t>
            </a:r>
            <a:r>
              <a:rPr sz="1632" b="0">
                <a:solidFill>
                  <a:srgbClr val="98C379"/>
                </a:solidFill>
                <a:latin typeface="Consolas"/>
              </a:rPr>
              <a:t>"DEBUG"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"False"</a:t>
            </a:r>
            <a:r>
              <a:rPr sz="1632" b="0">
                <a:solidFill>
                  <a:srgbClr val="E6E6E6"/>
                </a:solidFill>
                <a:latin typeface="Consolas"/>
              </a:rPr>
              <a:t>) == </a:t>
            </a:r>
            <a:r>
              <a:rPr sz="1632" b="0">
                <a:solidFill>
                  <a:srgbClr val="98C379"/>
                </a:solidFill>
                <a:latin typeface="Consolas"/>
              </a:rPr>
              <a:t>"True"</a:t>
            </a:r>
            <a:r>
              <a:rPr sz="1632" b="0">
                <a:solidFill>
                  <a:srgbClr val="E6E6E6"/>
                </a:solidFill>
                <a:latin typeface="Consolas"/>
              </a:rPr>
              <a:t>     # standart — </a:t>
            </a:r>
            <a:r>
              <a:rPr sz="1632" b="0">
                <a:solidFill>
                  <a:srgbClr val="C678DD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ALLOWED_HOSTS = os.getenv(</a:t>
            </a:r>
            <a:r>
              <a:rPr sz="1632" b="0">
                <a:solidFill>
                  <a:srgbClr val="98C379"/>
                </a:solidFill>
                <a:latin typeface="Consolas"/>
              </a:rPr>
              <a:t>"ALLOWED_HOSTS"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"127.0.0.1,localhost"</a:t>
            </a:r>
            <a:r>
              <a:rPr sz="1632" b="0">
                <a:solidFill>
                  <a:srgbClr val="E6E6E6"/>
                </a:solidFill>
                <a:latin typeface="Consolas"/>
              </a:rPr>
              <a:t>).split(</a:t>
            </a:r>
            <a:r>
              <a:rPr sz="1632" b="0">
                <a:solidFill>
                  <a:srgbClr val="98C379"/>
                </a:solidFill>
                <a:latin typeface="Consolas"/>
              </a:rPr>
              <a:t>","</a:t>
            </a:r>
            <a:r>
              <a:rPr sz="163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CSRF_TRUSTED_ORIGINS = [f</a:t>
            </a:r>
            <a:r>
              <a:rPr sz="1632" b="0">
                <a:solidFill>
                  <a:srgbClr val="98C379"/>
                </a:solidFill>
                <a:latin typeface="Consolas"/>
              </a:rPr>
              <a:t>"https://{h}"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for</a:t>
            </a:r>
            <a:r>
              <a:rPr sz="1632" b="0">
                <a:solidFill>
                  <a:srgbClr val="E6E6E6"/>
                </a:solidFill>
                <a:latin typeface="Consolas"/>
              </a:rPr>
              <a:t> h </a:t>
            </a:r>
            <a:r>
              <a:rPr sz="1632" b="0">
                <a:solidFill>
                  <a:srgbClr val="C678DD"/>
                </a:solidFill>
                <a:latin typeface="Consolas"/>
              </a:rPr>
              <a:t>in</a:t>
            </a:r>
            <a:r>
              <a:rPr sz="1632" b="0">
                <a:solidFill>
                  <a:srgbClr val="E6E6E6"/>
                </a:solidFill>
                <a:latin typeface="Consolas"/>
              </a:rPr>
              <a:t> ALLOWED_HOSTS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            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if</a:t>
            </a:r>
            <a:r>
              <a:rPr sz="1632" b="0">
                <a:solidFill>
                  <a:srgbClr val="E6E6E6"/>
                </a:solidFill>
                <a:latin typeface="Consolas"/>
              </a:rPr>
              <a:t> h </a:t>
            </a:r>
            <a:r>
              <a:rPr sz="1632" b="0">
                <a:solidFill>
                  <a:srgbClr val="C678DD"/>
                </a:solidFill>
                <a:latin typeface="Consolas"/>
              </a:rPr>
              <a:t>not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in</a:t>
            </a:r>
            <a:r>
              <a:rPr sz="1632" b="0">
                <a:solidFill>
                  <a:srgbClr val="E6E6E6"/>
                </a:solidFill>
                <a:latin typeface="Consolas"/>
              </a:rPr>
              <a:t> (</a:t>
            </a:r>
            <a:r>
              <a:rPr sz="1632" b="0">
                <a:solidFill>
                  <a:srgbClr val="98C379"/>
                </a:solidFill>
                <a:latin typeface="Consolas"/>
              </a:rPr>
              <a:t>"127.0.0.1"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"localhost"</a:t>
            </a:r>
            <a:r>
              <a:rPr sz="1632" b="0">
                <a:solidFill>
                  <a:srgbClr val="E6E6E6"/>
                </a:solidFill>
                <a:latin typeface="Consolas"/>
              </a:rPr>
              <a:t>)]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if</a:t>
            </a: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  <a:r>
              <a:rPr sz="1632" b="0">
                <a:solidFill>
                  <a:srgbClr val="C678DD"/>
                </a:solidFill>
                <a:latin typeface="Consolas"/>
              </a:rPr>
              <a:t>not</a:t>
            </a:r>
            <a:r>
              <a:rPr sz="1632" b="0">
                <a:solidFill>
                  <a:srgbClr val="E6E6E6"/>
                </a:solidFill>
                <a:latin typeface="Consolas"/>
              </a:rPr>
              <a:t> DEBUG: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SECURE_PROXY_SSL_HEADER = (</a:t>
            </a:r>
            <a:r>
              <a:rPr sz="1632" b="0">
                <a:solidFill>
                  <a:srgbClr val="98C379"/>
                </a:solidFill>
                <a:latin typeface="Consolas"/>
              </a:rPr>
              <a:t>"HTTP_X_FORWARDED_PROTO"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"https"</a:t>
            </a:r>
            <a:r>
              <a:rPr sz="163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SESSION_COOKIE_SECURE = </a:t>
            </a:r>
            <a:r>
              <a:rPr sz="1632" b="0">
                <a:solidFill>
                  <a:srgbClr val="C678DD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CSRF_COOKIE_SECURE = </a:t>
            </a:r>
            <a:r>
              <a:rPr sz="1632" b="0">
                <a:solidFill>
                  <a:srgbClr val="C678DD"/>
                </a:solidFill>
                <a:latin typeface="Consolas"/>
              </a:rPr>
              <a:t>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66539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Lokal </a:t>
            </a:r>
            <a:r>
              <a:rPr sz="2208" b="0">
                <a:solidFill>
                  <a:srgbClr val="B02A4A"/>
                </a:solidFill>
                <a:latin typeface="Consolas"/>
              </a:rPr>
              <a:t>.env</a:t>
            </a:r>
            <a:r>
              <a:rPr sz="2400" b="0">
                <a:solidFill>
                  <a:srgbClr val="1F232B"/>
                </a:solidFill>
                <a:latin typeface="Calibri"/>
              </a:rPr>
              <a:t> ga </a:t>
            </a:r>
            <a:r>
              <a:rPr sz="2208" b="0">
                <a:solidFill>
                  <a:srgbClr val="B02A4A"/>
                </a:solidFill>
                <a:latin typeface="Consolas"/>
              </a:rPr>
              <a:t>DEBUG=True</a:t>
            </a:r>
            <a:r>
              <a:rPr sz="2400" b="0">
                <a:solidFill>
                  <a:srgbClr val="1F232B"/>
                </a:solidFill>
                <a:latin typeface="Calibri"/>
              </a:rPr>
              <a:t> qo'shing — kompyuterda qulay ishlash uchun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803699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settings.py — baza va statik fayllar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7228"/>
            <a:ext cx="11091672" cy="450854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20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6412"/>
            <a:ext cx="10725912" cy="41610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MIDDLEWARE = [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98C379"/>
                </a:solidFill>
                <a:latin typeface="Consolas"/>
              </a:rPr>
              <a:t>"corsheaders.middleware.CorsMiddleware"</a:t>
            </a:r>
            <a:r>
              <a:rPr sz="115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98C379"/>
                </a:solidFill>
                <a:latin typeface="Consolas"/>
              </a:rPr>
              <a:t>"django.middleware.security.SecurityMiddleware"</a:t>
            </a:r>
            <a:r>
              <a:rPr sz="115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98C379"/>
                </a:solidFill>
                <a:latin typeface="Consolas"/>
              </a:rPr>
              <a:t>"whitenoise.middleware.WhiteNoiseMiddleware"</a:t>
            </a:r>
            <a:r>
              <a:rPr sz="1156" b="0">
                <a:solidFill>
                  <a:srgbClr val="E6E6E6"/>
                </a:solidFill>
                <a:latin typeface="Consolas"/>
              </a:rPr>
              <a:t>,     # ⬅ Security'dan keyin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7F848E"/>
                </a:solidFill>
                <a:latin typeface="Consolas"/>
              </a:rPr>
              <a:t>    # ...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DATABASES = {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98C379"/>
                </a:solidFill>
                <a:latin typeface="Consolas"/>
              </a:rPr>
              <a:t>"default"</a:t>
            </a:r>
            <a:r>
              <a:rPr sz="1156" b="0">
                <a:solidFill>
                  <a:srgbClr val="E6E6E6"/>
                </a:solidFill>
                <a:latin typeface="Consolas"/>
              </a:rPr>
              <a:t>: dj_database_url.config(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default=f</a:t>
            </a:r>
            <a:r>
              <a:rPr sz="1156" b="0">
                <a:solidFill>
                  <a:srgbClr val="98C379"/>
                </a:solidFill>
                <a:latin typeface="Consolas"/>
              </a:rPr>
              <a:t>"postgres://{os.getenv('DB_USER')}:{os.getenv('DB_PASSWORD')}@"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        f</a:t>
            </a:r>
            <a:r>
              <a:rPr sz="1156" b="0">
                <a:solidFill>
                  <a:srgbClr val="98C379"/>
                </a:solidFill>
                <a:latin typeface="Consolas"/>
              </a:rPr>
              <a:t>"{os.getenv('DB_HOST', 'localhost')}:5432/{os.getenv('DB_NAME')}"</a:t>
            </a:r>
            <a:r>
              <a:rPr sz="115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conn_max_age=600,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STATIC_URL = </a:t>
            </a:r>
            <a:r>
              <a:rPr sz="1156" b="0">
                <a:solidFill>
                  <a:srgbClr val="98C379"/>
                </a:solidFill>
                <a:latin typeface="Consolas"/>
              </a:rPr>
              <a:t>"static/"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STATIC_ROOT = BASE_DIR / </a:t>
            </a:r>
            <a:r>
              <a:rPr sz="1156" b="0">
                <a:solidFill>
                  <a:srgbClr val="98C379"/>
                </a:solidFill>
                <a:latin typeface="Consolas"/>
              </a:rPr>
              <a:t>"staticfiles"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STORAGES = {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98C379"/>
                </a:solidFill>
                <a:latin typeface="Consolas"/>
              </a:rPr>
              <a:t>"default"</a:t>
            </a:r>
            <a:r>
              <a:rPr sz="1156" b="0">
                <a:solidFill>
                  <a:srgbClr val="E6E6E6"/>
                </a:solidFill>
                <a:latin typeface="Consolas"/>
              </a:rPr>
              <a:t>: {</a:t>
            </a:r>
            <a:r>
              <a:rPr sz="1156" b="0">
                <a:solidFill>
                  <a:srgbClr val="98C379"/>
                </a:solidFill>
                <a:latin typeface="Consolas"/>
              </a:rPr>
              <a:t>"BACKEND"</a:t>
            </a:r>
            <a:r>
              <a:rPr sz="1156" b="0">
                <a:solidFill>
                  <a:srgbClr val="E6E6E6"/>
                </a:solidFill>
                <a:latin typeface="Consolas"/>
              </a:rPr>
              <a:t>: </a:t>
            </a:r>
            <a:r>
              <a:rPr sz="1156" b="0">
                <a:solidFill>
                  <a:srgbClr val="98C379"/>
                </a:solidFill>
                <a:latin typeface="Consolas"/>
              </a:rPr>
              <a:t>"django.core.files.storage.FileSystemStorage"</a:t>
            </a:r>
            <a:r>
              <a:rPr sz="1156" b="0">
                <a:solidFill>
                  <a:srgbClr val="E6E6E6"/>
                </a:solidFill>
                <a:latin typeface="Consolas"/>
              </a:rPr>
              <a:t>},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98C379"/>
                </a:solidFill>
                <a:latin typeface="Consolas"/>
              </a:rPr>
              <a:t>"staticfiles"</a:t>
            </a:r>
            <a:r>
              <a:rPr sz="1156" b="0">
                <a:solidFill>
                  <a:srgbClr val="E6E6E6"/>
                </a:solidFill>
                <a:latin typeface="Consolas"/>
              </a:rPr>
              <a:t>: {</a:t>
            </a:r>
            <a:r>
              <a:rPr sz="1156" b="0">
                <a:solidFill>
                  <a:srgbClr val="98C379"/>
                </a:solidFill>
                <a:latin typeface="Consolas"/>
              </a:rPr>
              <a:t>"BACKEND"</a:t>
            </a:r>
            <a:r>
              <a:rPr sz="1156" b="0">
                <a:solidFill>
                  <a:srgbClr val="E6E6E6"/>
                </a:solidFill>
                <a:latin typeface="Consolas"/>
              </a:rPr>
              <a:t>: </a:t>
            </a:r>
            <a:r>
              <a:rPr sz="1156" b="0">
                <a:solidFill>
                  <a:srgbClr val="98C379"/>
                </a:solidFill>
                <a:latin typeface="Consolas"/>
              </a:rPr>
              <a:t>"whitenoise.storage.CompressedManifestStaticFilesStorage"</a:t>
            </a:r>
            <a:r>
              <a:rPr sz="1156" b="0">
                <a:solidFill>
                  <a:srgbClr val="E6E6E6"/>
                </a:solidFill>
                <a:latin typeface="Consolas"/>
              </a:rPr>
              <a:t>},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Production'ning oltin qoidalari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30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1">
                <a:solidFill>
                  <a:srgbClr val="B02A4A"/>
                </a:solidFill>
                <a:latin typeface="Consolas"/>
              </a:rPr>
              <a:t>DEBUG = False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aks holda xato sahifasi buzg'unchiga kod, sozlamalar va hatto parollarni ko'rsatadi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1">
                <a:solidFill>
                  <a:srgbClr val="B02A4A"/>
                </a:solidFill>
                <a:latin typeface="Consolas"/>
              </a:rPr>
              <a:t>SECRET_KEY</a:t>
            </a:r>
            <a:r>
              <a:rPr sz="2800" b="1">
                <a:solidFill>
                  <a:srgbClr val="1F232B"/>
                </a:solidFill>
                <a:latin typeface="Calibri"/>
              </a:rPr>
              <a:t> maxfiy va yangi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GitHub'dagi yoki darsdagisini ishlatmang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42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16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1">
                <a:solidFill>
                  <a:srgbClr val="B02A4A"/>
                </a:solidFill>
                <a:latin typeface="Consolas"/>
              </a:rPr>
              <a:t>ALLOWED_HOSTS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faqat sizning domeningiz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10888"/>
            <a:ext cx="11091672" cy="65484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6575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Yangi SECRET_KEY yaratish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40072"/>
            <a:ext cx="10725912" cy="30737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88" b="0">
                <a:solidFill>
                  <a:srgbClr val="E6E6E6"/>
                </a:solidFill>
                <a:latin typeface="Consolas"/>
              </a:rPr>
              <a:t>python -c </a:t>
            </a:r>
            <a:r>
              <a:rPr sz="1288" b="0">
                <a:solidFill>
                  <a:srgbClr val="98C379"/>
                </a:solidFill>
                <a:latin typeface="Consolas"/>
              </a:rPr>
              <a:t>"from django.core.management.utils import get_random_secret_key; print(get_random_secret_key())"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Build skripti va tekshiruv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4460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5932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build.sh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3644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#!/usr/bin/env bash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set -o errexit                       # xato bo</a:t>
            </a:r>
            <a:r>
              <a:rPr sz="1904" b="0">
                <a:solidFill>
                  <a:srgbClr val="98C379"/>
                </a:solidFill>
                <a:latin typeface="Consolas"/>
              </a:rPr>
              <a:t>'lsa — to'</a:t>
            </a:r>
            <a:r>
              <a:rPr sz="1904" b="0">
                <a:solidFill>
                  <a:srgbClr val="E6E6E6"/>
                </a:solidFill>
                <a:latin typeface="Consolas"/>
              </a:rPr>
              <a:t>xtash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pip install -r requirements.txt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python manage.py collectstatic --no-input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python manage.py migrate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58761"/>
            <a:ext cx="11091672" cy="141291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2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45"/>
            <a:ext cx="10725912" cy="10654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52" b="0">
                <a:solidFill>
                  <a:srgbClr val="E6E6E6"/>
                </a:solidFill>
                <a:latin typeface="Consolas"/>
              </a:rPr>
              <a:t>git update-index --chmod=+x build.sh   # Windows: bajariladigan qilish (macOS/Linux: chmod +x)</a:t>
            </a:r>
          </a:p>
          <a:p>
            <a:pPr>
              <a:lnSpc>
                <a:spcPct val="100000"/>
              </a:lnSpc>
            </a:pPr>
            <a:r>
              <a:rPr sz="1452" b="0">
                <a:solidFill>
                  <a:srgbClr val="E6E6E6"/>
                </a:solidFill>
                <a:latin typeface="Consolas"/>
              </a:rPr>
              <a:t>python manage.py check --deploy        # production maslahatlari</a:t>
            </a:r>
          </a:p>
          <a:p>
            <a:pPr>
              <a:lnSpc>
                <a:spcPct val="100000"/>
              </a:lnSpc>
            </a:pPr>
            <a:r>
              <a:rPr sz="1452" b="0">
                <a:solidFill>
                  <a:srgbClr val="E6E6E6"/>
                </a:solidFill>
                <a:latin typeface="Consolas"/>
              </a:rPr>
              <a:t>python manage.py collectstatic         # staticfiles/ (.gitignore ga!)</a:t>
            </a:r>
          </a:p>
          <a:p>
            <a:pPr>
              <a:lnSpc>
                <a:spcPct val="100000"/>
              </a:lnSpc>
            </a:pPr>
            <a:r>
              <a:rPr sz="1452" b="0">
                <a:solidFill>
                  <a:srgbClr val="E6E6E6"/>
                </a:solidFill>
                <a:latin typeface="Consolas"/>
              </a:rPr>
              <a:t>git add . &amp;&amp; git commit -m </a:t>
            </a:r>
            <a:r>
              <a:rPr sz="1452" b="0">
                <a:solidFill>
                  <a:srgbClr val="98C379"/>
                </a:solidFill>
                <a:latin typeface="Consolas"/>
              </a:rPr>
              <a:t>"Production uchun tayyorlandi"</a:t>
            </a:r>
            <a:r>
              <a:rPr sz="1452" b="0">
                <a:solidFill>
                  <a:srgbClr val="E6E6E6"/>
                </a:solidFill>
                <a:latin typeface="Consolas"/>
              </a:rPr>
              <a:t> &amp;&amp; git push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DDC5EB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2-bosqich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EEE2F5"/>
                </a:solidFill>
                <a:latin typeface="Calibri"/>
              </a:rPr>
              <a:t>Render'ga joylash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DDC5EB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Render: baza va Web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30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>
                <a:solidFill>
                  <a:srgbClr val="1F232B"/>
                </a:solidFill>
                <a:latin typeface="Calibri"/>
              </a:rPr>
              <a:t>render.com</a:t>
            </a:r>
            <a:r>
              <a:rPr sz="2000" b="0">
                <a:solidFill>
                  <a:srgbClr val="1F232B"/>
                </a:solidFill>
                <a:latin typeface="Calibri"/>
              </a:rPr>
              <a:t> — GitHub akkaunti bilan kiring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744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>
                <a:solidFill>
                  <a:srgbClr val="1F232B"/>
                </a:solidFill>
                <a:latin typeface="Calibri"/>
              </a:rPr>
              <a:t>New + → Postgres</a:t>
            </a:r>
            <a:r>
              <a:rPr sz="2000" b="0">
                <a:solidFill>
                  <a:srgbClr val="1F232B"/>
                </a:solidFill>
                <a:latin typeface="Calibri"/>
              </a:rPr>
              <a:t> → </a:t>
            </a:r>
            <a:r>
              <a:rPr sz="1840" b="0">
                <a:solidFill>
                  <a:srgbClr val="B02A4A"/>
                </a:solidFill>
                <a:latin typeface="Consolas"/>
              </a:rPr>
              <a:t>maktab-blog-db</a:t>
            </a:r>
            <a:r>
              <a:rPr sz="2000" b="0">
                <a:solidFill>
                  <a:srgbClr val="1F232B"/>
                </a:solidFill>
                <a:latin typeface="Calibri"/>
              </a:rPr>
              <a:t>, region </a:t>
            </a:r>
            <a:r>
              <a:rPr sz="2000" b="1">
                <a:solidFill>
                  <a:srgbClr val="1F232B"/>
                </a:solidFill>
                <a:latin typeface="Calibri"/>
              </a:rPr>
              <a:t>Frankfurt</a:t>
            </a:r>
            <a:r>
              <a:rPr sz="2000" b="0">
                <a:solidFill>
                  <a:srgbClr val="1F232B"/>
                </a:solidFill>
                <a:latin typeface="Calibri"/>
              </a:rPr>
              <a:t> → </a:t>
            </a:r>
            <a:r>
              <a:rPr sz="2000" b="1">
                <a:solidFill>
                  <a:srgbClr val="1F232B"/>
                </a:solidFill>
                <a:latin typeface="Calibri"/>
              </a:rPr>
              <a:t>Internal Database URL</a:t>
            </a:r>
            <a:r>
              <a:rPr sz="2000" b="0">
                <a:solidFill>
                  <a:srgbClr val="1F232B"/>
                </a:solidFill>
                <a:latin typeface="Calibri"/>
              </a:rPr>
              <a:t> ni nusxalang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484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9758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1">
                <a:solidFill>
                  <a:srgbClr val="1F232B"/>
                </a:solidFill>
                <a:latin typeface="Calibri"/>
              </a:rPr>
              <a:t>New + → Web Service</a:t>
            </a:r>
            <a:r>
              <a:rPr sz="2000" b="0">
                <a:solidFill>
                  <a:srgbClr val="1F232B"/>
                </a:solidFill>
                <a:latin typeface="Calibri"/>
              </a:rPr>
              <a:t> → repozitoriyangiz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625088"/>
          <a:ext cx="11091672" cy="2401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0030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Maydon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maktab-blog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Build Command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./build.sh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Start Command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gunicorn config.wsgi:application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Instance Type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Muhit o'zgaruvchilari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255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2570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SECRET_KEY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Yangi uzun tasodifiy kalit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DEBUG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ALLOWED_HOSTS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maktab-blog.onrender.com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DATABASE_URL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Internal Database URL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PYTHON_VERSION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Masalan </a:t>
                      </a:r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3.12.7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548640" y="419100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42184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1">
                <a:solidFill>
                  <a:srgbClr val="1F232B"/>
                </a:solidFill>
                <a:latin typeface="Calibri"/>
              </a:rPr>
              <a:t>Create Web Service</a:t>
            </a:r>
            <a:r>
              <a:rPr sz="2200" b="0">
                <a:solidFill>
                  <a:srgbClr val="1F232B"/>
                </a:solidFill>
                <a:latin typeface="Calibri"/>
              </a:rPr>
              <a:t> → </a:t>
            </a:r>
            <a:r>
              <a:rPr sz="2200" b="1">
                <a:solidFill>
                  <a:srgbClr val="1F232B"/>
                </a:solidFill>
                <a:latin typeface="Calibri"/>
              </a:rPr>
              <a:t>Logs</a:t>
            </a:r>
            <a:r>
              <a:rPr sz="2200" b="0">
                <a:solidFill>
                  <a:srgbClr val="1F232B"/>
                </a:solidFill>
                <a:latin typeface="Calibri"/>
              </a:rPr>
              <a:t>: install → collectstatic → migrate → gunicorn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6765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89508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"Your service is live 🎉"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54431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557174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Admin: </a:t>
            </a:r>
            <a:r>
              <a:rPr sz="2200" b="1">
                <a:solidFill>
                  <a:srgbClr val="1F232B"/>
                </a:solidFill>
                <a:latin typeface="Calibri"/>
              </a:rPr>
              <a:t>Shell</a:t>
            </a:r>
            <a:r>
              <a:rPr sz="2200" b="0">
                <a:solidFill>
                  <a:srgbClr val="1F232B"/>
                </a:solidFill>
                <a:latin typeface="Calibri"/>
              </a:rPr>
              <a:t> → </a:t>
            </a:r>
            <a:r>
              <a:rPr sz="2024" b="0">
                <a:solidFill>
                  <a:srgbClr val="B02A4A"/>
                </a:solidFill>
                <a:latin typeface="Consolas"/>
              </a:rPr>
              <a:t>python manage.py createsuperuser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Avtomatik deploy (CI/CD)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3373"/>
            <a:ext cx="11091672" cy="67011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823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82557"/>
            <a:ext cx="10725912" cy="32264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79" b="0">
                <a:solidFill>
                  <a:srgbClr val="E6E6E6"/>
                </a:solidFill>
                <a:latin typeface="Consolas"/>
              </a:rPr>
              <a:t>💻 git push  ──▶  🐙 GitHub  ── avtomatik ──▶  ☁️ Render: build.sh → gunicorn  ⇄  🐘 Render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42944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8E3FBF"/>
                </a:solidFill>
                <a:latin typeface="Calibri"/>
              </a:rPr>
              <a:t>Har bir git push → sayt avtomatik qayta joylanadi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6042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7090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45226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add .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commit -m </a:t>
            </a:r>
            <a:r>
              <a:rPr sz="1904" b="0">
                <a:solidFill>
                  <a:srgbClr val="98C379"/>
                </a:solidFill>
                <a:latin typeface="Consolas"/>
              </a:rPr>
              <a:t>"Izohlar funksiyasi qo'shildi"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push          # yangi migratsiyalar build.sh'da bajariladi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Tekshiruv ro'yxati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29054"/>
          <a:ext cx="11091672" cy="466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18837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Tekshiruv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Bosh sahifa ochiladi, CSS ishlayapti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/admin/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ga kirish, maqola qo'shish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Ro'yxatdan o'tish, CRUD ishlaydi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/maqola/9999/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— chiroyli 404 (sariq xato EMAS!)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/api/maqolalar/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JSON qaytaradi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Manzilda 🔒 HTTPS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837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Telefonda to'g'ri ko'rinadi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18840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JS front-end (Netlify) Render API bilan ishlaydi (CORS)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Xatolarni topish —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77194"/>
          <a:ext cx="11091672" cy="30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Sabab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DisallowedHost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Domen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ALLOWED_HOSTS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da yo'q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CSS yo'q (oddiy matn)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WhiteNoise yoki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collectstatic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muammosi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CSRF verification failed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CSRF_TRUSTED_ORIGINS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da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https://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domen yo'q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ModuleNotFoundError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Paket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requirements.txt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da yo'q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"Build failed"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Build log'ini o'qing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708074"/>
            <a:ext cx="11091672" cy="61798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708074"/>
            <a:ext cx="82296" cy="61798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99514"/>
            <a:ext cx="10725912" cy="4533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9" b="0">
                <a:solidFill>
                  <a:srgbClr val="1F232B"/>
                </a:solidFill>
                <a:latin typeface="Calibri"/>
              </a:rPr>
              <a:t>Muammoni "tuzatish" uchun serverda </a:t>
            </a:r>
            <a:r>
              <a:rPr sz="2279" b="1">
                <a:solidFill>
                  <a:srgbClr val="1F232B"/>
                </a:solidFill>
                <a:latin typeface="Calibri"/>
              </a:rPr>
              <a:t>hech qachon</a:t>
            </a:r>
            <a:r>
              <a:rPr sz="2279" b="0">
                <a:solidFill>
                  <a:srgbClr val="1F232B"/>
                </a:solidFill>
                <a:latin typeface="Calibri"/>
              </a:rPr>
              <a:t> </a:t>
            </a:r>
            <a:r>
              <a:rPr sz="2097" b="0">
                <a:solidFill>
                  <a:srgbClr val="B02A4A"/>
                </a:solidFill>
                <a:latin typeface="Consolas"/>
              </a:rPr>
              <a:t>DEBUG=True</a:t>
            </a:r>
            <a:r>
              <a:rPr sz="2279" b="0">
                <a:solidFill>
                  <a:srgbClr val="1F232B"/>
                </a:solidFill>
                <a:latin typeface="Calibri"/>
              </a:rPr>
              <a:t> qo'ymang!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45512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Media fayllar bulutda vaqtinchalik — haqiqiy loyihada Cloudinary / S3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68267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Muqobil: PythonAnywhere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30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pythonanywhere.com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bepul "Beginner" akkaunt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Bash: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clone ...</a:t>
            </a:r>
            <a:r>
              <a:rPr sz="2800" b="0">
                <a:solidFill>
                  <a:srgbClr val="1F232B"/>
                </a:solidFill>
                <a:latin typeface="Calibri"/>
              </a:rPr>
              <a:t>, virtual muhit, </a:t>
            </a:r>
            <a:r>
              <a:rPr sz="2576" b="0">
                <a:solidFill>
                  <a:srgbClr val="B02A4A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Web → Add a new web app → Manual configuration</a:t>
            </a:r>
            <a:r>
              <a:rPr sz="2800" b="0">
                <a:solidFill>
                  <a:srgbClr val="1F232B"/>
                </a:solidFill>
                <a:latin typeface="Calibri"/>
              </a:rPr>
              <a:t>; WSGI faylida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DJANGO_SETTINGS_MODULE = "config.settings"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1088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33832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Bepulda PostgreSQL yo'q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sqlite:///db.sqlite3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/static/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staticfiles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9343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44677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Reload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USERNAME.pythonanywhere.com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 (30-loyiha)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30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Loyihani tayyorlang; </a:t>
            </a:r>
            <a:r>
              <a:rPr sz="2576" b="0">
                <a:solidFill>
                  <a:srgbClr val="B02A4A"/>
                </a:solidFill>
                <a:latin typeface="Consolas"/>
              </a:rPr>
              <a:t>check --deploy</a:t>
            </a:r>
            <a:r>
              <a:rPr sz="2800" b="0">
                <a:solidFill>
                  <a:srgbClr val="1F232B"/>
                </a:solidFill>
                <a:latin typeface="Calibri"/>
              </a:rPr>
              <a:t> ogohlantirishlarini o'qing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Render'da PostgreSQL + Web Service → joylang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Tekshiruv ro'yxati</a:t>
            </a:r>
            <a:r>
              <a:rPr sz="2800" b="0">
                <a:solidFill>
                  <a:srgbClr val="1F232B"/>
                </a:solidFill>
                <a:latin typeface="Calibri"/>
              </a:rPr>
              <a:t>ni to'liq bajaring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Footer matnini o'zgartiring → push → avtomatik qayta joylanishni kuzating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87544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0149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README.md</a:t>
            </a:r>
            <a:r>
              <a:rPr sz="2800" b="0">
                <a:solidFill>
                  <a:srgbClr val="1F232B"/>
                </a:solidFill>
                <a:latin typeface="Calibri"/>
              </a:rPr>
              <a:t>: sayt havolasi, skrinshotlar, "Qanday ishga tushirish"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Production serverda </a:t>
            </a:r>
            <a:r>
              <a:rPr sz="2208" b="1">
                <a:solidFill>
                  <a:srgbClr val="B02A4A"/>
                </a:solidFill>
                <a:latin typeface="Consolas"/>
              </a:rPr>
              <a:t>DEBUG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bo'lishi kerak va nima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 — xatolarni ko'rish uchun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False — xato sahifalari maxfiy ma'lumotlarni oshkor qilmasligi uchun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Ahamiyati yo'q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Production serverda </a:t>
            </a:r>
            <a:r>
              <a:rPr sz="2208" b="1">
                <a:solidFill>
                  <a:srgbClr val="B02A4A"/>
                </a:solidFill>
                <a:latin typeface="Consolas"/>
              </a:rPr>
              <a:t>DEBUG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bo'lishi kerak va nima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True — xatolarni ko'rish uchun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False — xato sahifalari maxfiy ma'lumotlarni oshkor qilmasligi uchun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Ahamiyati yo'q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Production'da </a:t>
            </a:r>
            <a:r>
              <a:rPr sz="2208" b="1">
                <a:solidFill>
                  <a:srgbClr val="B02A4A"/>
                </a:solidFill>
                <a:latin typeface="Consolas"/>
              </a:rPr>
              <a:t>runserver</a:t>
            </a:r>
            <a:r>
              <a:rPr sz="2400" b="1">
                <a:solidFill>
                  <a:srgbClr val="1F232B"/>
                </a:solidFill>
                <a:latin typeface="Calibri"/>
              </a:rPr>
              <a:t> o'rniga ishlatiladigan server dasturi?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whitenoise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gunicorn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Production'da </a:t>
            </a:r>
            <a:r>
              <a:rPr sz="2208" b="1">
                <a:solidFill>
                  <a:srgbClr val="B02A4A"/>
                </a:solidFill>
                <a:latin typeface="Consolas"/>
              </a:rPr>
              <a:t>runserver</a:t>
            </a:r>
            <a:r>
              <a:rPr sz="2400" b="1">
                <a:solidFill>
                  <a:srgbClr val="1F232B"/>
                </a:solidFill>
                <a:latin typeface="Calibri"/>
              </a:rPr>
              <a:t> o'rniga ishlatiladigan server dasturi?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whitenoise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gunicorn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Saytingiz </a:t>
            </a:r>
            <a:r>
              <a:rPr sz="2208" b="1">
                <a:solidFill>
                  <a:srgbClr val="B02A4A"/>
                </a:solidFill>
                <a:latin typeface="Consolas"/>
              </a:rPr>
              <a:t>DisallowedHost</a:t>
            </a:r>
            <a:r>
              <a:rPr sz="2400" b="1">
                <a:solidFill>
                  <a:srgbClr val="1F232B"/>
                </a:solidFill>
                <a:latin typeface="Calibri"/>
              </a:rPr>
              <a:t> xatosini berdi. Sababi?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Baza ulanmagan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CSS topilmadi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Domen </a:t>
            </a:r>
            <a:r>
              <a:rPr sz="1748" b="0">
                <a:solidFill>
                  <a:srgbClr val="B02A4A"/>
                </a:solidFill>
                <a:latin typeface="Consolas"/>
              </a:rPr>
              <a:t>ALLOWED_HOSTS</a:t>
            </a:r>
            <a:r>
              <a:rPr sz="1900" b="0">
                <a:solidFill>
                  <a:srgbClr val="1F232B"/>
                </a:solidFill>
                <a:latin typeface="Calibri"/>
              </a:rPr>
              <a:t> da yo'q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Parol noto'g'ri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Saytingiz </a:t>
            </a:r>
            <a:r>
              <a:rPr sz="2208" b="1">
                <a:solidFill>
                  <a:srgbClr val="B02A4A"/>
                </a:solidFill>
                <a:latin typeface="Consolas"/>
              </a:rPr>
              <a:t>DisallowedHost</a:t>
            </a:r>
            <a:r>
              <a:rPr sz="2400" b="1">
                <a:solidFill>
                  <a:srgbClr val="1F232B"/>
                </a:solidFill>
                <a:latin typeface="Calibri"/>
              </a:rPr>
              <a:t> xatosini berdi. Sababi?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Baza ulanmagan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CSS topilmadi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Domen </a:t>
            </a:r>
            <a:r>
              <a:rPr sz="1748" b="1">
                <a:solidFill>
                  <a:srgbClr val="B02A4A"/>
                </a:solidFill>
                <a:latin typeface="Consolas"/>
              </a:rPr>
              <a:t>ALLOWED_HOSTS</a:t>
            </a:r>
            <a:r>
              <a:rPr sz="1900" b="1">
                <a:solidFill>
                  <a:srgbClr val="1F232B"/>
                </a:solidFill>
                <a:latin typeface="Calibri"/>
              </a:rPr>
              <a:t> da yo'q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Parol noto'g'ri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Render'ga ulangan loyihani yangilash uchun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Serverga qayta ro'yxatdan o'tish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Loyihani o'chirib qayta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O'zgarishlarni GitHub'ga </a:t>
            </a:r>
            <a:r>
              <a:rPr sz="1748" b="0">
                <a:solidFill>
                  <a:srgbClr val="B02A4A"/>
                </a:solidFill>
                <a:latin typeface="Consolas"/>
              </a:rPr>
              <a:t>git push</a:t>
            </a:r>
            <a:r>
              <a:rPr sz="1900" b="0">
                <a:solidFill>
                  <a:srgbClr val="1F232B"/>
                </a:solidFill>
                <a:latin typeface="Calibri"/>
              </a:rPr>
              <a:t> qilish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Yangilab bo'lmaydi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Render'ga ulangan loyihani yangilash uchun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Serverga qayta ro'yxatdan o'tish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Loyihani o'chirib qayta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O'zgarishlarni GitHub'ga </a:t>
            </a:r>
            <a:r>
              <a:rPr sz="1748" b="1">
                <a:solidFill>
                  <a:srgbClr val="B02A4A"/>
                </a:solidFill>
                <a:latin typeface="Consolas"/>
              </a:rPr>
              <a:t>git push</a:t>
            </a:r>
            <a:r>
              <a:rPr sz="1900" b="1">
                <a:solidFill>
                  <a:srgbClr val="1F232B"/>
                </a:solidFill>
                <a:latin typeface="Calibri"/>
              </a:rPr>
              <a:t> qilish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Yangilab bo'lmaydi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28 / 30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72233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9966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IV bob yakunlovchi loyihangizni ham internetga joylang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48889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67632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Barcha havolalarni </a:t>
            </a:r>
            <a:r>
              <a:rPr sz="2800" b="1">
                <a:solidFill>
                  <a:srgbClr val="1F232B"/>
                </a:solidFill>
                <a:latin typeface="Calibri"/>
              </a:rPr>
              <a:t>GitHub profili README</a:t>
            </a:r>
            <a:r>
              <a:rPr sz="2800" b="0">
                <a:solidFill>
                  <a:srgbClr val="1F232B"/>
                </a:solidFill>
                <a:latin typeface="Calibri"/>
              </a:rPr>
              <a:t>'siga va </a:t>
            </a:r>
            <a:r>
              <a:rPr sz="2800" b="1">
                <a:solidFill>
                  <a:srgbClr val="1F232B"/>
                </a:solidFill>
                <a:latin typeface="Calibri"/>
              </a:rPr>
              <a:t>portfolio</a:t>
            </a:r>
            <a:r>
              <a:rPr sz="2800" b="0">
                <a:solidFill>
                  <a:srgbClr val="1F232B"/>
                </a:solidFill>
                <a:latin typeface="Calibri"/>
              </a:rPr>
              <a:t> saytingizga qo'shing — bu sizning birinchi </a:t>
            </a:r>
            <a:r>
              <a:rPr sz="2800" b="1">
                <a:solidFill>
                  <a:srgbClr val="1F232B"/>
                </a:solidFill>
                <a:latin typeface="Calibri"/>
              </a:rPr>
              <a:t>"rezyume"</a:t>
            </a:r>
            <a:r>
              <a:rPr sz="2800" b="0">
                <a:solidFill>
                  <a:srgbClr val="1F232B"/>
                </a:solidFill>
                <a:latin typeface="Calibri"/>
              </a:rPr>
              <a:t>ingiz!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41-mavzu · Django loyihasini serverga joylash (Deploy)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29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Deploy — internetdagi serverga joylash; production ≠ development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6591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466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DEBUG=False</a:t>
            </a:r>
            <a:r>
              <a:rPr sz="2600" b="0">
                <a:solidFill>
                  <a:srgbClr val="1F232B"/>
                </a:solidFill>
                <a:latin typeface="Calibri"/>
              </a:rPr>
              <a:t>, maxfiy </a:t>
            </a:r>
            <a:r>
              <a:rPr sz="2392" b="0">
                <a:solidFill>
                  <a:srgbClr val="B02A4A"/>
                </a:solidFill>
                <a:latin typeface="Consolas"/>
              </a:rPr>
              <a:t>SECRET_KEY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ALLOWED_HOSTS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CSRF_TRUSTED_ORIGINS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4325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84754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gunicorn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whitenoise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dj-database-url</a:t>
            </a:r>
            <a:r>
              <a:rPr sz="2600" b="0">
                <a:solidFill>
                  <a:srgbClr val="1F232B"/>
                </a:solidFill>
                <a:latin typeface="Calibri"/>
              </a:rPr>
              <a:t>; </a:t>
            </a:r>
            <a:r>
              <a:rPr sz="2392" b="0">
                <a:solidFill>
                  <a:srgbClr val="B02A4A"/>
                </a:solidFill>
                <a:latin typeface="Consolas"/>
              </a:rPr>
              <a:t>requirements.txt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13334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2096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build.sh</a:t>
            </a:r>
            <a:r>
              <a:rPr sz="2600" b="0">
                <a:solidFill>
                  <a:srgbClr val="1F232B"/>
                </a:solidFill>
                <a:latin typeface="Calibri"/>
              </a:rPr>
              <a:t>: install → collectstatic → migrate; start: </a:t>
            </a:r>
            <a:r>
              <a:rPr sz="2392" b="0">
                <a:solidFill>
                  <a:srgbClr val="B02A4A"/>
                </a:solidFill>
                <a:latin typeface="Consolas"/>
              </a:rPr>
              <a:t>gunicorn config.wsgi:application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71068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52188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Render: Postgres + Web Service + muhit o'zgaruvchilari → har push'da deploy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70077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42. Yakuniy nazorat ishi — IV–V boblar (Django, DRF, Deploy) va yakuniy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41-mavzu: Django loyihasini serverga joylash (Deploy)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