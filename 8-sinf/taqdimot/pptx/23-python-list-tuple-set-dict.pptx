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"alo".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[0, 2, 4, 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23-MAVZU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Ma'lumot tuzilmalari: list, tuple, set va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Ro'yxat (list) va uning metodlari, kesish (slicing), list comprehension; o'zgarmas tuple; takrorlanmas set; kalit-qiymatli dictionary; qaysi birini qachon tanlash; o'quvchilar ma'lumotlarini boshqarish dasturi.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Python'ning 4 ta "konteyneri": </a:t>
            </a:r>
            <a:r>
              <a:rPr sz="2800" b="1">
                <a:solidFill>
                  <a:srgbClr val="1F232B"/>
                </a:solidFill>
                <a:latin typeface="Calibri"/>
              </a:rPr>
              <a:t>list, tuple, set, dict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Qachon qaysi birini tanlash kerak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Kesish</a:t>
            </a:r>
            <a:r>
              <a:rPr sz="2800" b="0">
                <a:solidFill>
                  <a:srgbClr val="1F232B"/>
                </a:solidFill>
                <a:latin typeface="Calibri"/>
              </a:rPr>
              <a:t> (slicing) va </a:t>
            </a:r>
            <a:r>
              <a:rPr sz="2800" b="1">
                <a:solidFill>
                  <a:srgbClr val="1F232B"/>
                </a:solidFill>
                <a:latin typeface="Calibri"/>
              </a:rPr>
              <a:t>list comprehension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O'quvchilar ma'lumotlarini boshqarish dasturi (16-loyiha)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To'rt tuzilma — bir qarashda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44827"/>
          <a:ext cx="110916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Tuzilma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Yozilishi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Tartibli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O'zgaradi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Takror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JS'da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[1, 2, 3]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Array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tuple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(1, 2, 3)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{1, 2, 3}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{"ism": "Ali"}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Kalit — ❌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Object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O'xshatishlar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list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xarid ro'yxati: tartibi bor, qo'shish-o'chirish mumkin, takror bo'lishi mumkin.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16707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16707"/>
            <a:ext cx="82296" cy="61798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08148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tuple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tug'ilgan sana (kun, oy, yil): bir marta yoziladi va o'zgarmaydi.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54146"/>
            <a:ext cx="11091672" cy="617982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54146"/>
            <a:ext cx="82296" cy="61798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45586"/>
            <a:ext cx="10725912" cy="4533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set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sinfdagi ismlar to'plami: har biri bir marta, tartib ahamiyatsiz.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1584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91584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3024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dict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lug'at yoki telefon kitobi: so'z (kalit) bo'yicha ma'nosini (qiymat) darhol topasiz.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List — ro'yxat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 = [</a:t>
            </a:r>
            <a:r>
              <a:rPr sz="1904" b="0">
                <a:solidFill>
                  <a:srgbClr val="98C379"/>
                </a:solidFill>
                <a:latin typeface="Consolas"/>
              </a:rPr>
              <a:t>"matematika"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"informatika"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fanlar[0]                  # matematika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fanlar[-1]                 # informatika — oxiridan!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len(fanlar)                # 3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fanlar.append(</a:t>
            </a:r>
            <a:r>
              <a:rPr sz="1904" b="0">
                <a:solidFill>
                  <a:srgbClr val="98C379"/>
                </a:solidFill>
                <a:latin typeface="Consolas"/>
              </a:rPr>
              <a:t>"tarix"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 # oxiriga (JS: push)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fanlar.insert(1, </a:t>
            </a:r>
            <a:r>
              <a:rPr sz="1904" b="0">
                <a:solidFill>
                  <a:srgbClr val="98C379"/>
                </a:solidFill>
                <a:latin typeface="Consolas"/>
              </a:rPr>
              <a:t>"kimyo"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# 1-o'ringa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fanlar.remove(</a:t>
            </a:r>
            <a:r>
              <a:rPr sz="1904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# qiymat bo</a:t>
            </a:r>
            <a:r>
              <a:rPr sz="1904" b="0">
                <a:solidFill>
                  <a:srgbClr val="98C379"/>
                </a:solidFill>
                <a:latin typeface="Consolas"/>
              </a:rPr>
              <a:t>'yicha o'</a:t>
            </a:r>
            <a:r>
              <a:rPr sz="1904" b="0">
                <a:solidFill>
                  <a:srgbClr val="E6E6E6"/>
                </a:solidFill>
                <a:latin typeface="Consolas"/>
              </a:rPr>
              <a:t>chirish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fanlar.pop()               # oxirgisini olish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"kimyo"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fanlar          #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Sonlar ro'yxati bilan ishlash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3341"/>
            <a:ext cx="11091672" cy="298214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820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2525"/>
            <a:ext cx="10725912" cy="26346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ballar = [78, 95, 62, 88, 95, 71]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sum(ballar)                   # 489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max(ballar), min(ballar)      # 95 62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sum(ballar) / len(ballar)     # 81.5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ballar.count(95)              # 2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ballar.sort()                 # o</a:t>
            </a:r>
            <a:r>
              <a:rPr sz="1896" b="0">
                <a:solidFill>
                  <a:srgbClr val="98C379"/>
                </a:solidFill>
                <a:latin typeface="Consolas"/>
              </a:rPr>
              <a:t>'sish tartibida (asl ro'</a:t>
            </a:r>
            <a:r>
              <a:rPr sz="1896" b="0">
                <a:solidFill>
                  <a:srgbClr val="E6E6E6"/>
                </a:solidFill>
                <a:latin typeface="Consolas"/>
              </a:rPr>
              <a:t>yxat o'zgaradi)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ballar.sort(reverse=</a:t>
            </a:r>
            <a:r>
              <a:rPr sz="1896" b="0">
                <a:solidFill>
                  <a:srgbClr val="C678DD"/>
                </a:solidFill>
                <a:latin typeface="Consolas"/>
              </a:rPr>
              <a:t>True</a:t>
            </a:r>
            <a:r>
              <a:rPr sz="1896" b="0">
                <a:solidFill>
                  <a:srgbClr val="E6E6E6"/>
                </a:solidFill>
                <a:latin typeface="Consolas"/>
              </a:rPr>
              <a:t>)     # kamayish</a:t>
            </a:r>
          </a:p>
          <a:p>
            <a:pPr>
              <a:lnSpc>
                <a:spcPct val="100000"/>
              </a:lnSpc>
            </a:pPr>
            <a:r>
              <a:rPr sz="1896" b="0">
                <a:solidFill>
                  <a:srgbClr val="E6E6E6"/>
                </a:solidFill>
                <a:latin typeface="Consolas"/>
              </a:rPr>
              <a:t>sorted([</a:t>
            </a:r>
            <a:r>
              <a:rPr sz="1896" b="0">
                <a:solidFill>
                  <a:srgbClr val="98C379"/>
                </a:solidFill>
                <a:latin typeface="Consolas"/>
              </a:rPr>
              <a:t>"olma"</a:t>
            </a:r>
            <a:r>
              <a:rPr sz="1896" b="0">
                <a:solidFill>
                  <a:srgbClr val="E6E6E6"/>
                </a:solidFill>
                <a:latin typeface="Consolas"/>
              </a:rPr>
              <a:t>, </a:t>
            </a:r>
            <a:r>
              <a:rPr sz="1896" b="0">
                <a:solidFill>
                  <a:srgbClr val="98C379"/>
                </a:solidFill>
                <a:latin typeface="Consolas"/>
              </a:rPr>
              <a:t>"anor"</a:t>
            </a:r>
            <a:r>
              <a:rPr sz="1896" b="0">
                <a:solidFill>
                  <a:srgbClr val="E6E6E6"/>
                </a:solidFill>
                <a:latin typeface="Consolas"/>
              </a:rPr>
              <a:t>])      # YANGI saralangan ro'yxat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94942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694942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86382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47" b="0">
                <a:solidFill>
                  <a:srgbClr val="B02A4A"/>
                </a:solidFill>
                <a:latin typeface="Consolas"/>
              </a:rPr>
              <a:t>x = royxat.sort()</a:t>
            </a:r>
            <a:r>
              <a:rPr sz="2660" b="0">
                <a:solidFill>
                  <a:srgbClr val="1F232B"/>
                </a:solidFill>
                <a:latin typeface="Calibri"/>
              </a:rPr>
              <a:t> → </a:t>
            </a:r>
            <a:r>
              <a:rPr sz="2447" b="0">
                <a:solidFill>
                  <a:srgbClr val="B02A4A"/>
                </a:solidFill>
                <a:latin typeface="Consolas"/>
              </a:rPr>
              <a:t>x</a:t>
            </a:r>
            <a:r>
              <a:rPr sz="2660" b="0">
                <a:solidFill>
                  <a:srgbClr val="1F232B"/>
                </a:solidFill>
                <a:latin typeface="Calibri"/>
              </a:rPr>
              <a:t> = </a:t>
            </a:r>
            <a:r>
              <a:rPr sz="2447" b="0">
                <a:solidFill>
                  <a:srgbClr val="B02A4A"/>
                </a:solidFill>
                <a:latin typeface="Consolas"/>
              </a:rPr>
              <a:t>None</a:t>
            </a:r>
            <a:r>
              <a:rPr sz="2660" b="0">
                <a:solidFill>
                  <a:srgbClr val="1F232B"/>
                </a:solidFill>
                <a:latin typeface="Calibri"/>
              </a:rPr>
              <a:t>! Yangi ro'yxat kerak bo'lsa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sorted()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Kesish (slicing) — "super kuch"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10837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570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0021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 = [</a:t>
            </a:r>
            <a:r>
              <a:rPr sz="1904" b="0">
                <a:solidFill>
                  <a:srgbClr val="98C379"/>
                </a:solidFill>
                <a:latin typeface="Consolas"/>
              </a:rPr>
              <a:t>"a"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"b"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"c"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"d"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"e"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"f"</a:t>
            </a:r>
            <a:r>
              <a:rPr sz="1904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#            0    1    2    3    4    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harflar[1:4]     # [</a:t>
            </a:r>
            <a:r>
              <a:rPr sz="1904" b="0">
                <a:solidFill>
                  <a:srgbClr val="98C379"/>
                </a:solidFill>
                <a:latin typeface="Consolas"/>
              </a:rPr>
              <a:t>'b'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'c'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'd'</a:t>
            </a:r>
            <a:r>
              <a:rPr sz="1904" b="0">
                <a:solidFill>
                  <a:srgbClr val="E6E6E6"/>
                </a:solidFill>
                <a:latin typeface="Consolas"/>
              </a:rPr>
              <a:t>]  — 4 kirmaydi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harflar[:3]      # [</a:t>
            </a:r>
            <a:r>
              <a:rPr sz="1904" b="0">
                <a:solidFill>
                  <a:srgbClr val="98C379"/>
                </a:solidFill>
                <a:latin typeface="Consolas"/>
              </a:rPr>
              <a:t>'a'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'b'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'c'</a:t>
            </a:r>
            <a:r>
              <a:rPr sz="1904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harflar[3:]      # [</a:t>
            </a:r>
            <a:r>
              <a:rPr sz="1904" b="0">
                <a:solidFill>
                  <a:srgbClr val="98C379"/>
                </a:solidFill>
                <a:latin typeface="Consolas"/>
              </a:rPr>
              <a:t>'d'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'e'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'f'</a:t>
            </a:r>
            <a:r>
              <a:rPr sz="1904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harflar[-2:]     # [</a:t>
            </a:r>
            <a:r>
              <a:rPr sz="1904" b="0">
                <a:solidFill>
                  <a:srgbClr val="98C379"/>
                </a:solidFill>
                <a:latin typeface="Consolas"/>
              </a:rPr>
              <a:t>'e'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'f'</a:t>
            </a:r>
            <a:r>
              <a:rPr sz="1904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harflar[::2]     # [</a:t>
            </a:r>
            <a:r>
              <a:rPr sz="1904" b="0">
                <a:solidFill>
                  <a:srgbClr val="98C379"/>
                </a:solidFill>
                <a:latin typeface="Consolas"/>
              </a:rPr>
              <a:t>'a'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'c'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'e'</a:t>
            </a:r>
            <a:r>
              <a:rPr sz="1904" b="0">
                <a:solidFill>
                  <a:srgbClr val="E6E6E6"/>
                </a:solidFill>
                <a:latin typeface="Consolas"/>
              </a:rPr>
              <a:t>]  — har ikkinchisi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harflar[::-1]    # teskari!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"Python"</a:t>
            </a:r>
            <a:r>
              <a:rPr sz="1904" b="0">
                <a:solidFill>
                  <a:srgbClr val="E6E6E6"/>
                </a:solidFill>
                <a:latin typeface="Consolas"/>
              </a:rPr>
              <a:t>[::-1]   # </a:t>
            </a:r>
            <a:r>
              <a:rPr sz="1904" b="0">
                <a:solidFill>
                  <a:srgbClr val="98C379"/>
                </a:solidFill>
                <a:latin typeface="Consolas"/>
              </a:rPr>
              <a:t>'nohtyP'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Aylanish va list comprehension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1819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466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1003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i, ism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enumerate([</a:t>
            </a:r>
            <a:r>
              <a:rPr sz="1904" b="0">
                <a:solidFill>
                  <a:srgbClr val="98C379"/>
                </a:solidFill>
                <a:latin typeface="Consolas"/>
              </a:rPr>
              <a:t>"Ali"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"Vali"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"Gani"</a:t>
            </a:r>
            <a:r>
              <a:rPr sz="1904" b="0">
                <a:solidFill>
                  <a:srgbClr val="E6E6E6"/>
                </a:solidFill>
                <a:latin typeface="Consolas"/>
              </a:rPr>
              <a:t>], start=1):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  </a:t>
            </a: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(f</a:t>
            </a:r>
            <a:r>
              <a:rPr sz="1904" b="0">
                <a:solidFill>
                  <a:srgbClr val="98C379"/>
                </a:solidFill>
                <a:latin typeface="Consolas"/>
              </a:rPr>
              <a:t>"{i}. {ism}"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sonlar = [1, 2, 3, 4, 5, 6]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kvadratlar = [x * x </a:t>
            </a: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x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sonlar]           # [1, 4, 9, 16, 25, 36]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juftlar = [x </a:t>
            </a: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x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sonlar </a:t>
            </a:r>
            <a:r>
              <a:rPr sz="1904" b="0">
                <a:solidFill>
                  <a:srgbClr val="C678DD"/>
                </a:solidFill>
                <a:latin typeface="Consolas"/>
              </a:rPr>
              <a:t>if</a:t>
            </a:r>
            <a:r>
              <a:rPr sz="1904" b="0">
                <a:solidFill>
                  <a:srgbClr val="E6E6E6"/>
                </a:solidFill>
                <a:latin typeface="Consolas"/>
              </a:rPr>
              <a:t> x % 2 == 0]    # [2, 4, 6]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kattalar = [i.capitalize() </a:t>
            </a:r>
            <a:r>
              <a:rPr sz="1904" b="0">
                <a:solidFill>
                  <a:srgbClr val="C678DD"/>
                </a:solidFill>
                <a:latin typeface="Consolas"/>
              </a:rPr>
              <a:t>for</a:t>
            </a:r>
            <a:r>
              <a:rPr sz="1904" b="0">
                <a:solidFill>
                  <a:srgbClr val="E6E6E6"/>
                </a:solidFill>
                <a:latin typeface="Consolas"/>
              </a:rPr>
              <a:t> i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[</a:t>
            </a:r>
            <a:r>
              <a:rPr sz="1904" b="0">
                <a:solidFill>
                  <a:srgbClr val="98C379"/>
                </a:solidFill>
                <a:latin typeface="Consolas"/>
              </a:rPr>
              <a:t>"ali"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"vali"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]]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4493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[ifoda for x in to'plam if shart]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41306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JS'dagi </a:t>
            </a:r>
            <a:r>
              <a:rPr sz="2576" b="0">
                <a:solidFill>
                  <a:srgbClr val="B02A4A"/>
                </a:solidFill>
                <a:latin typeface="Consolas"/>
              </a:rPr>
              <a:t>map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filter</a:t>
            </a:r>
            <a:r>
              <a:rPr sz="2800" b="0">
                <a:solidFill>
                  <a:srgbClr val="1F232B"/>
                </a:solidFill>
                <a:latin typeface="Calibri"/>
              </a:rPr>
              <a:t> ning birlashmasi — bitta qatorda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57308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Tuple — o'zgarmas ro'yxat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8174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9303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67358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sana = (1, 9, 2026)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koordinata = (41.31, 69.28)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sana[2]               # 2026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7F848E"/>
                </a:solidFill>
                <a:latin typeface="Consolas"/>
              </a:rPr>
              <a:t># sana[0] = 5         ❌ TypeError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kun, oy, yil = sana   # </a:t>
            </a:r>
            <a:r>
              <a:rPr sz="1904" b="0">
                <a:solidFill>
                  <a:srgbClr val="98C379"/>
                </a:solidFill>
                <a:latin typeface="Consolas"/>
              </a:rPr>
              <a:t>"ochish"</a:t>
            </a:r>
            <a:r>
              <a:rPr sz="1904" b="0">
                <a:solidFill>
                  <a:srgbClr val="E6E6E6"/>
                </a:solidFill>
                <a:latin typeface="Consolas"/>
              </a:rPr>
              <a:t> (unpacking)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a, b = 5, 10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a, b = b, a           # qiymatlarni almashtirish!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003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Qachon? Ma'lumot </a:t>
            </a:r>
            <a:r>
              <a:rPr sz="2800" b="1">
                <a:solidFill>
                  <a:srgbClr val="1F232B"/>
                </a:solidFill>
                <a:latin typeface="Calibri"/>
              </a:rPr>
              <a:t>o'zgarmasligi</a:t>
            </a:r>
            <a:r>
              <a:rPr sz="2800" b="0">
                <a:solidFill>
                  <a:srgbClr val="1F232B"/>
                </a:solidFill>
                <a:latin typeface="Calibri"/>
              </a:rPr>
              <a:t> kerak: sanalar, koordinatalar, RGB </a:t>
            </a:r>
            <a:r>
              <a:rPr sz="2576" b="0">
                <a:solidFill>
                  <a:srgbClr val="B02A4A"/>
                </a:solidFill>
                <a:latin typeface="Consolas"/>
              </a:rPr>
              <a:t>(255, 0, 0)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91005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Set — takrorlanmas to'plam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3728"/>
            <a:ext cx="11091672" cy="36307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5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2912"/>
            <a:ext cx="10725912" cy="32833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ranglar = {</a:t>
            </a:r>
            <a:r>
              <a:rPr sz="1904" b="0">
                <a:solidFill>
                  <a:srgbClr val="98C379"/>
                </a:solidFill>
                <a:latin typeface="Consolas"/>
              </a:rPr>
              <a:t>"qizil"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"yashil"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"qizil"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"ko'k"</a:t>
            </a:r>
            <a:r>
              <a:rPr sz="1904" b="0">
                <a:solidFill>
                  <a:srgbClr val="E6E6E6"/>
                </a:solidFill>
                <a:latin typeface="Consolas"/>
              </a:rPr>
              <a:t>}   # takror o'chadi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ranglar.add(</a:t>
            </a:r>
            <a:r>
              <a:rPr sz="1904" b="0">
                <a:solidFill>
                  <a:srgbClr val="98C379"/>
                </a:solidFill>
                <a:latin typeface="Consolas"/>
              </a:rPr>
              <a:t>"sariq"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"qizil"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in</a:t>
            </a:r>
            <a:r>
              <a:rPr sz="1904" b="0">
                <a:solidFill>
                  <a:srgbClr val="E6E6E6"/>
                </a:solidFill>
                <a:latin typeface="Consolas"/>
              </a:rPr>
              <a:t> ranglar           #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 — juda tez qidiruv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list(set([1, 2, 2, 3, 3]))   # [1, 2, 3] — takrorlarni olib tashlash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futbol  = {</a:t>
            </a:r>
            <a:r>
              <a:rPr sz="1904" b="0">
                <a:solidFill>
                  <a:srgbClr val="98C379"/>
                </a:solidFill>
                <a:latin typeface="Consolas"/>
              </a:rPr>
              <a:t>"Ali"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"Vali"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"Sardor"</a:t>
            </a: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shaxmat = {</a:t>
            </a:r>
            <a:r>
              <a:rPr sz="1904" b="0">
                <a:solidFill>
                  <a:srgbClr val="98C379"/>
                </a:solidFill>
                <a:latin typeface="Consolas"/>
              </a:rPr>
              <a:t>"Vali"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"Sardor"</a:t>
            </a: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futbol &amp; shaxmat   # kesishma: {</a:t>
            </a:r>
            <a:r>
              <a:rPr sz="1904" b="0">
                <a:solidFill>
                  <a:srgbClr val="98C379"/>
                </a:solidFill>
                <a:latin typeface="Consolas"/>
              </a:rPr>
              <a:t>'Vali'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'Sardor'</a:t>
            </a: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futbol | shaxmat   # birlashma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futbol - shaxmat   # ayirma: {</a:t>
            </a:r>
            <a:r>
              <a:rPr sz="1904" b="0">
                <a:solidFill>
                  <a:srgbClr val="98C379"/>
                </a:solidFill>
                <a:latin typeface="Consolas"/>
              </a:rPr>
              <a:t>'Ali'</a:t>
            </a:r>
            <a:r>
              <a:rPr sz="1904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962"/>
            <a:ext cx="11091672" cy="67830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303962"/>
            <a:ext cx="82296" cy="67830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95402"/>
            <a:ext cx="10725912" cy="5137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Bo'sh set — </a:t>
            </a:r>
            <a:r>
              <a:rPr sz="2447" b="0">
                <a:solidFill>
                  <a:srgbClr val="B02A4A"/>
                </a:solidFill>
                <a:latin typeface="Consolas"/>
              </a:rPr>
              <a:t>set()</a:t>
            </a:r>
            <a:r>
              <a:rPr sz="2660" b="0">
                <a:solidFill>
                  <a:srgbClr val="1F232B"/>
                </a:solidFill>
                <a:latin typeface="Calibri"/>
              </a:rPr>
              <a:t>. </a:t>
            </a:r>
            <a:r>
              <a:rPr sz="2447" b="0">
                <a:solidFill>
                  <a:srgbClr val="B02A4A"/>
                </a:solidFill>
                <a:latin typeface="Consolas"/>
              </a:rPr>
              <a:t>{}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bu bo'sh </a:t>
            </a:r>
            <a:r>
              <a:rPr sz="2660" b="1">
                <a:solidFill>
                  <a:srgbClr val="1F232B"/>
                </a:solidFill>
                <a:latin typeface="Calibri"/>
              </a:rPr>
              <a:t>dict</a:t>
            </a:r>
            <a:r>
              <a:rPr sz="266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Dictionary — kalit: qiymat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5601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04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4785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 = {</a:t>
            </a:r>
            <a:r>
              <a:rPr sz="1768" b="0">
                <a:solidFill>
                  <a:srgbClr val="98C379"/>
                </a:solidFill>
                <a:latin typeface="Consolas"/>
              </a:rPr>
              <a:t>"ism"</a:t>
            </a:r>
            <a:r>
              <a:rPr sz="1768" b="0">
                <a:solidFill>
                  <a:srgbClr val="E6E6E6"/>
                </a:solidFill>
                <a:latin typeface="Consolas"/>
              </a:rPr>
              <a:t>: </a:t>
            </a:r>
            <a:r>
              <a:rPr sz="1768" b="0">
                <a:solidFill>
                  <a:srgbClr val="98C379"/>
                </a:solidFill>
                <a:latin typeface="Consolas"/>
              </a:rPr>
              <a:t>"Dilnoza"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"yosh"</a:t>
            </a:r>
            <a:r>
              <a:rPr sz="1768" b="0">
                <a:solidFill>
                  <a:srgbClr val="E6E6E6"/>
                </a:solidFill>
                <a:latin typeface="Consolas"/>
              </a:rPr>
              <a:t>: 14, </a:t>
            </a:r>
            <a:r>
              <a:rPr sz="1768" b="0">
                <a:solidFill>
                  <a:srgbClr val="98C379"/>
                </a:solidFill>
                <a:latin typeface="Consolas"/>
              </a:rPr>
              <a:t>"sinf"</a:t>
            </a:r>
            <a:r>
              <a:rPr sz="1768" b="0">
                <a:solidFill>
                  <a:srgbClr val="E6E6E6"/>
                </a:solidFill>
                <a:latin typeface="Consolas"/>
              </a:rPr>
              <a:t>: </a:t>
            </a:r>
            <a:r>
              <a:rPr sz="1768" b="0">
                <a:solidFill>
                  <a:srgbClr val="98C379"/>
                </a:solidFill>
                <a:latin typeface="Consolas"/>
              </a:rPr>
              <a:t>"8-A"</a:t>
            </a:r>
            <a:r>
              <a:rPr sz="1768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oquvchi[</a:t>
            </a:r>
            <a:r>
              <a:rPr sz="1768" b="0">
                <a:solidFill>
                  <a:srgbClr val="98C379"/>
                </a:solidFill>
                <a:latin typeface="Consolas"/>
              </a:rPr>
              <a:t>"ism"</a:t>
            </a:r>
            <a:r>
              <a:rPr sz="1768" b="0">
                <a:solidFill>
                  <a:srgbClr val="E6E6E6"/>
                </a:solidFill>
                <a:latin typeface="Consolas"/>
              </a:rPr>
              <a:t>]                    # Dilnoza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oquvchi.get(</a:t>
            </a:r>
            <a:r>
              <a:rPr sz="1768" b="0">
                <a:solidFill>
                  <a:srgbClr val="98C379"/>
                </a:solidFill>
                <a:latin typeface="Consolas"/>
              </a:rPr>
              <a:t>"telefon"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        # </a:t>
            </a:r>
            <a:r>
              <a:rPr sz="1768" b="0">
                <a:solidFill>
                  <a:srgbClr val="C678DD"/>
                </a:solidFill>
                <a:latin typeface="Consolas"/>
              </a:rPr>
              <a:t>None</a:t>
            </a:r>
            <a:r>
              <a:rPr sz="1768" b="0">
                <a:solidFill>
                  <a:srgbClr val="E6E6E6"/>
                </a:solidFill>
                <a:latin typeface="Consolas"/>
              </a:rPr>
              <a:t> — xato bermaydi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oquvchi.get(</a:t>
            </a:r>
            <a:r>
              <a:rPr sz="1768" b="0">
                <a:solidFill>
                  <a:srgbClr val="98C379"/>
                </a:solidFill>
                <a:latin typeface="Consolas"/>
              </a:rPr>
              <a:t>"telefon"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"yo'q"</a:t>
            </a:r>
            <a:r>
              <a:rPr sz="1768" b="0">
                <a:solidFill>
                  <a:srgbClr val="E6E6E6"/>
                </a:solidFill>
                <a:latin typeface="Consolas"/>
              </a:rPr>
              <a:t>)    # standart qiymat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oquvchi[</a:t>
            </a:r>
            <a:r>
              <a:rPr sz="1768" b="0">
                <a:solidFill>
                  <a:srgbClr val="98C379"/>
                </a:solidFill>
                <a:latin typeface="Consolas"/>
              </a:rPr>
              <a:t>"yosh"</a:t>
            </a:r>
            <a:r>
              <a:rPr sz="1768" b="0">
                <a:solidFill>
                  <a:srgbClr val="E6E6E6"/>
                </a:solidFill>
                <a:latin typeface="Consolas"/>
              </a:rPr>
              <a:t>] = 15              # o'zgartirish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oquvchi[</a:t>
            </a:r>
            <a:r>
              <a:rPr sz="1768" b="0">
                <a:solidFill>
                  <a:srgbClr val="98C379"/>
                </a:solidFill>
                <a:latin typeface="Consolas"/>
              </a:rPr>
              <a:t>"shahar"</a:t>
            </a:r>
            <a:r>
              <a:rPr sz="1768" b="0">
                <a:solidFill>
                  <a:srgbClr val="E6E6E6"/>
                </a:solidFill>
                <a:latin typeface="Consolas"/>
              </a:rPr>
              <a:t>]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"Andijon"</a:t>
            </a:r>
            <a:r>
              <a:rPr sz="1768" b="0">
                <a:solidFill>
                  <a:srgbClr val="E6E6E6"/>
                </a:solidFill>
                <a:latin typeface="Consolas"/>
              </a:rPr>
              <a:t>     # qo'shish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del oquvchi[</a:t>
            </a:r>
            <a:r>
              <a:rPr sz="1768" b="0">
                <a:solidFill>
                  <a:srgbClr val="98C379"/>
                </a:solidFill>
                <a:latin typeface="Consolas"/>
              </a:rPr>
              <a:t>"sinf"</a:t>
            </a:r>
            <a:r>
              <a:rPr sz="1768" b="0">
                <a:solidFill>
                  <a:srgbClr val="E6E6E6"/>
                </a:solidFill>
                <a:latin typeface="Consolas"/>
              </a:rPr>
              <a:t>]               # o'chirish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for</a:t>
            </a:r>
            <a:r>
              <a:rPr sz="1768" b="0">
                <a:solidFill>
                  <a:srgbClr val="E6E6E6"/>
                </a:solidFill>
                <a:latin typeface="Consolas"/>
              </a:rPr>
              <a:t> kalit, qiymat </a:t>
            </a:r>
            <a:r>
              <a:rPr sz="1768" b="0">
                <a:solidFill>
                  <a:srgbClr val="C678DD"/>
                </a:solidFill>
                <a:latin typeface="Consolas"/>
              </a:rPr>
              <a:t>in</a:t>
            </a:r>
            <a:r>
              <a:rPr sz="1768" b="0">
                <a:solidFill>
                  <a:srgbClr val="E6E6E6"/>
                </a:solidFill>
                <a:latin typeface="Consolas"/>
              </a:rPr>
              <a:t> oquvchi.items():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</a:t>
            </a: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(f</a:t>
            </a:r>
            <a:r>
              <a:rPr sz="1768" b="0">
                <a:solidFill>
                  <a:srgbClr val="98C379"/>
                </a:solidFill>
                <a:latin typeface="Consolas"/>
              </a:rPr>
              <a:t>"{kalit}: {qiymat}"</a:t>
            </a:r>
            <a:r>
              <a:rPr sz="1768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4423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oquvchi["telefon"]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kalit yo'q bo'lsa </a:t>
            </a:r>
            <a:r>
              <a:rPr sz="2600" b="1">
                <a:solidFill>
                  <a:srgbClr val="1F232B"/>
                </a:solidFill>
                <a:latin typeface="Calibri"/>
              </a:rPr>
              <a:t>KeyError</a:t>
            </a:r>
            <a:r>
              <a:rPr sz="2600" b="0">
                <a:solidFill>
                  <a:srgbClr val="1F232B"/>
                </a:solidFill>
                <a:latin typeface="Calibri"/>
              </a:rPr>
              <a:t>; ishonchingiz komil bo'lmasa </a:t>
            </a:r>
            <a:r>
              <a:rPr sz="2392" b="0">
                <a:solidFill>
                  <a:srgbClr val="B02A4A"/>
                </a:solidFill>
                <a:latin typeface="Consolas"/>
              </a:rPr>
              <a:t>.get()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49282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Dict bilan sanash va ichma-ich tuzilmalar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7833"/>
            <a:ext cx="11091672" cy="36991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269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7017"/>
            <a:ext cx="10725912" cy="33517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matn = </a:t>
            </a:r>
            <a:r>
              <a:rPr sz="1768" b="0">
                <a:solidFill>
                  <a:srgbClr val="98C379"/>
                </a:solidFill>
                <a:latin typeface="Consolas"/>
              </a:rPr>
              <a:t>"olma nok olma uzum nok olma"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sanoq = {}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for</a:t>
            </a:r>
            <a:r>
              <a:rPr sz="1768" b="0">
                <a:solidFill>
                  <a:srgbClr val="E6E6E6"/>
                </a:solidFill>
                <a:latin typeface="Consolas"/>
              </a:rPr>
              <a:t> soz </a:t>
            </a:r>
            <a:r>
              <a:rPr sz="1768" b="0">
                <a:solidFill>
                  <a:srgbClr val="C678DD"/>
                </a:solidFill>
                <a:latin typeface="Consolas"/>
              </a:rPr>
              <a:t>in</a:t>
            </a:r>
            <a:r>
              <a:rPr sz="1768" b="0">
                <a:solidFill>
                  <a:srgbClr val="E6E6E6"/>
                </a:solidFill>
                <a:latin typeface="Consolas"/>
              </a:rPr>
              <a:t> matn.split():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sanoq[soz] = sanoq.get(soz, 0) + 1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C678DD"/>
                </a:solidFill>
                <a:latin typeface="Consolas"/>
              </a:rPr>
              <a:t>print</a:t>
            </a:r>
            <a:r>
              <a:rPr sz="1768" b="0">
                <a:solidFill>
                  <a:srgbClr val="E6E6E6"/>
                </a:solidFill>
                <a:latin typeface="Consolas"/>
              </a:rPr>
              <a:t>(sanoq)   # {</a:t>
            </a:r>
            <a:r>
              <a:rPr sz="1768" b="0">
                <a:solidFill>
                  <a:srgbClr val="98C379"/>
                </a:solidFill>
                <a:latin typeface="Consolas"/>
              </a:rPr>
              <a:t>'olma'</a:t>
            </a:r>
            <a:r>
              <a:rPr sz="1768" b="0">
                <a:solidFill>
                  <a:srgbClr val="E6E6E6"/>
                </a:solidFill>
                <a:latin typeface="Consolas"/>
              </a:rPr>
              <a:t>: 3, </a:t>
            </a:r>
            <a:r>
              <a:rPr sz="1768" b="0">
                <a:solidFill>
                  <a:srgbClr val="98C379"/>
                </a:solidFill>
                <a:latin typeface="Consolas"/>
              </a:rPr>
              <a:t>'nok'</a:t>
            </a:r>
            <a:r>
              <a:rPr sz="1768" b="0">
                <a:solidFill>
                  <a:srgbClr val="E6E6E6"/>
                </a:solidFill>
                <a:latin typeface="Consolas"/>
              </a:rPr>
              <a:t>: 2, </a:t>
            </a:r>
            <a:r>
              <a:rPr sz="1768" b="0">
                <a:solidFill>
                  <a:srgbClr val="98C379"/>
                </a:solidFill>
                <a:latin typeface="Consolas"/>
              </a:rPr>
              <a:t>'uzum'</a:t>
            </a:r>
            <a:r>
              <a:rPr sz="1768" b="0">
                <a:solidFill>
                  <a:srgbClr val="E6E6E6"/>
                </a:solidFill>
                <a:latin typeface="Consolas"/>
              </a:rPr>
              <a:t>: 1}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sinf = [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{</a:t>
            </a:r>
            <a:r>
              <a:rPr sz="1768" b="0">
                <a:solidFill>
                  <a:srgbClr val="98C379"/>
                </a:solidFill>
                <a:latin typeface="Consolas"/>
              </a:rPr>
              <a:t>"ism"</a:t>
            </a:r>
            <a:r>
              <a:rPr sz="1768" b="0">
                <a:solidFill>
                  <a:srgbClr val="E6E6E6"/>
                </a:solidFill>
                <a:latin typeface="Consolas"/>
              </a:rPr>
              <a:t>: </a:t>
            </a:r>
            <a:r>
              <a:rPr sz="1768" b="0">
                <a:solidFill>
                  <a:srgbClr val="98C379"/>
                </a:solidFill>
                <a:latin typeface="Consolas"/>
              </a:rPr>
              <a:t>"Ali"</a:t>
            </a:r>
            <a:r>
              <a:rPr sz="1768" b="0">
                <a:solidFill>
                  <a:srgbClr val="E6E6E6"/>
                </a:solidFill>
                <a:latin typeface="Consolas"/>
              </a:rPr>
              <a:t>,    </a:t>
            </a:r>
            <a:r>
              <a:rPr sz="1768" b="0">
                <a:solidFill>
                  <a:srgbClr val="98C379"/>
                </a:solidFill>
                <a:latin typeface="Consolas"/>
              </a:rPr>
              <a:t>"baholar"</a:t>
            </a:r>
            <a:r>
              <a:rPr sz="1768" b="0">
                <a:solidFill>
                  <a:srgbClr val="E6E6E6"/>
                </a:solidFill>
                <a:latin typeface="Consolas"/>
              </a:rPr>
              <a:t>: {</a:t>
            </a:r>
            <a:r>
              <a:rPr sz="1768" b="0">
                <a:solidFill>
                  <a:srgbClr val="98C379"/>
                </a:solidFill>
                <a:latin typeface="Consolas"/>
              </a:rPr>
              <a:t>"matematika"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: 5, 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: 4}},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    {</a:t>
            </a:r>
            <a:r>
              <a:rPr sz="1768" b="0">
                <a:solidFill>
                  <a:srgbClr val="98C379"/>
                </a:solidFill>
                <a:latin typeface="Consolas"/>
              </a:rPr>
              <a:t>"ism"</a:t>
            </a:r>
            <a:r>
              <a:rPr sz="1768" b="0">
                <a:solidFill>
                  <a:srgbClr val="E6E6E6"/>
                </a:solidFill>
                <a:latin typeface="Consolas"/>
              </a:rPr>
              <a:t>: </a:t>
            </a:r>
            <a:r>
              <a:rPr sz="1768" b="0">
                <a:solidFill>
                  <a:srgbClr val="98C379"/>
                </a:solidFill>
                <a:latin typeface="Consolas"/>
              </a:rPr>
              <a:t>"Zarina"</a:t>
            </a:r>
            <a:r>
              <a:rPr sz="1768" b="0">
                <a:solidFill>
                  <a:srgbClr val="E6E6E6"/>
                </a:solidFill>
                <a:latin typeface="Consolas"/>
              </a:rPr>
              <a:t>, </a:t>
            </a:r>
            <a:r>
              <a:rPr sz="1768" b="0">
                <a:solidFill>
                  <a:srgbClr val="98C379"/>
                </a:solidFill>
                <a:latin typeface="Consolas"/>
              </a:rPr>
              <a:t>"baholar"</a:t>
            </a:r>
            <a:r>
              <a:rPr sz="1768" b="0">
                <a:solidFill>
                  <a:srgbClr val="E6E6E6"/>
                </a:solidFill>
                <a:latin typeface="Consolas"/>
              </a:rPr>
              <a:t>: {</a:t>
            </a:r>
            <a:r>
              <a:rPr sz="1768" b="0">
                <a:solidFill>
                  <a:srgbClr val="98C379"/>
                </a:solidFill>
                <a:latin typeface="Consolas"/>
              </a:rPr>
              <a:t>"matematika"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: 5, 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: 5}},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sinf[1][</a:t>
            </a:r>
            <a:r>
              <a:rPr sz="1768" b="0">
                <a:solidFill>
                  <a:srgbClr val="98C379"/>
                </a:solidFill>
                <a:latin typeface="Consolas"/>
              </a:rPr>
              <a:t>"baholar"</a:t>
            </a:r>
            <a:r>
              <a:rPr sz="1768" b="0">
                <a:solidFill>
                  <a:srgbClr val="E6E6E6"/>
                </a:solidFill>
                <a:latin typeface="Consolas"/>
              </a:rPr>
              <a:t>][</a:t>
            </a:r>
            <a:r>
              <a:rPr sz="1768" b="0">
                <a:solidFill>
                  <a:srgbClr val="98C379"/>
                </a:solidFill>
                <a:latin typeface="Consolas"/>
              </a:rPr>
              <a:t>"fizika"</a:t>
            </a:r>
            <a:r>
              <a:rPr sz="1768" b="0">
                <a:solidFill>
                  <a:srgbClr val="E6E6E6"/>
                </a:solidFill>
                <a:latin typeface="Consolas"/>
              </a:rPr>
              <a:t>]   #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16463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Bu JS'dagi obyektlar massivi va </a:t>
            </a:r>
            <a:r>
              <a:rPr sz="2600" b="1">
                <a:solidFill>
                  <a:srgbClr val="1F232B"/>
                </a:solidFill>
                <a:latin typeface="Calibri"/>
              </a:rPr>
              <a:t>JSON</a:t>
            </a:r>
            <a:r>
              <a:rPr sz="2600" b="0">
                <a:solidFill>
                  <a:srgbClr val="1F232B"/>
                </a:solidFill>
                <a:latin typeface="Calibri"/>
              </a:rPr>
              <a:t> formatiga o'xshaydi (39-mavzu)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56505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Qaysi birini tanlash kerak?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56994"/>
          <a:ext cx="11091672" cy="336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Tanlov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Tartibli, o'zgaradigan ro'yxat (vazifalar)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O'zgarmas guruh (sana, koordinata)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tuple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Noyob qiymatlar, tez "bormi?"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Nom bo'yicha qidirish (so'z → tarjima)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dict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Ko'p obyekt va xususiyatlari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list ichida dict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o'quvchilar dasturi (16-loyiha)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840"/>
            <a:ext cx="11091672" cy="32545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70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9024"/>
            <a:ext cx="10725912" cy="29071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oquvchilar = {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98C379"/>
                </a:solidFill>
                <a:latin typeface="Consolas"/>
              </a:rPr>
              <a:t>"ali"</a:t>
            </a:r>
            <a:r>
              <a:rPr sz="1292" b="0">
                <a:solidFill>
                  <a:srgbClr val="E6E6E6"/>
                </a:solidFill>
                <a:latin typeface="Consolas"/>
              </a:rPr>
              <a:t>:    {</a:t>
            </a:r>
            <a:r>
              <a:rPr sz="1292" b="0">
                <a:solidFill>
                  <a:srgbClr val="98C379"/>
                </a:solidFill>
                <a:latin typeface="Consolas"/>
              </a:rPr>
              <a:t>"ism"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98C379"/>
                </a:solidFill>
                <a:latin typeface="Consolas"/>
              </a:rPr>
              <a:t>"Ali Valiyev"</a:t>
            </a:r>
            <a:r>
              <a:rPr sz="1292" b="0">
                <a:solidFill>
                  <a:srgbClr val="E6E6E6"/>
                </a:solidFill>
                <a:latin typeface="Consolas"/>
              </a:rPr>
              <a:t>,     </a:t>
            </a:r>
            <a:r>
              <a:rPr sz="1292" b="0">
                <a:solidFill>
                  <a:srgbClr val="98C379"/>
                </a:solidFill>
                <a:latin typeface="Consolas"/>
              </a:rPr>
              <a:t>"sinf"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98C379"/>
                </a:solidFill>
                <a:latin typeface="Consolas"/>
              </a:rPr>
              <a:t>"8-A"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"baholar"</a:t>
            </a:r>
            <a:r>
              <a:rPr sz="1292" b="0">
                <a:solidFill>
                  <a:srgbClr val="E6E6E6"/>
                </a:solidFill>
                <a:latin typeface="Consolas"/>
              </a:rPr>
              <a:t>: [5, 4, 5]},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98C379"/>
                </a:solidFill>
                <a:latin typeface="Consolas"/>
              </a:rPr>
              <a:t>"zarina"</a:t>
            </a:r>
            <a:r>
              <a:rPr sz="1292" b="0">
                <a:solidFill>
                  <a:srgbClr val="E6E6E6"/>
                </a:solidFill>
                <a:latin typeface="Consolas"/>
              </a:rPr>
              <a:t>: {</a:t>
            </a:r>
            <a:r>
              <a:rPr sz="1292" b="0">
                <a:solidFill>
                  <a:srgbClr val="98C379"/>
                </a:solidFill>
                <a:latin typeface="Consolas"/>
              </a:rPr>
              <a:t>"ism"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98C379"/>
                </a:solidFill>
                <a:latin typeface="Consolas"/>
              </a:rPr>
              <a:t>"Zarina Karimova"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"sinf"</a:t>
            </a:r>
            <a:r>
              <a:rPr sz="1292" b="0">
                <a:solidFill>
                  <a:srgbClr val="E6E6E6"/>
                </a:solidFill>
                <a:latin typeface="Consolas"/>
              </a:rPr>
              <a:t>: </a:t>
            </a:r>
            <a:r>
              <a:rPr sz="1292" b="0">
                <a:solidFill>
                  <a:srgbClr val="98C379"/>
                </a:solidFill>
                <a:latin typeface="Consolas"/>
              </a:rPr>
              <a:t>"8-B"</a:t>
            </a:r>
            <a:r>
              <a:rPr sz="1292" b="0">
                <a:solidFill>
                  <a:srgbClr val="E6E6E6"/>
                </a:solidFill>
                <a:latin typeface="Consolas"/>
              </a:rPr>
              <a:t>, </a:t>
            </a:r>
            <a:r>
              <a:rPr sz="1292" b="0">
                <a:solidFill>
                  <a:srgbClr val="98C379"/>
                </a:solidFill>
                <a:latin typeface="Consolas"/>
              </a:rPr>
              <a:t>"baholar"</a:t>
            </a:r>
            <a:r>
              <a:rPr sz="1292" b="0">
                <a:solidFill>
                  <a:srgbClr val="E6E6E6"/>
                </a:solidFill>
                <a:latin typeface="Consolas"/>
              </a:rPr>
              <a:t>: [5, 5, 4]},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ortacha(baholar):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round(sum(baholar) / len(baholar), 2) </a:t>
            </a:r>
            <a:r>
              <a:rPr sz="1292" b="0">
                <a:solidFill>
                  <a:srgbClr val="C678DD"/>
                </a:solidFill>
                <a:latin typeface="Consolas"/>
              </a:rPr>
              <a:t>if</a:t>
            </a:r>
            <a:r>
              <a:rPr sz="1292" b="0">
                <a:solidFill>
                  <a:srgbClr val="E6E6E6"/>
                </a:solidFill>
                <a:latin typeface="Consolas"/>
              </a:rPr>
              <a:t> baholar </a:t>
            </a:r>
            <a:r>
              <a:rPr sz="1292" b="0">
                <a:solidFill>
                  <a:srgbClr val="C678DD"/>
                </a:solidFill>
                <a:latin typeface="Consolas"/>
              </a:rPr>
              <a:t>else</a:t>
            </a:r>
            <a:r>
              <a:rPr sz="1292" b="0">
                <a:solidFill>
                  <a:srgbClr val="E6E6E6"/>
                </a:solidFill>
                <a:latin typeface="Consolas"/>
              </a:rPr>
              <a:t> 0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royxat():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for</a:t>
            </a:r>
            <a:r>
              <a:rPr sz="1292" b="0">
                <a:solidFill>
                  <a:srgbClr val="E6E6E6"/>
                </a:solidFill>
                <a:latin typeface="Consolas"/>
              </a:rPr>
              <a:t> login, o </a:t>
            </a:r>
            <a:r>
              <a:rPr sz="1292" b="0">
                <a:solidFill>
                  <a:srgbClr val="C678DD"/>
                </a:solidFill>
                <a:latin typeface="Consolas"/>
              </a:rPr>
              <a:t>in</a:t>
            </a:r>
            <a:r>
              <a:rPr sz="1292" b="0">
                <a:solidFill>
                  <a:srgbClr val="E6E6E6"/>
                </a:solidFill>
                <a:latin typeface="Consolas"/>
              </a:rPr>
              <a:t> oquvchilar.items():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print</a:t>
            </a:r>
            <a:r>
              <a:rPr sz="1292" b="0">
                <a:solidFill>
                  <a:srgbClr val="E6E6E6"/>
                </a:solidFill>
                <a:latin typeface="Consolas"/>
              </a:rPr>
              <a:t>(f</a:t>
            </a:r>
            <a:r>
              <a:rPr sz="1292" b="0">
                <a:solidFill>
                  <a:srgbClr val="98C379"/>
                </a:solidFill>
                <a:latin typeface="Consolas"/>
              </a:rPr>
              <a:t>"{login:8} {o['ism']:18} {o['sinf']:5} {ortacha(o['baholar'])}"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sinflar = {o[</a:t>
            </a:r>
            <a:r>
              <a:rPr sz="1292" b="0">
                <a:solidFill>
                  <a:srgbClr val="98C379"/>
                </a:solidFill>
                <a:latin typeface="Consolas"/>
              </a:rPr>
              <a:t>"sinf"</a:t>
            </a:r>
            <a:r>
              <a:rPr sz="1292" b="0">
                <a:solidFill>
                  <a:srgbClr val="E6E6E6"/>
                </a:solidFill>
                <a:latin typeface="Consolas"/>
              </a:rPr>
              <a:t>] </a:t>
            </a:r>
            <a:r>
              <a:rPr sz="1292" b="0">
                <a:solidFill>
                  <a:srgbClr val="C678DD"/>
                </a:solidFill>
                <a:latin typeface="Consolas"/>
              </a:rPr>
              <a:t>for</a:t>
            </a:r>
            <a:r>
              <a:rPr sz="1292" b="0">
                <a:solidFill>
                  <a:srgbClr val="E6E6E6"/>
                </a:solidFill>
                <a:latin typeface="Consolas"/>
              </a:rPr>
              <a:t> o </a:t>
            </a:r>
            <a:r>
              <a:rPr sz="1292" b="0">
                <a:solidFill>
                  <a:srgbClr val="C678DD"/>
                </a:solidFill>
                <a:latin typeface="Consolas"/>
              </a:rPr>
              <a:t>in</a:t>
            </a:r>
            <a:r>
              <a:rPr sz="1292" b="0">
                <a:solidFill>
                  <a:srgbClr val="E6E6E6"/>
                </a:solidFill>
                <a:latin typeface="Consolas"/>
              </a:rPr>
              <a:t> oquvchilar.values()}   # set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913889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94132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"O'chirish" va "Ism bo'yicha qidirish" bandlarini qo'shing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590545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561797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Ma'lumotni </a:t>
            </a:r>
            <a:r>
              <a:rPr sz="1900" b="1">
                <a:solidFill>
                  <a:srgbClr val="1F232B"/>
                </a:solidFill>
                <a:latin typeface="Calibri"/>
              </a:rPr>
              <a:t>JSON</a:t>
            </a:r>
            <a:r>
              <a:rPr sz="1900" b="0">
                <a:solidFill>
                  <a:srgbClr val="1F232B"/>
                </a:solidFill>
                <a:latin typeface="Calibri"/>
              </a:rPr>
              <a:t> faylga saqlang (24-mavzu)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IndexError: list index out of range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mavjud bo'lmagan indeks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KeyError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dict'da yo'q kalit; </a:t>
            </a:r>
            <a:r>
              <a:rPr sz="2576" b="0">
                <a:solidFill>
                  <a:srgbClr val="B02A4A"/>
                </a:solidFill>
                <a:latin typeface="Consolas"/>
              </a:rPr>
              <a:t>.get()</a:t>
            </a:r>
            <a:r>
              <a:rPr sz="2800" b="0">
                <a:solidFill>
                  <a:srgbClr val="1F232B"/>
                </a:solidFill>
                <a:latin typeface="Calibri"/>
              </a:rPr>
              <a:t> ishlating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x = royxat.sort()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None</a:t>
            </a:r>
            <a:r>
              <a:rPr sz="2800" b="0">
                <a:solidFill>
                  <a:srgbClr val="1F232B"/>
                </a:solidFill>
                <a:latin typeface="Calibri"/>
              </a:rPr>
              <a:t> qaytaradi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Bo'sh set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{}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 dict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tuzilmani yaratilgandan keyin o'zgartirib bo'lmaydi?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tuple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dict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Qaysi tuzilmani yaratilgandan keyin o'zgartirib bo'lmaydi?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tuple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dict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a = [10, 20, 30, 40]; print(a[-1])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a = [10, 20, 30, 40]; print(a[-1])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Xato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"Salom"[1:4]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"alo"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"Sal"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"alom"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"Salo"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"Salom"[1:4]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"alo"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"Sal"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"alom"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"Salo"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[x * 2 for x in range(4)]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[2, 4, 6, 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[0, 1, 2,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[0, 2, 4, 6]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[x * 2 for x in range(4)]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[2, 4, 6, 8]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[0, 1, 2,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[0, 2, 4, 6]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Lug'at:</a:t>
            </a:r>
            <a:r>
              <a:rPr sz="2800" b="0">
                <a:solidFill>
                  <a:srgbClr val="1F232B"/>
                </a:solidFill>
                <a:latin typeface="Calibri"/>
              </a:rPr>
              <a:t> 10 so'zli dict; yo'q so'zning tarjimasini so'rab qo'shsin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6227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897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Umumiy do'stlar: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ikki set — umumiy va faqat birinchisiniki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1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Harflar statistikasi:</a:t>
            </a:r>
            <a:r>
              <a:rPr sz="2800" b="0">
                <a:solidFill>
                  <a:srgbClr val="1F232B"/>
                </a:solidFill>
                <a:latin typeface="Calibri"/>
              </a:rPr>
              <a:t> dict bilan sanash, eng ko'p 3 ta harf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23-mavzu · Ma'lumot tuzilmalari: list, tuple, set va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list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[]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append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remove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pop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sort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[a:b]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[-1]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tuple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o'zgarmas; </a:t>
            </a:r>
            <a:r>
              <a:rPr sz="2576" b="0">
                <a:solidFill>
                  <a:srgbClr val="B02A4A"/>
                </a:solidFill>
                <a:latin typeface="Consolas"/>
              </a:rPr>
              <a:t>a, b = (1, 2)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set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{}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takrorsiz; </a:t>
            </a:r>
            <a:r>
              <a:rPr sz="2576" b="0">
                <a:solidFill>
                  <a:srgbClr val="B02A4A"/>
                </a:solidFill>
                <a:latin typeface="Consolas"/>
              </a:rPr>
              <a:t>&amp; | -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dict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{"k": v}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d["k"]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d.get("k")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.items()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[ifoda for x in to'plam if shart]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24. Python funksiyalar, modullar va standart kutubxonalar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23-mavzu: Ma'lumot tuzilmalari: list, tuple, set va dictionary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