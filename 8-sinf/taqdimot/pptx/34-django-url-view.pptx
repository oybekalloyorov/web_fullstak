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request qabul qilib, response qaytaradi.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id=7 (son).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request.GET.get("q").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views.SalomView.as_view().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🗺️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34-MAVZU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URL va View komponentlari. URL va View yordamida sahifalar yaratish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So'rov va javob obyektlari, funksiya asosidagi view'lar, URL marshrutlash, path converterlar (int, slug), ilova urls.py va include, nomlangan URL'lar, GET parametrlari, 404 va redirect, Class Based View'lar bilan tanishuv.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View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so'rovni qabul qilib javob qaytaruvchi funksiya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URL'larni view'larga bog'lash, ilovada alohida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urls.py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Manzildan qiymat olish: </a:t>
            </a:r>
            <a:r>
              <a:rPr sz="2576" b="0">
                <a:solidFill>
                  <a:srgbClr val="B02A4A"/>
                </a:solidFill>
                <a:latin typeface="Consolas"/>
              </a:rPr>
              <a:t>/maqola/5/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id = 5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Qidiruv parametrlari, </a:t>
            </a:r>
            <a:r>
              <a:rPr sz="2800" b="1">
                <a:solidFill>
                  <a:srgbClr val="1F232B"/>
                </a:solidFill>
                <a:latin typeface="Calibri"/>
              </a:rPr>
              <a:t>404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redirect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Funksiya (</a:t>
            </a:r>
            <a:r>
              <a:rPr sz="2800" b="1">
                <a:solidFill>
                  <a:srgbClr val="1F232B"/>
                </a:solidFill>
                <a:latin typeface="Calibri"/>
              </a:rPr>
              <a:t>FBV</a:t>
            </a:r>
            <a:r>
              <a:rPr sz="2800" b="0">
                <a:solidFill>
                  <a:srgbClr val="1F232B"/>
                </a:solidFill>
                <a:latin typeface="Calibri"/>
              </a:rPr>
              <a:t>) va klass (</a:t>
            </a:r>
            <a:r>
              <a:rPr sz="2800" b="1">
                <a:solidFill>
                  <a:srgbClr val="1F232B"/>
                </a:solidFill>
                <a:latin typeface="Calibri"/>
              </a:rPr>
              <a:t>CBV</a:t>
            </a:r>
            <a:r>
              <a:rPr sz="2800" b="0">
                <a:solidFill>
                  <a:srgbClr val="1F232B"/>
                </a:solidFill>
                <a:latin typeface="Calibri"/>
              </a:rPr>
              <a:t>) asosidagi view'lar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So'rov va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7655"/>
            <a:ext cx="11091672" cy="160166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251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6839"/>
            <a:ext cx="10725912" cy="125419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from</a:t>
            </a:r>
            <a:r>
              <a:rPr sz="1156" b="0">
                <a:solidFill>
                  <a:srgbClr val="E6E6E6"/>
                </a:solidFill>
                <a:latin typeface="Consolas"/>
              </a:rPr>
              <a:t> django.http </a:t>
            </a:r>
            <a:r>
              <a:rPr sz="115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156" b="0">
                <a:solidFill>
                  <a:srgbClr val="E6E6E6"/>
                </a:solidFill>
                <a:latin typeface="Consolas"/>
              </a:rPr>
              <a:t> HttpResponse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salom(request):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print</a:t>
            </a:r>
            <a:r>
              <a:rPr sz="1156" b="0">
                <a:solidFill>
                  <a:srgbClr val="E6E6E6"/>
                </a:solidFill>
                <a:latin typeface="Consolas"/>
              </a:rPr>
              <a:t>(request.method)          # </a:t>
            </a:r>
            <a:r>
              <a:rPr sz="1156" b="0">
                <a:solidFill>
                  <a:srgbClr val="98C379"/>
                </a:solidFill>
                <a:latin typeface="Consolas"/>
              </a:rPr>
              <a:t>"GET"</a:t>
            </a:r>
            <a:r>
              <a:rPr sz="1156" b="0">
                <a:solidFill>
                  <a:srgbClr val="E6E6E6"/>
                </a:solidFill>
                <a:latin typeface="Consolas"/>
              </a:rPr>
              <a:t> yoki </a:t>
            </a:r>
            <a:r>
              <a:rPr sz="1156" b="0">
                <a:solidFill>
                  <a:srgbClr val="98C379"/>
                </a:solidFill>
                <a:latin typeface="Consolas"/>
              </a:rPr>
              <a:t>"POST"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print</a:t>
            </a:r>
            <a:r>
              <a:rPr sz="1156" b="0">
                <a:solidFill>
                  <a:srgbClr val="E6E6E6"/>
                </a:solidFill>
                <a:latin typeface="Consolas"/>
              </a:rPr>
              <a:t>(request.path)            # </a:t>
            </a:r>
            <a:r>
              <a:rPr sz="1156" b="0">
                <a:solidFill>
                  <a:srgbClr val="98C379"/>
                </a:solidFill>
                <a:latin typeface="Consolas"/>
              </a:rPr>
              <a:t>"/salom/"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HttpResponse(</a:t>
            </a:r>
            <a:r>
              <a:rPr sz="1156" b="0">
                <a:solidFill>
                  <a:srgbClr val="98C379"/>
                </a:solidFill>
                <a:latin typeface="Consolas"/>
              </a:rPr>
              <a:t>"Salom!"</a:t>
            </a:r>
            <a:r>
              <a:rPr sz="1156" b="0">
                <a:solidFill>
                  <a:srgbClr val="E6E6E6"/>
                </a:solidFill>
                <a:latin typeface="Consolas"/>
              </a:rPr>
              <a:t>)  # javob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58774"/>
            <a:ext cx="11091672" cy="768794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58774"/>
            <a:ext cx="82296" cy="76879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50214"/>
            <a:ext cx="10725912" cy="6042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614" b="0">
                <a:solidFill>
                  <a:srgbClr val="1F232B"/>
                </a:solidFill>
                <a:latin typeface="Calibri"/>
              </a:rPr>
              <a:t>💡 </a:t>
            </a:r>
            <a:r>
              <a:rPr sz="1614" b="1">
                <a:solidFill>
                  <a:srgbClr val="1F232B"/>
                </a:solidFill>
                <a:latin typeface="Calibri"/>
              </a:rPr>
              <a:t>Pochta oynasi:</a:t>
            </a:r>
            <a:r>
              <a:rPr sz="1614" b="0">
                <a:solidFill>
                  <a:srgbClr val="1F232B"/>
                </a:solidFill>
                <a:latin typeface="Calibri"/>
              </a:rPr>
              <a:t> xat (so'rov) berasiz — kimdan, qayerga, nima so'ralgan. Xodim (view) o'qiydi, ishni bajaradi va javob xatini (response) qaytaradi. Har oyna (URL) — o'z xizmati.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247024"/>
          <a:ext cx="11091672" cy="18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362203">
                <a:tc>
                  <a:txBody>
                    <a:bodyPr/>
                    <a:lstStyle/>
                    <a:p>
                      <a:r>
                        <a:rPr sz="1251" b="1">
                          <a:solidFill>
                            <a:srgbClr val="B02A4A"/>
                          </a:solidFill>
                          <a:latin typeface="Consolas"/>
                        </a:rPr>
                        <a:t>request</a:t>
                      </a:r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 xossasi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Nima beradi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362203">
                <a:tc>
                  <a:txBody>
                    <a:bodyPr/>
                    <a:lstStyle/>
                    <a:p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request.method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"GET" yoki "POST"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362203">
                <a:tc>
                  <a:txBody>
                    <a:bodyPr/>
                    <a:lstStyle/>
                    <a:p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request.GET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/qidiruv/?q=python</a:t>
                      </a:r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 → </a:t>
                      </a:r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request.GET.get("q")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2203">
                <a:tc>
                  <a:txBody>
                    <a:bodyPr/>
                    <a:lstStyle/>
                    <a:p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request.POST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Forma ma'lumotlari (37)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362207">
                <a:tc>
                  <a:txBody>
                    <a:bodyPr/>
                    <a:lstStyle/>
                    <a:p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request.user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Tizimga kirgan foydalanuvchi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Ilova uchun alohida urls.py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30540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blog/urls.py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7066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from</a:t>
            </a:r>
            <a:r>
              <a:rPr sz="1200" b="0">
                <a:solidFill>
                  <a:srgbClr val="E6E6E6"/>
                </a:solidFill>
                <a:latin typeface="Consolas"/>
              </a:rPr>
              <a:t> django.urls </a:t>
            </a:r>
            <a:r>
              <a:rPr sz="120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00" b="0">
                <a:solidFill>
                  <a:srgbClr val="E6E6E6"/>
                </a:solidFill>
                <a:latin typeface="Consolas"/>
              </a:rPr>
              <a:t> path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C678DD"/>
                </a:solidFill>
                <a:latin typeface="Consolas"/>
              </a:rPr>
              <a:t>from</a:t>
            </a:r>
            <a:r>
              <a:rPr sz="1200" b="0">
                <a:solidFill>
                  <a:srgbClr val="E6E6E6"/>
                </a:solidFill>
                <a:latin typeface="Consolas"/>
              </a:rPr>
              <a:t> . </a:t>
            </a:r>
            <a:r>
              <a:rPr sz="1200" b="0">
                <a:solidFill>
                  <a:srgbClr val="C678DD"/>
                </a:solidFill>
                <a:latin typeface="Consolas"/>
              </a:rPr>
              <a:t>import</a:t>
            </a:r>
            <a:r>
              <a:rPr sz="1200" b="0">
                <a:solidFill>
                  <a:srgbClr val="E6E6E6"/>
                </a:solidFill>
                <a:latin typeface="Consolas"/>
              </a:rPr>
              <a:t> views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app_name = </a:t>
            </a:r>
            <a:r>
              <a:rPr sz="1200" b="0">
                <a:solidFill>
                  <a:srgbClr val="98C379"/>
                </a:solidFill>
                <a:latin typeface="Consolas"/>
              </a:rPr>
              <a:t>"blog"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200" b="0">
                <a:solidFill>
                  <a:srgbClr val="98C379"/>
                </a:solidFill>
                <a:latin typeface="Consolas"/>
              </a:rPr>
              <a:t>""</a:t>
            </a:r>
            <a:r>
              <a:rPr sz="1200" b="0">
                <a:solidFill>
                  <a:srgbClr val="E6E6E6"/>
                </a:solidFill>
                <a:latin typeface="Consolas"/>
              </a:rPr>
              <a:t>, views.bosh_sahifa, name=</a:t>
            </a:r>
            <a:r>
              <a:rPr sz="1200" b="0">
                <a:solidFill>
                  <a:srgbClr val="98C379"/>
                </a:solidFill>
                <a:latin typeface="Consolas"/>
              </a:rPr>
              <a:t>"bosh"</a:t>
            </a:r>
            <a:r>
              <a:rPr sz="1200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200" b="0">
                <a:solidFill>
                  <a:srgbClr val="98C379"/>
                </a:solidFill>
                <a:latin typeface="Consolas"/>
              </a:rPr>
              <a:t>"haqida/"</a:t>
            </a:r>
            <a:r>
              <a:rPr sz="1200" b="0">
                <a:solidFill>
                  <a:srgbClr val="E6E6E6"/>
                </a:solidFill>
                <a:latin typeface="Consolas"/>
              </a:rPr>
              <a:t>, views.haqida, name=</a:t>
            </a:r>
            <a:r>
              <a:rPr sz="1200" b="0">
                <a:solidFill>
                  <a:srgbClr val="98C379"/>
                </a:solidFill>
                <a:latin typeface="Consolas"/>
              </a:rPr>
              <a:t>"haqida"</a:t>
            </a:r>
            <a:r>
              <a:rPr sz="1200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200" b="0">
                <a:solidFill>
                  <a:srgbClr val="98C379"/>
                </a:solidFill>
                <a:latin typeface="Consolas"/>
              </a:rPr>
              <a:t>"maqola/&lt;int:id&gt;/"</a:t>
            </a:r>
            <a:r>
              <a:rPr sz="1200" b="0">
                <a:solidFill>
                  <a:srgbClr val="E6E6E6"/>
                </a:solidFill>
                <a:latin typeface="Consolas"/>
              </a:rPr>
              <a:t>, views.maqola, name=</a:t>
            </a:r>
            <a:r>
              <a:rPr sz="1200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200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200" b="0">
                <a:solidFill>
                  <a:srgbClr val="98C379"/>
                </a:solidFill>
                <a:latin typeface="Consolas"/>
              </a:rPr>
              <a:t>"kategoriya/&lt;slug:nomi&gt;/"</a:t>
            </a:r>
            <a:r>
              <a:rPr sz="1200" b="0">
                <a:solidFill>
                  <a:srgbClr val="E6E6E6"/>
                </a:solidFill>
                <a:latin typeface="Consolas"/>
              </a:rPr>
              <a:t>, views.kategoriya, name=</a:t>
            </a:r>
            <a:r>
              <a:rPr sz="1200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200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200" b="0">
                <a:solidFill>
                  <a:srgbClr val="98C379"/>
                </a:solidFill>
                <a:latin typeface="Consolas"/>
              </a:rPr>
              <a:t>"qidiruv/"</a:t>
            </a:r>
            <a:r>
              <a:rPr sz="1200" b="0">
                <a:solidFill>
                  <a:srgbClr val="E6E6E6"/>
                </a:solidFill>
                <a:latin typeface="Consolas"/>
              </a:rPr>
              <a:t>, views.qidiruv, name=</a:t>
            </a:r>
            <a:r>
              <a:rPr sz="1200" b="0">
                <a:solidFill>
                  <a:srgbClr val="98C379"/>
                </a:solidFill>
                <a:latin typeface="Consolas"/>
              </a:rPr>
              <a:t>"qidiruv"</a:t>
            </a:r>
            <a:r>
              <a:rPr sz="1200" b="0">
                <a:solidFill>
                  <a:srgbClr val="E6E6E6"/>
                </a:solidFill>
                <a:latin typeface="Consolas"/>
              </a:rPr>
              <a:t>),</a:t>
            </a: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216821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config/urls.py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18207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19" b="0">
                <a:solidFill>
                  <a:srgbClr val="C678DD"/>
                </a:solidFill>
                <a:latin typeface="Consolas"/>
              </a:rPr>
              <a:t>from</a:t>
            </a:r>
            <a:r>
              <a:rPr sz="1719" b="0">
                <a:solidFill>
                  <a:srgbClr val="E6E6E6"/>
                </a:solidFill>
                <a:latin typeface="Consolas"/>
              </a:rPr>
              <a:t> django.urls </a:t>
            </a:r>
            <a:r>
              <a:rPr sz="1719" b="0">
                <a:solidFill>
                  <a:srgbClr val="C678DD"/>
                </a:solidFill>
                <a:latin typeface="Consolas"/>
              </a:rPr>
              <a:t>import</a:t>
            </a:r>
            <a:r>
              <a:rPr sz="1719" b="0">
                <a:solidFill>
                  <a:srgbClr val="E6E6E6"/>
                </a:solidFill>
                <a:latin typeface="Consolas"/>
              </a:rPr>
              <a:t> path, include</a:t>
            </a:r>
          </a:p>
          <a:p>
            <a:pPr>
              <a:lnSpc>
                <a:spcPct val="100000"/>
              </a:lnSpc>
            </a:pPr>
            <a:r>
              <a:rPr sz="1719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719" b="0">
                <a:solidFill>
                  <a:srgbClr val="E6E6E6"/>
                </a:solidFill>
                <a:latin typeface="Consolas"/>
              </a:rPr>
              <a:t>urlpatterns = [</a:t>
            </a:r>
          </a:p>
          <a:p>
            <a:pPr>
              <a:lnSpc>
                <a:spcPct val="100000"/>
              </a:lnSpc>
            </a:pPr>
            <a:r>
              <a:rPr sz="1719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719" b="0">
                <a:solidFill>
                  <a:srgbClr val="98C379"/>
                </a:solidFill>
                <a:latin typeface="Consolas"/>
              </a:rPr>
              <a:t>"admin/"</a:t>
            </a:r>
            <a:r>
              <a:rPr sz="1719" b="0">
                <a:solidFill>
                  <a:srgbClr val="E6E6E6"/>
                </a:solidFill>
                <a:latin typeface="Consolas"/>
              </a:rPr>
              <a:t>, admin.site.urls),</a:t>
            </a:r>
          </a:p>
          <a:p>
            <a:pPr>
              <a:lnSpc>
                <a:spcPct val="100000"/>
              </a:lnSpc>
            </a:pPr>
            <a:r>
              <a:rPr sz="1719" b="0">
                <a:solidFill>
                  <a:srgbClr val="E6E6E6"/>
                </a:solidFill>
                <a:latin typeface="Consolas"/>
              </a:rPr>
              <a:t>    path(</a:t>
            </a:r>
            <a:r>
              <a:rPr sz="1719" b="0">
                <a:solidFill>
                  <a:srgbClr val="98C379"/>
                </a:solidFill>
                <a:latin typeface="Consolas"/>
              </a:rPr>
              <a:t>""</a:t>
            </a:r>
            <a:r>
              <a:rPr sz="1719" b="0">
                <a:solidFill>
                  <a:srgbClr val="E6E6E6"/>
                </a:solidFill>
                <a:latin typeface="Consolas"/>
              </a:rPr>
              <a:t>, include(</a:t>
            </a:r>
            <a:r>
              <a:rPr sz="1719" b="0">
                <a:solidFill>
                  <a:srgbClr val="98C379"/>
                </a:solidFill>
                <a:latin typeface="Consolas"/>
              </a:rPr>
              <a:t>"blog.urls"</a:t>
            </a:r>
            <a:r>
              <a:rPr sz="1719" b="0">
                <a:solidFill>
                  <a:srgbClr val="E6E6E6"/>
                </a:solidFill>
                <a:latin typeface="Consolas"/>
              </a:rPr>
              <a:t>)),</a:t>
            </a:r>
          </a:p>
          <a:p>
            <a:pPr>
              <a:lnSpc>
                <a:spcPct val="100000"/>
              </a:lnSpc>
            </a:pPr>
            <a:r>
              <a:rPr sz="1719" b="0">
                <a:solidFill>
                  <a:srgbClr val="E6E6E6"/>
                </a:solidFill>
                <a:latin typeface="Consolas"/>
              </a:rPr>
              <a:t>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8836" y="3804987"/>
            <a:ext cx="4951476" cy="1388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Django ro'yxatni </a:t>
            </a:r>
            <a:r>
              <a:rPr sz="2800" b="1">
                <a:solidFill>
                  <a:srgbClr val="1F232B"/>
                </a:solidFill>
                <a:latin typeface="Calibri"/>
              </a:rPr>
              <a:t>yuqoridan pastga</a:t>
            </a:r>
            <a:r>
              <a:rPr sz="2800" b="0">
                <a:solidFill>
                  <a:srgbClr val="1F232B"/>
                </a:solidFill>
                <a:latin typeface="Calibri"/>
              </a:rPr>
              <a:t> ko'radi — birinchi mos kelganini chaqiradi</a:t>
            </a:r>
          </a:p>
        </p:txBody>
      </p:sp>
      <p:sp>
        <p:nvSpPr>
          <p:cNvPr id="14" name="Oval 13"/>
          <p:cNvSpPr/>
          <p:nvPr/>
        </p:nvSpPr>
        <p:spPr>
          <a:xfrm>
            <a:off x="6387084" y="39650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So'rovning yo'li va converterlar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95978"/>
            <a:ext cx="11091672" cy="65084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084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5162"/>
            <a:ext cx="10725912" cy="3033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64" b="0">
                <a:solidFill>
                  <a:srgbClr val="E6E6E6"/>
                </a:solidFill>
                <a:latin typeface="Consolas"/>
              </a:rPr>
              <a:t>/maqola/5/ → config/urls.py (</a:t>
            </a:r>
            <a:r>
              <a:rPr sz="1264" b="0">
                <a:solidFill>
                  <a:srgbClr val="98C379"/>
                </a:solidFill>
                <a:latin typeface="Consolas"/>
              </a:rPr>
              <a:t>""</a:t>
            </a:r>
            <a:r>
              <a:rPr sz="1264" b="0">
                <a:solidFill>
                  <a:srgbClr val="E6E6E6"/>
                </a:solidFill>
                <a:latin typeface="Consolas"/>
              </a:rPr>
              <a:t> → include) → blog/urls.py (</a:t>
            </a:r>
            <a:r>
              <a:rPr sz="1264" b="0">
                <a:solidFill>
                  <a:srgbClr val="98C379"/>
                </a:solidFill>
                <a:latin typeface="Consolas"/>
              </a:rPr>
              <a:t>"maqola/&lt;int:id&gt;/"</a:t>
            </a:r>
            <a:r>
              <a:rPr sz="1264" b="0">
                <a:solidFill>
                  <a:srgbClr val="E6E6E6"/>
                </a:solidFill>
                <a:latin typeface="Consolas"/>
              </a:rPr>
              <a:t>) → views.maqola(request, id=5)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366283"/>
          <a:ext cx="11091672" cy="2363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908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Converter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Mos keladi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URL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View oladi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&lt;int:id&gt;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Musbat butun son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/maqola/42/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id=42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(int)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&lt;str:nom&gt;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dan boshqa matn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/user/ali/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nom="ali"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908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&lt;slug:nomi&gt;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Harf, raqam,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-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_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/kategoriya/maktab-hayoti/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nomi="maktab-hayoti"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0120" y="494895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Slug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sarlavhaning URL ko'rinishi: "Maktab hayoti"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maktab-hayoti</a:t>
            </a:r>
            <a:r>
              <a:rPr sz="2800" b="0">
                <a:solidFill>
                  <a:srgbClr val="1F232B"/>
                </a:solidFill>
                <a:latin typeface="Calibri"/>
              </a:rPr>
              <a:t> (SEO uchun foydali)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510897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View'lar yozish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5284"/>
            <a:ext cx="11091672" cy="463393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14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4468"/>
            <a:ext cx="10725912" cy="42864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from</a:t>
            </a:r>
            <a:r>
              <a:rPr sz="1088" b="0">
                <a:solidFill>
                  <a:srgbClr val="E6E6E6"/>
                </a:solidFill>
                <a:latin typeface="Consolas"/>
              </a:rPr>
              <a:t> django.http </a:t>
            </a:r>
            <a:r>
              <a:rPr sz="1088" b="0">
                <a:solidFill>
                  <a:srgbClr val="C678DD"/>
                </a:solidFill>
                <a:latin typeface="Consolas"/>
              </a:rPr>
              <a:t>import</a:t>
            </a:r>
            <a:r>
              <a:rPr sz="1088" b="0">
                <a:solidFill>
                  <a:srgbClr val="E6E6E6"/>
                </a:solidFill>
                <a:latin typeface="Consolas"/>
              </a:rPr>
              <a:t> HttpResponse, Http404, JsonResponse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from</a:t>
            </a:r>
            <a:r>
              <a:rPr sz="1088" b="0">
                <a:solidFill>
                  <a:srgbClr val="E6E6E6"/>
                </a:solidFill>
                <a:latin typeface="Consolas"/>
              </a:rPr>
              <a:t> django.shortcuts </a:t>
            </a:r>
            <a:r>
              <a:rPr sz="1088" b="0">
                <a:solidFill>
                  <a:srgbClr val="C678DD"/>
                </a:solidFill>
                <a:latin typeface="Consolas"/>
              </a:rPr>
              <a:t>import</a:t>
            </a:r>
            <a:r>
              <a:rPr sz="1088" b="0">
                <a:solidFill>
                  <a:srgbClr val="E6E6E6"/>
                </a:solidFill>
                <a:latin typeface="Consolas"/>
              </a:rPr>
              <a:t> redirect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MAQOLALAR = [   # vaqtinchalik </a:t>
            </a:r>
            <a:r>
              <a:rPr sz="1088" b="0">
                <a:solidFill>
                  <a:srgbClr val="98C379"/>
                </a:solidFill>
                <a:latin typeface="Consolas"/>
              </a:rPr>
              <a:t>"baza"</a:t>
            </a:r>
            <a:r>
              <a:rPr sz="1088" b="0">
                <a:solidFill>
                  <a:srgbClr val="E6E6E6"/>
                </a:solidFill>
                <a:latin typeface="Consolas"/>
              </a:rPr>
              <a:t> — 36-mavzuda modelga almashadi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{</a:t>
            </a:r>
            <a:r>
              <a:rPr sz="1088" b="0">
                <a:solidFill>
                  <a:srgbClr val="98C379"/>
                </a:solidFill>
                <a:latin typeface="Consolas"/>
              </a:rPr>
              <a:t>"id"</a:t>
            </a:r>
            <a:r>
              <a:rPr sz="1088" b="0">
                <a:solidFill>
                  <a:srgbClr val="E6E6E6"/>
                </a:solidFill>
                <a:latin typeface="Consolas"/>
              </a:rPr>
              <a:t>: 1, </a:t>
            </a:r>
            <a:r>
              <a:rPr sz="108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088" b="0">
                <a:solidFill>
                  <a:srgbClr val="E6E6E6"/>
                </a:solidFill>
                <a:latin typeface="Consolas"/>
              </a:rPr>
              <a:t>: </a:t>
            </a:r>
            <a:r>
              <a:rPr sz="1088" b="0">
                <a:solidFill>
                  <a:srgbClr val="98C379"/>
                </a:solidFill>
                <a:latin typeface="Consolas"/>
              </a:rPr>
              <a:t>"Bilimlar bellashuvi"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088" b="0">
                <a:solidFill>
                  <a:srgbClr val="E6E6E6"/>
                </a:solidFill>
                <a:latin typeface="Consolas"/>
              </a:rPr>
              <a:t>: </a:t>
            </a:r>
            <a:r>
              <a:rPr sz="1088" b="0">
                <a:solidFill>
                  <a:srgbClr val="98C379"/>
                </a:solidFill>
                <a:latin typeface="Consolas"/>
              </a:rPr>
              <a:t>"tadbirlar"</a:t>
            </a:r>
            <a:r>
              <a:rPr sz="1088" b="0">
                <a:solidFill>
                  <a:srgbClr val="E6E6E6"/>
                </a:solidFill>
                <a:latin typeface="Consolas"/>
              </a:rPr>
              <a:t>},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{</a:t>
            </a:r>
            <a:r>
              <a:rPr sz="1088" b="0">
                <a:solidFill>
                  <a:srgbClr val="98C379"/>
                </a:solidFill>
                <a:latin typeface="Consolas"/>
              </a:rPr>
              <a:t>"id"</a:t>
            </a:r>
            <a:r>
              <a:rPr sz="1088" b="0">
                <a:solidFill>
                  <a:srgbClr val="E6E6E6"/>
                </a:solidFill>
                <a:latin typeface="Consolas"/>
              </a:rPr>
              <a:t>: 2, </a:t>
            </a:r>
            <a:r>
              <a:rPr sz="1088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088" b="0">
                <a:solidFill>
                  <a:srgbClr val="E6E6E6"/>
                </a:solidFill>
                <a:latin typeface="Consolas"/>
              </a:rPr>
              <a:t>: </a:t>
            </a:r>
            <a:r>
              <a:rPr sz="1088" b="0">
                <a:solidFill>
                  <a:srgbClr val="98C379"/>
                </a:solidFill>
                <a:latin typeface="Consolas"/>
              </a:rPr>
              <a:t>"Yangi kompyuter xonasi"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088" b="0">
                <a:solidFill>
                  <a:srgbClr val="E6E6E6"/>
                </a:solidFill>
                <a:latin typeface="Consolas"/>
              </a:rPr>
              <a:t>: </a:t>
            </a:r>
            <a:r>
              <a:rPr sz="1088" b="0">
                <a:solidFill>
                  <a:srgbClr val="98C379"/>
                </a:solidFill>
                <a:latin typeface="Consolas"/>
              </a:rPr>
              <a:t>"maktab-hayoti"</a:t>
            </a:r>
            <a:r>
              <a:rPr sz="1088" b="0">
                <a:solidFill>
                  <a:srgbClr val="E6E6E6"/>
                </a:solidFill>
                <a:latin typeface="Consolas"/>
              </a:rPr>
              <a:t>},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def</a:t>
            </a:r>
            <a:r>
              <a:rPr sz="1088" b="0">
                <a:solidFill>
                  <a:srgbClr val="E6E6E6"/>
                </a:solidFill>
                <a:latin typeface="Consolas"/>
              </a:rPr>
              <a:t> maqola(request, id):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for</a:t>
            </a:r>
            <a:r>
              <a:rPr sz="1088" b="0">
                <a:solidFill>
                  <a:srgbClr val="E6E6E6"/>
                </a:solidFill>
                <a:latin typeface="Consolas"/>
              </a:rPr>
              <a:t> m </a:t>
            </a:r>
            <a:r>
              <a:rPr sz="1088" b="0">
                <a:solidFill>
                  <a:srgbClr val="C678DD"/>
                </a:solidFill>
                <a:latin typeface="Consolas"/>
              </a:rPr>
              <a:t>in</a:t>
            </a:r>
            <a:r>
              <a:rPr sz="1088" b="0">
                <a:solidFill>
                  <a:srgbClr val="E6E6E6"/>
                </a:solidFill>
                <a:latin typeface="Consolas"/>
              </a:rPr>
              <a:t> MAQOLALAR: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if</a:t>
            </a:r>
            <a:r>
              <a:rPr sz="1088" b="0">
                <a:solidFill>
                  <a:srgbClr val="E6E6E6"/>
                </a:solidFill>
                <a:latin typeface="Consolas"/>
              </a:rPr>
              <a:t> m[</a:t>
            </a:r>
            <a:r>
              <a:rPr sz="1088" b="0">
                <a:solidFill>
                  <a:srgbClr val="98C379"/>
                </a:solidFill>
                <a:latin typeface="Consolas"/>
              </a:rPr>
              <a:t>"id"</a:t>
            </a:r>
            <a:r>
              <a:rPr sz="1088" b="0">
                <a:solidFill>
                  <a:srgbClr val="E6E6E6"/>
                </a:solidFill>
                <a:latin typeface="Consolas"/>
              </a:rPr>
              <a:t>] == id: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return</a:t>
            </a:r>
            <a:r>
              <a:rPr sz="1088" b="0">
                <a:solidFill>
                  <a:srgbClr val="E6E6E6"/>
                </a:solidFill>
                <a:latin typeface="Consolas"/>
              </a:rPr>
              <a:t> HttpResponse(f</a:t>
            </a:r>
            <a:r>
              <a:rPr sz="1088" b="0">
                <a:solidFill>
                  <a:srgbClr val="98C379"/>
                </a:solidFill>
                <a:latin typeface="Consolas"/>
              </a:rPr>
              <a:t>"&lt;h1&gt;{m['sarlavha']}&lt;/h1&gt;"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raise Http404(</a:t>
            </a:r>
            <a:r>
              <a:rPr sz="1088" b="0">
                <a:solidFill>
                  <a:srgbClr val="98C379"/>
                </a:solidFill>
                <a:latin typeface="Consolas"/>
              </a:rPr>
              <a:t>"Maqola topilmadi"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def</a:t>
            </a:r>
            <a:r>
              <a:rPr sz="1088" b="0">
                <a:solidFill>
                  <a:srgbClr val="E6E6E6"/>
                </a:solidFill>
                <a:latin typeface="Consolas"/>
              </a:rPr>
              <a:t> kategoriya(request, nomi):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topilgan = [m </a:t>
            </a:r>
            <a:r>
              <a:rPr sz="1088" b="0">
                <a:solidFill>
                  <a:srgbClr val="C678DD"/>
                </a:solidFill>
                <a:latin typeface="Consolas"/>
              </a:rPr>
              <a:t>for</a:t>
            </a:r>
            <a:r>
              <a:rPr sz="1088" b="0">
                <a:solidFill>
                  <a:srgbClr val="E6E6E6"/>
                </a:solidFill>
                <a:latin typeface="Consolas"/>
              </a:rPr>
              <a:t> m </a:t>
            </a:r>
            <a:r>
              <a:rPr sz="1088" b="0">
                <a:solidFill>
                  <a:srgbClr val="C678DD"/>
                </a:solidFill>
                <a:latin typeface="Consolas"/>
              </a:rPr>
              <a:t>in</a:t>
            </a:r>
            <a:r>
              <a:rPr sz="1088" b="0">
                <a:solidFill>
                  <a:srgbClr val="E6E6E6"/>
                </a:solidFill>
                <a:latin typeface="Consolas"/>
              </a:rPr>
              <a:t> MAQOLALAR </a:t>
            </a:r>
            <a:r>
              <a:rPr sz="1088" b="0">
                <a:solidFill>
                  <a:srgbClr val="C678DD"/>
                </a:solidFill>
                <a:latin typeface="Consolas"/>
              </a:rPr>
              <a:t>if</a:t>
            </a:r>
            <a:r>
              <a:rPr sz="1088" b="0">
                <a:solidFill>
                  <a:srgbClr val="E6E6E6"/>
                </a:solidFill>
                <a:latin typeface="Consolas"/>
              </a:rPr>
              <a:t> m[</a:t>
            </a:r>
            <a:r>
              <a:rPr sz="1088" b="0">
                <a:solidFill>
                  <a:srgbClr val="98C379"/>
                </a:solidFill>
                <a:latin typeface="Consolas"/>
              </a:rPr>
              <a:t>"kategoriya"</a:t>
            </a:r>
            <a:r>
              <a:rPr sz="1088" b="0">
                <a:solidFill>
                  <a:srgbClr val="E6E6E6"/>
                </a:solidFill>
                <a:latin typeface="Consolas"/>
              </a:rPr>
              <a:t>] == nomi]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if</a:t>
            </a: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  <a:r>
              <a:rPr sz="1088" b="0">
                <a:solidFill>
                  <a:srgbClr val="C678DD"/>
                </a:solidFill>
                <a:latin typeface="Consolas"/>
              </a:rPr>
              <a:t>not</a:t>
            </a:r>
            <a:r>
              <a:rPr sz="1088" b="0">
                <a:solidFill>
                  <a:srgbClr val="E6E6E6"/>
                </a:solidFill>
                <a:latin typeface="Consolas"/>
              </a:rPr>
              <a:t> topilgan: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088" b="0">
                <a:solidFill>
                  <a:srgbClr val="C678DD"/>
                </a:solidFill>
                <a:latin typeface="Consolas"/>
              </a:rPr>
              <a:t>return</a:t>
            </a:r>
            <a:r>
              <a:rPr sz="1088" b="0">
                <a:solidFill>
                  <a:srgbClr val="E6E6E6"/>
                </a:solidFill>
                <a:latin typeface="Consolas"/>
              </a:rPr>
              <a:t> redirect(</a:t>
            </a:r>
            <a:r>
              <a:rPr sz="1088" b="0">
                <a:solidFill>
                  <a:srgbClr val="98C379"/>
                </a:solidFill>
                <a:latin typeface="Consolas"/>
              </a:rPr>
              <a:t>"blog:bosh"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...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C678DD"/>
                </a:solidFill>
                <a:latin typeface="Consolas"/>
              </a:rPr>
              <a:t>def</a:t>
            </a:r>
            <a:r>
              <a:rPr sz="1088" b="0">
                <a:solidFill>
                  <a:srgbClr val="E6E6E6"/>
                </a:solidFill>
                <a:latin typeface="Consolas"/>
              </a:rPr>
              <a:t> qidiruv(request):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soz = request.GET.get(</a:t>
            </a:r>
            <a:r>
              <a:rPr sz="1088" b="0">
                <a:solidFill>
                  <a:srgbClr val="98C379"/>
                </a:solidFill>
                <a:latin typeface="Consolas"/>
              </a:rPr>
              <a:t>"q"</a:t>
            </a:r>
            <a:r>
              <a:rPr sz="1088" b="0">
                <a:solidFill>
                  <a:srgbClr val="E6E6E6"/>
                </a:solidFill>
                <a:latin typeface="Consolas"/>
              </a:rPr>
              <a:t>, </a:t>
            </a:r>
            <a:r>
              <a:rPr sz="1088" b="0">
                <a:solidFill>
                  <a:srgbClr val="98C379"/>
                </a:solidFill>
                <a:latin typeface="Consolas"/>
              </a:rPr>
              <a:t>""</a:t>
            </a:r>
            <a:r>
              <a:rPr sz="1088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   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Nomlangan URL'lar va status kodlar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1924"/>
            <a:ext cx="11091672" cy="144206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678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1108"/>
            <a:ext cx="10725912" cy="109459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django.urls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reverse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reverse(</a:t>
            </a:r>
            <a:r>
              <a:rPr sz="1496" b="0">
                <a:solidFill>
                  <a:srgbClr val="98C379"/>
                </a:solidFill>
                <a:latin typeface="Consolas"/>
              </a:rPr>
              <a:t>"blog:maqola"</a:t>
            </a:r>
            <a:r>
              <a:rPr sz="1496" b="0">
                <a:solidFill>
                  <a:srgbClr val="E6E6E6"/>
                </a:solidFill>
                <a:latin typeface="Consolas"/>
              </a:rPr>
              <a:t>, args=[5])     # </a:t>
            </a:r>
            <a:r>
              <a:rPr sz="1496" b="0">
                <a:solidFill>
                  <a:srgbClr val="98C379"/>
                </a:solidFill>
                <a:latin typeface="Consolas"/>
              </a:rPr>
              <a:t>"/maqola/5/"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redirect(</a:t>
            </a:r>
            <a:r>
              <a:rPr sz="1496" b="0">
                <a:solidFill>
                  <a:srgbClr val="98C379"/>
                </a:solidFill>
                <a:latin typeface="Consolas"/>
              </a:rPr>
              <a:t>"blog:haqida"</a:t>
            </a:r>
            <a:r>
              <a:rPr sz="1496" b="0">
                <a:solidFill>
                  <a:srgbClr val="E6E6E6"/>
                </a:solidFill>
                <a:latin typeface="Consolas"/>
              </a:rPr>
              <a:t>)              # /haqida/ ga yo'naltirish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7F848E"/>
                </a:solidFill>
                <a:latin typeface="Consolas"/>
              </a:rPr>
              <a:t># Shablonda: {% url 'blog:maqola' 5 %}   (35-mavzu)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93450"/>
            <a:ext cx="10680192" cy="753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Manzilni o'zgartirsangiz — faqat </a:t>
            </a:r>
            <a:r>
              <a:rPr sz="2024" b="0">
                <a:solidFill>
                  <a:srgbClr val="B02A4A"/>
                </a:solidFill>
                <a:latin typeface="Consolas"/>
              </a:rPr>
              <a:t>urls.py</a:t>
            </a:r>
            <a:r>
              <a:rPr sz="2200" b="0">
                <a:solidFill>
                  <a:srgbClr val="1F232B"/>
                </a:solidFill>
                <a:latin typeface="Calibri"/>
              </a:rPr>
              <a:t> da </a:t>
            </a:r>
            <a:r>
              <a:rPr sz="2200" b="1">
                <a:solidFill>
                  <a:srgbClr val="1F232B"/>
                </a:solidFill>
                <a:latin typeface="Calibri"/>
              </a:rPr>
              <a:t>bitta qator</a:t>
            </a:r>
            <a:r>
              <a:rPr sz="2200" b="0">
                <a:solidFill>
                  <a:srgbClr val="1F232B"/>
                </a:solidFill>
                <a:latin typeface="Calibri"/>
              </a:rPr>
              <a:t>; butun saytdagi havolalar o'zi yangilanadi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1918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956542"/>
          <a:ext cx="11091672" cy="212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25704"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Django'da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1">
                          <a:solidFill>
                            <a:srgbClr val="FFFFFF"/>
                          </a:solidFill>
                          <a:latin typeface="Calibri"/>
                        </a:rPr>
                        <a:t>Kod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Oddiy javob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HttpResponse(...)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Topilmadi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raise Http404(...)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Yo'naltirish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redirect("nom")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25704"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9" b="0">
                          <a:solidFill>
                            <a:srgbClr val="B02A4A"/>
                          </a:solidFill>
                          <a:latin typeface="Consolas"/>
                        </a:rPr>
                        <a:t>JsonResponse({...})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0" b="0">
                          <a:solidFill>
                            <a:srgbClr val="1F232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Class Based View (CBV)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6589"/>
            <a:ext cx="11091672" cy="295820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145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65773"/>
            <a:ext cx="10725912" cy="261073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from</a:t>
            </a:r>
            <a:r>
              <a:rPr sz="1156" b="0">
                <a:solidFill>
                  <a:srgbClr val="E6E6E6"/>
                </a:solidFill>
                <a:latin typeface="Consolas"/>
              </a:rPr>
              <a:t> django.views </a:t>
            </a:r>
            <a:r>
              <a:rPr sz="115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156" b="0">
                <a:solidFill>
                  <a:srgbClr val="E6E6E6"/>
                </a:solidFill>
                <a:latin typeface="Consolas"/>
              </a:rPr>
              <a:t> View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from</a:t>
            </a:r>
            <a:r>
              <a:rPr sz="1156" b="0">
                <a:solidFill>
                  <a:srgbClr val="E6E6E6"/>
                </a:solidFill>
                <a:latin typeface="Consolas"/>
              </a:rPr>
              <a:t> django.views.generic </a:t>
            </a:r>
            <a:r>
              <a:rPr sz="115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156" b="0">
                <a:solidFill>
                  <a:srgbClr val="E6E6E6"/>
                </a:solidFill>
                <a:latin typeface="Consolas"/>
              </a:rPr>
              <a:t> TemplateView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class</a:t>
            </a:r>
            <a:r>
              <a:rPr sz="1156" b="0">
                <a:solidFill>
                  <a:srgbClr val="E6E6E6"/>
                </a:solidFill>
                <a:latin typeface="Consolas"/>
              </a:rPr>
              <a:t> SalomView(View):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get(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, request):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HttpResponse(</a:t>
            </a:r>
            <a:r>
              <a:rPr sz="1156" b="0">
                <a:solidFill>
                  <a:srgbClr val="98C379"/>
                </a:solidFill>
                <a:latin typeface="Consolas"/>
              </a:rPr>
              <a:t>"Salom, GET!"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post(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, request):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156" b="0">
                <a:solidFill>
                  <a:srgbClr val="E6E6E6"/>
                </a:solidFill>
                <a:latin typeface="Consolas"/>
              </a:rPr>
              <a:t> HttpResponse(</a:t>
            </a:r>
            <a:r>
              <a:rPr sz="1156" b="0">
                <a:solidFill>
                  <a:srgbClr val="98C379"/>
                </a:solidFill>
                <a:latin typeface="Consolas"/>
              </a:rPr>
              <a:t>"Salom, POST!"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class</a:t>
            </a:r>
            <a:r>
              <a:rPr sz="1156" b="0">
                <a:solidFill>
                  <a:srgbClr val="E6E6E6"/>
                </a:solidFill>
                <a:latin typeface="Consolas"/>
              </a:rPr>
              <a:t> AloqaView(TemplateView):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template_name = </a:t>
            </a:r>
            <a:r>
              <a:rPr sz="1156" b="0">
                <a:solidFill>
                  <a:srgbClr val="98C379"/>
                </a:solidFill>
                <a:latin typeface="Consolas"/>
              </a:rPr>
              <a:t>"blog/aloqa.html"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7F848E"/>
                </a:solidFill>
                <a:latin typeface="Consolas"/>
              </a:rPr>
              <a:t># urls.py:  path("salom/", views.SalomView.as_view(), name="salom")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614251"/>
          <a:ext cx="11091672" cy="1448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36220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FBV (funksiya)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CBV (klass)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362204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Yozilishi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Oddiy, aniq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Qisqa, "sehr" ko'p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362204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GET/POST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if request.method == "POST"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Alohida </a:t>
                      </a:r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get()</a:t>
                      </a:r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post()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2204"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Qayta ishlatish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Qiyinroq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Meros; </a:t>
                      </a:r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ListView</a:t>
                      </a:r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1251" b="0">
                          <a:solidFill>
                            <a:srgbClr val="B02A4A"/>
                          </a:solidFill>
                          <a:latin typeface="Consolas"/>
                        </a:rPr>
                        <a:t>DetailView</a:t>
                      </a:r>
                      <a:r>
                        <a:rPr sz="1360" b="0">
                          <a:solidFill>
                            <a:srgbClr val="1F232B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21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288" b="0">
                <a:solidFill>
                  <a:srgbClr val="B02A4A"/>
                </a:solidFill>
                <a:latin typeface="Consolas"/>
              </a:rPr>
              <a:t>blog/urls.py</a:t>
            </a:r>
            <a:r>
              <a:rPr sz="1400" b="0">
                <a:solidFill>
                  <a:srgbClr val="1F232B"/>
                </a:solidFill>
                <a:latin typeface="Calibri"/>
              </a:rPr>
              <a:t> + </a:t>
            </a:r>
            <a:r>
              <a:rPr sz="1288" b="0">
                <a:solidFill>
                  <a:srgbClr val="B02A4A"/>
                </a:solidFill>
                <a:latin typeface="Consolas"/>
              </a:rPr>
              <a:t>include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1F232B"/>
                </a:solidFill>
                <a:latin typeface="Calibri"/>
              </a:rPr>
              <a:t>View'larni yozing; </a:t>
            </a:r>
            <a:r>
              <a:rPr sz="1288" b="0">
                <a:solidFill>
                  <a:srgbClr val="B02A4A"/>
                </a:solidFill>
                <a:latin typeface="Consolas"/>
              </a:rPr>
              <a:t>/maqola/2/</a:t>
            </a:r>
            <a:r>
              <a:rPr sz="1400" b="0">
                <a:solidFill>
                  <a:srgbClr val="1F232B"/>
                </a:solidFill>
                <a:latin typeface="Calibri"/>
              </a:rPr>
              <a:t>, </a:t>
            </a:r>
            <a:r>
              <a:rPr sz="1288" b="0">
                <a:solidFill>
                  <a:srgbClr val="B02A4A"/>
                </a:solidFill>
                <a:latin typeface="Consolas"/>
              </a:rPr>
              <a:t>/maqola/99/</a:t>
            </a:r>
            <a:r>
              <a:rPr sz="1400" b="0">
                <a:solidFill>
                  <a:srgbClr val="1F232B"/>
                </a:solidFill>
                <a:latin typeface="Calibri"/>
              </a:rPr>
              <a:t>, </a:t>
            </a:r>
            <a:r>
              <a:rPr sz="1288" b="0">
                <a:solidFill>
                  <a:srgbClr val="B02A4A"/>
                </a:solidFill>
                <a:latin typeface="Consolas"/>
              </a:rPr>
              <a:t>/maqola/abc/</a:t>
            </a:r>
            <a:r>
              <a:rPr sz="1400" b="0">
                <a:solidFill>
                  <a:srgbClr val="1F232B"/>
                </a:solidFill>
                <a:latin typeface="Calibri"/>
              </a:rPr>
              <a:t> ni sinang (nega 404?)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1F232B"/>
                </a:solidFill>
                <a:latin typeface="Calibri"/>
              </a:rPr>
              <a:t>Havolalarni </a:t>
            </a:r>
            <a:r>
              <a:rPr sz="1288" b="0">
                <a:solidFill>
                  <a:srgbClr val="B02A4A"/>
                </a:solidFill>
                <a:latin typeface="Consolas"/>
              </a:rPr>
              <a:t>reverse("blog:maqola", args=[m["id"]])</a:t>
            </a:r>
            <a:r>
              <a:rPr sz="1400" b="0">
                <a:solidFill>
                  <a:srgbClr val="1F232B"/>
                </a:solidFill>
                <a:latin typeface="Calibri"/>
              </a:rPr>
              <a:t> bilan yasang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1F232B"/>
                </a:solidFill>
                <a:latin typeface="Calibri"/>
              </a:rPr>
              <a:t>Yangi yo'llar: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23944"/>
            <a:ext cx="10360152" cy="2771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59" b="0">
                <a:solidFill>
                  <a:srgbClr val="B02A4A"/>
                </a:solidFill>
                <a:latin typeface="Consolas"/>
              </a:rPr>
              <a:t>/kalkulyator/&lt;int:a&gt;/&lt;int:b&gt;/</a:t>
            </a:r>
            <a:r>
              <a:rPr sz="1260" b="0">
                <a:solidFill>
                  <a:srgbClr val="1F232B"/>
                </a:solidFill>
                <a:latin typeface="Calibri"/>
              </a:rPr>
              <a:t> — yig'indi, ayirma, ko'paytma</a:t>
            </a:r>
          </a:p>
        </p:txBody>
      </p:sp>
      <p:sp>
        <p:nvSpPr>
          <p:cNvPr id="16" name="Oval 15"/>
          <p:cNvSpPr/>
          <p:nvPr/>
        </p:nvSpPr>
        <p:spPr>
          <a:xfrm>
            <a:off x="978407" y="4203954"/>
            <a:ext cx="118872" cy="118872"/>
          </a:xfrm>
          <a:prstGeom prst="ellipse">
            <a:avLst/>
          </a:prstGeom>
          <a:solidFill>
            <a:srgbClr val="83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510786"/>
            <a:ext cx="10360152" cy="2771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59" b="0">
                <a:solidFill>
                  <a:srgbClr val="B02A4A"/>
                </a:solidFill>
                <a:latin typeface="Consolas"/>
              </a:rPr>
              <a:t>/salom/&lt;str:ism&gt;/</a:t>
            </a:r>
            <a:r>
              <a:rPr sz="1260" b="0">
                <a:solidFill>
                  <a:srgbClr val="1F232B"/>
                </a:solidFill>
                <a:latin typeface="Calibri"/>
              </a:rPr>
              <a:t> — "Salom, Ali!"</a:t>
            </a:r>
          </a:p>
        </p:txBody>
      </p:sp>
      <p:sp>
        <p:nvSpPr>
          <p:cNvPr id="18" name="Oval 17"/>
          <p:cNvSpPr/>
          <p:nvPr/>
        </p:nvSpPr>
        <p:spPr>
          <a:xfrm>
            <a:off x="978407" y="4590796"/>
            <a:ext cx="118872" cy="118872"/>
          </a:xfrm>
          <a:prstGeom prst="ellipse">
            <a:avLst/>
          </a:prstGeom>
          <a:solidFill>
            <a:srgbClr val="83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897628"/>
            <a:ext cx="10360152" cy="2771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59" b="0">
                <a:solidFill>
                  <a:srgbClr val="B02A4A"/>
                </a:solidFill>
                <a:latin typeface="Consolas"/>
              </a:rPr>
              <a:t>/api/maqolalar/</a:t>
            </a:r>
            <a:r>
              <a:rPr sz="1260" b="0">
                <a:solidFill>
                  <a:srgbClr val="1F232B"/>
                </a:solidFill>
                <a:latin typeface="Calibri"/>
              </a:rPr>
              <a:t> — </a:t>
            </a:r>
            <a:r>
              <a:rPr sz="1159" b="0">
                <a:solidFill>
                  <a:srgbClr val="B02A4A"/>
                </a:solidFill>
                <a:latin typeface="Consolas"/>
              </a:rPr>
              <a:t>JsonResponse</a:t>
            </a:r>
          </a:p>
        </p:txBody>
      </p:sp>
      <p:sp>
        <p:nvSpPr>
          <p:cNvPr id="20" name="Oval 19"/>
          <p:cNvSpPr/>
          <p:nvPr/>
        </p:nvSpPr>
        <p:spPr>
          <a:xfrm>
            <a:off x="978407" y="4977638"/>
            <a:ext cx="118872" cy="118872"/>
          </a:xfrm>
          <a:prstGeom prst="ellipse">
            <a:avLst/>
          </a:prstGeom>
          <a:solidFill>
            <a:srgbClr val="83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284470"/>
            <a:ext cx="10360152" cy="2771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59" b="0">
                <a:solidFill>
                  <a:srgbClr val="B02A4A"/>
                </a:solidFill>
                <a:latin typeface="Consolas"/>
              </a:rPr>
              <a:t>/tasodifiy/</a:t>
            </a:r>
            <a:r>
              <a:rPr sz="1260" b="0">
                <a:solidFill>
                  <a:srgbClr val="1F232B"/>
                </a:solidFill>
                <a:latin typeface="Calibri"/>
              </a:rPr>
              <a:t> — tasodifiy maqolaga </a:t>
            </a:r>
            <a:r>
              <a:rPr sz="1159" b="0">
                <a:solidFill>
                  <a:srgbClr val="B02A4A"/>
                </a:solidFill>
                <a:latin typeface="Consolas"/>
              </a:rPr>
              <a:t>redirect</a:t>
            </a:r>
          </a:p>
        </p:txBody>
      </p:sp>
      <p:sp>
        <p:nvSpPr>
          <p:cNvPr id="22" name="Oval 21"/>
          <p:cNvSpPr/>
          <p:nvPr/>
        </p:nvSpPr>
        <p:spPr>
          <a:xfrm>
            <a:off x="978407" y="5364480"/>
            <a:ext cx="118872" cy="118872"/>
          </a:xfrm>
          <a:prstGeom prst="ellipse">
            <a:avLst/>
          </a:prstGeom>
          <a:solidFill>
            <a:srgbClr val="83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5671312"/>
            <a:ext cx="11091672" cy="467169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671312"/>
            <a:ext cx="82296" cy="467169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62751"/>
            <a:ext cx="10725912" cy="3025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33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330" b="0">
                <a:solidFill>
                  <a:srgbClr val="1F232B"/>
                </a:solidFill>
                <a:latin typeface="Calibri"/>
              </a:rPr>
              <a:t>View ichida HTML'ni satr qilib yozish — faqat o'rganish uchun; keyingi mavzuda </a:t>
            </a:r>
            <a:r>
              <a:rPr sz="1330" b="1">
                <a:solidFill>
                  <a:srgbClr val="1F232B"/>
                </a:solidFill>
                <a:latin typeface="Calibri"/>
              </a:rPr>
              <a:t>shablonlar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800" b="1">
                <a:solidFill>
                  <a:srgbClr val="1F232B"/>
                </a:solidFill>
                <a:latin typeface="Calibri"/>
              </a:rPr>
              <a:t>404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yakuniy </a:t>
            </a:r>
            <a:r>
              <a:rPr sz="2576" b="0">
                <a:solidFill>
                  <a:srgbClr val="B02A4A"/>
                </a:solidFill>
                <a:latin typeface="Consolas"/>
              </a:rPr>
              <a:t>/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 yoki yo'l ro'yxatda yo'q (Django xato sahifasi barcha yo'llarni ko'rsatadi)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unexpected keyword argument 'pk'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URL'dagi nom va funksiya parametri mos emas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The view didn't return an HttpResponse object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return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NoReverseMatch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URL nomi xato yoki </a:t>
            </a:r>
            <a:r>
              <a:rPr sz="2576" b="0">
                <a:solidFill>
                  <a:srgbClr val="B02A4A"/>
                </a:solidFill>
                <a:latin typeface="Consolas"/>
              </a:rPr>
              <a:t>app_name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CBV'da </a:t>
            </a:r>
            <a:r>
              <a:rPr sz="2576" b="0">
                <a:solidFill>
                  <a:srgbClr val="B02A4A"/>
                </a:solidFill>
                <a:latin typeface="Consolas"/>
              </a:rPr>
              <a:t>.as_view()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Django view'i nimani qabul qilib, nimani qaytaradi?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HTML qabul qilib, SQL qaytaradi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request qabul qilib, response qaytaradi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URL qabul qilib, model qaytaradi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 qabul qilmaydi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Django view'i nimani qabul qilib, nimani qaytaradi?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HTML qabul qilib, SQL qaytaradi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request qabul qilib, response qaytaradi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URL qabul qilib, model qaytaradi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 qabul qilmaydi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path("maqola/&lt;int:id&gt;/", ...)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/maqola/7/</a:t>
            </a:r>
            <a:r>
              <a:rPr sz="2400" b="1">
                <a:solidFill>
                  <a:srgbClr val="1F232B"/>
                </a:solidFill>
                <a:latin typeface="Calibri"/>
              </a:rPr>
              <a:t> so'ralganda view nima oladi?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id="7"</a:t>
            </a:r>
            <a:r>
              <a:rPr sz="1900" b="0">
                <a:solidFill>
                  <a:srgbClr val="1F232B"/>
                </a:solidFill>
                <a:latin typeface="Calibri"/>
              </a:rPr>
              <a:t> (matn)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id=7</a:t>
            </a:r>
            <a:r>
              <a:rPr sz="1900" b="0">
                <a:solidFill>
                  <a:srgbClr val="1F232B"/>
                </a:solidFill>
                <a:latin typeface="Calibri"/>
              </a:rPr>
              <a:t> (son)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maqola=7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path("maqola/&lt;int:id&gt;/", ...)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</a:t>
            </a:r>
            <a:r>
              <a:rPr sz="2208" b="1">
                <a:solidFill>
                  <a:srgbClr val="B02A4A"/>
                </a:solidFill>
                <a:latin typeface="Consolas"/>
              </a:rPr>
              <a:t>/maqola/7/</a:t>
            </a:r>
            <a:r>
              <a:rPr sz="2400" b="1">
                <a:solidFill>
                  <a:srgbClr val="1F232B"/>
                </a:solidFill>
                <a:latin typeface="Calibri"/>
              </a:rPr>
              <a:t> so'ralganda view nima oladi?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6167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id="7"</a:t>
            </a:r>
            <a:r>
              <a:rPr sz="1900" b="0">
                <a:solidFill>
                  <a:srgbClr val="1F232B"/>
                </a:solidFill>
                <a:latin typeface="Calibri"/>
              </a:rPr>
              <a:t> (matn)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4384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6167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4384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Hech narsa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53110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id=7</a:t>
            </a:r>
            <a:r>
              <a:rPr sz="1900" b="1">
                <a:solidFill>
                  <a:srgbClr val="1F232B"/>
                </a:solidFill>
                <a:latin typeface="Calibri"/>
              </a:rPr>
              <a:t> (son)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35280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53110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335280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maqola=7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/qidiruv/?q=futbol</a:t>
            </a:r>
            <a:r>
              <a:rPr sz="2400" b="1">
                <a:solidFill>
                  <a:srgbClr val="1F232B"/>
                </a:solidFill>
                <a:latin typeface="Calibri"/>
              </a:rPr>
              <a:t> dagi "futbol" ni view'da qanday olasiz?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request.POST["q"]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request.GET.get("q")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/qidiruv/?q=futbol</a:t>
            </a:r>
            <a:r>
              <a:rPr sz="2400" b="1">
                <a:solidFill>
                  <a:srgbClr val="1F232B"/>
                </a:solidFill>
                <a:latin typeface="Calibri"/>
              </a:rPr>
              <a:t> dagi "futbol" ni view'da qanday olasiz?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request.POST["q"]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request.path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request.GET.get("q")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Class Based View'ni URL'ga ulashda nima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views.SalomView.as_view()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views.SalomView.get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Class Based View'ni URL'ga ulashda nima yoziladi?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views.SalomView.as_view()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views.SalomView.get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21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5381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81250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pages</a:t>
            </a:r>
            <a:r>
              <a:rPr sz="2800" b="0">
                <a:solidFill>
                  <a:srgbClr val="1F232B"/>
                </a:solidFill>
                <a:latin typeface="Calibri"/>
              </a:rPr>
              <a:t> ilovasi uchun </a:t>
            </a:r>
            <a:r>
              <a:rPr sz="2576" b="0">
                <a:solidFill>
                  <a:srgbClr val="B02A4A"/>
                </a:solidFill>
                <a:latin typeface="Consolas"/>
              </a:rPr>
              <a:t>urls.py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/haqida/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/aloqa/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/qoidalar/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6227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8970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/jadval/&lt;int:son&gt;/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ko'paytirish jadvali (HTML jadval)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638931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666363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/yosh/&lt;int:yil&gt;/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yoshni hisoblash; kelajakdagi yil → 404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34-mavzu · Django URL va View komponentlari. URL va View yordamida sahifalar yaratish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def view(request): return HttpResponse(...)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Ilovada </a:t>
            </a:r>
            <a:r>
              <a:rPr sz="2576" b="0">
                <a:solidFill>
                  <a:srgbClr val="B02A4A"/>
                </a:solidFill>
                <a:latin typeface="Consolas"/>
              </a:rPr>
              <a:t>urls.py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app_name</a:t>
            </a:r>
            <a:r>
              <a:rPr sz="2800" b="0">
                <a:solidFill>
                  <a:srgbClr val="1F232B"/>
                </a:solidFill>
                <a:latin typeface="Calibri"/>
              </a:rPr>
              <a:t>; asosiyda </a:t>
            </a:r>
            <a:r>
              <a:rPr sz="2576" b="0">
                <a:solidFill>
                  <a:srgbClr val="B02A4A"/>
                </a:solidFill>
                <a:latin typeface="Consolas"/>
              </a:rPr>
              <a:t>include("blog.urls")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&lt;int:id&gt;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&lt;str:nom&gt;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&lt;slug:nomi&gt;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view parametri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request.GET.get("q")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Http404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redirect("app:nom")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JsonResponse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reverse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CBV: 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 V(View): def get(...)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V.as_view()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35. Django Template tizimi va dinamik sahifalar. Template va statik fayllar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34-mavzu: Django URL va View komponentlari. URL va View yordamida sahifalar yaratish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