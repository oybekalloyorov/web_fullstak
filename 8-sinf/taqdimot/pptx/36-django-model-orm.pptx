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Jadvallar bilan klass va obyektlar orqali ishlash texnologiyasi.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makemigrations va migrate.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.filter(sarlavha__icontains="olimpiada").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get_object_or_404().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36-MAVZU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Models va ORM texnologiyasi. Model yaratish va migratsiyalar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Model — jadvalning Python klassi, maydon turlari, ForeignKey bog'lanishlari, __str__ va Meta; makemigrations va migrate; ORM bilan CRUD: create, all, filter, get, order_by, update, delete; get_object_or_404; view'larni bazaga ulash.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Model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jadvalni Python klassi sifatida yozish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Maydon turlari va </a:t>
            </a:r>
            <a:r>
              <a:rPr sz="2800" b="1">
                <a:solidFill>
                  <a:srgbClr val="1F232B"/>
                </a:solidFill>
                <a:latin typeface="Calibri"/>
              </a:rPr>
              <a:t>ForeignKey</a:t>
            </a:r>
            <a:r>
              <a:rPr sz="2800" b="0">
                <a:solidFill>
                  <a:srgbClr val="1F232B"/>
                </a:solidFill>
                <a:latin typeface="Calibri"/>
              </a:rPr>
              <a:t> bog'lanishlari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Migratsiya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modeldan haqiqiy jadvalga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ORM:</a:t>
            </a:r>
            <a:r>
              <a:rPr sz="2800" b="0">
                <a:solidFill>
                  <a:srgbClr val="1F232B"/>
                </a:solidFill>
                <a:latin typeface="Calibri"/>
              </a:rPr>
              <a:t> SQL yozmasdan CRUD va filtrlash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Blog sahifalarini haqiqiy </a:t>
            </a:r>
            <a:r>
              <a:rPr sz="2800" b="1">
                <a:solidFill>
                  <a:srgbClr val="1F232B"/>
                </a:solidFill>
                <a:latin typeface="Calibri"/>
              </a:rPr>
              <a:t>PostgreSQL</a:t>
            </a:r>
            <a:r>
              <a:rPr sz="2800" b="0">
                <a:solidFill>
                  <a:srgbClr val="1F232B"/>
                </a:solidFill>
                <a:latin typeface="Calibri"/>
              </a:rPr>
              <a:t>'ga ulash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ORM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29943"/>
            <a:ext cx="11091672" cy="12871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1F7A4D"/>
                </a:solidFill>
                <a:latin typeface="Calibri"/>
              </a:rPr>
              <a:t>ORM — jadvallar = klasslar, qatorlar = obyektlar, SQL o'rniga Python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26816"/>
          <a:ext cx="11091672" cy="212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Django ORM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SELECT * FROM blog_maqola;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Maqola.objects.all()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... WHERE id = 5;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Maqola.objects.get(id=5)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... WHERE sarlavha ILIKE '%futbol%'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.filter(sarlavha__icontains="futbol")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INSERT INTO ... VALUES 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Maqola.objects.create(...)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74792"/>
            <a:ext cx="11091672" cy="91960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74792"/>
            <a:ext cx="82296" cy="91960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66232"/>
            <a:ext cx="10725912" cy="7550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Tarjimon:</a:t>
            </a:r>
            <a:r>
              <a:rPr sz="2090" b="0">
                <a:solidFill>
                  <a:srgbClr val="1F232B"/>
                </a:solidFill>
                <a:latin typeface="Calibri"/>
              </a:rPr>
              <a:t> siz Python'da gapirasiz, baza faqat SQL tushunadi. ORM to'g'ri va </a:t>
            </a:r>
            <a:r>
              <a:rPr sz="2090" b="1">
                <a:solidFill>
                  <a:srgbClr val="1F232B"/>
                </a:solidFill>
                <a:latin typeface="Calibri"/>
              </a:rPr>
              <a:t>xavfsiz</a:t>
            </a:r>
            <a:r>
              <a:rPr sz="2090" b="0">
                <a:solidFill>
                  <a:srgbClr val="1F232B"/>
                </a:solidFill>
                <a:latin typeface="Calibri"/>
              </a:rPr>
              <a:t> SQL'ga o'giradi — SQL injection'dan avtomatik himoya!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Model yaratish: Kategoriya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6458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5642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django.db </a:t>
            </a: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models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django.contrib.auth.models </a:t>
            </a: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User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from</a:t>
            </a:r>
            <a:r>
              <a:rPr sz="1904" b="0">
                <a:solidFill>
                  <a:srgbClr val="E6E6E6"/>
                </a:solidFill>
                <a:latin typeface="Consolas"/>
              </a:rPr>
              <a:t> django.urls </a:t>
            </a:r>
            <a:r>
              <a:rPr sz="190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904" b="0">
                <a:solidFill>
                  <a:srgbClr val="E6E6E6"/>
                </a:solidFill>
                <a:latin typeface="Consolas"/>
              </a:rPr>
              <a:t> reverse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class</a:t>
            </a:r>
            <a:r>
              <a:rPr sz="1904" b="0">
                <a:solidFill>
                  <a:srgbClr val="E6E6E6"/>
                </a:solidFill>
                <a:latin typeface="Consolas"/>
              </a:rPr>
              <a:t> Kategoriya(models.Model):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nomi = models.CharField(</a:t>
            </a:r>
            <a:r>
              <a:rPr sz="1904" b="0">
                <a:solidFill>
                  <a:srgbClr val="98C379"/>
                </a:solidFill>
                <a:latin typeface="Consolas"/>
              </a:rPr>
              <a:t>"Nomi"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max_length=100, unique=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slug = models.SlugField(unique=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def</a:t>
            </a:r>
            <a:r>
              <a:rPr sz="1904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904" b="0">
                <a:solidFill>
                  <a:srgbClr val="C678DD"/>
                </a:solidFill>
                <a:latin typeface="Consolas"/>
              </a:rPr>
              <a:t>self</a:t>
            </a:r>
            <a:r>
              <a:rPr sz="1904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self</a:t>
            </a:r>
            <a:r>
              <a:rPr sz="1904" b="0">
                <a:solidFill>
                  <a:srgbClr val="E6E6E6"/>
                </a:solidFill>
                <a:latin typeface="Consolas"/>
              </a:rPr>
              <a:t>.nomi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7669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model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models.Model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meros (25-mavzu!); har atribut — ustun; </a:t>
            </a:r>
            <a:r>
              <a:rPr sz="2576" b="0">
                <a:solidFill>
                  <a:srgbClr val="B02A4A"/>
                </a:solidFill>
                <a:latin typeface="Consolas"/>
              </a:rPr>
              <a:t>id</a:t>
            </a:r>
            <a:r>
              <a:rPr sz="2800" b="0">
                <a:solidFill>
                  <a:srgbClr val="1F232B"/>
                </a:solidFill>
                <a:latin typeface="Calibri"/>
              </a:rPr>
              <a:t> avtomatik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3671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Model yaratish: Maqola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74566"/>
            <a:ext cx="11091672" cy="440946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943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blog/models.py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03750"/>
            <a:ext cx="10725912" cy="406199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93" b="0">
                <a:solidFill>
                  <a:srgbClr val="C678DD"/>
                </a:solidFill>
                <a:latin typeface="Consolas"/>
              </a:rPr>
              <a:t>class</a:t>
            </a:r>
            <a:r>
              <a:rPr sz="1393" b="0">
                <a:solidFill>
                  <a:srgbClr val="E6E6E6"/>
                </a:solidFill>
                <a:latin typeface="Consolas"/>
              </a:rPr>
              <a:t> Maqola(models.Model):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sarlavha = models.CharField(</a:t>
            </a:r>
            <a:r>
              <a:rPr sz="1393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393" b="0">
                <a:solidFill>
                  <a:srgbClr val="E6E6E6"/>
                </a:solidFill>
                <a:latin typeface="Consolas"/>
              </a:rPr>
              <a:t>, max_length=200)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matn = models.TextField(</a:t>
            </a:r>
            <a:r>
              <a:rPr sz="1393" b="0">
                <a:solidFill>
                  <a:srgbClr val="98C379"/>
                </a:solidFill>
                <a:latin typeface="Consolas"/>
              </a:rPr>
              <a:t>"Matn"</a:t>
            </a:r>
            <a:r>
              <a:rPr sz="1393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kategoriya = models.ForeignKey(Kategoriya, on_delete=models.PROTECT, related_name=</a:t>
            </a:r>
            <a:r>
              <a:rPr sz="1393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393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muallif = models.ForeignKey(User, on_delete=models.CASCADE)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chop_etilgan = models.BooleanField(default=</a:t>
            </a:r>
            <a:r>
              <a:rPr sz="1393" b="0">
                <a:solidFill>
                  <a:srgbClr val="C678DD"/>
                </a:solidFill>
                <a:latin typeface="Consolas"/>
              </a:rPr>
              <a:t>True</a:t>
            </a:r>
            <a:r>
              <a:rPr sz="1393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korishlar = models.PositiveIntegerField(default=0)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yaratilgan = models.DateTimeField(auto_now_add=</a:t>
            </a:r>
            <a:r>
              <a:rPr sz="1393" b="0">
                <a:solidFill>
                  <a:srgbClr val="C678DD"/>
                </a:solidFill>
                <a:latin typeface="Consolas"/>
              </a:rPr>
              <a:t>True</a:t>
            </a:r>
            <a:r>
              <a:rPr sz="1393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</a:t>
            </a:r>
            <a:r>
              <a:rPr sz="1393" b="0">
                <a:solidFill>
                  <a:srgbClr val="C678DD"/>
                </a:solidFill>
                <a:latin typeface="Consolas"/>
              </a:rPr>
              <a:t>class</a:t>
            </a:r>
            <a:r>
              <a:rPr sz="1393" b="0">
                <a:solidFill>
                  <a:srgbClr val="E6E6E6"/>
                </a:solidFill>
                <a:latin typeface="Consolas"/>
              </a:rPr>
              <a:t> Meta: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    ordering = [</a:t>
            </a:r>
            <a:r>
              <a:rPr sz="1393" b="0">
                <a:solidFill>
                  <a:srgbClr val="98C379"/>
                </a:solidFill>
                <a:latin typeface="Consolas"/>
              </a:rPr>
              <a:t>"-yaratilgan"</a:t>
            </a:r>
            <a:r>
              <a:rPr sz="1393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</a:t>
            </a:r>
            <a:r>
              <a:rPr sz="1393" b="0">
                <a:solidFill>
                  <a:srgbClr val="C678DD"/>
                </a:solidFill>
                <a:latin typeface="Consolas"/>
              </a:rPr>
              <a:t>def</a:t>
            </a:r>
            <a:r>
              <a:rPr sz="1393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393" b="0">
                <a:solidFill>
                  <a:srgbClr val="C678DD"/>
                </a:solidFill>
                <a:latin typeface="Consolas"/>
              </a:rPr>
              <a:t>self</a:t>
            </a:r>
            <a:r>
              <a:rPr sz="139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9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93" b="0">
                <a:solidFill>
                  <a:srgbClr val="E6E6E6"/>
                </a:solidFill>
                <a:latin typeface="Consolas"/>
              </a:rPr>
              <a:t> </a:t>
            </a:r>
            <a:r>
              <a:rPr sz="1393" b="0">
                <a:solidFill>
                  <a:srgbClr val="C678DD"/>
                </a:solidFill>
                <a:latin typeface="Consolas"/>
              </a:rPr>
              <a:t>self</a:t>
            </a:r>
            <a:r>
              <a:rPr sz="1393" b="0">
                <a:solidFill>
                  <a:srgbClr val="E6E6E6"/>
                </a:solidFill>
                <a:latin typeface="Consolas"/>
              </a:rPr>
              <a:t>.sarlavha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</a:t>
            </a:r>
            <a:r>
              <a:rPr sz="1393" b="0">
                <a:solidFill>
                  <a:srgbClr val="C678DD"/>
                </a:solidFill>
                <a:latin typeface="Consolas"/>
              </a:rPr>
              <a:t>def</a:t>
            </a:r>
            <a:r>
              <a:rPr sz="1393" b="0">
                <a:solidFill>
                  <a:srgbClr val="E6E6E6"/>
                </a:solidFill>
                <a:latin typeface="Consolas"/>
              </a:rPr>
              <a:t> get_absolute_url(</a:t>
            </a:r>
            <a:r>
              <a:rPr sz="1393" b="0">
                <a:solidFill>
                  <a:srgbClr val="C678DD"/>
                </a:solidFill>
                <a:latin typeface="Consolas"/>
              </a:rPr>
              <a:t>self</a:t>
            </a:r>
            <a:r>
              <a:rPr sz="1393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93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93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93" b="0">
                <a:solidFill>
                  <a:srgbClr val="E6E6E6"/>
                </a:solidFill>
                <a:latin typeface="Consolas"/>
              </a:rPr>
              <a:t> reverse(</a:t>
            </a:r>
            <a:r>
              <a:rPr sz="1393" b="0">
                <a:solidFill>
                  <a:srgbClr val="98C379"/>
                </a:solidFill>
                <a:latin typeface="Consolas"/>
              </a:rPr>
              <a:t>"blog:maqola"</a:t>
            </a:r>
            <a:r>
              <a:rPr sz="1393" b="0">
                <a:solidFill>
                  <a:srgbClr val="E6E6E6"/>
                </a:solidFill>
                <a:latin typeface="Consolas"/>
              </a:rPr>
              <a:t>, args=[</a:t>
            </a:r>
            <a:r>
              <a:rPr sz="1393" b="0">
                <a:solidFill>
                  <a:srgbClr val="C678DD"/>
                </a:solidFill>
                <a:latin typeface="Consolas"/>
              </a:rPr>
              <a:t>self</a:t>
            </a:r>
            <a:r>
              <a:rPr sz="1393" b="0">
                <a:solidFill>
                  <a:srgbClr val="E6E6E6"/>
                </a:solidFill>
                <a:latin typeface="Consolas"/>
              </a:rPr>
              <a:t>.id])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Maydon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75638"/>
          <a:ext cx="11091672" cy="4403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003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Django maydoni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CharField(max_length)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VARCHAR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Ism, sarlavha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TextField()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Uzun matn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IntegerField()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Butun son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DecimalField()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Pul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BooleanField()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Ha/yo'q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DateField()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DateTimeField()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DATE, TIMESTAMP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Sana, vaqt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EmailField()</a:t>
                      </a:r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SlugField()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VARCHAR + tekshiruv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Email, slug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ImageField(upload_to)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VARCHAR (yo'l)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Rasm (Pillow)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ForeignKey(Model, on_delete)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FK </a:t>
                      </a:r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..._id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1:N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r>
                        <a:rPr sz="1472" b="0">
                          <a:solidFill>
                            <a:srgbClr val="B02A4A"/>
                          </a:solidFill>
                          <a:latin typeface="Consolas"/>
                        </a:rPr>
                        <a:t>ManyToManyField(Model)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Oraliq jadval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32B"/>
                          </a:solidFill>
                          <a:latin typeface="Calibri"/>
                        </a:rPr>
                        <a:t>N:M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Parametrlar va on_delete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null=True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bazada NULL; </a:t>
            </a:r>
            <a:r>
              <a:rPr sz="2208" b="0">
                <a:solidFill>
                  <a:srgbClr val="B02A4A"/>
                </a:solidFill>
                <a:latin typeface="Consolas"/>
              </a:rPr>
              <a:t>blank=True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formada bo'sh qoldirish mumkin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5448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2911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default=...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unique=True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choices=[...]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0007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08504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Birinchi argument (</a:t>
            </a:r>
            <a:r>
              <a:rPr sz="2208" b="0">
                <a:solidFill>
                  <a:srgbClr val="B02A4A"/>
                </a:solidFill>
                <a:latin typeface="Consolas"/>
              </a:rPr>
              <a:t>"Sarlavha"</a:t>
            </a:r>
            <a:r>
              <a:rPr sz="2400" b="0">
                <a:solidFill>
                  <a:srgbClr val="1F232B"/>
                </a:solidFill>
                <a:latin typeface="Calibri"/>
              </a:rPr>
              <a:t>) — admin va formalardagi chiroyli nom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64566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54096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id</a:t>
            </a:r>
            <a:r>
              <a:rPr sz="2400" b="0">
                <a:solidFill>
                  <a:srgbClr val="1F232B"/>
                </a:solidFill>
                <a:latin typeface="Calibri"/>
              </a:rPr>
              <a:t> yozilmaydi — Django avtomatik qo'shadi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19125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599688"/>
          <a:ext cx="11091672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035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Django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CASCADE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ON DELETE CASCADE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Foydalanuvchi o'chsa — maqolalari ham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PROTECT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RESTRICT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Maqolasi bor kategoriya o'chmaydi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SET_NULL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SET NULL (</a:t>
                      </a:r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null=True</a:t>
                      </a:r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Migratsiyalar — modeldan jadvalga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82649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4790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python manage.py makemigrations     # 1) o'zgarishlardan </a:t>
            </a:r>
            <a:r>
              <a:rPr sz="1156" b="0">
                <a:solidFill>
                  <a:srgbClr val="98C379"/>
                </a:solidFill>
                <a:latin typeface="Consolas"/>
              </a:rPr>
              <a:t>"reja"</a:t>
            </a:r>
            <a:r>
              <a:rPr sz="1156" b="0">
                <a:solidFill>
                  <a:srgbClr val="E6E6E6"/>
                </a:solidFill>
                <a:latin typeface="Consolas"/>
              </a:rPr>
              <a:t> (migratsiya fayli)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python manage.py migrate            # 2) rejani bazaga qo'llash (CREATE TABLE)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3271"/>
            <a:ext cx="11091672" cy="1407871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813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92455"/>
            <a:ext cx="10725912" cy="10603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1F232B"/>
                </a:solidFill>
                <a:latin typeface="Consolas"/>
              </a:rPr>
              <a:t>Migrations for </a:t>
            </a:r>
            <a:r>
              <a:rPr sz="1156" b="0">
                <a:solidFill>
                  <a:srgbClr val="1F232B"/>
                </a:solidFill>
                <a:latin typeface="Consolas"/>
              </a:rPr>
              <a:t>'blog'</a:t>
            </a:r>
            <a:r>
              <a:rPr sz="1156" b="0">
                <a:solidFill>
                  <a:srgbClr val="1F232B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1F232B"/>
                </a:solidFill>
                <a:latin typeface="Consolas"/>
              </a:rPr>
              <a:t>  blog/migrations/0001_initial.py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1F232B"/>
                </a:solidFill>
                <a:latin typeface="Consolas"/>
              </a:rPr>
              <a:t>    - Create model Kategoriya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1F232B"/>
                </a:solidFill>
                <a:latin typeface="Consolas"/>
              </a:rPr>
              <a:t>    - Create model Maqola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1F232B"/>
                </a:solidFill>
                <a:latin typeface="Consolas"/>
              </a:rPr>
              <a:t>Applying blog.0001_initial... 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0598"/>
            <a:ext cx="11091672" cy="768794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090598"/>
            <a:ext cx="82296" cy="7687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82038"/>
            <a:ext cx="10725912" cy="6042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614" b="0">
                <a:solidFill>
                  <a:srgbClr val="1F232B"/>
                </a:solidFill>
                <a:latin typeface="Calibri"/>
              </a:rPr>
              <a:t>💡 </a:t>
            </a:r>
            <a:r>
              <a:rPr sz="1614" b="1">
                <a:solidFill>
                  <a:srgbClr val="1F232B"/>
                </a:solidFill>
                <a:latin typeface="Calibri"/>
              </a:rPr>
              <a:t>Qurilish chizmasi:</a:t>
            </a:r>
            <a:r>
              <a:rPr sz="1614" b="0">
                <a:solidFill>
                  <a:srgbClr val="1F232B"/>
                </a:solidFill>
                <a:latin typeface="Calibri"/>
              </a:rPr>
              <a:t> </a:t>
            </a:r>
            <a:r>
              <a:rPr sz="1485" b="0">
                <a:solidFill>
                  <a:srgbClr val="B02A4A"/>
                </a:solidFill>
                <a:latin typeface="Consolas"/>
              </a:rPr>
              <a:t>models.py</a:t>
            </a:r>
            <a:r>
              <a:rPr sz="1614" b="0">
                <a:solidFill>
                  <a:srgbClr val="1F232B"/>
                </a:solidFill>
                <a:latin typeface="Calibri"/>
              </a:rPr>
              <a:t> — yangi loyiha; </a:t>
            </a:r>
            <a:r>
              <a:rPr sz="1485" b="0">
                <a:solidFill>
                  <a:srgbClr val="B02A4A"/>
                </a:solidFill>
                <a:latin typeface="Consolas"/>
              </a:rPr>
              <a:t>makemigrations</a:t>
            </a:r>
            <a:r>
              <a:rPr sz="1614" b="0">
                <a:solidFill>
                  <a:srgbClr val="1F232B"/>
                </a:solidFill>
                <a:latin typeface="Calibri"/>
              </a:rPr>
              <a:t> — ish rejasini yozish; </a:t>
            </a:r>
            <a:r>
              <a:rPr sz="1485" b="0">
                <a:solidFill>
                  <a:srgbClr val="B02A4A"/>
                </a:solidFill>
                <a:latin typeface="Consolas"/>
              </a:rPr>
              <a:t>migrate</a:t>
            </a:r>
            <a:r>
              <a:rPr sz="1614" b="0">
                <a:solidFill>
                  <a:srgbClr val="1F232B"/>
                </a:solidFill>
                <a:latin typeface="Calibri"/>
              </a:rPr>
              <a:t> — rejani bajarish. Migratsiyalar — o'zgarishlar tarixi (Git kabi!)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78849"/>
            <a:ext cx="10680192" cy="324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00" b="0">
                <a:solidFill>
                  <a:srgbClr val="1F232B"/>
                </a:solidFill>
                <a:latin typeface="Calibri"/>
              </a:rPr>
              <a:t>pgAdmin'da: </a:t>
            </a:r>
            <a:r>
              <a:rPr sz="1564" b="0">
                <a:solidFill>
                  <a:srgbClr val="B02A4A"/>
                </a:solidFill>
                <a:latin typeface="Consolas"/>
              </a:rPr>
              <a:t>blog_kategoriya</a:t>
            </a:r>
            <a:r>
              <a:rPr sz="1700" b="0">
                <a:solidFill>
                  <a:srgbClr val="1F232B"/>
                </a:solidFill>
                <a:latin typeface="Calibri"/>
              </a:rPr>
              <a:t>, </a:t>
            </a:r>
            <a:r>
              <a:rPr sz="1564" b="0">
                <a:solidFill>
                  <a:srgbClr val="B02A4A"/>
                </a:solidFill>
                <a:latin typeface="Consolas"/>
              </a:rPr>
              <a:t>blog_maqola</a:t>
            </a:r>
            <a:r>
              <a:rPr sz="1700" b="0">
                <a:solidFill>
                  <a:srgbClr val="1F232B"/>
                </a:solidFill>
                <a:latin typeface="Calibri"/>
              </a:rPr>
              <a:t> (</a:t>
            </a:r>
            <a:r>
              <a:rPr sz="1564" b="0">
                <a:solidFill>
                  <a:srgbClr val="B02A4A"/>
                </a:solidFill>
                <a:latin typeface="Consolas"/>
              </a:rPr>
              <a:t>kategoriya_id</a:t>
            </a:r>
            <a:r>
              <a:rPr sz="1700" b="0">
                <a:solidFill>
                  <a:srgbClr val="1F232B"/>
                </a:solidFill>
                <a:latin typeface="Calibri"/>
              </a:rPr>
              <a:t>, </a:t>
            </a:r>
            <a:r>
              <a:rPr sz="1564" b="0">
                <a:solidFill>
                  <a:srgbClr val="B02A4A"/>
                </a:solidFill>
                <a:latin typeface="Consolas"/>
              </a:rPr>
              <a:t>muallif_id</a:t>
            </a:r>
            <a:r>
              <a:rPr sz="1700" b="0">
                <a:solidFill>
                  <a:srgbClr val="1F232B"/>
                </a:solidFill>
                <a:latin typeface="Calibri"/>
              </a:rPr>
              <a:t> FK)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17600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513316"/>
            <a:ext cx="11091672" cy="512413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513316"/>
            <a:ext cx="82296" cy="51241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04756"/>
            <a:ext cx="10725912" cy="34782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614" b="0">
                <a:solidFill>
                  <a:srgbClr val="1F232B"/>
                </a:solidFill>
                <a:latin typeface="Calibri"/>
              </a:rPr>
              <a:t>⚠️ </a:t>
            </a:r>
            <a:r>
              <a:rPr sz="1614" b="0">
                <a:solidFill>
                  <a:srgbClr val="1F232B"/>
                </a:solidFill>
                <a:latin typeface="Calibri"/>
              </a:rPr>
              <a:t>Har </a:t>
            </a:r>
            <a:r>
              <a:rPr sz="1485" b="0">
                <a:solidFill>
                  <a:srgbClr val="B02A4A"/>
                </a:solidFill>
                <a:latin typeface="Consolas"/>
              </a:rPr>
              <a:t>models.py</a:t>
            </a:r>
            <a:r>
              <a:rPr sz="1614" b="0">
                <a:solidFill>
                  <a:srgbClr val="1F232B"/>
                </a:solidFill>
                <a:latin typeface="Calibri"/>
              </a:rPr>
              <a:t> o'zgarishidan keyin — </a:t>
            </a:r>
            <a:r>
              <a:rPr sz="1614" b="1">
                <a:solidFill>
                  <a:srgbClr val="1F232B"/>
                </a:solidFill>
                <a:latin typeface="Calibri"/>
              </a:rPr>
              <a:t>makemigrations + migrate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ORM: Create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5724"/>
            <a:ext cx="11091672" cy="894892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058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4908"/>
            <a:ext cx="10725912" cy="5474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python manage.py createsuperuser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python manage.py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0073"/>
            <a:ext cx="11091672" cy="34027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2493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9257"/>
            <a:ext cx="10725912" cy="30553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blog.models </a:t>
            </a: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Kategoriya, Maqola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from</a:t>
            </a:r>
            <a:r>
              <a:rPr sz="1360" b="0">
                <a:solidFill>
                  <a:srgbClr val="E6E6E6"/>
                </a:solidFill>
                <a:latin typeface="Consolas"/>
              </a:rPr>
              <a:t> django.contrib.auth.models </a:t>
            </a:r>
            <a:r>
              <a:rPr sz="136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360" b="0">
                <a:solidFill>
                  <a:srgbClr val="E6E6E6"/>
                </a:solidFill>
                <a:latin typeface="Consolas"/>
              </a:rPr>
              <a:t> User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admin = User.objects.first()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sport = Kategoriya.objects.create(nomi=</a:t>
            </a:r>
            <a:r>
              <a:rPr sz="1360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360" b="0">
                <a:solidFill>
                  <a:srgbClr val="E6E6E6"/>
                </a:solidFill>
                <a:latin typeface="Consolas"/>
              </a:rPr>
              <a:t>, slug=</a:t>
            </a:r>
            <a:r>
              <a:rPr sz="1360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 = Maqola.objects.create(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sarlavha=</a:t>
            </a:r>
            <a:r>
              <a:rPr sz="1360" b="0">
                <a:solidFill>
                  <a:srgbClr val="98C379"/>
                </a:solidFill>
                <a:latin typeface="Consolas"/>
              </a:rPr>
              <a:t>"Futbol bo'yicha g'alaba"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matn=</a:t>
            </a:r>
            <a:r>
              <a:rPr sz="1360" b="0">
                <a:solidFill>
                  <a:srgbClr val="98C379"/>
                </a:solidFill>
                <a:latin typeface="Consolas"/>
              </a:rPr>
              <a:t>"Maktabimiz jamoasi shahar chempionatida g'olib bo'ldi!"</a:t>
            </a:r>
            <a:r>
              <a:rPr sz="1360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kategoriya=sport,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muallif=admin,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print</a:t>
            </a:r>
            <a:r>
              <a:rPr sz="1360" b="0">
                <a:solidFill>
                  <a:srgbClr val="E6E6E6"/>
                </a:solidFill>
                <a:latin typeface="Consolas"/>
              </a:rPr>
              <a:t>(m.id, m.yaratilgan)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ORM: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28519"/>
            <a:ext cx="11091672" cy="410116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33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7703"/>
            <a:ext cx="10725912" cy="375369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Maqola.objects.all()                                  # barchasi (QuerySet)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Maqola.objects.count()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Maqola.objects.get(id=1)                              # aynan bittasi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Maqola.objects.filter(chop_etilgan=</a:t>
            </a:r>
            <a:r>
              <a:rPr sz="1820" b="0">
                <a:solidFill>
                  <a:srgbClr val="C678DD"/>
                </a:solidFill>
                <a:latin typeface="Consolas"/>
              </a:rPr>
              <a:t>True</a:t>
            </a:r>
            <a:r>
              <a:rPr sz="182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Maqola.objects.filter(kategoriya__slug=</a:t>
            </a:r>
            <a:r>
              <a:rPr sz="1820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820" b="0">
                <a:solidFill>
                  <a:srgbClr val="E6E6E6"/>
                </a:solidFill>
                <a:latin typeface="Consolas"/>
              </a:rPr>
              <a:t>)       # JOIN!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Maqola.objects.filter(sarlavha__icontains=</a:t>
            </a:r>
            <a:r>
              <a:rPr sz="1820" b="0">
                <a:solidFill>
                  <a:srgbClr val="98C379"/>
                </a:solidFill>
                <a:latin typeface="Consolas"/>
              </a:rPr>
              <a:t>"futbol"</a:t>
            </a:r>
            <a:r>
              <a:rPr sz="1820" b="0">
                <a:solidFill>
                  <a:srgbClr val="E6E6E6"/>
                </a:solidFill>
                <a:latin typeface="Consolas"/>
              </a:rPr>
              <a:t>)   # ILIKE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Maqola.objects.filter(korishlar__gte=100)             # &gt;= 100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Maqola.objects.exclude(chop_etilgan=</a:t>
            </a:r>
            <a:r>
              <a:rPr sz="1820" b="0">
                <a:solidFill>
                  <a:srgbClr val="C678DD"/>
                </a:solidFill>
                <a:latin typeface="Consolas"/>
              </a:rPr>
              <a:t>False</a:t>
            </a:r>
            <a:r>
              <a:rPr sz="1820" b="0">
                <a:solidFill>
                  <a:srgbClr val="E6E6E6"/>
                </a:solidFill>
                <a:latin typeface="Consolas"/>
              </a:rPr>
              <a:t>)            # NOT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Maqola.objects.order_by(</a:t>
            </a:r>
            <a:r>
              <a:rPr sz="1820" b="0">
                <a:solidFill>
                  <a:srgbClr val="98C379"/>
                </a:solidFill>
                <a:latin typeface="Consolas"/>
              </a:rPr>
              <a:t>"-korishlar"</a:t>
            </a:r>
            <a:r>
              <a:rPr sz="1820" b="0">
                <a:solidFill>
                  <a:srgbClr val="E6E6E6"/>
                </a:solidFill>
                <a:latin typeface="Consolas"/>
              </a:rPr>
              <a:t>)[:5]             # DESC LIMIT 5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m.kategoriya.nomi          # FK orqali bog'langan obyekt</a:t>
            </a:r>
          </a:p>
          <a:p>
            <a:pPr>
              <a:lnSpc>
                <a:spcPct val="100000"/>
              </a:lnSpc>
            </a:pPr>
            <a:r>
              <a:rPr sz="1820" b="0">
                <a:solidFill>
                  <a:srgbClr val="E6E6E6"/>
                </a:solidFill>
                <a:latin typeface="Consolas"/>
              </a:rPr>
              <a:t>sport.maqolalar.all()      # teskari yo'nalish (related_name)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Lookup'lar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3557"/>
          <a:ext cx="11091672" cy="401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maydon=x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= x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__gt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__gte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__lt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__lte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&gt;=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__contains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__icontains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LIKE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ILIKE '%x%'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__startswith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LIKE 'x%'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__in=[1, 2]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 (1, 2)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__isnull=True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IS NULL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fk__maydon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JOIN orqali bog'langan ustun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Update, Delete va agregatsiya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8630"/>
            <a:ext cx="11091672" cy="320572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349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7814"/>
            <a:ext cx="10725912" cy="285825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 = Maqola.objects.get(id=1)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m.sarlavha = </a:t>
            </a:r>
            <a:r>
              <a:rPr sz="1500" b="0">
                <a:solidFill>
                  <a:srgbClr val="98C379"/>
                </a:solidFill>
                <a:latin typeface="Consolas"/>
              </a:rPr>
              <a:t>"Futbol: shahar chempionlari!"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m.save()                                                                   # UPDATE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Maqola.objects.filter(kategoriya__slug=</a:t>
            </a:r>
            <a:r>
              <a:rPr sz="1500" b="0">
                <a:solidFill>
                  <a:srgbClr val="98C379"/>
                </a:solidFill>
                <a:latin typeface="Consolas"/>
              </a:rPr>
              <a:t>"sport"</a:t>
            </a:r>
            <a:r>
              <a:rPr sz="1500" b="0">
                <a:solidFill>
                  <a:srgbClr val="E6E6E6"/>
                </a:solidFill>
                <a:latin typeface="Consolas"/>
              </a:rPr>
              <a:t>).update(chop_etilgan=</a:t>
            </a:r>
            <a:r>
              <a:rPr sz="1500" b="0">
                <a:solidFill>
                  <a:srgbClr val="C678DD"/>
                </a:solidFill>
                <a:latin typeface="Consolas"/>
              </a:rPr>
              <a:t>False</a:t>
            </a:r>
            <a:r>
              <a:rPr sz="1500" b="0">
                <a:solidFill>
                  <a:srgbClr val="E6E6E6"/>
                </a:solidFill>
                <a:latin typeface="Consolas"/>
              </a:rPr>
              <a:t>) # ko'pini birdan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Maqola.objects.get(id=2).delete()                                          # DELETE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C678DD"/>
                </a:solidFill>
                <a:latin typeface="Consolas"/>
              </a:rPr>
              <a:t>from</a:t>
            </a:r>
            <a:r>
              <a:rPr sz="1500" b="0">
                <a:solidFill>
                  <a:srgbClr val="E6E6E6"/>
                </a:solidFill>
                <a:latin typeface="Consolas"/>
              </a:rPr>
              <a:t> django.db.models </a:t>
            </a:r>
            <a:r>
              <a:rPr sz="150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500" b="0">
                <a:solidFill>
                  <a:srgbClr val="E6E6E6"/>
                </a:solidFill>
                <a:latin typeface="Consolas"/>
              </a:rPr>
              <a:t> Count, Sum, Avg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Maqola.objects.aggregate(jami=Sum(</a:t>
            </a:r>
            <a:r>
              <a:rPr sz="1500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500" b="0">
                <a:solidFill>
                  <a:srgbClr val="E6E6E6"/>
                </a:solidFill>
                <a:latin typeface="Consolas"/>
              </a:rPr>
              <a:t>), ortacha=Avg(</a:t>
            </a:r>
            <a:r>
              <a:rPr sz="1500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500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C678DD"/>
                </a:solidFill>
                <a:latin typeface="Consolas"/>
              </a:rPr>
              <a:t>for</a:t>
            </a:r>
            <a:r>
              <a:rPr sz="1500" b="0">
                <a:solidFill>
                  <a:srgbClr val="E6E6E6"/>
                </a:solidFill>
                <a:latin typeface="Consolas"/>
              </a:rPr>
              <a:t> k </a:t>
            </a:r>
            <a:r>
              <a:rPr sz="1500" b="0">
                <a:solidFill>
                  <a:srgbClr val="C678DD"/>
                </a:solidFill>
                <a:latin typeface="Consolas"/>
              </a:rPr>
              <a:t>in</a:t>
            </a:r>
            <a:r>
              <a:rPr sz="1500" b="0">
                <a:solidFill>
                  <a:srgbClr val="E6E6E6"/>
                </a:solidFill>
                <a:latin typeface="Consolas"/>
              </a:rPr>
              <a:t> Kategoriya.objects.annotate(soni=Count(</a:t>
            </a:r>
            <a:r>
              <a:rPr sz="1500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500" b="0">
                <a:solidFill>
                  <a:srgbClr val="E6E6E6"/>
                </a:solidFill>
                <a:latin typeface="Consolas"/>
              </a:rPr>
              <a:t>)):            # GROUP BY</a:t>
            </a:r>
          </a:p>
          <a:p>
            <a:pPr>
              <a:lnSpc>
                <a:spcPct val="100000"/>
              </a:lnSpc>
            </a:pPr>
            <a:r>
              <a:rPr sz="1500" b="0">
                <a:solidFill>
                  <a:srgbClr val="E6E6E6"/>
                </a:solidFill>
                <a:latin typeface="Consolas"/>
              </a:rPr>
              <a:t>    </a:t>
            </a:r>
            <a:r>
              <a:rPr sz="1500" b="0">
                <a:solidFill>
                  <a:srgbClr val="C678DD"/>
                </a:solidFill>
                <a:latin typeface="Consolas"/>
              </a:rPr>
              <a:t>print</a:t>
            </a:r>
            <a:r>
              <a:rPr sz="1500" b="0">
                <a:solidFill>
                  <a:srgbClr val="E6E6E6"/>
                </a:solidFill>
                <a:latin typeface="Consolas"/>
              </a:rPr>
              <a:t>(k.nomi, k.soni)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038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QuerySet </a:t>
            </a:r>
            <a:r>
              <a:rPr sz="2800" b="1">
                <a:solidFill>
                  <a:srgbClr val="1F232B"/>
                </a:solidFill>
                <a:latin typeface="Calibri"/>
              </a:rPr>
              <a:t>"dangasa"</a:t>
            </a:r>
            <a:r>
              <a:rPr sz="2800" b="0">
                <a:solidFill>
                  <a:srgbClr val="1F232B"/>
                </a:solidFill>
                <a:latin typeface="Calibri"/>
              </a:rPr>
              <a:t>: SQL faqat natija kerak bo'lganda yuboriladi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1638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View'larni bazaga ulash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3468"/>
            <a:ext cx="11091672" cy="412095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833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blog/views.py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2652"/>
            <a:ext cx="10725912" cy="37734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django.shortcuts </a:t>
            </a: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render, get_object_or_404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django.db.models </a:t>
            </a: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Q, F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.models </a:t>
            </a: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Maqola, Kategoriya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bosh_sahifa(request):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maqolalar = Maqola.objects.filter(chop_etilgan=</a:t>
            </a:r>
            <a:r>
              <a:rPr sz="1292" b="0">
                <a:solidFill>
                  <a:srgbClr val="C678DD"/>
                </a:solidFill>
                <a:latin typeface="Consolas"/>
              </a:rPr>
              <a:t>True</a:t>
            </a:r>
            <a:r>
              <a:rPr sz="1292" b="0">
                <a:solidFill>
                  <a:srgbClr val="E6E6E6"/>
                </a:solidFill>
                <a:latin typeface="Consolas"/>
              </a:rPr>
              <a:t>).select_related(</a:t>
            </a:r>
            <a:r>
              <a:rPr sz="1292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"muallif"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292" b="0">
                <a:solidFill>
                  <a:srgbClr val="98C379"/>
                </a:solidFill>
                <a:latin typeface="Consolas"/>
              </a:rPr>
              <a:t>"blog/bosh_sahifa.html"</a:t>
            </a:r>
            <a:r>
              <a:rPr sz="1292" b="0">
                <a:solidFill>
                  <a:srgbClr val="E6E6E6"/>
                </a:solidFill>
                <a:latin typeface="Consolas"/>
              </a:rPr>
              <a:t>, {</a:t>
            </a:r>
            <a:r>
              <a:rPr sz="1292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292" b="0">
                <a:solidFill>
                  <a:srgbClr val="E6E6E6"/>
                </a:solidFill>
                <a:latin typeface="Consolas"/>
              </a:rPr>
              <a:t>: maqolalar})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maqola(request, id):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m = get_object_or_404(Maqola, id=id, chop_etilgan=</a:t>
            </a:r>
            <a:r>
              <a:rPr sz="1292" b="0">
                <a:solidFill>
                  <a:srgbClr val="C678DD"/>
                </a:solidFill>
                <a:latin typeface="Consolas"/>
              </a:rPr>
              <a:t>True</a:t>
            </a:r>
            <a:r>
              <a:rPr sz="1292" b="0">
                <a:solidFill>
                  <a:srgbClr val="E6E6E6"/>
                </a:solidFill>
                <a:latin typeface="Consolas"/>
              </a:rPr>
              <a:t>)        # topilmasa — 404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Maqola.objects.filter(id=m.id).update(korishlar=F(</a:t>
            </a:r>
            <a:r>
              <a:rPr sz="1292" b="0">
                <a:solidFill>
                  <a:srgbClr val="98C379"/>
                </a:solidFill>
                <a:latin typeface="Consolas"/>
              </a:rPr>
              <a:t>"korishlar"</a:t>
            </a:r>
            <a:r>
              <a:rPr sz="1292" b="0">
                <a:solidFill>
                  <a:srgbClr val="E6E6E6"/>
                </a:solidFill>
                <a:latin typeface="Consolas"/>
              </a:rPr>
              <a:t>) + 1)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292" b="0">
                <a:solidFill>
                  <a:srgbClr val="98C379"/>
                </a:solidFill>
                <a:latin typeface="Consolas"/>
              </a:rPr>
              <a:t>"blog/maqola.html"</a:t>
            </a:r>
            <a:r>
              <a:rPr sz="1292" b="0">
                <a:solidFill>
                  <a:srgbClr val="E6E6E6"/>
                </a:solidFill>
                <a:latin typeface="Consolas"/>
              </a:rPr>
              <a:t>, {</a:t>
            </a:r>
            <a:r>
              <a:rPr sz="1292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292" b="0">
                <a:solidFill>
                  <a:srgbClr val="E6E6E6"/>
                </a:solidFill>
                <a:latin typeface="Consolas"/>
              </a:rPr>
              <a:t>: m})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qidiruv(request):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q = request.GET.get(</a:t>
            </a:r>
            <a:r>
              <a:rPr sz="1292" b="0">
                <a:solidFill>
                  <a:srgbClr val="98C379"/>
                </a:solidFill>
                <a:latin typeface="Consolas"/>
              </a:rPr>
              <a:t>"q"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""</a:t>
            </a:r>
            <a:r>
              <a:rPr sz="1292" b="0">
                <a:solidFill>
                  <a:srgbClr val="E6E6E6"/>
                </a:solidFill>
                <a:latin typeface="Consolas"/>
              </a:rPr>
              <a:t>).strip()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natija = Maqola.objects.filter(Q(sarlavha__icontains=q) | Q(matn__icontains=q))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q </a:t>
            </a:r>
            <a:r>
              <a:rPr sz="1292" b="0">
                <a:solidFill>
                  <a:srgbClr val="C678DD"/>
                </a:solidFill>
                <a:latin typeface="Consolas"/>
              </a:rPr>
              <a:t>else</a:t>
            </a:r>
            <a:r>
              <a:rPr sz="1292" b="0">
                <a:solidFill>
                  <a:srgbClr val="E6E6E6"/>
                </a:solidFill>
                <a:latin typeface="Consolas"/>
              </a:rPr>
              <a:t> []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292" b="0">
                <a:solidFill>
                  <a:srgbClr val="98C379"/>
                </a:solidFill>
                <a:latin typeface="Consolas"/>
              </a:rPr>
              <a:t>"blog/qidiruv.html"</a:t>
            </a:r>
            <a:r>
              <a:rPr sz="1292" b="0">
                <a:solidFill>
                  <a:srgbClr val="E6E6E6"/>
                </a:solidFill>
                <a:latin typeface="Consolas"/>
              </a:rPr>
              <a:t>, {</a:t>
            </a:r>
            <a:r>
              <a:rPr sz="1292" b="0">
                <a:solidFill>
                  <a:srgbClr val="98C379"/>
                </a:solidFill>
                <a:latin typeface="Consolas"/>
              </a:rPr>
              <a:t>"q"</a:t>
            </a:r>
            <a:r>
              <a:rPr sz="1292" b="0">
                <a:solidFill>
                  <a:srgbClr val="E6E6E6"/>
                </a:solidFill>
                <a:latin typeface="Consolas"/>
              </a:rPr>
              <a:t>: q, </a:t>
            </a:r>
            <a:r>
              <a:rPr sz="1292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292" b="0">
                <a:solidFill>
                  <a:srgbClr val="E6E6E6"/>
                </a:solidFill>
                <a:latin typeface="Consolas"/>
              </a:rPr>
              <a:t>: natija})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783881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select_related</a:t>
            </a:r>
            <a:r>
              <a:rPr sz="1900" b="0">
                <a:solidFill>
                  <a:srgbClr val="1F232B"/>
                </a:solidFill>
                <a:latin typeface="Calibri"/>
              </a:rPr>
              <a:t> — bitta JOIN bilan; usiz "N+1 muammosi" (10 maqola = 21 so'rov)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89246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Shablon — model atributlari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33790"/>
            <a:ext cx="11091672" cy="178532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865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blog/_karta.html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2974"/>
            <a:ext cx="10725912" cy="143785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38" b="0">
                <a:solidFill>
                  <a:srgbClr val="E06C75"/>
                </a:solidFill>
                <a:latin typeface="Consolas"/>
              </a:rPr>
              <a:t>&lt;article</a:t>
            </a:r>
            <a:r>
              <a:rPr sz="1338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338" b="0">
                <a:solidFill>
                  <a:srgbClr val="98C379"/>
                </a:solidFill>
                <a:latin typeface="Consolas"/>
              </a:rPr>
              <a:t>"karta"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6E6E6"/>
                </a:solidFill>
                <a:latin typeface="Consolas"/>
              </a:rPr>
              <a:t>  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&lt;span</a:t>
            </a:r>
            <a:r>
              <a:rPr sz="1338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338" b="0">
                <a:solidFill>
                  <a:srgbClr val="98C379"/>
                </a:solidFill>
                <a:latin typeface="Consolas"/>
              </a:rPr>
              <a:t>"belgi"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m.kategoriya.nomi }}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&lt;/span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6E6E6"/>
                </a:solidFill>
                <a:latin typeface="Consolas"/>
              </a:rPr>
              <a:t>  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&lt;h3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&lt;a</a:t>
            </a:r>
            <a:r>
              <a:rPr sz="1338" b="0">
                <a:solidFill>
                  <a:srgbClr val="E6E6E6"/>
                </a:solidFill>
                <a:latin typeface="Consolas"/>
              </a:rPr>
              <a:t> href=</a:t>
            </a:r>
            <a:r>
              <a:rPr sz="1338" b="0">
                <a:solidFill>
                  <a:srgbClr val="98C379"/>
                </a:solidFill>
                <a:latin typeface="Consolas"/>
              </a:rPr>
              <a:t>"{{ m.get_absolute_url }}"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m.sarlavha }}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&lt;/a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&lt;/h3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6E6E6"/>
                </a:solidFill>
                <a:latin typeface="Consolas"/>
              </a:rPr>
              <a:t>  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&lt;p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m.matn|truncatewords:20 }}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&lt;/p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6E6E6"/>
                </a:solidFill>
                <a:latin typeface="Consolas"/>
              </a:rPr>
              <a:t>  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&lt;small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  <a:r>
              <a:rPr sz="1338" b="0">
                <a:solidFill>
                  <a:srgbClr val="E6E6E6"/>
                </a:solidFill>
                <a:latin typeface="Consolas"/>
              </a:rPr>
              <a:t>✍️ 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m.muallif.username }}</a:t>
            </a:r>
            <a:r>
              <a:rPr sz="1338" b="0">
                <a:solidFill>
                  <a:srgbClr val="E6E6E6"/>
                </a:solidFill>
                <a:latin typeface="Consolas"/>
              </a:rPr>
              <a:t> · 📅 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m.yaratilgan|date:"d.m.Y" }}</a:t>
            </a:r>
            <a:r>
              <a:rPr sz="1338" b="0">
                <a:solidFill>
                  <a:srgbClr val="E6E6E6"/>
                </a:solidFill>
                <a:latin typeface="Consolas"/>
              </a:rPr>
              <a:t> · 👁 </a:t>
            </a:r>
            <a:r>
              <a:rPr sz="1338" b="0">
                <a:solidFill>
                  <a:srgbClr val="E06C75"/>
                </a:solidFill>
                <a:latin typeface="Consolas"/>
              </a:rPr>
              <a:t>{{ m.korishlar }}</a:t>
            </a:r>
            <a:r>
              <a:rPr sz="1338" b="0">
                <a:solidFill>
                  <a:srgbClr val="E06C75"/>
                </a:solidFill>
                <a:latin typeface="Consolas"/>
              </a:rPr>
              <a:t>&lt;/small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338" b="0">
                <a:solidFill>
                  <a:srgbClr val="E06C75"/>
                </a:solidFill>
                <a:latin typeface="Consolas"/>
              </a:rPr>
              <a:t>&lt;/article</a:t>
            </a:r>
            <a:r>
              <a:rPr sz="1338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Kategoriya</a:t>
            </a:r>
            <a:r>
              <a:rPr sz="2200" b="0">
                <a:solidFill>
                  <a:srgbClr val="1F232B"/>
                </a:solidFill>
                <a:latin typeface="Calibri"/>
              </a:rPr>
              <a:t> va </a:t>
            </a:r>
            <a:r>
              <a:rPr sz="2024" b="0">
                <a:solidFill>
                  <a:srgbClr val="B02A4A"/>
                </a:solidFill>
                <a:latin typeface="Consolas"/>
              </a:rPr>
              <a:t>Maqola</a:t>
            </a:r>
            <a:r>
              <a:rPr sz="2200" b="0">
                <a:solidFill>
                  <a:srgbClr val="1F232B"/>
                </a:solidFill>
                <a:latin typeface="Calibri"/>
              </a:rPr>
              <a:t> modellari → </a:t>
            </a:r>
            <a:r>
              <a:rPr sz="2024" b="0">
                <a:solidFill>
                  <a:srgbClr val="B02A4A"/>
                </a:solidFill>
                <a:latin typeface="Consolas"/>
              </a:rPr>
              <a:t>makemigrations</a:t>
            </a:r>
            <a:r>
              <a:rPr sz="2200" b="0">
                <a:solidFill>
                  <a:srgbClr val="1F232B"/>
                </a:solidFill>
                <a:latin typeface="Calibri"/>
              </a:rPr>
              <a:t> + </a:t>
            </a:r>
            <a:r>
              <a:rPr sz="2024" b="0">
                <a:solidFill>
                  <a:srgbClr val="B02A4A"/>
                </a:solidFill>
                <a:latin typeface="Consolas"/>
              </a:rPr>
              <a:t>migrate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createsuperuser</a:t>
            </a:r>
            <a:r>
              <a:rPr sz="2200" b="0">
                <a:solidFill>
                  <a:srgbClr val="1F232B"/>
                </a:solidFill>
                <a:latin typeface="Calibri"/>
              </a:rPr>
              <a:t>; shell'da 3 kategoriya va 6 maqola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ORM mashqlari: sport maqolalari, "maktab" so'zi borlar, top-3 ko'rilgan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View'larni bazaga ulang; </a:t>
            </a:r>
            <a:r>
              <a:rPr sz="2024" b="0">
                <a:solidFill>
                  <a:srgbClr val="B02A4A"/>
                </a:solidFill>
                <a:latin typeface="Consolas"/>
              </a:rPr>
              <a:t>kategoriya.html</a:t>
            </a:r>
            <a:r>
              <a:rPr sz="2200" b="0">
                <a:solidFill>
                  <a:srgbClr val="1F232B"/>
                </a:solidFill>
                <a:latin typeface="Calibri"/>
              </a:rPr>
              <a:t>, </a:t>
            </a:r>
            <a:r>
              <a:rPr sz="2024" b="0">
                <a:solidFill>
                  <a:srgbClr val="B02A4A"/>
                </a:solidFill>
                <a:latin typeface="Consolas"/>
              </a:rPr>
              <a:t>qidiruv.html</a:t>
            </a:r>
            <a:r>
              <a:rPr sz="2200" b="0">
                <a:solidFill>
                  <a:srgbClr val="1F232B"/>
                </a:solidFill>
                <a:latin typeface="Calibri"/>
              </a:rPr>
              <a:t> + qidiruv formasi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Bosh sahifada kategoriyalar va maqolalar soni (</a:t>
            </a:r>
            <a:r>
              <a:rPr sz="2024" b="0">
                <a:solidFill>
                  <a:srgbClr val="B02A4A"/>
                </a:solidFill>
                <a:latin typeface="Consolas"/>
              </a:rPr>
              <a:t>annotate(Count(...))</a:t>
            </a:r>
            <a:r>
              <a:rPr sz="22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8082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rasm = models.ImageField(upload_to="maqolalar/", blank=True)</a:t>
            </a:r>
            <a:r>
              <a:rPr sz="2200" b="0">
                <a:solidFill>
                  <a:srgbClr val="1F232B"/>
                </a:solidFill>
                <a:latin typeface="Calibri"/>
              </a:rPr>
              <a:t> + </a:t>
            </a:r>
            <a:r>
              <a:rPr sz="2024" b="0">
                <a:solidFill>
                  <a:srgbClr val="B02A4A"/>
                </a:solidFill>
                <a:latin typeface="Consolas"/>
              </a:rPr>
              <a:t>MEDIA_URL</a:t>
            </a:r>
            <a:r>
              <a:rPr sz="2200" b="0">
                <a:solidFill>
                  <a:srgbClr val="1F232B"/>
                </a:solidFill>
                <a:latin typeface="Calibri"/>
              </a:rPr>
              <a:t>, </a:t>
            </a:r>
            <a:r>
              <a:rPr sz="2024" b="0">
                <a:solidFill>
                  <a:srgbClr val="B02A4A"/>
                </a:solidFill>
                <a:latin typeface="Consolas"/>
              </a:rPr>
              <a:t>MEDIA_ROOT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relation "blog_maqola" does not exist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migrate</a:t>
            </a:r>
            <a:r>
              <a:rPr sz="2800" b="0">
                <a:solidFill>
                  <a:srgbClr val="1F232B"/>
                </a:solidFill>
                <a:latin typeface="Calibri"/>
              </a:rPr>
              <a:t> bajarilmagan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No changes detected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ilova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INSTALLED_APPS</a:t>
            </a:r>
            <a:r>
              <a:rPr sz="2800" b="0">
                <a:solidFill>
                  <a:srgbClr val="1F232B"/>
                </a:solidFill>
                <a:latin typeface="Calibri"/>
              </a:rPr>
              <a:t> da yo'q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Maqola matching query does not exist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get_object_or_404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get() returned more than one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ko'p natija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filter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Yangi majburiy maydon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default=...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null=True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ORM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 bazasi turi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Jadvallar bilan klass va obyektlar orqali ishlash texnologiyasi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shablon tili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 dasturi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ORM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 bazasi turi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Jadvallar bilan klass va obyektlar orqali ishlash texnologiyasi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shablon tili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 dasturi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Modelni o'zgartirgandan keyin bajariladigan ikki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runserver va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startapp va migrate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makemigrations va migrate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createsuperuser va collectstatic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Modelni o'zgartirgandan keyin bajariladigan ikki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runserver va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startapp va migrate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makemigrations va migrate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createsuperuser va collectstatic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Sarlavhasida "olimpiada" bor maqolalar (katta-kichik harfga qaramay)?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Maqola.objects.get(sarlavha="olimpiada")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Maqola.objects.all("olimpiada")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.filter(sarlavha="%olimpiada%")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.filter(sarlavha__icontains="olimpiada")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Sarlavhasida "olimpiada" bor maqolalar (katta-kichik harfga qaramay)?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Maqola.objects.get(sarlavha="olimpiada")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Maqola.objects.all("olimpiada")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.filter(sarlavha="%olimpiada%")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.filter(sarlavha__icontains="olimpiada")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Obyekt topilmasa avtomatik 404 qaytaruvchi funksiya?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Maqola.objects.get()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get_object_or_404()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find_or_404()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Http404()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Obyekt topilmasa avtomatik 404 qaytaruvchi funksiya?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Maqola.objects.get()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get_object_or_404()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find_or_404()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Http404()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Kutubxona (22-loyiha):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Muallif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Kitob</a:t>
            </a:r>
            <a:r>
              <a:rPr sz="2800" b="0">
                <a:solidFill>
                  <a:srgbClr val="1F232B"/>
                </a:solidFill>
                <a:latin typeface="Calibri"/>
              </a:rPr>
              <a:t> (FK, janr — choices), </a:t>
            </a:r>
            <a:r>
              <a:rPr sz="2576" b="0">
                <a:solidFill>
                  <a:srgbClr val="B02A4A"/>
                </a:solidFill>
                <a:latin typeface="Consolas"/>
              </a:rPr>
              <a:t>Oquvchi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modellari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Teglar: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Teg</a:t>
            </a:r>
            <a:r>
              <a:rPr sz="2800" b="0">
                <a:solidFill>
                  <a:srgbClr val="1F232B"/>
                </a:solidFill>
                <a:latin typeface="Calibri"/>
              </a:rPr>
              <a:t> modeli + </a:t>
            </a:r>
            <a:r>
              <a:rPr sz="2576" b="0">
                <a:solidFill>
                  <a:srgbClr val="B02A4A"/>
                </a:solidFill>
                <a:latin typeface="Consolas"/>
              </a:rPr>
              <a:t>Maqola.teglar = models.ManyToManyField(Teg, blank=True)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36-mavzu · Django Models va ORM texnologiyasi. Model yaratish va migratsiyalar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class X(models.Model)</a:t>
            </a:r>
            <a:r>
              <a:rPr sz="2800" b="0">
                <a:solidFill>
                  <a:srgbClr val="1F232B"/>
                </a:solidFill>
                <a:latin typeface="Calibri"/>
              </a:rPr>
              <a:t>; maydonlar — ustunlar; </a:t>
            </a:r>
            <a:r>
              <a:rPr sz="2576" b="0">
                <a:solidFill>
                  <a:srgbClr val="B02A4A"/>
                </a:solidFill>
                <a:latin typeface="Consolas"/>
              </a:rPr>
              <a:t>__str__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Meta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get_absolute_url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ForeignKey(..., on_delete=..., related_name=...)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ManyToManyField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makemigrations → migrate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create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all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filter(maydon__lookup=...)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order_by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save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delete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annotate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View'larda </a:t>
            </a:r>
            <a:r>
              <a:rPr sz="2576" b="0">
                <a:solidFill>
                  <a:srgbClr val="B02A4A"/>
                </a:solidFill>
                <a:latin typeface="Consolas"/>
              </a:rPr>
              <a:t>get_object_or_404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select_related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37. Django Admin panel bilan ishlash. Django Forms yordamida ma'lumotlarni qabul qilish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36-mavzu: Django Models va ORM texnologiyasi. Model yaratish va migratsiyalar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