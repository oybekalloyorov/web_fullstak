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SELECT.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Jadvaldagi BARCHA qatorlarni o'chiradi.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WHERE email IS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ORDER BY ... DESC.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✏️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28-MAVZU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Ma'lumotlarni qo'shish, ko'rish va saqlash. CRUD operatsiyalari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CRUD konsepsiyasi; INSERT bilan qo'shish, SELECT bilan o'qish (ustunlarni tanlash, WHERE, ORDER BY, LIMIT), UPDATE bilan yangilash, DELETE bilan o'chirish; WHERE'siz UPDATE/DELETE xavfi; o'quvchilar bazasi loyihasi.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CRUD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har qanday dasturning 4 asosiy amali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INSERT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qo'shish,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o'qish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UPDATE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o'zgartirish,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DELETE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o'chirish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Eng xavfli xato: </a:t>
            </a:r>
            <a:r>
              <a:rPr sz="2800" b="1">
                <a:solidFill>
                  <a:srgbClr val="1F232B"/>
                </a:solidFill>
                <a:latin typeface="Calibri"/>
              </a:rPr>
              <a:t>WHERE'siz</a:t>
            </a:r>
            <a:r>
              <a:rPr sz="2800" b="0">
                <a:solidFill>
                  <a:srgbClr val="1F232B"/>
                </a:solidFill>
                <a:latin typeface="Calibri"/>
              </a:rPr>
              <a:t> UPDATE/DELETE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O'quvchilar bazasi (18-loyiha)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CRUD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6006"/>
          <a:ext cx="11091672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Harf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Amal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Instagram'da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C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reate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Yaratish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INSERT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Post joylash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O'qish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Lentani ko'rish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U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pdate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Yangilash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UPDATE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Izohni tahrirlash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PUT/PATCH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O'chirish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Postni o'chirish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01618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27-mavzudagi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maktab</a:t>
            </a:r>
            <a:r>
              <a:rPr sz="2800" b="0">
                <a:solidFill>
                  <a:srgbClr val="1F232B"/>
                </a:solidFill>
                <a:latin typeface="Calibri"/>
              </a:rPr>
              <a:t> bazasi bilan ishlaymiz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17620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Create — INSERT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798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66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982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INSERT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INTO</a:t>
            </a:r>
            <a:r>
              <a:rPr sz="1632" b="0">
                <a:solidFill>
                  <a:srgbClr val="E6E6E6"/>
                </a:solidFill>
                <a:latin typeface="Consolas"/>
              </a:rPr>
              <a:t> sinflar (nomi, sinf_rahbari, xona)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VALUES</a:t>
            </a:r>
            <a:r>
              <a:rPr sz="1632" b="0">
                <a:solidFill>
                  <a:srgbClr val="E6E6E6"/>
                </a:solidFill>
                <a:latin typeface="Consolas"/>
              </a:rPr>
              <a:t> (</a:t>
            </a:r>
            <a:r>
              <a:rPr sz="1632" b="0">
                <a:solidFill>
                  <a:srgbClr val="98C379"/>
                </a:solidFill>
                <a:latin typeface="Consolas"/>
              </a:rPr>
              <a:t>'8-A'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'Karimova Nodira'</a:t>
            </a:r>
            <a:r>
              <a:rPr sz="1632" b="0">
                <a:solidFill>
                  <a:srgbClr val="E6E6E6"/>
                </a:solidFill>
                <a:latin typeface="Consolas"/>
              </a:rPr>
              <a:t>, 204);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INSERT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INTO</a:t>
            </a:r>
            <a:r>
              <a:rPr sz="1632" b="0">
                <a:solidFill>
                  <a:srgbClr val="E6E6E6"/>
                </a:solidFill>
                <a:latin typeface="Consolas"/>
              </a:rPr>
              <a:t> sinflar (nomi, sinf_rahbari, xona) </a:t>
            </a:r>
            <a:r>
              <a:rPr sz="1632" b="0">
                <a:solidFill>
                  <a:srgbClr val="C678DD"/>
                </a:solidFill>
                <a:latin typeface="Consolas"/>
              </a:rPr>
              <a:t>VALUES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'8-B'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'Rasulov Akmal'</a:t>
            </a:r>
            <a:r>
              <a:rPr sz="1632" b="0">
                <a:solidFill>
                  <a:srgbClr val="E6E6E6"/>
                </a:solidFill>
                <a:latin typeface="Consolas"/>
              </a:rPr>
              <a:t>, 206),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'8-V'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'Yusupova Malika'</a:t>
            </a:r>
            <a:r>
              <a:rPr sz="1632" b="0">
                <a:solidFill>
                  <a:srgbClr val="E6E6E6"/>
                </a:solidFill>
                <a:latin typeface="Consolas"/>
              </a:rPr>
              <a:t>, 210);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INSERT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INTO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oquvchilar (ism, familiya, tugilgan_sana, email, sinf_id) </a:t>
            </a:r>
            <a:r>
              <a:rPr sz="1632" b="0">
                <a:solidFill>
                  <a:srgbClr val="C678DD"/>
                </a:solidFill>
                <a:latin typeface="Consolas"/>
              </a:rPr>
              <a:t>VALUES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'Ali'</a:t>
            </a:r>
            <a:r>
              <a:rPr sz="1632" b="0">
                <a:solidFill>
                  <a:srgbClr val="E6E6E6"/>
                </a:solidFill>
                <a:latin typeface="Consolas"/>
              </a:rPr>
              <a:t>,    </a:t>
            </a:r>
            <a:r>
              <a:rPr sz="1632" b="0">
                <a:solidFill>
                  <a:srgbClr val="98C379"/>
                </a:solidFill>
                <a:latin typeface="Consolas"/>
              </a:rPr>
              <a:t>'Valiyev'</a:t>
            </a:r>
            <a:r>
              <a:rPr sz="1632" b="0">
                <a:solidFill>
                  <a:srgbClr val="E6E6E6"/>
                </a:solidFill>
                <a:latin typeface="Consolas"/>
              </a:rPr>
              <a:t>,   </a:t>
            </a:r>
            <a:r>
              <a:rPr sz="1632" b="0">
                <a:solidFill>
                  <a:srgbClr val="98C379"/>
                </a:solidFill>
                <a:latin typeface="Consolas"/>
              </a:rPr>
              <a:t>'2012-03-15'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'ali@mail.uz'</a:t>
            </a:r>
            <a:r>
              <a:rPr sz="1632" b="0">
                <a:solidFill>
                  <a:srgbClr val="E6E6E6"/>
                </a:solidFill>
                <a:latin typeface="Consolas"/>
              </a:rPr>
              <a:t>,    1),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'Zarina'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'Karimova'</a:t>
            </a:r>
            <a:r>
              <a:rPr sz="1632" b="0">
                <a:solidFill>
                  <a:srgbClr val="E6E6E6"/>
                </a:solidFill>
                <a:latin typeface="Consolas"/>
              </a:rPr>
              <a:t>,  </a:t>
            </a:r>
            <a:r>
              <a:rPr sz="1632" b="0">
                <a:solidFill>
                  <a:srgbClr val="98C379"/>
                </a:solidFill>
                <a:latin typeface="Consolas"/>
              </a:rPr>
              <a:t>'2012-07-02'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'zarina@mail.uz'</a:t>
            </a:r>
            <a:r>
              <a:rPr sz="1632" b="0">
                <a:solidFill>
                  <a:srgbClr val="E6E6E6"/>
                </a:solidFill>
                <a:latin typeface="Consolas"/>
              </a:rPr>
              <a:t>, 1),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'Sardor'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'Qodirov'</a:t>
            </a:r>
            <a:r>
              <a:rPr sz="1632" b="0">
                <a:solidFill>
                  <a:srgbClr val="E6E6E6"/>
                </a:solidFill>
                <a:latin typeface="Consolas"/>
              </a:rPr>
              <a:t>,   </a:t>
            </a:r>
            <a:r>
              <a:rPr sz="1632" b="0">
                <a:solidFill>
                  <a:srgbClr val="98C379"/>
                </a:solidFill>
                <a:latin typeface="Consolas"/>
              </a:rPr>
              <a:t>'2012-05-30'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C678DD"/>
                </a:solidFill>
                <a:latin typeface="Consolas"/>
              </a:rPr>
              <a:t>NULL</a:t>
            </a:r>
            <a:r>
              <a:rPr sz="1632" b="0">
                <a:solidFill>
                  <a:srgbClr val="E6E6E6"/>
                </a:solidFill>
                <a:latin typeface="Consolas"/>
              </a:rPr>
              <a:t>,             3);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1964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Ustunlar va qiymatlar </a:t>
            </a:r>
            <a:r>
              <a:rPr sz="2400" b="1">
                <a:solidFill>
                  <a:srgbClr val="1F232B"/>
                </a:solidFill>
                <a:latin typeface="Calibri"/>
              </a:rPr>
              <a:t>bir xil tartib va sonda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5680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65232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id</a:t>
            </a:r>
            <a:r>
              <a:rPr sz="2400" b="0">
                <a:solidFill>
                  <a:srgbClr val="1F232B"/>
                </a:solidFill>
                <a:latin typeface="Calibri"/>
              </a:rPr>
              <a:t> yozilmaydi — </a:t>
            </a:r>
            <a:r>
              <a:rPr sz="2208" b="0">
                <a:solidFill>
                  <a:srgbClr val="B02A4A"/>
                </a:solidFill>
                <a:latin typeface="Consolas"/>
              </a:rPr>
              <a:t>SERIAL</a:t>
            </a:r>
            <a:r>
              <a:rPr sz="2400" b="0">
                <a:solidFill>
                  <a:srgbClr val="1F232B"/>
                </a:solidFill>
                <a:latin typeface="Calibri"/>
              </a:rPr>
              <a:t> o'zi beradi; </a:t>
            </a:r>
            <a:r>
              <a:rPr sz="2208" b="0">
                <a:solidFill>
                  <a:srgbClr val="B02A4A"/>
                </a:solidFill>
                <a:latin typeface="Consolas"/>
              </a:rPr>
              <a:t>NULL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"qiymat yo'q"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0239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Baza cheklovlarni tekshiradi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2191"/>
            <a:ext cx="11091672" cy="31975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705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1375"/>
            <a:ext cx="10725912" cy="28501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INSERT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INTO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(familiya) </a:t>
            </a:r>
            <a:r>
              <a:rPr sz="1496" b="0">
                <a:solidFill>
                  <a:srgbClr val="C678DD"/>
                </a:solidFill>
                <a:latin typeface="Consolas"/>
              </a:rPr>
              <a:t>VALUES</a:t>
            </a:r>
            <a:r>
              <a:rPr sz="1496" b="0">
                <a:solidFill>
                  <a:srgbClr val="E6E6E6"/>
                </a:solidFill>
                <a:latin typeface="Consolas"/>
              </a:rPr>
              <a:t> (</a:t>
            </a:r>
            <a:r>
              <a:rPr sz="1496" b="0">
                <a:solidFill>
                  <a:srgbClr val="98C379"/>
                </a:solidFill>
                <a:latin typeface="Consolas"/>
              </a:rPr>
              <a:t>'Aliyev'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❌ null value in column "ism" violates not-null constraint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INSERT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INTO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(ism, familiya, email) </a:t>
            </a:r>
            <a:r>
              <a:rPr sz="1496" b="0">
                <a:solidFill>
                  <a:srgbClr val="C678DD"/>
                </a:solidFill>
                <a:latin typeface="Consolas"/>
              </a:rPr>
              <a:t>VALUES</a:t>
            </a:r>
            <a:r>
              <a:rPr sz="1496" b="0">
                <a:solidFill>
                  <a:srgbClr val="E6E6E6"/>
                </a:solidFill>
                <a:latin typeface="Consolas"/>
              </a:rPr>
              <a:t> (</a:t>
            </a:r>
            <a:r>
              <a:rPr sz="1496" b="0">
                <a:solidFill>
                  <a:srgbClr val="98C379"/>
                </a:solidFill>
                <a:latin typeface="Consolas"/>
              </a:rPr>
              <a:t>'Vali'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'Aliyev'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'ali@mail.uz'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❌ duplicate key value violates unique constraint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INSERT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INTO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(ism, familiya, sinf_id) </a:t>
            </a:r>
            <a:r>
              <a:rPr sz="1496" b="0">
                <a:solidFill>
                  <a:srgbClr val="C678DD"/>
                </a:solidFill>
                <a:latin typeface="Consolas"/>
              </a:rPr>
              <a:t>VALUES</a:t>
            </a:r>
            <a:r>
              <a:rPr sz="1496" b="0">
                <a:solidFill>
                  <a:srgbClr val="E6E6E6"/>
                </a:solidFill>
                <a:latin typeface="Consolas"/>
              </a:rPr>
              <a:t> (</a:t>
            </a:r>
            <a:r>
              <a:rPr sz="1496" b="0">
                <a:solidFill>
                  <a:srgbClr val="98C379"/>
                </a:solidFill>
                <a:latin typeface="Consolas"/>
              </a:rPr>
              <a:t>'Vali'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'Aliyev'</a:t>
            </a:r>
            <a:r>
              <a:rPr sz="1496" b="0">
                <a:solidFill>
                  <a:srgbClr val="E6E6E6"/>
                </a:solidFill>
                <a:latin typeface="Consolas"/>
              </a:rPr>
              <a:t>, 99);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❌ violates foreign key constraint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INSERT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INTO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(oquvchi_id, fan, baho) </a:t>
            </a:r>
            <a:r>
              <a:rPr sz="1496" b="0">
                <a:solidFill>
                  <a:srgbClr val="C678DD"/>
                </a:solidFill>
                <a:latin typeface="Consolas"/>
              </a:rPr>
              <a:t>VALUES</a:t>
            </a:r>
            <a:r>
              <a:rPr sz="1496" b="0">
                <a:solidFill>
                  <a:srgbClr val="E6E6E6"/>
                </a:solidFill>
                <a:latin typeface="Consolas"/>
              </a:rPr>
              <a:t> (1, </a:t>
            </a:r>
            <a:r>
              <a:rPr sz="1496" b="0">
                <a:solidFill>
                  <a:srgbClr val="98C379"/>
                </a:solidFill>
                <a:latin typeface="Consolas"/>
              </a:rPr>
              <a:t>'Matematika'</a:t>
            </a:r>
            <a:r>
              <a:rPr sz="1496" b="0">
                <a:solidFill>
                  <a:srgbClr val="E6E6E6"/>
                </a:solidFill>
                <a:latin typeface="Consolas"/>
              </a:rPr>
              <a:t>, 7);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❌ violates check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59243"/>
            <a:ext cx="11091672" cy="12871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2F6FAD"/>
                </a:solidFill>
                <a:latin typeface="Calibri"/>
              </a:rPr>
              <a:t>Bu xatolar — yaxshi! Baza noto'g'ri ma'lumotga yo'l qo'ymaydi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Read — SELECT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2646"/>
            <a:ext cx="11091672" cy="219961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751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1830"/>
            <a:ext cx="10725912" cy="18521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5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750" b="0">
                <a:solidFill>
                  <a:srgbClr val="E6E6E6"/>
                </a:solidFill>
                <a:latin typeface="Consolas"/>
              </a:rPr>
              <a:t> * </a:t>
            </a:r>
            <a:r>
              <a:rPr sz="1750" b="0">
                <a:solidFill>
                  <a:srgbClr val="C678DD"/>
                </a:solidFill>
                <a:latin typeface="Consolas"/>
              </a:rPr>
              <a:t>FROM</a:t>
            </a:r>
            <a:r>
              <a:rPr sz="1750" b="0">
                <a:solidFill>
                  <a:srgbClr val="E6E6E6"/>
                </a:solidFill>
                <a:latin typeface="Consolas"/>
              </a:rPr>
              <a:t> oquvchilar;                          -- hammasi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750" b="0">
                <a:solidFill>
                  <a:srgbClr val="E6E6E6"/>
                </a:solidFill>
                <a:latin typeface="Consolas"/>
              </a:rPr>
              <a:t> ism, familiya </a:t>
            </a:r>
            <a:r>
              <a:rPr sz="1750" b="0">
                <a:solidFill>
                  <a:srgbClr val="C678DD"/>
                </a:solidFill>
                <a:latin typeface="Consolas"/>
              </a:rPr>
              <a:t>FROM</a:t>
            </a:r>
            <a:r>
              <a:rPr sz="1750" b="0">
                <a:solidFill>
                  <a:srgbClr val="E6E6E6"/>
                </a:solidFill>
                <a:latin typeface="Consolas"/>
              </a:rPr>
              <a:t> oquvchilar;              -- kerakli ustunlar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C678DD"/>
                </a:solidFill>
                <a:latin typeface="Consolas"/>
              </a:rPr>
              <a:t>SELECT</a:t>
            </a:r>
            <a:r>
              <a:rPr sz="1750" b="0">
                <a:solidFill>
                  <a:srgbClr val="E6E6E6"/>
                </a:solidFill>
                <a:latin typeface="Consolas"/>
              </a:rPr>
              <a:t> ism || </a:t>
            </a:r>
            <a:r>
              <a:rPr sz="1750" b="0">
                <a:solidFill>
                  <a:srgbClr val="98C379"/>
                </a:solidFill>
                <a:latin typeface="Consolas"/>
              </a:rPr>
              <a:t>' '</a:t>
            </a:r>
            <a:r>
              <a:rPr sz="1750" b="0">
                <a:solidFill>
                  <a:srgbClr val="E6E6E6"/>
                </a:solidFill>
                <a:latin typeface="Consolas"/>
              </a:rPr>
              <a:t> || familiya </a:t>
            </a:r>
            <a:r>
              <a:rPr sz="1750" b="0">
                <a:solidFill>
                  <a:srgbClr val="C678DD"/>
                </a:solidFill>
                <a:latin typeface="Consolas"/>
              </a:rPr>
              <a:t>AS</a:t>
            </a:r>
            <a:r>
              <a:rPr sz="1750" b="0">
                <a:solidFill>
                  <a:srgbClr val="E6E6E6"/>
                </a:solidFill>
                <a:latin typeface="Consolas"/>
              </a:rPr>
              <a:t> toliq_ism,        -- || birlashtirish, </a:t>
            </a:r>
            <a:r>
              <a:rPr sz="1750" b="0">
                <a:solidFill>
                  <a:srgbClr val="C678DD"/>
                </a:solidFill>
                <a:latin typeface="Consolas"/>
              </a:rPr>
              <a:t>AS</a:t>
            </a:r>
            <a:r>
              <a:rPr sz="1750" b="0">
                <a:solidFill>
                  <a:srgbClr val="E6E6E6"/>
                </a:solidFill>
                <a:latin typeface="Consolas"/>
              </a:rPr>
              <a:t> nom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  EXTRACT(YEAR </a:t>
            </a:r>
            <a:r>
              <a:rPr sz="1750" b="0">
                <a:solidFill>
                  <a:srgbClr val="C678DD"/>
                </a:solidFill>
                <a:latin typeface="Consolas"/>
              </a:rPr>
              <a:t>FROM</a:t>
            </a:r>
            <a:r>
              <a:rPr sz="1750" b="0">
                <a:solidFill>
                  <a:srgbClr val="E6E6E6"/>
                </a:solidFill>
                <a:latin typeface="Consolas"/>
              </a:rPr>
              <a:t> AGE(tugilgan_sana)) </a:t>
            </a:r>
            <a:r>
              <a:rPr sz="1750" b="0">
                <a:solidFill>
                  <a:srgbClr val="C678DD"/>
                </a:solidFill>
                <a:latin typeface="Consolas"/>
              </a:rPr>
              <a:t>AS</a:t>
            </a:r>
            <a:r>
              <a:rPr sz="1750" b="0">
                <a:solidFill>
                  <a:srgbClr val="E6E6E6"/>
                </a:solidFill>
                <a:latin typeface="Consolas"/>
              </a:rPr>
              <a:t> yoshi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C678DD"/>
                </a:solidFill>
                <a:latin typeface="Consolas"/>
              </a:rPr>
              <a:t>FROM</a:t>
            </a:r>
            <a:r>
              <a:rPr sz="1750" b="0">
                <a:solidFill>
                  <a:srgbClr val="E6E6E6"/>
                </a:solidFill>
                <a:latin typeface="Consolas"/>
              </a:rPr>
              <a:t> oquvchilar;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41714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9657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70898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 toliq_ism         | yoshi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-------------------+-------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 Ali Valiyev       |    14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 Zarina Karimova   |  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WHERE — shart bo'yicha tanlash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1085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594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0269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sinf_id = 1;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904" b="0">
                <a:solidFill>
                  <a:srgbClr val="98C379"/>
                </a:solidFill>
                <a:latin typeface="Consolas"/>
              </a:rPr>
              <a:t>'Bobur'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tugilgan_sana &lt; </a:t>
            </a:r>
            <a:r>
              <a:rPr sz="1904" b="0">
                <a:solidFill>
                  <a:srgbClr val="98C379"/>
                </a:solidFill>
                <a:latin typeface="Consolas"/>
              </a:rPr>
              <a:t>'2012-01-01'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sinf_id = 1 </a:t>
            </a:r>
            <a:r>
              <a:rPr sz="1904" b="0">
                <a:solidFill>
                  <a:srgbClr val="C678DD"/>
                </a:solidFill>
                <a:latin typeface="Consolas"/>
              </a:rPr>
              <a:t>AND</a:t>
            </a:r>
            <a:r>
              <a:rPr sz="1904" b="0">
                <a:solidFill>
                  <a:srgbClr val="E6E6E6"/>
                </a:solidFill>
                <a:latin typeface="Consolas"/>
              </a:rPr>
              <a:t> alochi = TRUE;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sinf_id = 1 </a:t>
            </a:r>
            <a:r>
              <a:rPr sz="1904" b="0">
                <a:solidFill>
                  <a:srgbClr val="C678DD"/>
                </a:solidFill>
                <a:latin typeface="Consolas"/>
              </a:rPr>
              <a:t>OR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sinf_id = 2;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SELECT</a:t>
            </a:r>
            <a:r>
              <a:rPr sz="1904" b="0">
                <a:solidFill>
                  <a:srgbClr val="E6E6E6"/>
                </a:solidFill>
                <a:latin typeface="Consolas"/>
              </a:rPr>
              <a:t> * </a:t>
            </a: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email </a:t>
            </a:r>
            <a:r>
              <a:rPr sz="1904" b="0">
                <a:solidFill>
                  <a:srgbClr val="C678DD"/>
                </a:solidFill>
                <a:latin typeface="Consolas"/>
              </a:rPr>
              <a:t>IS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NULL</a:t>
            </a:r>
            <a:r>
              <a:rPr sz="1904" b="0">
                <a:solidFill>
                  <a:srgbClr val="E6E6E6"/>
                </a:solidFill>
                <a:latin typeface="Consolas"/>
              </a:rPr>
              <a:t>;      -- = </a:t>
            </a:r>
            <a:r>
              <a:rPr sz="1904" b="0">
                <a:solidFill>
                  <a:srgbClr val="C678DD"/>
                </a:solidFill>
                <a:latin typeface="Consolas"/>
              </a:rPr>
              <a:t>NULL</a:t>
            </a:r>
            <a:r>
              <a:rPr sz="1904" b="0">
                <a:solidFill>
                  <a:srgbClr val="E6E6E6"/>
                </a:solidFill>
                <a:latin typeface="Consolas"/>
              </a:rPr>
              <a:t> emas!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9457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Operatorlar: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=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&lt;=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&gt;=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AND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OR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NOT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5459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366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LIKE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BETWEEN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30-mavzuda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6368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ORDER BY va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1521"/>
            <a:ext cx="11091672" cy="181777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638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70705"/>
            <a:ext cx="10725912" cy="147030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ism, familiya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familiya;              -- A → Z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ism, tugilgan_sana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tugilgan_sana </a:t>
            </a:r>
            <a:r>
              <a:rPr sz="1645" b="0">
                <a:solidFill>
                  <a:srgbClr val="C678DD"/>
                </a:solidFill>
                <a:latin typeface="Consolas"/>
              </a:rPr>
              <a:t>DESC</a:t>
            </a:r>
            <a:r>
              <a:rPr sz="1645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sinf_id, familiya;              -- ikki daraja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*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id </a:t>
            </a:r>
            <a:r>
              <a:rPr sz="1645" b="0">
                <a:solidFill>
                  <a:srgbClr val="C678DD"/>
                </a:solidFill>
                <a:latin typeface="Consolas"/>
              </a:rPr>
              <a:t>LIMIT</a:t>
            </a:r>
            <a:r>
              <a:rPr sz="1645" b="0">
                <a:solidFill>
                  <a:srgbClr val="E6E6E6"/>
                </a:solidFill>
                <a:latin typeface="Consolas"/>
              </a:rPr>
              <a:t> 3;                      -- birinchi 3 ta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*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id </a:t>
            </a:r>
            <a:r>
              <a:rPr sz="1645" b="0">
                <a:solidFill>
                  <a:srgbClr val="C678DD"/>
                </a:solidFill>
                <a:latin typeface="Consolas"/>
              </a:rPr>
              <a:t>LIMIT</a:t>
            </a:r>
            <a:r>
              <a:rPr sz="1645" b="0">
                <a:solidFill>
                  <a:srgbClr val="E6E6E6"/>
                </a:solidFill>
                <a:latin typeface="Consolas"/>
              </a:rPr>
              <a:t> 3 OFFSET 3;             -- 2-sahifa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8751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SELECT → FROM → WHERE → ORDER BY →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732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Tartib </a:t>
            </a:r>
            <a:r>
              <a:rPr sz="2800" b="1">
                <a:solidFill>
                  <a:srgbClr val="1F232B"/>
                </a:solidFill>
                <a:latin typeface="Calibri"/>
              </a:rPr>
              <a:t>qat'iy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576" b="0">
                <a:solidFill>
                  <a:srgbClr val="B02A4A"/>
                </a:solidFill>
                <a:latin typeface="Consolas"/>
              </a:rPr>
              <a:t>ORDER BY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keyin yozib bo'lmaydi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86734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Update —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979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8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4163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UPDATE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SET</a:t>
            </a:r>
            <a:r>
              <a:rPr sz="1904" b="0">
                <a:solidFill>
                  <a:srgbClr val="E6E6E6"/>
                </a:solidFill>
                <a:latin typeface="Consolas"/>
              </a:rPr>
              <a:t> email = </a:t>
            </a:r>
            <a:r>
              <a:rPr sz="1904" b="0">
                <a:solidFill>
                  <a:srgbClr val="98C379"/>
                </a:solidFill>
                <a:latin typeface="Consolas"/>
              </a:rPr>
              <a:t>'sardor@mail.uz'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id = 5;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UPDATE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SET</a:t>
            </a:r>
            <a:r>
              <a:rPr sz="1904" b="0">
                <a:solidFill>
                  <a:srgbClr val="E6E6E6"/>
                </a:solidFill>
                <a:latin typeface="Consolas"/>
              </a:rPr>
              <a:t> alochi = TRUE, telefon = </a:t>
            </a:r>
            <a:r>
              <a:rPr sz="1904" b="0">
                <a:solidFill>
                  <a:srgbClr val="98C379"/>
                </a:solidFill>
                <a:latin typeface="Consolas"/>
              </a:rPr>
              <a:t>'+998901234567'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id = 2;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UPDATE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SET</a:t>
            </a:r>
            <a:r>
              <a:rPr sz="1904" b="0">
                <a:solidFill>
                  <a:srgbClr val="E6E6E6"/>
                </a:solidFill>
                <a:latin typeface="Consolas"/>
              </a:rPr>
              <a:t> xona = xona + 100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nomi = </a:t>
            </a:r>
            <a:r>
              <a:rPr sz="1904" b="0">
                <a:solidFill>
                  <a:srgbClr val="98C379"/>
                </a:solidFill>
                <a:latin typeface="Consolas"/>
              </a:rPr>
              <a:t>'8-A'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UPDATE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SET</a:t>
            </a:r>
            <a:r>
              <a:rPr sz="1904" b="0">
                <a:solidFill>
                  <a:srgbClr val="E6E6E6"/>
                </a:solidFill>
                <a:latin typeface="Consolas"/>
              </a:rPr>
              <a:t> sinf_id = 2 </a:t>
            </a:r>
            <a:r>
              <a:rPr sz="1904" b="0">
                <a:solidFill>
                  <a:srgbClr val="C678DD"/>
                </a:solidFill>
                <a:latin typeface="Consolas"/>
              </a:rPr>
              <a:t>WHERE</a:t>
            </a:r>
            <a:r>
              <a:rPr sz="1904" b="0">
                <a:solidFill>
                  <a:srgbClr val="E6E6E6"/>
                </a:solidFill>
                <a:latin typeface="Consolas"/>
              </a:rPr>
              <a:t> id = 6 RETURNING *;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Delete va ENG XAVFLI XATO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DELETE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id = 7;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DELETE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sana &lt; </a:t>
            </a:r>
            <a:r>
              <a:rPr sz="1496" b="0">
                <a:solidFill>
                  <a:srgbClr val="98C379"/>
                </a:solidFill>
                <a:latin typeface="Consolas"/>
              </a:rPr>
              <a:t>'2026-01-01'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UPDATE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SET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sinf_id = 1;   -- 😱 BARCHA o'quvchilar 8-A ga!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DELETE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oquvchilar;              -- 😱 BARCHA o</a:t>
            </a:r>
            <a:r>
              <a:rPr sz="1496" b="0">
                <a:solidFill>
                  <a:srgbClr val="98C379"/>
                </a:solidFill>
                <a:latin typeface="Consolas"/>
              </a:rPr>
              <a:t>'quvchilar o'</a:t>
            </a:r>
            <a:r>
              <a:rPr sz="1496" b="0">
                <a:solidFill>
                  <a:srgbClr val="E6E6E6"/>
                </a:solidFill>
                <a:latin typeface="Consolas"/>
              </a:rPr>
              <a:t>chdi!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29635"/>
            <a:ext cx="11091672" cy="587819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29635"/>
            <a:ext cx="82296" cy="5878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21075"/>
            <a:ext cx="10725912" cy="42322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090" b="0">
                <a:solidFill>
                  <a:srgbClr val="1F232B"/>
                </a:solidFill>
                <a:latin typeface="Calibri"/>
              </a:rPr>
              <a:t>Baza "Ishonchingiz komilmi?" deb </a:t>
            </a:r>
            <a:r>
              <a:rPr sz="2090" b="1">
                <a:solidFill>
                  <a:srgbClr val="1F232B"/>
                </a:solidFill>
                <a:latin typeface="Calibri"/>
              </a:rPr>
              <a:t>so'ramaydi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6910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2F6FAD"/>
                </a:solidFill>
                <a:latin typeface="Calibri"/>
              </a:rPr>
              <a:t>Avval xuddi shu WHERE bilan SELECT — keyin UPDATE/DELETE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7371"/>
            <a:ext cx="11091672" cy="94049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8223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56555"/>
            <a:ext cx="10725912" cy="59301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*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sana &lt; </a:t>
            </a:r>
            <a:r>
              <a:rPr sz="1496" b="0">
                <a:solidFill>
                  <a:srgbClr val="98C379"/>
                </a:solidFill>
                <a:latin typeface="Consolas"/>
              </a:rPr>
              <a:t>'2026-01-01'</a:t>
            </a:r>
            <a:r>
              <a:rPr sz="1496" b="0">
                <a:solidFill>
                  <a:srgbClr val="E6E6E6"/>
                </a:solidFill>
                <a:latin typeface="Consolas"/>
              </a:rPr>
              <a:t>;   -- 1. tekshiring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DELETE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sana &lt; </a:t>
            </a:r>
            <a:r>
              <a:rPr sz="1496" b="0">
                <a:solidFill>
                  <a:srgbClr val="98C379"/>
                </a:solidFill>
                <a:latin typeface="Consolas"/>
              </a:rPr>
              <a:t>'2026-01-01'</a:t>
            </a:r>
            <a:r>
              <a:rPr sz="1496" b="0">
                <a:solidFill>
                  <a:srgbClr val="E6E6E6"/>
                </a:solidFill>
                <a:latin typeface="Consolas"/>
              </a:rPr>
              <a:t>;     -- 2. keyin o'chiring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Tranzaksiya — "hammasi yoki hech biri"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86343"/>
            <a:ext cx="11091672" cy="202843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120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15527"/>
            <a:ext cx="10725912" cy="1680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BEGIN;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C678DD"/>
                </a:solidFill>
                <a:latin typeface="Consolas"/>
              </a:rPr>
              <a:t>UPDATE</a:t>
            </a:r>
            <a:r>
              <a:rPr sz="1896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896" b="0">
                <a:solidFill>
                  <a:srgbClr val="C678DD"/>
                </a:solidFill>
                <a:latin typeface="Consolas"/>
              </a:rPr>
              <a:t>SET</a:t>
            </a:r>
            <a:r>
              <a:rPr sz="1896" b="0">
                <a:solidFill>
                  <a:srgbClr val="E6E6E6"/>
                </a:solidFill>
                <a:latin typeface="Consolas"/>
              </a:rPr>
              <a:t> sinf_id = 3 </a:t>
            </a:r>
            <a:r>
              <a:rPr sz="18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896" b="0">
                <a:solidFill>
                  <a:srgbClr val="E6E6E6"/>
                </a:solidFill>
                <a:latin typeface="Consolas"/>
              </a:rPr>
              <a:t> id = 1;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C678DD"/>
                </a:solidFill>
                <a:latin typeface="Consolas"/>
              </a:rPr>
              <a:t>INSERT</a:t>
            </a:r>
            <a:r>
              <a:rPr sz="1896" b="0">
                <a:solidFill>
                  <a:srgbClr val="E6E6E6"/>
                </a:solidFill>
                <a:latin typeface="Consolas"/>
              </a:rPr>
              <a:t> </a:t>
            </a:r>
            <a:r>
              <a:rPr sz="1896" b="0">
                <a:solidFill>
                  <a:srgbClr val="C678DD"/>
                </a:solidFill>
                <a:latin typeface="Consolas"/>
              </a:rPr>
              <a:t>INTO</a:t>
            </a:r>
            <a:r>
              <a:rPr sz="1896" b="0">
                <a:solidFill>
                  <a:srgbClr val="E6E6E6"/>
                </a:solidFill>
                <a:latin typeface="Consolas"/>
              </a:rPr>
              <a:t> baholar (oquvchi_id, fan, baho) </a:t>
            </a:r>
            <a:r>
              <a:rPr sz="1896" b="0">
                <a:solidFill>
                  <a:srgbClr val="C678DD"/>
                </a:solidFill>
                <a:latin typeface="Consolas"/>
              </a:rPr>
              <a:t>VALUES</a:t>
            </a:r>
            <a:r>
              <a:rPr sz="1896" b="0">
                <a:solidFill>
                  <a:srgbClr val="E6E6E6"/>
                </a:solidFill>
                <a:latin typeface="Consolas"/>
              </a:rPr>
              <a:t> (1, </a:t>
            </a:r>
            <a:r>
              <a:rPr sz="1896" b="0">
                <a:solidFill>
                  <a:srgbClr val="98C379"/>
                </a:solidFill>
                <a:latin typeface="Consolas"/>
              </a:rPr>
              <a:t>'Matematika'</a:t>
            </a:r>
            <a:r>
              <a:rPr sz="1896" b="0">
                <a:solidFill>
                  <a:srgbClr val="E6E6E6"/>
                </a:solidFill>
                <a:latin typeface="Consolas"/>
              </a:rPr>
              <a:t>, 5);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COMMIT;            -- hammasini saqlash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7F848E"/>
                </a:solidFill>
                <a:latin typeface="Consolas"/>
              </a:rPr>
              <a:t>-- Xato bo'lsa: ROLLBACK;  — hammasi bekor qilinadi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34231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34231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25671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Pul o'tkazmasi:</a:t>
            </a:r>
            <a:r>
              <a:rPr sz="2660" b="0">
                <a:solidFill>
                  <a:srgbClr val="1F232B"/>
                </a:solidFill>
                <a:latin typeface="Calibri"/>
              </a:rPr>
              <a:t> sizdan yechiladi </a:t>
            </a:r>
            <a:r>
              <a:rPr sz="2660" b="1">
                <a:solidFill>
                  <a:srgbClr val="1F232B"/>
                </a:solidFill>
                <a:latin typeface="Calibri"/>
              </a:rPr>
              <a:t>VA</a:t>
            </a:r>
            <a:r>
              <a:rPr sz="2660" b="0">
                <a:solidFill>
                  <a:srgbClr val="1F232B"/>
                </a:solidFill>
                <a:latin typeface="Calibri"/>
              </a:rPr>
              <a:t> do'stingizga tushadi. Orada elektr o'chsa — pul "yo'qolmasligi" uchun ikkalasi birga bajariladi yoki ikkalasi bekor qilinadi.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18-loyiha: o'quvchilar bazasi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Sinflar, o'quvchilar (+5 sinfdosh) va </a:t>
            </a:r>
            <a:r>
              <a:rPr sz="1700" b="1">
                <a:solidFill>
                  <a:srgbClr val="1F232B"/>
                </a:solidFill>
                <a:latin typeface="Calibri"/>
              </a:rPr>
              <a:t>20+ baho</a:t>
            </a:r>
            <a:r>
              <a:rPr sz="1700" b="0">
                <a:solidFill>
                  <a:srgbClr val="1F232B"/>
                </a:solidFill>
                <a:latin typeface="Calibri"/>
              </a:rPr>
              <a:t> qo'shing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So'rovlar: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70632"/>
            <a:ext cx="1036015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30" b="0">
                <a:solidFill>
                  <a:srgbClr val="1F232B"/>
                </a:solidFill>
                <a:latin typeface="Calibri"/>
              </a:rPr>
              <a:t>To'liq ism, familiya bo'yicha tartibda</a:t>
            </a:r>
          </a:p>
        </p:txBody>
      </p:sp>
      <p:sp>
        <p:nvSpPr>
          <p:cNvPr id="12" name="Oval 11"/>
          <p:cNvSpPr/>
          <p:nvPr/>
        </p:nvSpPr>
        <p:spPr>
          <a:xfrm>
            <a:off x="978407" y="2867787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05099"/>
            <a:ext cx="1036015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30" b="0">
                <a:solidFill>
                  <a:srgbClr val="1F232B"/>
                </a:solidFill>
                <a:latin typeface="Calibri"/>
              </a:rPr>
              <a:t>2-sinf o'quvchilari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3302254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639566"/>
            <a:ext cx="1036015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30" b="0">
                <a:solidFill>
                  <a:srgbClr val="1F232B"/>
                </a:solidFill>
                <a:latin typeface="Calibri"/>
              </a:rPr>
              <a:t>Eng yoshi katta 3 nafar</a:t>
            </a:r>
          </a:p>
        </p:txBody>
      </p:sp>
      <p:sp>
        <p:nvSpPr>
          <p:cNvPr id="16" name="Oval 15"/>
          <p:cNvSpPr/>
          <p:nvPr/>
        </p:nvSpPr>
        <p:spPr>
          <a:xfrm>
            <a:off x="978407" y="3736721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074033"/>
            <a:ext cx="1036015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30" b="0">
                <a:solidFill>
                  <a:srgbClr val="1F232B"/>
                </a:solidFill>
                <a:latin typeface="Calibri"/>
              </a:rPr>
              <a:t>Emaili kiritilmaganlar</a:t>
            </a:r>
          </a:p>
        </p:txBody>
      </p:sp>
      <p:sp>
        <p:nvSpPr>
          <p:cNvPr id="18" name="Oval 17"/>
          <p:cNvSpPr/>
          <p:nvPr/>
        </p:nvSpPr>
        <p:spPr>
          <a:xfrm>
            <a:off x="978407" y="4171188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08500"/>
            <a:ext cx="1036015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30" b="0">
                <a:solidFill>
                  <a:srgbClr val="1F232B"/>
                </a:solidFill>
                <a:latin typeface="Calibri"/>
              </a:rPr>
              <a:t>Informatikadan 5 olganlar</a:t>
            </a:r>
          </a:p>
        </p:txBody>
      </p:sp>
      <p:sp>
        <p:nvSpPr>
          <p:cNvPr id="20" name="Oval 19"/>
          <p:cNvSpPr/>
          <p:nvPr/>
        </p:nvSpPr>
        <p:spPr>
          <a:xfrm>
            <a:off x="978407" y="4605655"/>
            <a:ext cx="118872" cy="118872"/>
          </a:xfrm>
          <a:prstGeom prst="ellipse">
            <a:avLst/>
          </a:prstGeom>
          <a:solidFill>
            <a:srgbClr val="8C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4942967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970399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Sardorga email qo'shing; Zarinani a'lochi qiling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619623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64705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Bitta o'quvchini o'chiring (avval SELECT!) — baholari ham o'chdimi? Nega?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javoblar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43734"/>
            <a:ext cx="11091672" cy="181777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9859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2918"/>
            <a:ext cx="10725912" cy="147030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 || </a:t>
            </a:r>
            <a:r>
              <a:rPr sz="1645" b="0">
                <a:solidFill>
                  <a:srgbClr val="98C379"/>
                </a:solidFill>
                <a:latin typeface="Consolas"/>
              </a:rPr>
              <a:t>' '</a:t>
            </a:r>
            <a:r>
              <a:rPr sz="1645" b="0">
                <a:solidFill>
                  <a:srgbClr val="E6E6E6"/>
                </a:solidFill>
                <a:latin typeface="Consolas"/>
              </a:rPr>
              <a:t> || familiya </a:t>
            </a:r>
            <a:r>
              <a:rPr sz="1645" b="0">
                <a:solidFill>
                  <a:srgbClr val="C678DD"/>
                </a:solidFill>
                <a:latin typeface="Consolas"/>
              </a:rPr>
              <a:t>AS</a:t>
            </a:r>
            <a:r>
              <a:rPr sz="1645" b="0">
                <a:solidFill>
                  <a:srgbClr val="E6E6E6"/>
                </a:solidFill>
                <a:latin typeface="Consolas"/>
              </a:rPr>
              <a:t> toliq_ism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familiya;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*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WHERE</a:t>
            </a:r>
            <a:r>
              <a:rPr sz="1645" b="0">
                <a:solidFill>
                  <a:srgbClr val="E6E6E6"/>
                </a:solidFill>
                <a:latin typeface="Consolas"/>
              </a:rPr>
              <a:t> sinf_id = 2;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ism, familiya, tugilgan_sana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ORDER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BY</a:t>
            </a:r>
            <a:r>
              <a:rPr sz="1645" b="0">
                <a:solidFill>
                  <a:srgbClr val="E6E6E6"/>
                </a:solidFill>
                <a:latin typeface="Consolas"/>
              </a:rPr>
              <a:t> tugilgan_sana </a:t>
            </a:r>
            <a:r>
              <a:rPr sz="1645" b="0">
                <a:solidFill>
                  <a:srgbClr val="C678DD"/>
                </a:solidFill>
                <a:latin typeface="Consolas"/>
              </a:rPr>
              <a:t>LIMIT</a:t>
            </a:r>
            <a:r>
              <a:rPr sz="1645" b="0">
                <a:solidFill>
                  <a:srgbClr val="E6E6E6"/>
                </a:solidFill>
                <a:latin typeface="Consolas"/>
              </a:rPr>
              <a:t> 3;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ism, familiya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WHERE</a:t>
            </a:r>
            <a:r>
              <a:rPr sz="1645" b="0">
                <a:solidFill>
                  <a:srgbClr val="E6E6E6"/>
                </a:solidFill>
                <a:latin typeface="Consolas"/>
              </a:rPr>
              <a:t> email </a:t>
            </a:r>
            <a:r>
              <a:rPr sz="1645" b="0">
                <a:solidFill>
                  <a:srgbClr val="C678DD"/>
                </a:solidFill>
                <a:latin typeface="Consolas"/>
              </a:rPr>
              <a:t>IS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NULL</a:t>
            </a:r>
            <a:r>
              <a:rPr sz="1645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C678DD"/>
                </a:solidFill>
                <a:latin typeface="Consolas"/>
              </a:rPr>
              <a:t>SELECT</a:t>
            </a:r>
            <a:r>
              <a:rPr sz="1645" b="0">
                <a:solidFill>
                  <a:srgbClr val="E6E6E6"/>
                </a:solidFill>
                <a:latin typeface="Consolas"/>
              </a:rPr>
              <a:t> * </a:t>
            </a:r>
            <a:r>
              <a:rPr sz="1645" b="0">
                <a:solidFill>
                  <a:srgbClr val="C678DD"/>
                </a:solidFill>
                <a:latin typeface="Consolas"/>
              </a:rPr>
              <a:t>FROM</a:t>
            </a:r>
            <a:r>
              <a:rPr sz="1645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645" b="0">
                <a:solidFill>
                  <a:srgbClr val="C678DD"/>
                </a:solidFill>
                <a:latin typeface="Consolas"/>
              </a:rPr>
              <a:t>WHERE</a:t>
            </a:r>
            <a:r>
              <a:rPr sz="1645" b="0">
                <a:solidFill>
                  <a:srgbClr val="E6E6E6"/>
                </a:solidFill>
                <a:latin typeface="Consolas"/>
              </a:rPr>
              <a:t> fan = </a:t>
            </a:r>
            <a:r>
              <a:rPr sz="1645" b="0">
                <a:solidFill>
                  <a:srgbClr val="98C379"/>
                </a:solidFill>
                <a:latin typeface="Consolas"/>
              </a:rPr>
              <a:t>'Informatika'</a:t>
            </a:r>
            <a:r>
              <a:rPr sz="1645" b="0">
                <a:solidFill>
                  <a:srgbClr val="E6E6E6"/>
                </a:solidFill>
                <a:latin typeface="Consolas"/>
              </a:rPr>
              <a:t> </a:t>
            </a:r>
            <a:r>
              <a:rPr sz="1645" b="0">
                <a:solidFill>
                  <a:srgbClr val="C678DD"/>
                </a:solidFill>
                <a:latin typeface="Consolas"/>
              </a:rPr>
              <a:t>AND</a:t>
            </a:r>
            <a:r>
              <a:rPr sz="1645" b="0">
                <a:solidFill>
                  <a:srgbClr val="E6E6E6"/>
                </a:solidFill>
                <a:latin typeface="Consolas"/>
              </a:rPr>
              <a:t> baho = 5;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8096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4-savol javobi: </a:t>
            </a:r>
            <a:r>
              <a:rPr sz="2576" b="1">
                <a:solidFill>
                  <a:srgbClr val="B02A4A"/>
                </a:solidFill>
                <a:latin typeface="Consolas"/>
              </a:rPr>
              <a:t>ON DELETE CASCADE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baholar ham avtomatik o'chadi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94098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WHERE email =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hech narsa qaytarmaydi; </a:t>
            </a:r>
            <a:r>
              <a:rPr sz="2576" b="0">
                <a:solidFill>
                  <a:srgbClr val="B02A4A"/>
                </a:solidFill>
                <a:latin typeface="Consolas"/>
              </a:rPr>
              <a:t>IS NULL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WHERE ism = Ali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qo'shtirnoqsiz: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column "ali" does not exist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Ustunlar va qiymatlar soni mos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800" b="1">
                <a:solidFill>
                  <a:srgbClr val="1F232B"/>
                </a:solidFill>
                <a:latin typeface="Calibri"/>
              </a:rPr>
              <a:t>WHERE'siz</a:t>
            </a:r>
            <a:r>
              <a:rPr sz="2800" b="0">
                <a:solidFill>
                  <a:srgbClr val="1F232B"/>
                </a:solidFill>
                <a:latin typeface="Calibri"/>
              </a:rPr>
              <a:t> UPDATE/DELETE — avval SELECT!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CRUD'dagi "R" qaysi SQL buyrug'iga mos keladi?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REMOVE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CRUD'dagi "R" qaysi SQL buyrug'iga mos keladi?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REMOVE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DELETE FROM oquvchilar;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qiladi?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birinchi qatorni o'chiradi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Jadvalni o'chiradi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beradi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Jadvaldagi BARCHA qatorlarni o'chiradi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DELETE FROM oquvchilar;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qiladi?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birinchi qatorni o'chiradi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Jadvalni o'chiradi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beradi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Jadvaldagi BARCHA qatorlarni o'chiradi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Emaili kiritilmagan o'quvchilarni topuvchi to'g'ri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email IS NULL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email =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email = ''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NOT email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Emaili kiritilmagan o'quvchilarni topuvchi to'g'ri shart?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WHERE email IS NULL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email =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email = ''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WHERE NOT 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Natijani kamayish tartibida saralash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BY ... ASC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SORT BY ... 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BY ... DESC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DESC BY 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Natijani kamayish tartibida saralash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BY ... ASC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SORT BY ... 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ORDER BY ... DESC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ORDER DESC BY 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dokon</a:t>
            </a:r>
            <a:r>
              <a:rPr sz="2800" b="0">
                <a:solidFill>
                  <a:srgbClr val="1F232B"/>
                </a:solidFill>
                <a:latin typeface="Calibri"/>
              </a:rPr>
              <a:t> bazasini to'ldiring: 3 toifa, 15 mahsulot, 5 mijoz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5491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48234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Eng qimmat 5 ta; tugaganlar (</a:t>
            </a:r>
            <a:r>
              <a:rPr sz="2576" b="0">
                <a:solidFill>
                  <a:srgbClr val="B02A4A"/>
                </a:solidFill>
                <a:latin typeface="Consolas"/>
              </a:rPr>
              <a:t>soni = 0</a:t>
            </a:r>
            <a:r>
              <a:rPr sz="2800" b="0">
                <a:solidFill>
                  <a:srgbClr val="1F232B"/>
                </a:solidFill>
                <a:latin typeface="Calibri"/>
              </a:rPr>
              <a:t>); 50 000 dan arzonlar alifbo tartibida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"Kanselyariya" narxini 10% oshiring: </a:t>
            </a:r>
            <a:r>
              <a:rPr sz="2576" b="0">
                <a:solidFill>
                  <a:srgbClr val="B02A4A"/>
                </a:solidFill>
                <a:latin typeface="Consolas"/>
              </a:rPr>
              <a:t>SET narx = narx * 1.1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avval SELECT!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28-mavzu · Ma'lumotlarni qo'shish, ko'rish va saqlash. CRUD operatsiyalari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CRUD: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INSERT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UPDATE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DELETE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INSERT INTO t (a, b) VALUES (1, 'x');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SELECT ... FROM t WHERE ... ORDER BY u DESC LIMIT n;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UPDATE ... 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DELETE ... WHERE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WHERE'ni unutmang, avval SELECT!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IS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; tranzaksiya: </a:t>
            </a:r>
            <a:r>
              <a:rPr sz="2576" b="0">
                <a:solidFill>
                  <a:srgbClr val="B02A4A"/>
                </a:solidFill>
                <a:latin typeface="Consolas"/>
              </a:rPr>
              <a:t>BEGIN ... COMMIT / ROLLBACK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29. Jadvallarni bog'lash va JOIN. Index, constraint, data integrity. Backup va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28-mavzu: Ma'lumotlarni qo'shish, ko'rish va saqlash. CRUD operatsiyalari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