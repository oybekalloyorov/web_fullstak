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Shu darsdan 38-mavzugacha bitta haqiqiy loyiha — "Maktab blogi"ni bosqichma-bosqich quramiz.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C) MVT (Model–View–Template).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B)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D) settings.py → INSTALLED_APPS.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B) False.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7A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05840"/>
            <a:ext cx="1005840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5400" b="0">
                <a:solidFill>
                  <a:srgbClr val="1F232B"/>
                </a:solidFill>
                <a:latin typeface="Segoe UI Emoji"/>
              </a:rPr>
              <a:t>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500" b="1">
                <a:solidFill>
                  <a:srgbClr val="1F7A4D"/>
                </a:solidFill>
                <a:latin typeface="Calibri"/>
              </a:rPr>
              <a:t>33-MAVZU  ·  IV BOB. PYTHON, POSTGRESQL VA DJANGO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100584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3600" b="1">
                <a:solidFill>
                  <a:srgbClr val="1F232B"/>
                </a:solidFill>
                <a:latin typeface="Calibri"/>
              </a:rPr>
              <a:t>Django frameworkiga kirish. Arxitektura, loyiha va ilova (App) yaratish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343400"/>
            <a:ext cx="987552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00" b="0">
                <a:solidFill>
                  <a:srgbClr val="5B6370"/>
                </a:solidFill>
                <a:latin typeface="Calibri"/>
              </a:rPr>
              <a:t>Framework nima va nima uchun Django, MVT arxitekturasi, so'rovning Django ichidagi yo'li, o'rnatish, startproject va startapp, loyiha fayllari, settings.py, runserver, PostgreSQL'ga ulash.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Bugun nimani o'rganamiz?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33-mavzu · Django frameworkiga kirish. Arxitektura, loyiha va ilova (App) yaratish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Framework</a:t>
            </a:r>
            <a:r>
              <a:rPr sz="2800" b="0">
                <a:solidFill>
                  <a:srgbClr val="1F232B"/>
                </a:solidFill>
                <a:latin typeface="Calibri"/>
              </a:rPr>
              <a:t> nima va nega </a:t>
            </a:r>
            <a:r>
              <a:rPr sz="2800" b="1">
                <a:solidFill>
                  <a:srgbClr val="1F232B"/>
                </a:solidFill>
                <a:latin typeface="Calibri"/>
              </a:rPr>
              <a:t>Django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6412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MVT</a:t>
            </a:r>
            <a:r>
              <a:rPr sz="2800" b="0">
                <a:solidFill>
                  <a:srgbClr val="1F232B"/>
                </a:solidFill>
                <a:latin typeface="Calibri"/>
              </a:rPr>
              <a:t> arxitekturasi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86432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355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So'rov Django ichida qanday yo'l bosadi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795524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44596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Loyiha (</a:t>
            </a:r>
            <a:r>
              <a:rPr sz="2800" b="1">
                <a:solidFill>
                  <a:srgbClr val="1F232B"/>
                </a:solidFill>
                <a:latin typeface="Calibri"/>
              </a:rPr>
              <a:t>project</a:t>
            </a:r>
            <a:r>
              <a:rPr sz="2800" b="0">
                <a:solidFill>
                  <a:srgbClr val="1F232B"/>
                </a:solidFill>
                <a:latin typeface="Calibri"/>
              </a:rPr>
              <a:t>) va ilova (</a:t>
            </a:r>
            <a:r>
              <a:rPr sz="2800" b="1">
                <a:solidFill>
                  <a:srgbClr val="1F232B"/>
                </a:solidFill>
                <a:latin typeface="Calibri"/>
              </a:rPr>
              <a:t>app</a:t>
            </a:r>
            <a:r>
              <a:rPr sz="2800" b="0">
                <a:solidFill>
                  <a:srgbClr val="1F232B"/>
                </a:solidFill>
                <a:latin typeface="Calibri"/>
              </a:rPr>
              <a:t>) yaratish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404616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853688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Loyihani </a:t>
            </a:r>
            <a:r>
              <a:rPr sz="2800" b="1">
                <a:solidFill>
                  <a:srgbClr val="1F232B"/>
                </a:solidFill>
                <a:latin typeface="Calibri"/>
              </a:rPr>
              <a:t>PostgreSQL</a:t>
            </a:r>
            <a:r>
              <a:rPr sz="2800" b="0">
                <a:solidFill>
                  <a:srgbClr val="1F232B"/>
                </a:solidFill>
                <a:latin typeface="Calibri"/>
              </a:rPr>
              <a:t>'ga ulash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013708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Framework nima?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33-mavzu · Django frameworkiga kirish. Arxitektura, loyiha va ilova (App) yaratish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3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502552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Veb-sayt uchun kerak: so'rovlar, URL'lar, HTML, formalar, login, parollar, admin panel... Noldan — </a:t>
            </a:r>
            <a:r>
              <a:rPr sz="2800" b="1">
                <a:solidFill>
                  <a:srgbClr val="1F232B"/>
                </a:solidFill>
                <a:latin typeface="Calibri"/>
              </a:rPr>
              <a:t>oylar</a:t>
            </a:r>
            <a:r>
              <a:rPr sz="2800" b="0">
                <a:solidFill>
                  <a:srgbClr val="1F232B"/>
                </a:solidFill>
                <a:latin typeface="Calibri"/>
              </a:rPr>
              <a:t>!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662572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556144"/>
            <a:ext cx="11091672" cy="156337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060" b="1">
                <a:solidFill>
                  <a:srgbClr val="1F7A4D"/>
                </a:solidFill>
                <a:latin typeface="Calibri"/>
              </a:rPr>
              <a:t>Framework — sinalgan tayyor "karkas": siz faqat loyihangizga xos qismni yozasiz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29242"/>
            <a:ext cx="11091672" cy="1522857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4229242"/>
            <a:ext cx="82296" cy="1522857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320682"/>
            <a:ext cx="10725912" cy="1358265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60" b="0">
                <a:solidFill>
                  <a:srgbClr val="1F232B"/>
                </a:solidFill>
                <a:latin typeface="Calibri"/>
              </a:rPr>
              <a:t>💡 </a:t>
            </a:r>
            <a:r>
              <a:rPr sz="2660" b="1">
                <a:solidFill>
                  <a:srgbClr val="1F232B"/>
                </a:solidFill>
                <a:latin typeface="Calibri"/>
              </a:rPr>
              <a:t>Uy qurish:</a:t>
            </a:r>
            <a:r>
              <a:rPr sz="2660" b="0">
                <a:solidFill>
                  <a:srgbClr val="1F232B"/>
                </a:solidFill>
                <a:latin typeface="Calibri"/>
              </a:rPr>
              <a:t> noldan dastur — g'ishtni o'zingiz pishirish. Framework — tayyor karkas (poydevor, devor, quvurlar) ustida xonalarni bezash. Tezroq, xavfsizroq, sifatliroq.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Nima uchun Django?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33-mavzu · Django frameworkiga kirish. Arxitektura, loyiha va ilova (App) yaratish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4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🔋 </a:t>
            </a:r>
            <a:r>
              <a:rPr sz="2800" b="1">
                <a:solidFill>
                  <a:srgbClr val="1F232B"/>
                </a:solidFill>
                <a:latin typeface="Calibri"/>
              </a:rPr>
              <a:t>"Batareyalar bilan birga"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admin panel, foydalanuvchilar, formalar, ORM tayyor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70911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🔐 </a:t>
            </a:r>
            <a:r>
              <a:rPr sz="2800" b="1">
                <a:solidFill>
                  <a:srgbClr val="1F232B"/>
                </a:solidFill>
                <a:latin typeface="Calibri"/>
              </a:rPr>
              <a:t>Xavfsiz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SQL injection, XSS, CSRF'dan avtomatik himoya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630931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0800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📈 </a:t>
            </a:r>
            <a:r>
              <a:rPr sz="2800" b="1">
                <a:solidFill>
                  <a:srgbClr val="1F232B"/>
                </a:solidFill>
                <a:latin typeface="Calibri"/>
              </a:rPr>
              <a:t>Masshtablanadi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Instagram, Pinterest, Spotify, Mozilla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240023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689096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📚 Ajoyib hujjatlar, katta jamiyat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849116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298188"/>
            <a:ext cx="11091672" cy="156337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060" b="1">
                <a:solidFill>
                  <a:srgbClr val="1F7A4D"/>
                </a:solidFill>
                <a:latin typeface="Calibri"/>
              </a:rPr>
              <a:t>"Muddati bor perfeksionistlar uchun veb-framework"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MVT arxitekturasi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33-mavzu · Django frameworkiga kirish. Arxitektura, loyiha va ilova (App) yaratish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5 / 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98219"/>
          <a:ext cx="11091672" cy="322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644144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Qism</a:t>
                      </a:r>
                    </a:p>
                  </a:txBody>
                  <a:tcPr marL="73152" marR="73152" marT="36576" marB="36576">
                    <a:solidFill>
                      <a:srgbClr val="1F7A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Fayl</a:t>
                      </a:r>
                    </a:p>
                  </a:txBody>
                  <a:tcPr marL="73152" marR="73152" marT="36576" marB="36576">
                    <a:solidFill>
                      <a:srgbClr val="1F7A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Vazifasi</a:t>
                      </a:r>
                    </a:p>
                  </a:txBody>
                  <a:tcPr marL="73152" marR="73152" marT="36576" marB="36576">
                    <a:solidFill>
                      <a:srgbClr val="1F7A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Restoranda</a:t>
                      </a:r>
                    </a:p>
                  </a:txBody>
                  <a:tcPr marL="73152" marR="73152" marT="36576" marB="36576">
                    <a:solidFill>
                      <a:srgbClr val="1F7A4D"/>
                    </a:solidFill>
                  </a:tcPr>
                </a:tc>
              </a:tr>
              <a:tr h="644144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1F232B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models.py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Ma'lumot va baza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Ombor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</a:tr>
              <a:tr h="644144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1F232B"/>
                          </a:solidFill>
                          <a:latin typeface="Calibri"/>
                        </a:rPr>
                        <a:t>View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views.py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Mantiq: so'rov → javob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Oshpaz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44144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1F232B"/>
                          </a:solidFill>
                          <a:latin typeface="Calibri"/>
                        </a:rPr>
                        <a:t>Template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templates/*.html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Ko'rinish (HTML)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Likopcha va bezak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</a:tr>
              <a:tr h="644144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1F232B"/>
                          </a:solidFill>
                          <a:latin typeface="Calibri"/>
                        </a:rPr>
                        <a:t>URL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urls.py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Manzil → View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Ofitsiant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60120" y="4938395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MVC'dagi Controller = Django'dagi </a:t>
            </a:r>
            <a:r>
              <a:rPr sz="2800" b="1">
                <a:solidFill>
                  <a:srgbClr val="1F232B"/>
                </a:solidFill>
                <a:latin typeface="Calibri"/>
              </a:rPr>
              <a:t>View</a:t>
            </a:r>
            <a:r>
              <a:rPr sz="2800" b="0">
                <a:solidFill>
                  <a:srgbClr val="1F232B"/>
                </a:solidFill>
                <a:latin typeface="Calibri"/>
              </a:rPr>
              <a:t>; MVC'dagi View = Django'dagi </a:t>
            </a:r>
            <a:r>
              <a:rPr sz="2800" b="1">
                <a:solidFill>
                  <a:srgbClr val="1F232B"/>
                </a:solidFill>
                <a:latin typeface="Calibri"/>
              </a:rPr>
              <a:t>Template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5098415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So'rovning Django ichidagi yo'li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33-mavzu · Django frameworkiga kirish. Arxitektura, loyiha va ilova (App) yaratish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6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1815"/>
            <a:ext cx="11091672" cy="4253761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56679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Matn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30999"/>
            <a:ext cx="10725912" cy="390628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750" b="0">
                <a:solidFill>
                  <a:srgbClr val="E6E6E6"/>
                </a:solidFill>
                <a:latin typeface="Consolas"/>
              </a:rPr>
              <a:t>🌐 Brauzer: GET /maqolalar/5/</a:t>
            </a:r>
          </a:p>
          <a:p>
            <a:pPr>
              <a:lnSpc>
                <a:spcPct val="100000"/>
              </a:lnSpc>
            </a:pPr>
            <a:r>
              <a:rPr sz="1750" b="0">
                <a:solidFill>
                  <a:srgbClr val="E6E6E6"/>
                </a:solidFill>
                <a:latin typeface="Consolas"/>
              </a:rPr>
              <a:t>     │</a:t>
            </a:r>
          </a:p>
          <a:p>
            <a:pPr>
              <a:lnSpc>
                <a:spcPct val="100000"/>
              </a:lnSpc>
            </a:pPr>
            <a:r>
              <a:rPr sz="1750" b="0">
                <a:solidFill>
                  <a:srgbClr val="E6E6E6"/>
                </a:solidFill>
                <a:latin typeface="Consolas"/>
              </a:rPr>
              <a:t>     ▼</a:t>
            </a:r>
          </a:p>
          <a:p>
            <a:pPr>
              <a:lnSpc>
                <a:spcPct val="100000"/>
              </a:lnSpc>
            </a:pPr>
            <a:r>
              <a:rPr sz="1750" b="0">
                <a:solidFill>
                  <a:srgbClr val="E6E6E6"/>
                </a:solidFill>
                <a:latin typeface="Consolas"/>
              </a:rPr>
              <a:t>🗺️ urls.py:  </a:t>
            </a:r>
            <a:r>
              <a:rPr sz="1750" b="0">
                <a:solidFill>
                  <a:srgbClr val="98C379"/>
                </a:solidFill>
                <a:latin typeface="Consolas"/>
              </a:rPr>
              <a:t>"/maqolalar/5/"</a:t>
            </a:r>
            <a:r>
              <a:rPr sz="1750" b="0">
                <a:solidFill>
                  <a:srgbClr val="E6E6E6"/>
                </a:solidFill>
                <a:latin typeface="Consolas"/>
              </a:rPr>
              <a:t> → maqola_view</a:t>
            </a:r>
          </a:p>
          <a:p>
            <a:pPr>
              <a:lnSpc>
                <a:spcPct val="100000"/>
              </a:lnSpc>
            </a:pPr>
            <a:r>
              <a:rPr sz="1750" b="0">
                <a:solidFill>
                  <a:srgbClr val="E6E6E6"/>
                </a:solidFill>
                <a:latin typeface="Consolas"/>
              </a:rPr>
              <a:t>     │</a:t>
            </a:r>
          </a:p>
          <a:p>
            <a:pPr>
              <a:lnSpc>
                <a:spcPct val="100000"/>
              </a:lnSpc>
            </a:pPr>
            <a:r>
              <a:rPr sz="1750" b="0">
                <a:solidFill>
                  <a:srgbClr val="E6E6E6"/>
                </a:solidFill>
                <a:latin typeface="Consolas"/>
              </a:rPr>
              <a:t>     ▼</a:t>
            </a:r>
          </a:p>
          <a:p>
            <a:pPr>
              <a:lnSpc>
                <a:spcPct val="100000"/>
              </a:lnSpc>
            </a:pPr>
            <a:r>
              <a:rPr sz="1750" b="0">
                <a:solidFill>
                  <a:srgbClr val="E6E6E6"/>
                </a:solidFill>
                <a:latin typeface="Consolas"/>
              </a:rPr>
              <a:t>⚙️ View: maqola_view(id=5)  ⇄  🗄️ Model: Maqola.objects.get(id=5) → PostgreSQL</a:t>
            </a:r>
          </a:p>
          <a:p>
            <a:pPr>
              <a:lnSpc>
                <a:spcPct val="100000"/>
              </a:lnSpc>
            </a:pPr>
            <a:r>
              <a:rPr sz="1750" b="0">
                <a:solidFill>
                  <a:srgbClr val="E6E6E6"/>
                </a:solidFill>
                <a:latin typeface="Consolas"/>
              </a:rPr>
              <a:t>     │</a:t>
            </a:r>
          </a:p>
          <a:p>
            <a:pPr>
              <a:lnSpc>
                <a:spcPct val="100000"/>
              </a:lnSpc>
            </a:pPr>
            <a:r>
              <a:rPr sz="1750" b="0">
                <a:solidFill>
                  <a:srgbClr val="E6E6E6"/>
                </a:solidFill>
                <a:latin typeface="Consolas"/>
              </a:rPr>
              <a:t>     ▼ ma'lumot</a:t>
            </a:r>
          </a:p>
          <a:p>
            <a:pPr>
              <a:lnSpc>
                <a:spcPct val="100000"/>
              </a:lnSpc>
            </a:pPr>
            <a:r>
              <a:rPr sz="1750" b="0">
                <a:solidFill>
                  <a:srgbClr val="E6E6E6"/>
                </a:solidFill>
                <a:latin typeface="Consolas"/>
              </a:rPr>
              <a:t>🎨 Template: maqola.html + ma'lumot</a:t>
            </a:r>
          </a:p>
          <a:p>
            <a:pPr>
              <a:lnSpc>
                <a:spcPct val="100000"/>
              </a:lnSpc>
            </a:pPr>
            <a:r>
              <a:rPr sz="1750" b="0">
                <a:solidFill>
                  <a:srgbClr val="E6E6E6"/>
                </a:solidFill>
                <a:latin typeface="Consolas"/>
              </a:rPr>
              <a:t>     │</a:t>
            </a:r>
          </a:p>
          <a:p>
            <a:pPr>
              <a:lnSpc>
                <a:spcPct val="100000"/>
              </a:lnSpc>
            </a:pPr>
            <a:r>
              <a:rPr sz="1750" b="0">
                <a:solidFill>
                  <a:srgbClr val="E6E6E6"/>
                </a:solidFill>
                <a:latin typeface="Consolas"/>
              </a:rPr>
              <a:t>     ▼ tayyor HTML</a:t>
            </a:r>
          </a:p>
          <a:p>
            <a:pPr>
              <a:lnSpc>
                <a:spcPct val="100000"/>
              </a:lnSpc>
            </a:pPr>
            <a:r>
              <a:rPr sz="1750" b="0">
                <a:solidFill>
                  <a:srgbClr val="E6E6E6"/>
                </a:solidFill>
                <a:latin typeface="Consolas"/>
              </a:rPr>
              <a:t>🌐 Brauzer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Loyiha va ilova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33-mavzu · Django frameworkiga kirish. Arxitektura, loyiha va ilova (App) yaratish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7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10966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Loyiha (project)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butun sayt: umumiy sozlamalar, asosiy URL'lar. </a:t>
            </a:r>
            <a:r>
              <a:rPr sz="2800" b="1">
                <a:solidFill>
                  <a:srgbClr val="1F232B"/>
                </a:solidFill>
                <a:latin typeface="Calibri"/>
              </a:rPr>
              <a:t>Bitta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770986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664558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Ilova (app)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mustaqil qism, bitta vazifa: </a:t>
            </a:r>
            <a:r>
              <a:rPr sz="2576" b="0">
                <a:solidFill>
                  <a:srgbClr val="B02A4A"/>
                </a:solidFill>
                <a:latin typeface="Consolas"/>
              </a:rPr>
              <a:t>blog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accounts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shop</a:t>
            </a:r>
            <a:r>
              <a:rPr sz="2800" b="0">
                <a:solidFill>
                  <a:srgbClr val="1F232B"/>
                </a:solidFill>
                <a:latin typeface="Calibri"/>
              </a:rPr>
              <a:t>. </a:t>
            </a:r>
            <a:r>
              <a:rPr sz="2800" b="1">
                <a:solidFill>
                  <a:srgbClr val="1F232B"/>
                </a:solidFill>
                <a:latin typeface="Calibri"/>
              </a:rPr>
              <a:t>Bir nechta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824578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3718150"/>
            <a:ext cx="11091672" cy="1522857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718150"/>
            <a:ext cx="82296" cy="1522857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809590"/>
            <a:ext cx="10725912" cy="1358265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60" b="0">
                <a:solidFill>
                  <a:srgbClr val="1F232B"/>
                </a:solidFill>
                <a:latin typeface="Calibri"/>
              </a:rPr>
              <a:t>💡 </a:t>
            </a:r>
            <a:r>
              <a:rPr sz="2660" b="1">
                <a:solidFill>
                  <a:srgbClr val="1F232B"/>
                </a:solidFill>
                <a:latin typeface="Calibri"/>
              </a:rPr>
              <a:t>Maktab binosi:</a:t>
            </a:r>
            <a:r>
              <a:rPr sz="2660" b="0">
                <a:solidFill>
                  <a:srgbClr val="1F232B"/>
                </a:solidFill>
                <a:latin typeface="Calibri"/>
              </a:rPr>
              <a:t> loyiha — bino (umumiy qoidalar, qo'ng'iroq). Ilovalar — xonalar: kutubxona, sport zali, oshxona. Har biri o'z ishini qiladi, lekin bitta binoda.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O'rnatish va loyiha yaratish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33-mavzu · Django frameworkiga kirish. Arxitektura, loyiha va ilova (App) yaratish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8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51155"/>
            <a:ext cx="11091672" cy="2262835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6019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Terminal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0339"/>
            <a:ext cx="10725912" cy="19153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mkdir maktab_blog &amp;&amp; cd maktab_blog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python -m venv venv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venv\Scripts\activate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pip install django </a:t>
            </a:r>
            <a:r>
              <a:rPr sz="1360" b="0">
                <a:solidFill>
                  <a:srgbClr val="98C379"/>
                </a:solidFill>
                <a:latin typeface="Consolas"/>
              </a:rPr>
              <a:t>"psycopg[binary]"</a:t>
            </a:r>
            <a:r>
              <a:rPr sz="1360" b="0">
                <a:solidFill>
                  <a:srgbClr val="E6E6E6"/>
                </a:solidFill>
                <a:latin typeface="Consolas"/>
              </a:rPr>
              <a:t> python-dotenv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django-admin startproject config .     # nuqta — joriy papkada!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python manage.py runserver             # http://127.0.0.1:8000 🚀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python manage.py startapp blog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933446"/>
            <a:ext cx="11091672" cy="1578864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988310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config/settings.py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62630"/>
            <a:ext cx="10725912" cy="12313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INSTALLED_APPS = [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</a:t>
            </a:r>
            <a:r>
              <a:rPr sz="1360" b="0">
                <a:solidFill>
                  <a:srgbClr val="98C379"/>
                </a:solidFill>
                <a:latin typeface="Consolas"/>
              </a:rPr>
              <a:t>"django.contrib.admin"</a:t>
            </a:r>
            <a:r>
              <a:rPr sz="1360" b="0">
                <a:solidFill>
                  <a:srgbClr val="E6E6E6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7F848E"/>
                </a:solidFill>
                <a:latin typeface="Consolas"/>
              </a:rPr>
              <a:t>    # ...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</a:t>
            </a:r>
            <a:r>
              <a:rPr sz="1360" b="0">
                <a:solidFill>
                  <a:srgbClr val="98C379"/>
                </a:solidFill>
                <a:latin typeface="Consolas"/>
              </a:rPr>
              <a:t>"blog"</a:t>
            </a:r>
            <a:r>
              <a:rPr sz="1360" b="0">
                <a:solidFill>
                  <a:srgbClr val="E6E6E6"/>
                </a:solidFill>
                <a:latin typeface="Consolas"/>
              </a:rPr>
              <a:t>,          # ⬅ ilovamizni ro</a:t>
            </a:r>
            <a:r>
              <a:rPr sz="1360" b="0">
                <a:solidFill>
                  <a:srgbClr val="98C379"/>
                </a:solidFill>
                <a:latin typeface="Consolas"/>
              </a:rPr>
              <a:t>'yxatdan o'</a:t>
            </a:r>
            <a:r>
              <a:rPr sz="1360" b="0">
                <a:solidFill>
                  <a:srgbClr val="E6E6E6"/>
                </a:solidFill>
                <a:latin typeface="Consolas"/>
              </a:rPr>
              <a:t>tkazamiz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731766"/>
            <a:ext cx="10680192" cy="372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40" b="0">
                <a:solidFill>
                  <a:srgbClr val="B02A4A"/>
                </a:solidFill>
                <a:latin typeface="Consolas"/>
              </a:rPr>
              <a:t>runserver</a:t>
            </a:r>
            <a:r>
              <a:rPr sz="2000" b="0">
                <a:solidFill>
                  <a:srgbClr val="1F232B"/>
                </a:solidFill>
                <a:latin typeface="Calibri"/>
              </a:rPr>
              <a:t> — faqat ishlab chiqish uchun; to'xtatish — </a:t>
            </a:r>
            <a:r>
              <a:rPr sz="2000" b="1">
                <a:solidFill>
                  <a:srgbClr val="1F232B"/>
                </a:solidFill>
                <a:latin typeface="Calibri"/>
              </a:rPr>
              <a:t>Ctrl+C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5846066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Loyiha tuzilmasi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33-mavzu · Django frameworkiga kirish. Arxitektura, loyiha va ilova (App) yaratish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9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99122"/>
            <a:ext cx="11091672" cy="4269150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53986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Matn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28306"/>
            <a:ext cx="10725912" cy="392167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maktab_blog/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├── manage.py            ← boshqaruv buyruqlari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├── venv/                ← virtual muhit (GitHub'ga emas)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├── config/              ← LOYIHA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│   ├── settings.py      ← barcha sozlamalar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│   ├── urls.py          ← asosiy URL'lar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│   └── wsgi.py          ← serverga joylash (41-mavzu)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└── blog/                ← ILOVA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  ├── migrations/      ← baza o'zgarishlari tarixi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  ├── admin.py         ← admin panel (37)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  ├── models.py        ← modellar (36)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  └── views.py         ← view'lar (34)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manage.py buyruqlari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33-mavzu · Django frameworkiga kirish. Arxitektura, loyiha va ilova (App) yaratish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10 / 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31391"/>
          <a:ext cx="11091672" cy="3513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501904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Buyruq</a:t>
                      </a:r>
                    </a:p>
                  </a:txBody>
                  <a:tcPr marL="73152" marR="73152" marT="36576" marB="36576">
                    <a:solidFill>
                      <a:srgbClr val="1F7A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Vazifasi</a:t>
                      </a:r>
                    </a:p>
                  </a:txBody>
                  <a:tcPr marL="73152" marR="73152" marT="36576" marB="36576">
                    <a:solidFill>
                      <a:srgbClr val="1F7A4D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runserver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Serverni ishga tushirish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startapp nom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Yangi ilova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makemigrations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Model o'zgarishlaridan migratsiya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migrate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Migratsiyalarni bazaga qo'llash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createsuperuser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Admin foydalanuvchi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shell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Loyiha ichida Python konsoli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settings.py — asosiy sozlamalar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33-mavzu · Django frameworkiga kirish. Arxitektura, loyiha va ilova (App) yaratish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11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1956"/>
            <a:ext cx="11091672" cy="3402787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16820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91140"/>
            <a:ext cx="10725912" cy="305531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360" b="0">
                <a:solidFill>
                  <a:srgbClr val="C678DD"/>
                </a:solidFill>
                <a:latin typeface="Consolas"/>
              </a:rPr>
              <a:t>import</a:t>
            </a:r>
            <a:r>
              <a:rPr sz="1360" b="0">
                <a:solidFill>
                  <a:srgbClr val="E6E6E6"/>
                </a:solidFill>
                <a:latin typeface="Consolas"/>
              </a:rPr>
              <a:t> os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C678DD"/>
                </a:solidFill>
                <a:latin typeface="Consolas"/>
              </a:rPr>
              <a:t>from</a:t>
            </a:r>
            <a:r>
              <a:rPr sz="1360" b="0">
                <a:solidFill>
                  <a:srgbClr val="E6E6E6"/>
                </a:solidFill>
                <a:latin typeface="Consolas"/>
              </a:rPr>
              <a:t> pathlib </a:t>
            </a:r>
            <a:r>
              <a:rPr sz="1360" b="0">
                <a:solidFill>
                  <a:srgbClr val="C678DD"/>
                </a:solidFill>
                <a:latin typeface="Consolas"/>
              </a:rPr>
              <a:t>import</a:t>
            </a:r>
            <a:r>
              <a:rPr sz="1360" b="0">
                <a:solidFill>
                  <a:srgbClr val="E6E6E6"/>
                </a:solidFill>
                <a:latin typeface="Consolas"/>
              </a:rPr>
              <a:t> Path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C678DD"/>
                </a:solidFill>
                <a:latin typeface="Consolas"/>
              </a:rPr>
              <a:t>from</a:t>
            </a:r>
            <a:r>
              <a:rPr sz="1360" b="0">
                <a:solidFill>
                  <a:srgbClr val="E6E6E6"/>
                </a:solidFill>
                <a:latin typeface="Consolas"/>
              </a:rPr>
              <a:t> dotenv </a:t>
            </a:r>
            <a:r>
              <a:rPr sz="1360" b="0">
                <a:solidFill>
                  <a:srgbClr val="C678DD"/>
                </a:solidFill>
                <a:latin typeface="Consolas"/>
              </a:rPr>
              <a:t>import</a:t>
            </a:r>
            <a:r>
              <a:rPr sz="1360" b="0">
                <a:solidFill>
                  <a:srgbClr val="E6E6E6"/>
                </a:solidFill>
                <a:latin typeface="Consolas"/>
              </a:rPr>
              <a:t> load_dotenv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BASE_DIR = Path(__file__).resolve().parent.parent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load_dotenv(BASE_DIR / </a:t>
            </a:r>
            <a:r>
              <a:rPr sz="1360" b="0">
                <a:solidFill>
                  <a:srgbClr val="98C379"/>
                </a:solidFill>
                <a:latin typeface="Consolas"/>
              </a:rPr>
              <a:t>".env"</a:t>
            </a:r>
            <a:r>
              <a:rPr sz="1360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SECRET_KEY = os.getenv(</a:t>
            </a:r>
            <a:r>
              <a:rPr sz="1360" b="0">
                <a:solidFill>
                  <a:srgbClr val="98C379"/>
                </a:solidFill>
                <a:latin typeface="Consolas"/>
              </a:rPr>
              <a:t>"SECRET_KEY"</a:t>
            </a:r>
            <a:r>
              <a:rPr sz="1360" b="0">
                <a:solidFill>
                  <a:srgbClr val="E6E6E6"/>
                </a:solidFill>
                <a:latin typeface="Consolas"/>
              </a:rPr>
              <a:t>)                 # MAXFIY!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DEBUG = os.getenv(</a:t>
            </a:r>
            <a:r>
              <a:rPr sz="1360" b="0">
                <a:solidFill>
                  <a:srgbClr val="98C379"/>
                </a:solidFill>
                <a:latin typeface="Consolas"/>
              </a:rPr>
              <a:t>"DEBUG"</a:t>
            </a:r>
            <a:r>
              <a:rPr sz="1360" b="0">
                <a:solidFill>
                  <a:srgbClr val="E6E6E6"/>
                </a:solidFill>
                <a:latin typeface="Consolas"/>
              </a:rPr>
              <a:t>, </a:t>
            </a:r>
            <a:r>
              <a:rPr sz="1360" b="0">
                <a:solidFill>
                  <a:srgbClr val="98C379"/>
                </a:solidFill>
                <a:latin typeface="Consolas"/>
              </a:rPr>
              <a:t>"True"</a:t>
            </a:r>
            <a:r>
              <a:rPr sz="1360" b="0">
                <a:solidFill>
                  <a:srgbClr val="E6E6E6"/>
                </a:solidFill>
                <a:latin typeface="Consolas"/>
              </a:rPr>
              <a:t>) == </a:t>
            </a:r>
            <a:r>
              <a:rPr sz="1360" b="0">
                <a:solidFill>
                  <a:srgbClr val="98C379"/>
                </a:solidFill>
                <a:latin typeface="Consolas"/>
              </a:rPr>
              <a:t>"True"</a:t>
            </a:r>
            <a:r>
              <a:rPr sz="1360" b="0">
                <a:solidFill>
                  <a:srgbClr val="E6E6E6"/>
                </a:solidFill>
                <a:latin typeface="Consolas"/>
              </a:rPr>
              <a:t>         # serverda </a:t>
            </a:r>
            <a:r>
              <a:rPr sz="1360" b="0">
                <a:solidFill>
                  <a:srgbClr val="C678DD"/>
                </a:solidFill>
                <a:latin typeface="Consolas"/>
              </a:rPr>
              <a:t>False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ALLOWED_HOSTS = os.getenv(</a:t>
            </a:r>
            <a:r>
              <a:rPr sz="1360" b="0">
                <a:solidFill>
                  <a:srgbClr val="98C379"/>
                </a:solidFill>
                <a:latin typeface="Consolas"/>
              </a:rPr>
              <a:t>"ALLOWED_HOSTS"</a:t>
            </a:r>
            <a:r>
              <a:rPr sz="1360" b="0">
                <a:solidFill>
                  <a:srgbClr val="E6E6E6"/>
                </a:solidFill>
                <a:latin typeface="Consolas"/>
              </a:rPr>
              <a:t>, </a:t>
            </a:r>
            <a:r>
              <a:rPr sz="1360" b="0">
                <a:solidFill>
                  <a:srgbClr val="98C379"/>
                </a:solidFill>
                <a:latin typeface="Consolas"/>
              </a:rPr>
              <a:t>"127.0.0.1,localhost"</a:t>
            </a:r>
            <a:r>
              <a:rPr sz="1360" b="0">
                <a:solidFill>
                  <a:srgbClr val="E6E6E6"/>
                </a:solidFill>
                <a:latin typeface="Consolas"/>
              </a:rPr>
              <a:t>).split(</a:t>
            </a:r>
            <a:r>
              <a:rPr sz="1360" b="0">
                <a:solidFill>
                  <a:srgbClr val="98C379"/>
                </a:solidFill>
                <a:latin typeface="Consolas"/>
              </a:rPr>
              <a:t>","</a:t>
            </a:r>
            <a:r>
              <a:rPr sz="1360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LANGUAGE_CODE = </a:t>
            </a:r>
            <a:r>
              <a:rPr sz="1360" b="0">
                <a:solidFill>
                  <a:srgbClr val="98C379"/>
                </a:solidFill>
                <a:latin typeface="Consolas"/>
              </a:rPr>
              <a:t>"uz"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TIME_ZONE = </a:t>
            </a:r>
            <a:r>
              <a:rPr sz="1360" b="0">
                <a:solidFill>
                  <a:srgbClr val="98C379"/>
                </a:solidFill>
                <a:latin typeface="Consolas"/>
              </a:rPr>
              <a:t>"Asia/Tashkent"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084199"/>
            <a:ext cx="11091672" cy="859282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084199"/>
            <a:ext cx="82296" cy="85928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175639"/>
            <a:ext cx="10725912" cy="69469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⚠️ </a:t>
            </a:r>
            <a:r>
              <a:rPr sz="1748" b="0">
                <a:solidFill>
                  <a:srgbClr val="B02A4A"/>
                </a:solidFill>
                <a:latin typeface="Consolas"/>
              </a:rPr>
              <a:t>SECRET_KEY</a:t>
            </a:r>
            <a:r>
              <a:rPr sz="1900" b="0">
                <a:solidFill>
                  <a:srgbClr val="1F232B"/>
                </a:solidFill>
                <a:latin typeface="Calibri"/>
              </a:rPr>
              <a:t> — GitHub'ga yuklanmaydi; </a:t>
            </a:r>
            <a:r>
              <a:rPr sz="1748" b="0">
                <a:solidFill>
                  <a:srgbClr val="B02A4A"/>
                </a:solidFill>
                <a:latin typeface="Consolas"/>
              </a:rPr>
              <a:t>DEBUG = True</a:t>
            </a:r>
            <a:r>
              <a:rPr sz="1900" b="0">
                <a:solidFill>
                  <a:srgbClr val="1F232B"/>
                </a:solidFill>
                <a:latin typeface="Calibri"/>
              </a:rPr>
              <a:t> — faqat o'rganishda, internetda </a:t>
            </a:r>
            <a:r>
              <a:rPr sz="1900" b="1">
                <a:solidFill>
                  <a:srgbClr val="1F232B"/>
                </a:solidFill>
                <a:latin typeface="Calibri"/>
              </a:rPr>
              <a:t>doim False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PostgreSQL'ga ulash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33-mavzu · Django frameworkiga kirish. Arxitektura, loyiha va ilova (App) yaratish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12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362956" cy="2673217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72184"/>
            <a:ext cx="4997196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.env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46504"/>
            <a:ext cx="4997196" cy="232574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SECRET_KEY=uzun-tasodifiy-satr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DEBUG=True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DB_NAME=maktab_blog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DB_USER=postgres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DB_PASSWORD=SIZNING_PAROLINGIZ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DB_HOST=localhost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DB_PORT=5432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7356" y="1417320"/>
            <a:ext cx="5362956" cy="2571715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0236" y="1472184"/>
            <a:ext cx="4997196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settings.py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0236" y="1746504"/>
            <a:ext cx="4997196" cy="222424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272" b="0">
                <a:solidFill>
                  <a:srgbClr val="E6E6E6"/>
                </a:solidFill>
                <a:latin typeface="Consolas"/>
              </a:rPr>
              <a:t>DATABASES = {</a:t>
            </a:r>
          </a:p>
          <a:p>
            <a:pPr>
              <a:lnSpc>
                <a:spcPct val="100000"/>
              </a:lnSpc>
            </a:pPr>
            <a:r>
              <a:rPr sz="1272" b="0">
                <a:solidFill>
                  <a:srgbClr val="E6E6E6"/>
                </a:solidFill>
                <a:latin typeface="Consolas"/>
              </a:rPr>
              <a:t>    </a:t>
            </a:r>
            <a:r>
              <a:rPr sz="1272" b="0">
                <a:solidFill>
                  <a:srgbClr val="98C379"/>
                </a:solidFill>
                <a:latin typeface="Consolas"/>
              </a:rPr>
              <a:t>"default"</a:t>
            </a:r>
            <a:r>
              <a:rPr sz="1272" b="0">
                <a:solidFill>
                  <a:srgbClr val="E6E6E6"/>
                </a:solidFill>
                <a:latin typeface="Consolas"/>
              </a:rPr>
              <a:t>: {</a:t>
            </a:r>
          </a:p>
          <a:p>
            <a:pPr>
              <a:lnSpc>
                <a:spcPct val="100000"/>
              </a:lnSpc>
            </a:pPr>
            <a:r>
              <a:rPr sz="1272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272" b="0">
                <a:solidFill>
                  <a:srgbClr val="98C379"/>
                </a:solidFill>
                <a:latin typeface="Consolas"/>
              </a:rPr>
              <a:t>"ENGINE"</a:t>
            </a:r>
            <a:r>
              <a:rPr sz="1272" b="0">
                <a:solidFill>
                  <a:srgbClr val="E6E6E6"/>
                </a:solidFill>
                <a:latin typeface="Consolas"/>
              </a:rPr>
              <a:t>: </a:t>
            </a:r>
            <a:r>
              <a:rPr sz="1272" b="0">
                <a:solidFill>
                  <a:srgbClr val="98C379"/>
                </a:solidFill>
                <a:latin typeface="Consolas"/>
              </a:rPr>
              <a:t>"django.db.backends.postgresql"</a:t>
            </a:r>
            <a:r>
              <a:rPr sz="1272" b="0">
                <a:solidFill>
                  <a:srgbClr val="E6E6E6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</a:pPr>
            <a:r>
              <a:rPr sz="1272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272" b="0">
                <a:solidFill>
                  <a:srgbClr val="98C379"/>
                </a:solidFill>
                <a:latin typeface="Consolas"/>
              </a:rPr>
              <a:t>"NAME"</a:t>
            </a:r>
            <a:r>
              <a:rPr sz="1272" b="0">
                <a:solidFill>
                  <a:srgbClr val="E6E6E6"/>
                </a:solidFill>
                <a:latin typeface="Consolas"/>
              </a:rPr>
              <a:t>: os.getenv(</a:t>
            </a:r>
            <a:r>
              <a:rPr sz="1272" b="0">
                <a:solidFill>
                  <a:srgbClr val="98C379"/>
                </a:solidFill>
                <a:latin typeface="Consolas"/>
              </a:rPr>
              <a:t>"DB_NAME"</a:t>
            </a:r>
            <a:r>
              <a:rPr sz="1272" b="0">
                <a:solidFill>
                  <a:srgbClr val="E6E6E6"/>
                </a:solidFill>
                <a:latin typeface="Consolas"/>
              </a:rPr>
              <a:t>),</a:t>
            </a:r>
          </a:p>
          <a:p>
            <a:pPr>
              <a:lnSpc>
                <a:spcPct val="100000"/>
              </a:lnSpc>
            </a:pPr>
            <a:r>
              <a:rPr sz="1272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272" b="0">
                <a:solidFill>
                  <a:srgbClr val="98C379"/>
                </a:solidFill>
                <a:latin typeface="Consolas"/>
              </a:rPr>
              <a:t>"USER"</a:t>
            </a:r>
            <a:r>
              <a:rPr sz="1272" b="0">
                <a:solidFill>
                  <a:srgbClr val="E6E6E6"/>
                </a:solidFill>
                <a:latin typeface="Consolas"/>
              </a:rPr>
              <a:t>: os.getenv(</a:t>
            </a:r>
            <a:r>
              <a:rPr sz="1272" b="0">
                <a:solidFill>
                  <a:srgbClr val="98C379"/>
                </a:solidFill>
                <a:latin typeface="Consolas"/>
              </a:rPr>
              <a:t>"DB_USER"</a:t>
            </a:r>
            <a:r>
              <a:rPr sz="1272" b="0">
                <a:solidFill>
                  <a:srgbClr val="E6E6E6"/>
                </a:solidFill>
                <a:latin typeface="Consolas"/>
              </a:rPr>
              <a:t>),</a:t>
            </a:r>
          </a:p>
          <a:p>
            <a:pPr>
              <a:lnSpc>
                <a:spcPct val="100000"/>
              </a:lnSpc>
            </a:pPr>
            <a:r>
              <a:rPr sz="1272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272" b="0">
                <a:solidFill>
                  <a:srgbClr val="98C379"/>
                </a:solidFill>
                <a:latin typeface="Consolas"/>
              </a:rPr>
              <a:t>"PASSWORD"</a:t>
            </a:r>
            <a:r>
              <a:rPr sz="1272" b="0">
                <a:solidFill>
                  <a:srgbClr val="E6E6E6"/>
                </a:solidFill>
                <a:latin typeface="Consolas"/>
              </a:rPr>
              <a:t>: os.getenv(</a:t>
            </a:r>
            <a:r>
              <a:rPr sz="1272" b="0">
                <a:solidFill>
                  <a:srgbClr val="98C379"/>
                </a:solidFill>
                <a:latin typeface="Consolas"/>
              </a:rPr>
              <a:t>"DB_PASSWORD"</a:t>
            </a:r>
            <a:r>
              <a:rPr sz="1272" b="0">
                <a:solidFill>
                  <a:srgbClr val="E6E6E6"/>
                </a:solidFill>
                <a:latin typeface="Consolas"/>
              </a:rPr>
              <a:t>),</a:t>
            </a:r>
          </a:p>
          <a:p>
            <a:pPr>
              <a:lnSpc>
                <a:spcPct val="100000"/>
              </a:lnSpc>
            </a:pPr>
            <a:r>
              <a:rPr sz="1272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272" b="0">
                <a:solidFill>
                  <a:srgbClr val="98C379"/>
                </a:solidFill>
                <a:latin typeface="Consolas"/>
              </a:rPr>
              <a:t>"HOST"</a:t>
            </a:r>
            <a:r>
              <a:rPr sz="1272" b="0">
                <a:solidFill>
                  <a:srgbClr val="E6E6E6"/>
                </a:solidFill>
                <a:latin typeface="Consolas"/>
              </a:rPr>
              <a:t>: os.getenv(</a:t>
            </a:r>
            <a:r>
              <a:rPr sz="1272" b="0">
                <a:solidFill>
                  <a:srgbClr val="98C379"/>
                </a:solidFill>
                <a:latin typeface="Consolas"/>
              </a:rPr>
              <a:t>"DB_HOST"</a:t>
            </a:r>
            <a:r>
              <a:rPr sz="1272" b="0">
                <a:solidFill>
                  <a:srgbClr val="E6E6E6"/>
                </a:solidFill>
                <a:latin typeface="Consolas"/>
              </a:rPr>
              <a:t>),</a:t>
            </a:r>
          </a:p>
          <a:p>
            <a:pPr>
              <a:lnSpc>
                <a:spcPct val="100000"/>
              </a:lnSpc>
            </a:pPr>
            <a:r>
              <a:rPr sz="1272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272" b="0">
                <a:solidFill>
                  <a:srgbClr val="98C379"/>
                </a:solidFill>
                <a:latin typeface="Consolas"/>
              </a:rPr>
              <a:t>"PORT"</a:t>
            </a:r>
            <a:r>
              <a:rPr sz="1272" b="0">
                <a:solidFill>
                  <a:srgbClr val="E6E6E6"/>
                </a:solidFill>
                <a:latin typeface="Consolas"/>
              </a:rPr>
              <a:t>: os.getenv(</a:t>
            </a:r>
            <a:r>
              <a:rPr sz="1272" b="0">
                <a:solidFill>
                  <a:srgbClr val="98C379"/>
                </a:solidFill>
                <a:latin typeface="Consolas"/>
              </a:rPr>
              <a:t>"DB_PORT"</a:t>
            </a:r>
            <a:r>
              <a:rPr sz="1272" b="0">
                <a:solidFill>
                  <a:srgbClr val="E6E6E6"/>
                </a:solidFill>
                <a:latin typeface="Consolas"/>
              </a:rPr>
              <a:t>),</a:t>
            </a:r>
          </a:p>
          <a:p>
            <a:pPr>
              <a:lnSpc>
                <a:spcPct val="100000"/>
              </a:lnSpc>
            </a:pPr>
            <a:r>
              <a:rPr sz="1272" b="0">
                <a:solidFill>
                  <a:srgbClr val="E6E6E6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</a:pPr>
            <a:r>
              <a:rPr sz="1272" b="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88836" y="4208491"/>
            <a:ext cx="4951476" cy="1832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Keyin: </a:t>
            </a:r>
            <a:r>
              <a:rPr sz="2576" b="0">
                <a:solidFill>
                  <a:srgbClr val="B02A4A"/>
                </a:solidFill>
                <a:latin typeface="Consolas"/>
              </a:rPr>
              <a:t>python manage.py migrate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Django o'z jadvallarini yaratadi (</a:t>
            </a:r>
            <a:r>
              <a:rPr sz="2576" b="0">
                <a:solidFill>
                  <a:srgbClr val="B02A4A"/>
                </a:solidFill>
                <a:latin typeface="Consolas"/>
              </a:rPr>
              <a:t>auth_user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django_session</a:t>
            </a:r>
            <a:r>
              <a:rPr sz="2800" b="0">
                <a:solidFill>
                  <a:srgbClr val="1F232B"/>
                </a:solidFill>
                <a:latin typeface="Calibri"/>
              </a:rPr>
              <a:t>...)</a:t>
            </a:r>
          </a:p>
        </p:txBody>
      </p:sp>
      <p:sp>
        <p:nvSpPr>
          <p:cNvPr id="14" name="Oval 13"/>
          <p:cNvSpPr/>
          <p:nvPr/>
        </p:nvSpPr>
        <p:spPr>
          <a:xfrm>
            <a:off x="6387084" y="4368511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Birinchi sahifa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33-mavzu · Django frameworkiga kirish. Arxitektura, loyiha va ilova (App) yaratish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13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37619"/>
            <a:ext cx="11091672" cy="1442069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92483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blog/views.py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66803"/>
            <a:ext cx="10725912" cy="1094597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from</a:t>
            </a:r>
            <a:r>
              <a:rPr sz="1496" b="0">
                <a:solidFill>
                  <a:srgbClr val="E6E6E6"/>
                </a:solidFill>
                <a:latin typeface="Consolas"/>
              </a:rPr>
              <a:t> django.http </a:t>
            </a:r>
            <a:r>
              <a:rPr sz="1496" b="0">
                <a:solidFill>
                  <a:srgbClr val="C678DD"/>
                </a:solidFill>
                <a:latin typeface="Consolas"/>
              </a:rPr>
              <a:t>import</a:t>
            </a:r>
            <a:r>
              <a:rPr sz="1496" b="0">
                <a:solidFill>
                  <a:srgbClr val="E6E6E6"/>
                </a:solidFill>
                <a:latin typeface="Consolas"/>
              </a:rPr>
              <a:t> HttpResponse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def</a:t>
            </a:r>
            <a:r>
              <a:rPr sz="1496" b="0">
                <a:solidFill>
                  <a:srgbClr val="E6E6E6"/>
                </a:solidFill>
                <a:latin typeface="Consolas"/>
              </a:rPr>
              <a:t> bosh_sahifa(request):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</a:t>
            </a:r>
            <a:r>
              <a:rPr sz="1496" b="0">
                <a:solidFill>
                  <a:srgbClr val="C678DD"/>
                </a:solidFill>
                <a:latin typeface="Consolas"/>
              </a:rPr>
              <a:t>return</a:t>
            </a:r>
            <a:r>
              <a:rPr sz="1496" b="0">
                <a:solidFill>
                  <a:srgbClr val="E6E6E6"/>
                </a:solidFill>
                <a:latin typeface="Consolas"/>
              </a:rPr>
              <a:t> HttpResponse(</a:t>
            </a:r>
            <a:r>
              <a:rPr sz="1496" b="0">
                <a:solidFill>
                  <a:srgbClr val="98C379"/>
                </a:solidFill>
                <a:latin typeface="Consolas"/>
              </a:rPr>
              <a:t>"Maktab blogiga xush kelibsiz! 🎉"</a:t>
            </a:r>
            <a:r>
              <a:rPr sz="1496" b="0">
                <a:solidFill>
                  <a:srgbClr val="E6E6E6"/>
                </a:solidFill>
                <a:latin typeface="Consolas"/>
              </a:rPr>
              <a:t>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99145"/>
            <a:ext cx="11091672" cy="2445227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154009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config/urls.py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28329"/>
            <a:ext cx="10725912" cy="209775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from</a:t>
            </a:r>
            <a:r>
              <a:rPr sz="1496" b="0">
                <a:solidFill>
                  <a:srgbClr val="E6E6E6"/>
                </a:solidFill>
                <a:latin typeface="Consolas"/>
              </a:rPr>
              <a:t> django.contrib </a:t>
            </a:r>
            <a:r>
              <a:rPr sz="1496" b="0">
                <a:solidFill>
                  <a:srgbClr val="C678DD"/>
                </a:solidFill>
                <a:latin typeface="Consolas"/>
              </a:rPr>
              <a:t>import</a:t>
            </a:r>
            <a:r>
              <a:rPr sz="1496" b="0">
                <a:solidFill>
                  <a:srgbClr val="E6E6E6"/>
                </a:solidFill>
                <a:latin typeface="Consolas"/>
              </a:rPr>
              <a:t> admin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from</a:t>
            </a:r>
            <a:r>
              <a:rPr sz="1496" b="0">
                <a:solidFill>
                  <a:srgbClr val="E6E6E6"/>
                </a:solidFill>
                <a:latin typeface="Consolas"/>
              </a:rPr>
              <a:t> django.urls </a:t>
            </a:r>
            <a:r>
              <a:rPr sz="1496" b="0">
                <a:solidFill>
                  <a:srgbClr val="C678DD"/>
                </a:solidFill>
                <a:latin typeface="Consolas"/>
              </a:rPr>
              <a:t>import</a:t>
            </a:r>
            <a:r>
              <a:rPr sz="1496" b="0">
                <a:solidFill>
                  <a:srgbClr val="E6E6E6"/>
                </a:solidFill>
                <a:latin typeface="Consolas"/>
              </a:rPr>
              <a:t> path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from</a:t>
            </a:r>
            <a:r>
              <a:rPr sz="1496" b="0">
                <a:solidFill>
                  <a:srgbClr val="E6E6E6"/>
                </a:solidFill>
                <a:latin typeface="Consolas"/>
              </a:rPr>
              <a:t> blog </a:t>
            </a:r>
            <a:r>
              <a:rPr sz="1496" b="0">
                <a:solidFill>
                  <a:srgbClr val="C678DD"/>
                </a:solidFill>
                <a:latin typeface="Consolas"/>
              </a:rPr>
              <a:t>import</a:t>
            </a:r>
            <a:r>
              <a:rPr sz="1496" b="0">
                <a:solidFill>
                  <a:srgbClr val="E6E6E6"/>
                </a:solidFill>
                <a:latin typeface="Consolas"/>
              </a:rPr>
              <a:t> views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urlpatterns = [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path(</a:t>
            </a:r>
            <a:r>
              <a:rPr sz="1496" b="0">
                <a:solidFill>
                  <a:srgbClr val="98C379"/>
                </a:solidFill>
                <a:latin typeface="Consolas"/>
              </a:rPr>
              <a:t>"admin/"</a:t>
            </a:r>
            <a:r>
              <a:rPr sz="1496" b="0">
                <a:solidFill>
                  <a:srgbClr val="E6E6E6"/>
                </a:solidFill>
                <a:latin typeface="Consolas"/>
              </a:rPr>
              <a:t>, admin.site.urls),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path(</a:t>
            </a:r>
            <a:r>
              <a:rPr sz="1496" b="0">
                <a:solidFill>
                  <a:srgbClr val="98C379"/>
                </a:solidFill>
                <a:latin typeface="Consolas"/>
              </a:rPr>
              <a:t>""</a:t>
            </a:r>
            <a:r>
              <a:rPr sz="1496" b="0">
                <a:solidFill>
                  <a:srgbClr val="E6E6E6"/>
                </a:solidFill>
                <a:latin typeface="Consolas"/>
              </a:rPr>
              <a:t>, views.bosh_sahifa),      # bosh sahifa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763828"/>
            <a:ext cx="10680192" cy="4041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1F232B"/>
                </a:solidFill>
                <a:latin typeface="Calibri"/>
              </a:rPr>
              <a:t>Bosh sahifani yangilang — raketa o'rnida sizning xabaringiz!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5889558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Amaliyot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33-mavzu · Django frameworkiga kirish. Arxitektura, loyiha va ilova (App) yaratish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14 / 26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8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444752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600" b="0">
                <a:solidFill>
                  <a:srgbClr val="1F232B"/>
                </a:solidFill>
                <a:latin typeface="Calibri"/>
              </a:rPr>
              <a:t>venv → Django → </a:t>
            </a:r>
            <a:r>
              <a:rPr sz="1472" b="0">
                <a:solidFill>
                  <a:srgbClr val="B02A4A"/>
                </a:solidFill>
                <a:latin typeface="Consolas"/>
              </a:rPr>
              <a:t>config</a:t>
            </a:r>
            <a:r>
              <a:rPr sz="1600" b="0">
                <a:solidFill>
                  <a:srgbClr val="1F232B"/>
                </a:solidFill>
                <a:latin typeface="Calibri"/>
              </a:rPr>
              <a:t> → </a:t>
            </a:r>
            <a:r>
              <a:rPr sz="1472" b="0">
                <a:solidFill>
                  <a:srgbClr val="B02A4A"/>
                </a:solidFill>
                <a:latin typeface="Consolas"/>
              </a:rPr>
              <a:t>blog</a:t>
            </a:r>
            <a:r>
              <a:rPr sz="1600" b="0">
                <a:solidFill>
                  <a:srgbClr val="1F232B"/>
                </a:solidFill>
                <a:latin typeface="Calibri"/>
              </a:rPr>
              <a:t> → PostgreSQL → </a:t>
            </a:r>
            <a:r>
              <a:rPr sz="1472" b="0">
                <a:solidFill>
                  <a:srgbClr val="B02A4A"/>
                </a:solidFill>
                <a:latin typeface="Consolas"/>
              </a:rPr>
              <a:t>migrate</a:t>
            </a:r>
            <a:r>
              <a:rPr sz="1600" b="0">
                <a:solidFill>
                  <a:srgbClr val="1F232B"/>
                </a:solidFill>
                <a:latin typeface="Calibri"/>
              </a:rPr>
              <a:t> → birinchi sahifa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093976"/>
            <a:ext cx="457200" cy="457200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8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121408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72" b="0">
                <a:solidFill>
                  <a:srgbClr val="B02A4A"/>
                </a:solidFill>
                <a:latin typeface="Consolas"/>
              </a:rPr>
              <a:t>pip freeze &gt; requirements.txt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770632"/>
            <a:ext cx="457200" cy="457200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8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2798064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600" b="0">
                <a:solidFill>
                  <a:srgbClr val="1F232B"/>
                </a:solidFill>
                <a:latin typeface="Calibri"/>
              </a:rPr>
              <a:t>Git + GitHub (</a:t>
            </a:r>
            <a:r>
              <a:rPr sz="1472" b="0">
                <a:solidFill>
                  <a:srgbClr val="B02A4A"/>
                </a:solidFill>
                <a:latin typeface="Consolas"/>
              </a:rPr>
              <a:t>.env</a:t>
            </a:r>
            <a:r>
              <a:rPr sz="1600" b="0">
                <a:solidFill>
                  <a:srgbClr val="1F232B"/>
                </a:solidFill>
                <a:latin typeface="Calibri"/>
              </a:rPr>
              <a:t> va </a:t>
            </a:r>
            <a:r>
              <a:rPr sz="1472" b="0">
                <a:solidFill>
                  <a:srgbClr val="B02A4A"/>
                </a:solidFill>
                <a:latin typeface="Consolas"/>
              </a:rPr>
              <a:t>venv</a:t>
            </a:r>
            <a:r>
              <a:rPr sz="1600" b="0">
                <a:solidFill>
                  <a:srgbClr val="1F232B"/>
                </a:solidFill>
                <a:latin typeface="Calibri"/>
              </a:rPr>
              <a:t> </a:t>
            </a:r>
            <a:r>
              <a:rPr sz="1600" b="1">
                <a:solidFill>
                  <a:srgbClr val="1F232B"/>
                </a:solidFill>
                <a:latin typeface="Calibri"/>
              </a:rPr>
              <a:t>yuklanmasin</a:t>
            </a:r>
            <a:r>
              <a:rPr sz="1600" b="0">
                <a:solidFill>
                  <a:srgbClr val="1F232B"/>
                </a:solidFill>
                <a:latin typeface="Calibri"/>
              </a:rPr>
              <a:t>!)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447288"/>
            <a:ext cx="457200" cy="457200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8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19" y="3474720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600" b="0">
                <a:solidFill>
                  <a:srgbClr val="1F232B"/>
                </a:solidFill>
                <a:latin typeface="Calibri"/>
              </a:rPr>
              <a:t>Ataylab xato qiling (</a:t>
            </a:r>
            <a:r>
              <a:rPr sz="1472" b="0">
                <a:solidFill>
                  <a:srgbClr val="B02A4A"/>
                </a:solidFill>
                <a:latin typeface="Consolas"/>
              </a:rPr>
              <a:t>HttpRespons</a:t>
            </a:r>
            <a:r>
              <a:rPr sz="1600" b="0">
                <a:solidFill>
                  <a:srgbClr val="1F232B"/>
                </a:solidFill>
                <a:latin typeface="Calibri"/>
              </a:rPr>
              <a:t>) — Django'ning </a:t>
            </a:r>
            <a:r>
              <a:rPr sz="1600" b="1">
                <a:solidFill>
                  <a:srgbClr val="1F232B"/>
                </a:solidFill>
                <a:latin typeface="Calibri"/>
              </a:rPr>
              <a:t>sariq xato sahifasini</a:t>
            </a:r>
            <a:r>
              <a:rPr sz="1600" b="0">
                <a:solidFill>
                  <a:srgbClr val="1F232B"/>
                </a:solidFill>
                <a:latin typeface="Calibri"/>
              </a:rPr>
              <a:t> o'qing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123944"/>
            <a:ext cx="457200" cy="457200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8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19" y="4151376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72" b="0">
                <a:solidFill>
                  <a:srgbClr val="B02A4A"/>
                </a:solidFill>
                <a:latin typeface="Consolas"/>
              </a:rPr>
              <a:t>python manage.py</a:t>
            </a:r>
            <a:r>
              <a:rPr sz="1600" b="0">
                <a:solidFill>
                  <a:srgbClr val="1F232B"/>
                </a:solidFill>
                <a:latin typeface="Calibri"/>
              </a:rPr>
              <a:t> — mavjud buyruqlar ro'yxati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800600"/>
            <a:ext cx="11091672" cy="1350873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855464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.gitignore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129784"/>
            <a:ext cx="10725912" cy="1003401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venv/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.env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__pycache__/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*.pyc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db.sqlite3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Ko'p uchraydigan xatolar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33-mavzu · Django frameworkiga kirish. Arxitektura, loyiha va ilova (App) yaratish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15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No module named 'django'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venv faol emas (terminalda </a:t>
            </a:r>
            <a:r>
              <a:rPr sz="2576" b="0">
                <a:solidFill>
                  <a:srgbClr val="B02A4A"/>
                </a:solidFill>
                <a:latin typeface="Consolas"/>
              </a:rPr>
              <a:t>(venv)</a:t>
            </a:r>
            <a:r>
              <a:rPr sz="2800" b="0">
                <a:solidFill>
                  <a:srgbClr val="1F232B"/>
                </a:solidFill>
                <a:latin typeface="Calibri"/>
              </a:rPr>
              <a:t> yo'q)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70911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startproject config</a:t>
            </a:r>
            <a:r>
              <a:rPr sz="2800" b="0">
                <a:solidFill>
                  <a:srgbClr val="1F232B"/>
                </a:solidFill>
                <a:latin typeface="Calibri"/>
              </a:rPr>
              <a:t> (nuqtasiz) — </a:t>
            </a:r>
            <a:r>
              <a:rPr sz="2576" b="0">
                <a:solidFill>
                  <a:srgbClr val="B02A4A"/>
                </a:solidFill>
                <a:latin typeface="Consolas"/>
              </a:rPr>
              <a:t>config/config/</a:t>
            </a:r>
            <a:r>
              <a:rPr sz="2800" b="0">
                <a:solidFill>
                  <a:srgbClr val="1F232B"/>
                </a:solidFill>
                <a:latin typeface="Calibri"/>
              </a:rPr>
              <a:t> papkasi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630931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524503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Ilova </a:t>
            </a:r>
            <a:r>
              <a:rPr sz="2576" b="0">
                <a:solidFill>
                  <a:srgbClr val="B02A4A"/>
                </a:solidFill>
                <a:latin typeface="Consolas"/>
              </a:rPr>
              <a:t>INSTALLED_APPS</a:t>
            </a:r>
            <a:r>
              <a:rPr sz="2800" b="0">
                <a:solidFill>
                  <a:srgbClr val="1F232B"/>
                </a:solidFill>
                <a:latin typeface="Calibri"/>
              </a:rPr>
              <a:t> ga qo'shilmagan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684523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133595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That port is already in use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server boshqa terminalda ishlayapti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293615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187187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password authentication failed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</a:t>
            </a:r>
            <a:r>
              <a:rPr sz="2576" b="0">
                <a:solidFill>
                  <a:srgbClr val="B02A4A"/>
                </a:solidFill>
                <a:latin typeface="Consolas"/>
              </a:rPr>
              <a:t>.env</a:t>
            </a:r>
            <a:r>
              <a:rPr sz="2800" b="0">
                <a:solidFill>
                  <a:srgbClr val="1F232B"/>
                </a:solidFill>
                <a:latin typeface="Calibri"/>
              </a:rPr>
              <a:t> paroli xato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5347207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33-mavzu · Django frameworkiga kirish. Arxitektura, loyiha va ilova (App) yaratish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16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Django'ning arxitekturasi qanday ataladi?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MVC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REST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MVT (Model–View–Template)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CRUD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33-mavzu · Django frameworkiga kirish. Arxitektura, loyiha va ilova (App) yaratish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17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Django'ning arxitekturasi qanday ataladi?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MVC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REST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MVT (Model–View–Template)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CRUD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33-mavzu · Django frameworkiga kirish. Arxitektura, loyiha va ilova (App) yaratish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18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Ma'lumotlar tuzilmasi va baza bilan ishlash qaysi qismda?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Model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Template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URL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33-mavzu · Django frameworkiga kirish. Arxitektura, loyiha va ilova (App) yaratish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19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Ma'lumotlar tuzilmasi va baza bilan ishlash qaysi qismda?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Model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Template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URL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33-mavzu · Django frameworkiga kirish. Arxitektura, loyiha va ilova (App) yaratish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20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Yaratilgan ilovani loyihaga qayerda ro'yxatdan o'tkazamiz?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urls.py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views.py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manage.py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settings.py</a:t>
            </a:r>
            <a:r>
              <a:rPr sz="1900" b="0">
                <a:solidFill>
                  <a:srgbClr val="1F232B"/>
                </a:solidFill>
                <a:latin typeface="Calibri"/>
              </a:rPr>
              <a:t> → </a:t>
            </a:r>
            <a:r>
              <a:rPr sz="1748" b="0">
                <a:solidFill>
                  <a:srgbClr val="B02A4A"/>
                </a:solidFill>
                <a:latin typeface="Consolas"/>
              </a:rPr>
              <a:t>INSTALLED_APPS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33-mavzu · Django frameworkiga kirish. Arxitektura, loyiha va ilova (App) yaratish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21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Yaratilgan ilovani loyihaga qayerda ro'yxatdan o'tkazamiz?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urls.py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views.py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manage.py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settings.py</a:t>
            </a:r>
            <a:r>
              <a:rPr sz="1900" b="1">
                <a:solidFill>
                  <a:srgbClr val="1F232B"/>
                </a:solidFill>
                <a:latin typeface="Calibri"/>
              </a:rPr>
              <a:t> → </a:t>
            </a:r>
            <a:r>
              <a:rPr sz="1748" b="1">
                <a:solidFill>
                  <a:srgbClr val="B02A4A"/>
                </a:solidFill>
                <a:latin typeface="Consolas"/>
              </a:rPr>
              <a:t>INSTALLED_APPS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33-mavzu · Django frameworkiga kirish. Arxitektura, loyiha va ilova (App) yaratish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22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Internetdagi (production) saytda </a:t>
            </a:r>
            <a:r>
              <a:rPr sz="2208" b="1">
                <a:solidFill>
                  <a:srgbClr val="B02A4A"/>
                </a:solidFill>
                <a:latin typeface="Consolas"/>
              </a:rPr>
              <a:t>DEBUG</a:t>
            </a:r>
            <a:r>
              <a:rPr sz="2400" b="1">
                <a:solidFill>
                  <a:srgbClr val="1F232B"/>
                </a:solidFill>
                <a:latin typeface="Calibri"/>
              </a:rPr>
              <a:t> qanday bo'lishi kerak?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True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False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Ahamiyati yo'q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None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33-mavzu · Django frameworkiga kirish. Arxitektura, loyiha va ilova (App) yaratish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23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Internetdagi (production) saytda </a:t>
            </a:r>
            <a:r>
              <a:rPr sz="2208" b="1">
                <a:solidFill>
                  <a:srgbClr val="B02A4A"/>
                </a:solidFill>
                <a:latin typeface="Consolas"/>
              </a:rPr>
              <a:t>DEBUG</a:t>
            </a:r>
            <a:r>
              <a:rPr sz="2400" b="1">
                <a:solidFill>
                  <a:srgbClr val="1F232B"/>
                </a:solidFill>
                <a:latin typeface="Calibri"/>
              </a:rPr>
              <a:t> qanday bo'lishi kerak?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True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False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Ahamiyati yo'q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None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🏠 Uyga vazifa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33-mavzu · Django frameworkiga kirish. Arxitektura, loyiha va ilova (App) yaratish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24 / 26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853818"/>
            <a:ext cx="457200" cy="457200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881250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Ikkinchi ilova </a:t>
            </a:r>
            <a:r>
              <a:rPr sz="2576" b="0">
                <a:solidFill>
                  <a:srgbClr val="B02A4A"/>
                </a:solidFill>
                <a:latin typeface="Consolas"/>
              </a:rPr>
              <a:t>pages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"Biz haqimizda" sahifasi (</a:t>
            </a:r>
            <a:r>
              <a:rPr sz="2576" b="0">
                <a:solidFill>
                  <a:srgbClr val="B02A4A"/>
                </a:solidFill>
                <a:latin typeface="Consolas"/>
              </a:rPr>
              <a:t>/haqida/</a:t>
            </a:r>
            <a:r>
              <a:rPr sz="2800" b="0">
                <a:solidFill>
                  <a:srgbClr val="1F232B"/>
                </a:solidFill>
                <a:latin typeface="Calibri"/>
              </a:rPr>
              <a:t>)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530474"/>
            <a:ext cx="457200" cy="457200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557906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MVT ni o'z hayotiy o'xshatishingiz bilan chizib tushuntiring (restoran emas!)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638930"/>
            <a:ext cx="457200" cy="457200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3666362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Django rasmiy qo'llanmasining 1-qismini o'qing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✅ Yodda tuting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33-mavzu · Django frameworkiga kirish. Arxitektura, loyiha va ilova (App) yaratish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25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Framework — tayyor karkas; Django — xavfsiz, "batareyalar bilan birga"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70911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MVT:</a:t>
            </a:r>
            <a:r>
              <a:rPr sz="2800" b="0">
                <a:solidFill>
                  <a:srgbClr val="1F232B"/>
                </a:solidFill>
                <a:latin typeface="Calibri"/>
              </a:rPr>
              <a:t> Model — View — Template + URL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630931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080004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startproject config .</a:t>
            </a:r>
            <a:r>
              <a:rPr sz="2800" b="0">
                <a:solidFill>
                  <a:srgbClr val="1F232B"/>
                </a:solidFill>
                <a:latin typeface="Calibri"/>
              </a:rPr>
              <a:t> → </a:t>
            </a:r>
            <a:r>
              <a:rPr sz="2576" b="0">
                <a:solidFill>
                  <a:srgbClr val="B02A4A"/>
                </a:solidFill>
                <a:latin typeface="Consolas"/>
              </a:rPr>
              <a:t>startapp blog</a:t>
            </a:r>
            <a:r>
              <a:rPr sz="2800" b="0">
                <a:solidFill>
                  <a:srgbClr val="1F232B"/>
                </a:solidFill>
                <a:latin typeface="Calibri"/>
              </a:rPr>
              <a:t> → </a:t>
            </a:r>
            <a:r>
              <a:rPr sz="2576" b="0">
                <a:solidFill>
                  <a:srgbClr val="B02A4A"/>
                </a:solidFill>
                <a:latin typeface="Consolas"/>
              </a:rPr>
              <a:t>INSTALLED_APPS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240023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133595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runserver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ishlab chiqish serveri; </a:t>
            </a:r>
            <a:r>
              <a:rPr sz="2576" b="0">
                <a:solidFill>
                  <a:srgbClr val="B02A4A"/>
                </a:solidFill>
                <a:latin typeface="Consolas"/>
              </a:rPr>
              <a:t>migrate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jadvallar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293615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742688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PostgreSQL: </a:t>
            </a:r>
            <a:r>
              <a:rPr sz="2576" b="0">
                <a:solidFill>
                  <a:srgbClr val="B02A4A"/>
                </a:solidFill>
                <a:latin typeface="Consolas"/>
              </a:rPr>
              <a:t>DATABASES</a:t>
            </a:r>
            <a:r>
              <a:rPr sz="2800" b="0">
                <a:solidFill>
                  <a:srgbClr val="1F232B"/>
                </a:solidFill>
                <a:latin typeface="Calibri"/>
              </a:rPr>
              <a:t>; maxfiy qiymatlar — </a:t>
            </a:r>
            <a:r>
              <a:rPr sz="2576" b="0">
                <a:solidFill>
                  <a:srgbClr val="B02A4A"/>
                </a:solidFill>
                <a:latin typeface="Consolas"/>
              </a:rPr>
              <a:t>.env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902708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7A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46304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6000" b="0">
                <a:solidFill>
                  <a:srgbClr val="1F232B"/>
                </a:solidFill>
                <a:latin typeface="Segoe UI Emoji"/>
              </a:rPr>
              <a:t>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65176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800" b="1">
                <a:solidFill>
                  <a:srgbClr val="1F232B"/>
                </a:solidFill>
                <a:latin typeface="Calibri"/>
              </a:rPr>
              <a:t>Savollar bormi?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749039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5B6370"/>
                </a:solidFill>
                <a:latin typeface="Calibri"/>
              </a:rPr>
              <a:t>Keyingi mavzu: </a:t>
            </a:r>
            <a:r>
              <a:rPr sz="2200" b="1">
                <a:solidFill>
                  <a:srgbClr val="5B6370"/>
                </a:solidFill>
                <a:latin typeface="Calibri"/>
              </a:rPr>
              <a:t>34. Django URL va View komponentlari. URL va View yordamida sahifalar yaratish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33-mavzu: Django frameworkiga kirish. Arxitektura, loyiha va ilova (App) yaratish</dc:title>
  <dc:subject/>
  <dc:creator>8-sinf · Web Full-stack dasturlash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