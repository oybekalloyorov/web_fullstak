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document.querySelector(".karta").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textContent.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e.preventDefault().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C99400"/>
                </a:solidFill>
                <a:latin typeface="Calibri"/>
              </a:rPr>
              <a:t>19-MAVZU  ·  II BOB. JAVASCRIPT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DOM va BOM bilan ishlash. JavaScript'da eventlar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DOM daraxti, elementlarni topish (querySelector), matn, atribut, uslub va class'larni o'zgartirish, element yaratish va o'chirish; BOM: window, location, localStorage, setTimeout; hodisalar va addEventListener; valyuta konvertori.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DOM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JavaScript sahifani qanday "ko'radi"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Elementlarni topish va o'zgartirish: matn, rang, class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Element </a:t>
            </a:r>
            <a:r>
              <a:rPr sz="2800" b="1">
                <a:solidFill>
                  <a:srgbClr val="1F232B"/>
                </a:solidFill>
                <a:latin typeface="Calibri"/>
              </a:rPr>
              <a:t>yaratish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o'chirish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BOM:</a:t>
            </a:r>
            <a:r>
              <a:rPr sz="2800" b="0">
                <a:solidFill>
                  <a:srgbClr val="1F232B"/>
                </a:solidFill>
                <a:latin typeface="Calibri"/>
              </a:rPr>
              <a:t> oyna, manzil, </a:t>
            </a:r>
            <a:r>
              <a:rPr sz="2576" b="0">
                <a:solidFill>
                  <a:srgbClr val="B02A4A"/>
                </a:solidFill>
                <a:latin typeface="Consolas"/>
              </a:rPr>
              <a:t>localStorage</a:t>
            </a:r>
            <a:r>
              <a:rPr sz="2800" b="0">
                <a:solidFill>
                  <a:srgbClr val="1F232B"/>
                </a:solidFill>
                <a:latin typeface="Calibri"/>
              </a:rPr>
              <a:t>, taymerlar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Hodisalar:</a:t>
            </a:r>
            <a:r>
              <a:rPr sz="2800" b="0">
                <a:solidFill>
                  <a:srgbClr val="1F232B"/>
                </a:solidFill>
                <a:latin typeface="Calibri"/>
              </a:rPr>
              <a:t> bosish, matn kiritish, forma yuborish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6278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Valyuta konvertori (13-loyiha)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62280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DOM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7030"/>
            <a:ext cx="11091672" cy="7807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190" b="1">
                <a:solidFill>
                  <a:srgbClr val="C99400"/>
                </a:solidFill>
                <a:latin typeface="Calibri"/>
              </a:rPr>
              <a:t>DOM — brauzer HTML'dan xotirada yasagan obyektlar daraxti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97490"/>
            <a:ext cx="11091672" cy="219443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5235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26674"/>
            <a:ext cx="10725912" cy="184696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document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└── html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└── body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├── h1#sarlavha  →  </a:t>
            </a:r>
            <a:r>
              <a:rPr sz="1496" b="0">
                <a:solidFill>
                  <a:srgbClr val="98C379"/>
                </a:solidFill>
                <a:latin typeface="Consolas"/>
              </a:rPr>
              <a:t>"Salom"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└── ul.royxat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    ├── li  →  </a:t>
            </a:r>
            <a:r>
              <a:rPr sz="1496" b="0">
                <a:solidFill>
                  <a:srgbClr val="98C379"/>
                </a:solidFill>
                <a:latin typeface="Consolas"/>
              </a:rPr>
              <a:t>"Olma"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    └── li  →  </a:t>
            </a:r>
            <a:r>
              <a:rPr sz="1496" b="0">
                <a:solidFill>
                  <a:srgbClr val="98C379"/>
                </a:solidFill>
                <a:latin typeface="Consolas"/>
              </a:rPr>
              <a:t>"Nok"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11384"/>
            <a:ext cx="11091672" cy="91960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811384"/>
            <a:ext cx="82296" cy="91960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02824"/>
            <a:ext cx="10725912" cy="75501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090" b="0">
                <a:solidFill>
                  <a:srgbClr val="1F232B"/>
                </a:solidFill>
                <a:latin typeface="Calibri"/>
              </a:rPr>
              <a:t>💡 </a:t>
            </a:r>
            <a:r>
              <a:rPr sz="2090" b="1">
                <a:solidFill>
                  <a:srgbClr val="1F232B"/>
                </a:solidFill>
                <a:latin typeface="Calibri"/>
              </a:rPr>
              <a:t>Oila shajarasi:</a:t>
            </a:r>
            <a:r>
              <a:rPr sz="2090" b="0">
                <a:solidFill>
                  <a:srgbClr val="1F232B"/>
                </a:solidFill>
                <a:latin typeface="Calibri"/>
              </a:rPr>
              <a:t> </a:t>
            </a:r>
            <a:r>
              <a:rPr sz="1922" b="0">
                <a:solidFill>
                  <a:srgbClr val="B02A4A"/>
                </a:solidFill>
                <a:latin typeface="Consolas"/>
              </a:rPr>
              <a:t>body</a:t>
            </a:r>
            <a:r>
              <a:rPr sz="2090" b="0">
                <a:solidFill>
                  <a:srgbClr val="1F232B"/>
                </a:solidFill>
                <a:latin typeface="Calibri"/>
              </a:rPr>
              <a:t> — bobo, </a:t>
            </a:r>
            <a:r>
              <a:rPr sz="1922" b="0">
                <a:solidFill>
                  <a:srgbClr val="B02A4A"/>
                </a:solidFill>
                <a:latin typeface="Consolas"/>
              </a:rPr>
              <a:t>ul</a:t>
            </a:r>
            <a:r>
              <a:rPr sz="2090" b="0">
                <a:solidFill>
                  <a:srgbClr val="1F232B"/>
                </a:solidFill>
                <a:latin typeface="Calibri"/>
              </a:rPr>
              <a:t> — ota, </a:t>
            </a:r>
            <a:r>
              <a:rPr sz="1922" b="0">
                <a:solidFill>
                  <a:srgbClr val="B02A4A"/>
                </a:solidFill>
                <a:latin typeface="Consolas"/>
              </a:rPr>
              <a:t>li</a:t>
            </a:r>
            <a:r>
              <a:rPr sz="2090" b="0">
                <a:solidFill>
                  <a:srgbClr val="1F232B"/>
                </a:solidFill>
                <a:latin typeface="Calibri"/>
              </a:rPr>
              <a:t> lar — bolalar. JavaScript istalgan "qarindosh"ni topib, kiyimini (uslub) o'zgartirishi, yangi farzand qo'shishi mumkin.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Elementlarni topish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97833"/>
            <a:ext cx="11091672" cy="369917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269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7017"/>
            <a:ext cx="10725912" cy="335170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7F848E"/>
                </a:solidFill>
                <a:latin typeface="Consolas"/>
              </a:rPr>
              <a:t>// CSS selektori bilan BIRINCHI mos element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sarlavha = </a:t>
            </a:r>
            <a:r>
              <a:rPr sz="1768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768" b="0">
                <a:solidFill>
                  <a:srgbClr val="E6E6E6"/>
                </a:solidFill>
                <a:latin typeface="Consolas"/>
              </a:rPr>
              <a:t>.querySelector(</a:t>
            </a:r>
            <a:r>
              <a:rPr sz="1768" b="0">
                <a:solidFill>
                  <a:srgbClr val="98C379"/>
                </a:solidFill>
                <a:latin typeface="Consolas"/>
              </a:rPr>
              <a:t>"#sarlavha"</a:t>
            </a:r>
            <a:r>
              <a:rPr sz="1768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royxat   = </a:t>
            </a:r>
            <a:r>
              <a:rPr sz="1768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768" b="0">
                <a:solidFill>
                  <a:srgbClr val="E6E6E6"/>
                </a:solidFill>
                <a:latin typeface="Consolas"/>
              </a:rPr>
              <a:t>.querySelector(</a:t>
            </a:r>
            <a:r>
              <a:rPr sz="1768" b="0">
                <a:solidFill>
                  <a:srgbClr val="98C379"/>
                </a:solidFill>
                <a:latin typeface="Consolas"/>
              </a:rPr>
              <a:t>".royxat"</a:t>
            </a:r>
            <a:r>
              <a:rPr sz="1768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li       = </a:t>
            </a:r>
            <a:r>
              <a:rPr sz="1768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768" b="0">
                <a:solidFill>
                  <a:srgbClr val="E6E6E6"/>
                </a:solidFill>
                <a:latin typeface="Consolas"/>
              </a:rPr>
              <a:t>.querySelector(</a:t>
            </a:r>
            <a:r>
              <a:rPr sz="1768" b="0">
                <a:solidFill>
                  <a:srgbClr val="98C379"/>
                </a:solidFill>
                <a:latin typeface="Consolas"/>
              </a:rPr>
              <a:t>"li"</a:t>
            </a:r>
            <a:r>
              <a:rPr sz="1768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7F848E"/>
                </a:solidFill>
                <a:latin typeface="Consolas"/>
              </a:rPr>
              <a:t>// BARCHA mos elementlar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hammaLi = </a:t>
            </a:r>
            <a:r>
              <a:rPr sz="1768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768" b="0">
                <a:solidFill>
                  <a:srgbClr val="E6E6E6"/>
                </a:solidFill>
                <a:latin typeface="Consolas"/>
              </a:rPr>
              <a:t>.querySelectorAll(</a:t>
            </a:r>
            <a:r>
              <a:rPr sz="1768" b="0">
                <a:solidFill>
                  <a:srgbClr val="98C379"/>
                </a:solidFill>
                <a:latin typeface="Consolas"/>
              </a:rPr>
              <a:t>"li"</a:t>
            </a:r>
            <a:r>
              <a:rPr sz="1768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hammaLi.forEach(li =&gt; </a:t>
            </a:r>
            <a:r>
              <a:rPr sz="1768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768" b="0">
                <a:solidFill>
                  <a:srgbClr val="E6E6E6"/>
                </a:solidFill>
                <a:latin typeface="Consolas"/>
              </a:rPr>
              <a:t>.log(li.textContent));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7F848E"/>
                </a:solidFill>
                <a:latin typeface="Consolas"/>
              </a:rPr>
              <a:t>// Eski usul (# belgisisiz!)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s = </a:t>
            </a:r>
            <a:r>
              <a:rPr sz="1768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768" b="0">
                <a:solidFill>
                  <a:srgbClr val="E6E6E6"/>
                </a:solidFill>
                <a:latin typeface="Consolas"/>
              </a:rPr>
              <a:t>.getElementById(</a:t>
            </a:r>
            <a:r>
              <a:rPr sz="1768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768" b="0">
                <a:solidFill>
                  <a:srgbClr val="E6E6E6"/>
                </a:solidFill>
                <a:latin typeface="Consolas"/>
              </a:rPr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416463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CSS'dagi selektorlar (</a:t>
            </a:r>
            <a:r>
              <a:rPr sz="2392" b="0">
                <a:solidFill>
                  <a:srgbClr val="B02A4A"/>
                </a:solidFill>
                <a:latin typeface="Consolas"/>
              </a:rPr>
              <a:t>#id</a:t>
            </a:r>
            <a:r>
              <a:rPr sz="2600" b="0">
                <a:solidFill>
                  <a:srgbClr val="1F232B"/>
                </a:solidFill>
                <a:latin typeface="Calibri"/>
              </a:rPr>
              <a:t>, </a:t>
            </a:r>
            <a:r>
              <a:rPr sz="2392" b="0">
                <a:solidFill>
                  <a:srgbClr val="B02A4A"/>
                </a:solidFill>
                <a:latin typeface="Consolas"/>
              </a:rPr>
              <a:t>.class</a:t>
            </a:r>
            <a:r>
              <a:rPr sz="2600" b="0">
                <a:solidFill>
                  <a:srgbClr val="1F232B"/>
                </a:solidFill>
                <a:latin typeface="Calibri"/>
              </a:rPr>
              <a:t>, </a:t>
            </a:r>
            <a:r>
              <a:rPr sz="2392" b="0">
                <a:solidFill>
                  <a:srgbClr val="B02A4A"/>
                </a:solidFill>
                <a:latin typeface="Consolas"/>
              </a:rPr>
              <a:t>nav a</a:t>
            </a:r>
            <a:r>
              <a:rPr sz="2600" b="0">
                <a:solidFill>
                  <a:srgbClr val="1F232B"/>
                </a:solidFill>
                <a:latin typeface="Calibri"/>
              </a:rPr>
              <a:t>) bu yerda ham ishlaydi!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56505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Elementlarni o'zgartirish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0286"/>
            <a:ext cx="11091672" cy="340278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515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9470"/>
            <a:ext cx="10725912" cy="305531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h1 = </a:t>
            </a:r>
            <a:r>
              <a:rPr sz="1768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768" b="0">
                <a:solidFill>
                  <a:srgbClr val="E6E6E6"/>
                </a:solidFill>
                <a:latin typeface="Consolas"/>
              </a:rPr>
              <a:t>.querySelector(</a:t>
            </a:r>
            <a:r>
              <a:rPr sz="1768" b="0">
                <a:solidFill>
                  <a:srgbClr val="98C379"/>
                </a:solidFill>
                <a:latin typeface="Consolas"/>
              </a:rPr>
              <a:t>"#sarlavha"</a:t>
            </a:r>
            <a:r>
              <a:rPr sz="1768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h1.textContent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"Yangi sarlavha ✨"</a:t>
            </a:r>
            <a:r>
              <a:rPr sz="1768" b="0">
                <a:solidFill>
                  <a:srgbClr val="E6E6E6"/>
                </a:solidFill>
                <a:latin typeface="Consolas"/>
              </a:rPr>
              <a:t>;          // matn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p.innerHTML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"Endi &lt;b&gt;qalin&lt;/b&gt; so'z bor"</a:t>
            </a:r>
            <a:r>
              <a:rPr sz="1768" b="0">
                <a:solidFill>
                  <a:srgbClr val="E6E6E6"/>
                </a:solidFill>
                <a:latin typeface="Consolas"/>
              </a:rPr>
              <a:t>;     // HTML bilan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h1.style.color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"white"</a:t>
            </a:r>
            <a:r>
              <a:rPr sz="1768" b="0">
                <a:solidFill>
                  <a:srgbClr val="E6E6E6"/>
                </a:solidFill>
                <a:latin typeface="Consolas"/>
              </a:rPr>
              <a:t>;                      // uslub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h1.style.backgroundColor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"#4f46e5"</a:t>
            </a:r>
            <a:r>
              <a:rPr sz="1768" b="0">
                <a:solidFill>
                  <a:srgbClr val="E6E6E6"/>
                </a:solidFill>
                <a:latin typeface="Consolas"/>
              </a:rPr>
              <a:t>;          // camelCase!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a = </a:t>
            </a:r>
            <a:r>
              <a:rPr sz="1768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768" b="0">
                <a:solidFill>
                  <a:srgbClr val="E6E6E6"/>
                </a:solidFill>
                <a:latin typeface="Consolas"/>
              </a:rPr>
              <a:t>.querySelector(</a:t>
            </a:r>
            <a:r>
              <a:rPr sz="1768" b="0">
                <a:solidFill>
                  <a:srgbClr val="98C379"/>
                </a:solidFill>
                <a:latin typeface="Consolas"/>
              </a:rPr>
              <a:t>"a"</a:t>
            </a:r>
            <a:r>
              <a:rPr sz="1768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a.href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"https://kun.uz"</a:t>
            </a:r>
            <a:r>
              <a:rPr sz="1768" b="0">
                <a:solidFill>
                  <a:srgbClr val="E6E6E6"/>
                </a:solidFill>
                <a:latin typeface="Consolas"/>
              </a:rPr>
              <a:t>;                     // atribut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a.setAttribute(</a:t>
            </a:r>
            <a:r>
              <a:rPr sz="1768" b="0">
                <a:solidFill>
                  <a:srgbClr val="98C379"/>
                </a:solidFill>
                <a:latin typeface="Consolas"/>
              </a:rPr>
              <a:t>"target"</a:t>
            </a:r>
            <a:r>
              <a:rPr sz="1768" b="0">
                <a:solidFill>
                  <a:srgbClr val="E6E6E6"/>
                </a:solidFill>
                <a:latin typeface="Consolas"/>
              </a:rPr>
              <a:t>, </a:t>
            </a:r>
            <a:r>
              <a:rPr sz="1768" b="0">
                <a:solidFill>
                  <a:srgbClr val="98C379"/>
                </a:solidFill>
                <a:latin typeface="Consolas"/>
              </a:rPr>
              <a:t>"_blank"</a:t>
            </a:r>
            <a:r>
              <a:rPr sz="1768" b="0">
                <a:solidFill>
                  <a:srgbClr val="E6E6E6"/>
                </a:solidFill>
                <a:latin typeface="Consolas"/>
              </a:rPr>
              <a:t>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52529"/>
            <a:ext cx="11091672" cy="1040256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052529"/>
            <a:ext cx="82296" cy="10402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143969"/>
            <a:ext cx="10725912" cy="8756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47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470" b="0">
                <a:solidFill>
                  <a:srgbClr val="1F232B"/>
                </a:solidFill>
                <a:latin typeface="Calibri"/>
              </a:rPr>
              <a:t>Foydalanuvchi matnini doim </a:t>
            </a:r>
            <a:r>
              <a:rPr sz="2272" b="0">
                <a:solidFill>
                  <a:srgbClr val="B02A4A"/>
                </a:solidFill>
                <a:latin typeface="Consolas"/>
              </a:rPr>
              <a:t>textContent</a:t>
            </a:r>
            <a:r>
              <a:rPr sz="2470" b="0">
                <a:solidFill>
                  <a:srgbClr val="1F232B"/>
                </a:solidFill>
                <a:latin typeface="Calibri"/>
              </a:rPr>
              <a:t> bilan qo'ying — </a:t>
            </a:r>
            <a:r>
              <a:rPr sz="2272" b="0">
                <a:solidFill>
                  <a:srgbClr val="B02A4A"/>
                </a:solidFill>
                <a:latin typeface="Consolas"/>
              </a:rPr>
              <a:t>innerHTML</a:t>
            </a:r>
            <a:r>
              <a:rPr sz="2470" b="0">
                <a:solidFill>
                  <a:srgbClr val="1F232B"/>
                </a:solidFill>
                <a:latin typeface="Calibri"/>
              </a:rPr>
              <a:t> zararli kodni ham bajaradi (</a:t>
            </a:r>
            <a:r>
              <a:rPr sz="2470" b="1">
                <a:solidFill>
                  <a:srgbClr val="1F232B"/>
                </a:solidFill>
                <a:latin typeface="Calibri"/>
              </a:rPr>
              <a:t>XSS</a:t>
            </a:r>
            <a:r>
              <a:rPr sz="2470" b="0">
                <a:solidFill>
                  <a:srgbClr val="1F232B"/>
                </a:solidFill>
                <a:latin typeface="Calibri"/>
              </a:rPr>
              <a:t> hujumi)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Class'lar bilan ishlash — eng to'g'ri usul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19374"/>
            <a:ext cx="11091672" cy="10772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7423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8558"/>
            <a:ext cx="10725912" cy="7298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.faol     { background: #22c55e; color: white;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.yashirin { display: none;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16115"/>
            <a:ext cx="11091672" cy="167616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7097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5299"/>
            <a:ext cx="10725912" cy="13286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845" b="0">
                <a:solidFill>
                  <a:srgbClr val="E6E6E6"/>
                </a:solidFill>
                <a:latin typeface="Consolas"/>
              </a:rPr>
              <a:t>q.classList.add(</a:t>
            </a:r>
            <a:r>
              <a:rPr sz="1845" b="0">
                <a:solidFill>
                  <a:srgbClr val="98C379"/>
                </a:solidFill>
                <a:latin typeface="Consolas"/>
              </a:rPr>
              <a:t>"faol"</a:t>
            </a:r>
            <a:r>
              <a:rPr sz="1845" b="0">
                <a:solidFill>
                  <a:srgbClr val="E6E6E6"/>
                </a:solidFill>
                <a:latin typeface="Consolas"/>
              </a:rPr>
              <a:t>);          // qo'shish</a:t>
            </a:r>
          </a:p>
          <a:p>
            <a:pPr>
              <a:lnSpc>
                <a:spcPct val="100000"/>
              </a:lnSpc>
            </a:pPr>
            <a:r>
              <a:rPr sz="1845" b="0">
                <a:solidFill>
                  <a:srgbClr val="E6E6E6"/>
                </a:solidFill>
                <a:latin typeface="Consolas"/>
              </a:rPr>
              <a:t>q.classList.remove(</a:t>
            </a:r>
            <a:r>
              <a:rPr sz="1845" b="0">
                <a:solidFill>
                  <a:srgbClr val="98C379"/>
                </a:solidFill>
                <a:latin typeface="Consolas"/>
              </a:rPr>
              <a:t>"faol"</a:t>
            </a:r>
            <a:r>
              <a:rPr sz="1845" b="0">
                <a:solidFill>
                  <a:srgbClr val="E6E6E6"/>
                </a:solidFill>
                <a:latin typeface="Consolas"/>
              </a:rPr>
              <a:t>);       // olib tashlash</a:t>
            </a:r>
          </a:p>
          <a:p>
            <a:pPr>
              <a:lnSpc>
                <a:spcPct val="100000"/>
              </a:lnSpc>
            </a:pPr>
            <a:r>
              <a:rPr sz="1845" b="0">
                <a:solidFill>
                  <a:srgbClr val="E6E6E6"/>
                </a:solidFill>
                <a:latin typeface="Consolas"/>
              </a:rPr>
              <a:t>q.classList.toggle(</a:t>
            </a:r>
            <a:r>
              <a:rPr sz="1845" b="0">
                <a:solidFill>
                  <a:srgbClr val="98C379"/>
                </a:solidFill>
                <a:latin typeface="Consolas"/>
              </a:rPr>
              <a:t>"faol"</a:t>
            </a:r>
            <a:r>
              <a:rPr sz="1845" b="0">
                <a:solidFill>
                  <a:srgbClr val="E6E6E6"/>
                </a:solidFill>
                <a:latin typeface="Consolas"/>
              </a:rPr>
              <a:t>);       // bor → olib tashlaydi, yo</a:t>
            </a:r>
            <a:r>
              <a:rPr sz="1845" b="0">
                <a:solidFill>
                  <a:srgbClr val="98C379"/>
                </a:solidFill>
                <a:latin typeface="Consolas"/>
              </a:rPr>
              <a:t>'q → qo'</a:t>
            </a:r>
            <a:r>
              <a:rPr sz="1845" b="0">
                <a:solidFill>
                  <a:srgbClr val="E6E6E6"/>
                </a:solidFill>
                <a:latin typeface="Consolas"/>
              </a:rPr>
              <a:t>shadi</a:t>
            </a:r>
          </a:p>
          <a:p>
            <a:pPr>
              <a:lnSpc>
                <a:spcPct val="100000"/>
              </a:lnSpc>
            </a:pPr>
            <a:r>
              <a:rPr sz="1845" b="0">
                <a:solidFill>
                  <a:srgbClr val="E6E6E6"/>
                </a:solidFill>
                <a:latin typeface="Consolas"/>
              </a:rPr>
              <a:t>q.classList.contains(</a:t>
            </a:r>
            <a:r>
              <a:rPr sz="1845" b="0">
                <a:solidFill>
                  <a:srgbClr val="98C379"/>
                </a:solidFill>
                <a:latin typeface="Consolas"/>
              </a:rPr>
              <a:t>"faol"</a:t>
            </a:r>
            <a:r>
              <a:rPr sz="1845" b="0">
                <a:solidFill>
                  <a:srgbClr val="E6E6E6"/>
                </a:solidFill>
                <a:latin typeface="Consolas"/>
              </a:rPr>
              <a:t>);     // </a:t>
            </a:r>
            <a:r>
              <a:rPr sz="1845" b="0">
                <a:solidFill>
                  <a:srgbClr val="C678DD"/>
                </a:solidFill>
                <a:latin typeface="Consolas"/>
              </a:rPr>
              <a:t>true</a:t>
            </a:r>
            <a:r>
              <a:rPr sz="1845" b="0">
                <a:solidFill>
                  <a:srgbClr val="E6E6E6"/>
                </a:solidFill>
                <a:latin typeface="Consolas"/>
              </a:rPr>
              <a:t> / </a:t>
            </a:r>
            <a:r>
              <a:rPr sz="1845" b="0">
                <a:solidFill>
                  <a:srgbClr val="C678DD"/>
                </a:solidFill>
                <a:latin typeface="Consolas"/>
              </a:rPr>
              <a:t>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1173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Dizayn — CSS'da, JavaScript faqat class'ni </a:t>
            </a:r>
            <a:r>
              <a:rPr sz="2800" b="1">
                <a:solidFill>
                  <a:srgbClr val="1F232B"/>
                </a:solidFill>
                <a:latin typeface="Calibri"/>
              </a:rPr>
              <a:t>almashtiradi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97175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Element yaratish va o'chirish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10837"/>
            <a:ext cx="11091672" cy="363077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570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0021"/>
            <a:ext cx="10725912" cy="328330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royxat = </a:t>
            </a:r>
            <a:r>
              <a:rPr sz="1904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904" b="0">
                <a:solidFill>
                  <a:srgbClr val="E6E6E6"/>
                </a:solidFill>
                <a:latin typeface="Consolas"/>
              </a:rPr>
              <a:t>.querySelector(</a:t>
            </a:r>
            <a:r>
              <a:rPr sz="1904" b="0">
                <a:solidFill>
                  <a:srgbClr val="98C379"/>
                </a:solidFill>
                <a:latin typeface="Consolas"/>
              </a:rPr>
              <a:t>"#royxat"</a:t>
            </a:r>
            <a:r>
              <a:rPr sz="1904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mahsulotlar = [</a:t>
            </a:r>
            <a:r>
              <a:rPr sz="1904" b="0">
                <a:solidFill>
                  <a:srgbClr val="98C379"/>
                </a:solidFill>
                <a:latin typeface="Consolas"/>
              </a:rPr>
              <a:t>"Sut"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"Tuxum"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"Olma"</a:t>
            </a:r>
            <a:r>
              <a:rPr sz="1904" b="0">
                <a:solidFill>
                  <a:srgbClr val="E6E6E6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mahsulotlar.forEach(nom =&gt;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li = </a:t>
            </a:r>
            <a:r>
              <a:rPr sz="1904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904" b="0">
                <a:solidFill>
                  <a:srgbClr val="E6E6E6"/>
                </a:solidFill>
                <a:latin typeface="Consolas"/>
              </a:rPr>
              <a:t>.createElement(</a:t>
            </a:r>
            <a:r>
              <a:rPr sz="1904" b="0">
                <a:solidFill>
                  <a:srgbClr val="98C379"/>
                </a:solidFill>
                <a:latin typeface="Consolas"/>
              </a:rPr>
              <a:t>"li"</a:t>
            </a:r>
            <a:r>
              <a:rPr sz="1904" b="0">
                <a:solidFill>
                  <a:srgbClr val="E6E6E6"/>
                </a:solidFill>
                <a:latin typeface="Consolas"/>
              </a:rPr>
              <a:t>);  // 1. yaratish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li.textContent = nom;                     // 2. to'ldirish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royxat.append(li);                        // 3. sahifaga qo'shish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royxat.firstElementChild.remove();          // o'chirish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BOM — brauzer bilan ishlash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3264"/>
            <a:ext cx="11091672" cy="458833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812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2448"/>
            <a:ext cx="10725912" cy="424086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window.innerWidth                // oyna kengligi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location.href                    // joriy manzil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// location.href = "https://kun.uz";   — boshqa sahifaga o'tish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navigator.language               // brauzer tili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setTimeout(() =&gt;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</a:t>
            </a:r>
            <a:r>
              <a:rPr sz="1904" b="0">
                <a:solidFill>
                  <a:srgbClr val="98C379"/>
                </a:solidFill>
                <a:latin typeface="Consolas"/>
              </a:rPr>
              <a:t>"3 soniya o'tdi ⏰"</a:t>
            </a:r>
            <a:r>
              <a:rPr sz="1904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}, 3000);                         // bir marta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taymer = setInterval(() =&gt;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</a:t>
            </a:r>
            <a:r>
              <a:rPr sz="1904" b="0">
                <a:solidFill>
                  <a:srgbClr val="98C379"/>
                </a:solidFill>
                <a:latin typeface="Consolas"/>
              </a:rPr>
              <a:t>"har soniyada"</a:t>
            </a:r>
            <a:r>
              <a:rPr sz="1904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}, 1000);                         // takroriy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clearInterval(taymer);            // to'xtatish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localStorage — brauzer xotirasi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15961"/>
            <a:ext cx="11091672" cy="29924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7082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5145"/>
            <a:ext cx="10725912" cy="26449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localStorage.setItem(</a:t>
            </a:r>
            <a:r>
              <a:rPr sz="1904" b="0">
                <a:solidFill>
                  <a:srgbClr val="98C379"/>
                </a:solidFill>
                <a:latin typeface="Consolas"/>
              </a:rPr>
              <a:t>"ism"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"Malika"</a:t>
            </a:r>
            <a:r>
              <a:rPr sz="1904" b="0">
                <a:solidFill>
                  <a:srgbClr val="E6E6E6"/>
                </a:solidFill>
                <a:latin typeface="Consolas"/>
              </a:rPr>
              <a:t>);      // saqlash (faqat matn!)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localStorage.getItem(</a:t>
            </a:r>
            <a:r>
              <a:rPr sz="1904" b="0">
                <a:solidFill>
                  <a:srgbClr val="98C379"/>
                </a:solidFill>
                <a:latin typeface="Consolas"/>
              </a:rPr>
              <a:t>"ism"</a:t>
            </a:r>
            <a:r>
              <a:rPr sz="1904" b="0">
                <a:solidFill>
                  <a:srgbClr val="E6E6E6"/>
                </a:solidFill>
                <a:latin typeface="Consolas"/>
              </a:rPr>
              <a:t>);                // </a:t>
            </a:r>
            <a:r>
              <a:rPr sz="1904" b="0">
                <a:solidFill>
                  <a:srgbClr val="98C379"/>
                </a:solidFill>
                <a:latin typeface="Consolas"/>
              </a:rPr>
              <a:t>"Malika"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localStorage.removeItem(</a:t>
            </a:r>
            <a:r>
              <a:rPr sz="1904" b="0">
                <a:solidFill>
                  <a:srgbClr val="98C379"/>
                </a:solidFill>
                <a:latin typeface="Consolas"/>
              </a:rPr>
              <a:t>"ism"</a:t>
            </a:r>
            <a:r>
              <a:rPr sz="1904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// Massiv/obyekt → JSON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vazifalar = [</a:t>
            </a:r>
            <a:r>
              <a:rPr sz="1904" b="0">
                <a:solidFill>
                  <a:srgbClr val="98C379"/>
                </a:solidFill>
                <a:latin typeface="Consolas"/>
              </a:rPr>
              <a:t>"Dars qilish"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"Kitob o'qish"</a:t>
            </a:r>
            <a:r>
              <a:rPr sz="1904" b="0">
                <a:solidFill>
                  <a:srgbClr val="E6E6E6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localStorage.setItem(</a:t>
            </a:r>
            <a:r>
              <a:rPr sz="1904" b="0">
                <a:solidFill>
                  <a:srgbClr val="98C379"/>
                </a:solidFill>
                <a:latin typeface="Consolas"/>
              </a:rPr>
              <a:t>"vazifalar"</a:t>
            </a:r>
            <a:r>
              <a:rPr sz="1904" b="0">
                <a:solidFill>
                  <a:srgbClr val="E6E6E6"/>
                </a:solidFill>
                <a:latin typeface="Consolas"/>
              </a:rPr>
              <a:t>, JSON.stringify(vazifalar));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qayta = JSON.parse(localStorage.getItem(</a:t>
            </a:r>
            <a:r>
              <a:rPr sz="1904" b="0">
                <a:solidFill>
                  <a:srgbClr val="98C379"/>
                </a:solidFill>
                <a:latin typeface="Consolas"/>
              </a:rPr>
              <a:t>"vazifalar"</a:t>
            </a:r>
            <a:r>
              <a:rPr sz="1904" b="0">
                <a:solidFill>
                  <a:srgbClr val="E6E6E6"/>
                </a:solidFill>
                <a:latin typeface="Consolas"/>
              </a:rPr>
              <a:t>));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82782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Sahifa yangilansa ham, brauzer yopilsa ham </a:t>
            </a:r>
            <a:r>
              <a:rPr sz="2800" b="1">
                <a:solidFill>
                  <a:srgbClr val="1F232B"/>
                </a:solidFill>
                <a:latin typeface="Calibri"/>
              </a:rPr>
              <a:t>saqlanadi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98784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EEDEB2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Hodisalar (events)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6EED8"/>
                </a:solidFill>
                <a:latin typeface="Calibri"/>
              </a:rPr>
              <a:t>Sahifada sodir bo'ladigan narsalarga javob berish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EEDEB2"/>
                </a:solidFill>
                <a:latin typeface="Calibr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addEventListener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73505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73505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64945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Eshik qo'ng'irog'i:</a:t>
            </a:r>
            <a:r>
              <a:rPr sz="2660" b="0">
                <a:solidFill>
                  <a:srgbClr val="1F232B"/>
                </a:solidFill>
                <a:latin typeface="Calibri"/>
              </a:rPr>
              <a:t> eshik oldida doim kutib turmaysiz — qo'ng'iroq chalinganda borasiz. </a:t>
            </a:r>
            <a:r>
              <a:rPr sz="2447" b="0">
                <a:solidFill>
                  <a:srgbClr val="B02A4A"/>
                </a:solidFill>
                <a:latin typeface="Consolas"/>
              </a:rPr>
              <a:t>addEventListener</a:t>
            </a:r>
            <a:r>
              <a:rPr sz="2660" b="0">
                <a:solidFill>
                  <a:srgbClr val="1F232B"/>
                </a:solidFill>
                <a:latin typeface="Calibri"/>
              </a:rPr>
              <a:t> — "qo'ng'iroq chalinsa, menga ayt" degan kelishuv.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15818"/>
            <a:ext cx="11091672" cy="267321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7068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45002"/>
            <a:ext cx="10725912" cy="232574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tugma = </a:t>
            </a:r>
            <a:r>
              <a:rPr sz="1904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904" b="0">
                <a:solidFill>
                  <a:srgbClr val="E6E6E6"/>
                </a:solidFill>
                <a:latin typeface="Consolas"/>
              </a:rPr>
              <a:t>.querySelector(</a:t>
            </a:r>
            <a:r>
              <a:rPr sz="1904" b="0">
                <a:solidFill>
                  <a:srgbClr val="98C379"/>
                </a:solidFill>
                <a:latin typeface="Consolas"/>
              </a:rPr>
              <a:t>"#tugma"</a:t>
            </a:r>
            <a:r>
              <a:rPr sz="1904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soni = 0;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tugma.addEventListener(</a:t>
            </a:r>
            <a:r>
              <a:rPr sz="1904" b="0">
                <a:solidFill>
                  <a:srgbClr val="98C379"/>
                </a:solidFill>
                <a:latin typeface="Consolas"/>
              </a:rPr>
              <a:t>"click"</a:t>
            </a:r>
            <a:r>
              <a:rPr sz="1904" b="0">
                <a:solidFill>
                  <a:srgbClr val="E6E6E6"/>
                </a:solidFill>
                <a:latin typeface="Consolas"/>
              </a:rPr>
              <a:t>, () =&gt;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soni++;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natija.textContent = `Siz ${soni} marta bosdingiz 🎉`;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Hodisa turlari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43557"/>
          <a:ext cx="11091672" cy="4015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Hodisa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Qachon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click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dblclick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Bosilganda / ikki marta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mouseenter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mouseleave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Sichqoncha keldi / ketdi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input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Har bir belgi kiritilganda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change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Qiymat o'zgarib, chiqilganda (select)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submit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Forma yuborilganda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keydown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Klavish bosilganda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load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scroll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resize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Yuklanish, aylantirish, o'lcham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Hodisa obyekti va forma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1703"/>
            <a:ext cx="11091672" cy="471154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656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0887"/>
            <a:ext cx="10725912" cy="436407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input.addEventListener(</a:t>
            </a:r>
            <a:r>
              <a:rPr sz="1820" b="0">
                <a:solidFill>
                  <a:srgbClr val="98C379"/>
                </a:solidFill>
                <a:latin typeface="Consolas"/>
              </a:rPr>
              <a:t>"input"</a:t>
            </a:r>
            <a:r>
              <a:rPr sz="1820" b="0">
                <a:solidFill>
                  <a:srgbClr val="E6E6E6"/>
                </a:solidFill>
                <a:latin typeface="Consolas"/>
              </a:rPr>
              <a:t>, (event) =&gt; {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  soni.textContent = event.target.value.length;   // event.target — element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});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820" b="0">
                <a:solidFill>
                  <a:srgbClr val="E6E6E6"/>
                </a:solidFill>
                <a:latin typeface="Consolas"/>
              </a:rPr>
              <a:t>.addEventListener(</a:t>
            </a:r>
            <a:r>
              <a:rPr sz="1820" b="0">
                <a:solidFill>
                  <a:srgbClr val="98C379"/>
                </a:solidFill>
                <a:latin typeface="Consolas"/>
              </a:rPr>
              <a:t>"keydown"</a:t>
            </a:r>
            <a:r>
              <a:rPr sz="1820" b="0">
                <a:solidFill>
                  <a:srgbClr val="E6E6E6"/>
                </a:solidFill>
                <a:latin typeface="Consolas"/>
              </a:rPr>
              <a:t>, (e) =&gt; {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  </a:t>
            </a:r>
            <a:r>
              <a:rPr sz="1820" b="0">
                <a:solidFill>
                  <a:srgbClr val="C678DD"/>
                </a:solidFill>
                <a:latin typeface="Consolas"/>
              </a:rPr>
              <a:t>if</a:t>
            </a:r>
            <a:r>
              <a:rPr sz="1820" b="0">
                <a:solidFill>
                  <a:srgbClr val="E6E6E6"/>
                </a:solidFill>
                <a:latin typeface="Consolas"/>
              </a:rPr>
              <a:t> (e.key === </a:t>
            </a:r>
            <a:r>
              <a:rPr sz="1820" b="0">
                <a:solidFill>
                  <a:srgbClr val="98C379"/>
                </a:solidFill>
                <a:latin typeface="Consolas"/>
              </a:rPr>
              <a:t>"Escape"</a:t>
            </a:r>
            <a:r>
              <a:rPr sz="1820" b="0">
                <a:solidFill>
                  <a:srgbClr val="E6E6E6"/>
                </a:solidFill>
                <a:latin typeface="Consolas"/>
              </a:rPr>
              <a:t>) input.value = </a:t>
            </a:r>
            <a:r>
              <a:rPr sz="1820" b="0">
                <a:solidFill>
                  <a:srgbClr val="98C379"/>
                </a:solidFill>
                <a:latin typeface="Consolas"/>
              </a:rPr>
              <a:t>""</a:t>
            </a:r>
            <a:r>
              <a:rPr sz="1820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});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forma.addEventListener(</a:t>
            </a:r>
            <a:r>
              <a:rPr sz="1820" b="0">
                <a:solidFill>
                  <a:srgbClr val="98C379"/>
                </a:solidFill>
                <a:latin typeface="Consolas"/>
              </a:rPr>
              <a:t>"submit"</a:t>
            </a:r>
            <a:r>
              <a:rPr sz="1820" b="0">
                <a:solidFill>
                  <a:srgbClr val="E6E6E6"/>
                </a:solidFill>
                <a:latin typeface="Consolas"/>
              </a:rPr>
              <a:t>, (e) =&gt; {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  e.preventDefault();               // ⬅ sahifa qayta yuklanmasin!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  </a:t>
            </a:r>
            <a:r>
              <a:rPr sz="1820" b="0">
                <a:solidFill>
                  <a:srgbClr val="C678DD"/>
                </a:solidFill>
                <a:latin typeface="Consolas"/>
              </a:rPr>
              <a:t>const</a:t>
            </a:r>
            <a:r>
              <a:rPr sz="1820" b="0">
                <a:solidFill>
                  <a:srgbClr val="E6E6E6"/>
                </a:solidFill>
                <a:latin typeface="Consolas"/>
              </a:rPr>
              <a:t> ism = e.target.ism.value.trim();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  javob.textContent = `Rahmat, ${ism}!`;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  e.target.reset();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EEDEB2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Amaliy mashg'ulot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6EED8"/>
                </a:solidFill>
                <a:latin typeface="Calibri"/>
              </a:rPr>
              <a:t>13-loyiha: valyuta konvertori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EEDEB2"/>
                </a:solidFill>
                <a:latin typeface="Calibr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valyuta konvertori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1244"/>
            <a:ext cx="11091672" cy="454273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610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0428"/>
            <a:ext cx="10725912" cy="419526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const</a:t>
            </a:r>
            <a:r>
              <a:rPr sz="1360" b="0">
                <a:solidFill>
                  <a:srgbClr val="E6E6E6"/>
                </a:solidFill>
                <a:latin typeface="Consolas"/>
              </a:rPr>
              <a:t> KURSLAR = { USD: 12700, EUR: 13800, RUB: 140 };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const</a:t>
            </a:r>
            <a:r>
              <a:rPr sz="1360" b="0">
                <a:solidFill>
                  <a:srgbClr val="E6E6E6"/>
                </a:solidFill>
                <a:latin typeface="Consolas"/>
              </a:rPr>
              <a:t> miqdor = </a:t>
            </a:r>
            <a:r>
              <a:rPr sz="1360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360" b="0">
                <a:solidFill>
                  <a:srgbClr val="E6E6E6"/>
                </a:solidFill>
                <a:latin typeface="Consolas"/>
              </a:rPr>
              <a:t>.querySelector(</a:t>
            </a:r>
            <a:r>
              <a:rPr sz="1360" b="0">
                <a:solidFill>
                  <a:srgbClr val="98C379"/>
                </a:solidFill>
                <a:latin typeface="Consolas"/>
              </a:rPr>
              <a:t>"#miqdor"</a:t>
            </a:r>
            <a:r>
              <a:rPr sz="1360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const</a:t>
            </a:r>
            <a:r>
              <a:rPr sz="1360" b="0">
                <a:solidFill>
                  <a:srgbClr val="E6E6E6"/>
                </a:solidFill>
                <a:latin typeface="Consolas"/>
              </a:rPr>
              <a:t> valyuta = </a:t>
            </a:r>
            <a:r>
              <a:rPr sz="1360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360" b="0">
                <a:solidFill>
                  <a:srgbClr val="E6E6E6"/>
                </a:solidFill>
                <a:latin typeface="Consolas"/>
              </a:rPr>
              <a:t>.querySelector(</a:t>
            </a:r>
            <a:r>
              <a:rPr sz="1360" b="0">
                <a:solidFill>
                  <a:srgbClr val="98C379"/>
                </a:solidFill>
                <a:latin typeface="Consolas"/>
              </a:rPr>
              <a:t>"#valyuta"</a:t>
            </a:r>
            <a:r>
              <a:rPr sz="1360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const</a:t>
            </a:r>
            <a:r>
              <a:rPr sz="1360" b="0">
                <a:solidFill>
                  <a:srgbClr val="E6E6E6"/>
                </a:solidFill>
                <a:latin typeface="Consolas"/>
              </a:rPr>
              <a:t> natija = </a:t>
            </a:r>
            <a:r>
              <a:rPr sz="1360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360" b="0">
                <a:solidFill>
                  <a:srgbClr val="E6E6E6"/>
                </a:solidFill>
                <a:latin typeface="Consolas"/>
              </a:rPr>
              <a:t>.querySelector(</a:t>
            </a:r>
            <a:r>
              <a:rPr sz="1360" b="0">
                <a:solidFill>
                  <a:srgbClr val="98C379"/>
                </a:solidFill>
                <a:latin typeface="Consolas"/>
              </a:rPr>
              <a:t>"#natija"</a:t>
            </a:r>
            <a:r>
              <a:rPr sz="1360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1360" b="0">
                <a:solidFill>
                  <a:srgbClr val="E6E6E6"/>
                </a:solidFill>
                <a:latin typeface="Consolas"/>
              </a:rPr>
              <a:t> hisobla() {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</a:t>
            </a:r>
            <a:r>
              <a:rPr sz="1360" b="0">
                <a:solidFill>
                  <a:srgbClr val="C678DD"/>
                </a:solidFill>
                <a:latin typeface="Consolas"/>
              </a:rPr>
              <a:t>const</a:t>
            </a:r>
            <a:r>
              <a:rPr sz="1360" b="0">
                <a:solidFill>
                  <a:srgbClr val="E6E6E6"/>
                </a:solidFill>
                <a:latin typeface="Consolas"/>
              </a:rPr>
              <a:t> son = Number(miqdor.value);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</a:t>
            </a:r>
            <a:r>
              <a:rPr sz="1360" b="0">
                <a:solidFill>
                  <a:srgbClr val="C678DD"/>
                </a:solidFill>
                <a:latin typeface="Consolas"/>
              </a:rPr>
              <a:t>if</a:t>
            </a:r>
            <a:r>
              <a:rPr sz="1360" b="0">
                <a:solidFill>
                  <a:srgbClr val="E6E6E6"/>
                </a:solidFill>
                <a:latin typeface="Consolas"/>
              </a:rPr>
              <a:t> (son &lt;= 0) {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natija.textContent = </a:t>
            </a:r>
            <a:r>
              <a:rPr sz="1360" b="0">
                <a:solidFill>
                  <a:srgbClr val="98C379"/>
                </a:solidFill>
                <a:latin typeface="Consolas"/>
              </a:rPr>
              <a:t>"Musbat son kiriting"</a:t>
            </a:r>
            <a:r>
              <a:rPr sz="1360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return</a:t>
            </a:r>
            <a:r>
              <a:rPr sz="1360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</a:t>
            </a:r>
            <a:r>
              <a:rPr sz="1360" b="0">
                <a:solidFill>
                  <a:srgbClr val="C678DD"/>
                </a:solidFill>
                <a:latin typeface="Consolas"/>
              </a:rPr>
              <a:t>const</a:t>
            </a:r>
            <a:r>
              <a:rPr sz="1360" b="0">
                <a:solidFill>
                  <a:srgbClr val="E6E6E6"/>
                </a:solidFill>
                <a:latin typeface="Consolas"/>
              </a:rPr>
              <a:t> som = son * KURSLAR[valyuta.value];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natija.textContent = `${som.toLocaleString()} so'm`;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miqdor.addEventListener(</a:t>
            </a:r>
            <a:r>
              <a:rPr sz="1360" b="0">
                <a:solidFill>
                  <a:srgbClr val="98C379"/>
                </a:solidFill>
                <a:latin typeface="Consolas"/>
              </a:rPr>
              <a:t>"input"</a:t>
            </a:r>
            <a:r>
              <a:rPr sz="1360" b="0">
                <a:solidFill>
                  <a:srgbClr val="E6E6E6"/>
                </a:solidFill>
                <a:latin typeface="Consolas"/>
              </a:rPr>
              <a:t>, hisobla);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valyuta.addEventListener(</a:t>
            </a:r>
            <a:r>
              <a:rPr sz="1360" b="0">
                <a:solidFill>
                  <a:srgbClr val="98C379"/>
                </a:solidFill>
                <a:latin typeface="Consolas"/>
              </a:rPr>
              <a:t>"change"</a:t>
            </a:r>
            <a:r>
              <a:rPr sz="1360" b="0">
                <a:solidFill>
                  <a:srgbClr val="E6E6E6"/>
                </a:solidFill>
                <a:latin typeface="Consolas"/>
              </a:rPr>
              <a:t>, hisobla);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kengaytirish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28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qatorga izoh yozing: bu qator nima qiladi?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Yana 2 valyuta qo'shing (GBP, CNY)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"Tarix":</a:t>
            </a:r>
            <a:r>
              <a:rPr sz="2800" b="0">
                <a:solidFill>
                  <a:srgbClr val="1F232B"/>
                </a:solidFill>
                <a:latin typeface="Calibri"/>
              </a:rPr>
              <a:t> oxirgi 5 hisob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createElement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prepend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1 000 000 dan katta natija — qizil (</a:t>
            </a:r>
            <a:r>
              <a:rPr sz="2576" b="0">
                <a:solidFill>
                  <a:srgbClr val="B02A4A"/>
                </a:solidFill>
                <a:latin typeface="Consolas"/>
              </a:rPr>
              <a:t>classList</a:t>
            </a:r>
            <a:r>
              <a:rPr sz="2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Qo'shimcha: </a:t>
            </a:r>
            <a:r>
              <a:rPr sz="2800" b="1">
                <a:solidFill>
                  <a:srgbClr val="1F232B"/>
                </a:solidFill>
                <a:latin typeface="Calibri"/>
              </a:rPr>
              <a:t>tungi rejim</a:t>
            </a:r>
            <a:r>
              <a:rPr sz="2800" b="0">
                <a:solidFill>
                  <a:srgbClr val="1F232B"/>
                </a:solidFill>
                <a:latin typeface="Calibri"/>
              </a:rPr>
              <a:t> (</a:t>
            </a:r>
            <a:r>
              <a:rPr sz="2576" b="0">
                <a:solidFill>
                  <a:srgbClr val="B02A4A"/>
                </a:solidFill>
                <a:latin typeface="Consolas"/>
              </a:rPr>
              <a:t>localStorage</a:t>
            </a:r>
            <a:r>
              <a:rPr sz="2800" b="0">
                <a:solidFill>
                  <a:srgbClr val="1F232B"/>
                </a:solidFill>
                <a:latin typeface="Calibri"/>
              </a:rPr>
              <a:t>), </a:t>
            </a:r>
            <a:r>
              <a:rPr sz="2800" b="1">
                <a:solidFill>
                  <a:srgbClr val="1F232B"/>
                </a:solidFill>
                <a:latin typeface="Calibri"/>
              </a:rPr>
              <a:t>burger menyu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800" b="1">
                <a:solidFill>
                  <a:srgbClr val="1F232B"/>
                </a:solidFill>
                <a:latin typeface="Calibri"/>
              </a:rPr>
              <a:t>sekundomer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Cannot read properties of null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selektor xato yoki skript HTML'dan </a:t>
            </a:r>
            <a:r>
              <a:rPr sz="2800" b="1">
                <a:solidFill>
                  <a:srgbClr val="1F232B"/>
                </a:solidFill>
                <a:latin typeface="Calibri"/>
              </a:rPr>
              <a:t>oldin</a:t>
            </a:r>
            <a:r>
              <a:rPr sz="2800" b="0">
                <a:solidFill>
                  <a:srgbClr val="1F232B"/>
                </a:solidFill>
                <a:latin typeface="Calibri"/>
              </a:rPr>
              <a:t> ulangan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addEventListener("click", hisobla())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qavs bilan darhol bajariladi; </a:t>
            </a:r>
            <a:r>
              <a:rPr sz="2576" b="0">
                <a:solidFill>
                  <a:srgbClr val="B02A4A"/>
                </a:solidFill>
                <a:latin typeface="Consolas"/>
              </a:rPr>
              <a:t>hisobla</a:t>
            </a:r>
            <a:r>
              <a:rPr sz="2800" b="0">
                <a:solidFill>
                  <a:srgbClr val="1F232B"/>
                </a:solidFill>
                <a:latin typeface="Calibri"/>
              </a:rPr>
              <a:t> qavssiz!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input.value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doim </a:t>
            </a:r>
            <a:r>
              <a:rPr sz="2800" b="1">
                <a:solidFill>
                  <a:srgbClr val="1F232B"/>
                </a:solidFill>
                <a:latin typeface="Calibri"/>
              </a:rPr>
              <a:t>matn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Number()</a:t>
            </a:r>
            <a:r>
              <a:rPr sz="2800" b="0">
                <a:solidFill>
                  <a:srgbClr val="1F232B"/>
                </a:solidFill>
                <a:latin typeface="Calibri"/>
              </a:rPr>
              <a:t>!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Formada </a:t>
            </a:r>
            <a:r>
              <a:rPr sz="2576" b="0">
                <a:solidFill>
                  <a:srgbClr val="B02A4A"/>
                </a:solidFill>
                <a:latin typeface="Consolas"/>
              </a:rPr>
              <a:t>e.preventDefault()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2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style.background-color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style.backgroundColor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90270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class="karta"</a:t>
            </a:r>
            <a:r>
              <a:rPr sz="2400" b="1">
                <a:solidFill>
                  <a:srgbClr val="1F232B"/>
                </a:solidFill>
                <a:latin typeface="Calibri"/>
              </a:rPr>
              <a:t> bo'lgan birinchi elementni topuvchi kod?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document.querySelector("karta")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document.querySelector(".karta")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document.getElementById(".karta")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document.find("karta")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class="karta"</a:t>
            </a:r>
            <a:r>
              <a:rPr sz="2400" b="1">
                <a:solidFill>
                  <a:srgbClr val="1F232B"/>
                </a:solidFill>
                <a:latin typeface="Calibri"/>
              </a:rPr>
              <a:t> bo'lgan birinchi elementni topuvchi kod?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document.querySelector("karta")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document.querySelector(".karta")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document.getElementById(".karta")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document.find("karta")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Element matnini </a:t>
            </a:r>
            <a:r>
              <a:rPr sz="2400" b="1">
                <a:solidFill>
                  <a:srgbClr val="1F232B"/>
                </a:solidFill>
                <a:latin typeface="Calibri"/>
              </a:rPr>
              <a:t>xavfsiz</a:t>
            </a:r>
            <a:r>
              <a:rPr sz="2400" b="1">
                <a:solidFill>
                  <a:srgbClr val="1F232B"/>
                </a:solidFill>
                <a:latin typeface="Calibri"/>
              </a:rPr>
              <a:t> o'zgartiruvchi xossa?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innerHTML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src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textContent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Element matnini </a:t>
            </a:r>
            <a:r>
              <a:rPr sz="2400" b="1">
                <a:solidFill>
                  <a:srgbClr val="1F232B"/>
                </a:solidFill>
                <a:latin typeface="Calibri"/>
              </a:rPr>
              <a:t>xavfsiz</a:t>
            </a:r>
            <a:r>
              <a:rPr sz="2400" b="1">
                <a:solidFill>
                  <a:srgbClr val="1F232B"/>
                </a:solidFill>
                <a:latin typeface="Calibri"/>
              </a:rPr>
              <a:t> o'zgartiruvchi xossa?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innerHTML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src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textContent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Maydonga har bir belgi kiritilganda sodir bo'ladigan hodisa?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click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submit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load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Maydonga har bir belgi kiritilganda sodir bo'ladigan hodisa?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click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submit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load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Forma yuborilganda sahifa qayta yuklanmasligi uchun nima chaqiriladi?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e.stop()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return false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form.reset()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e.preventDefault()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Forma yuborilganda sahifa qayta yuklanmasligi uchun nima chaqiriladi?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e.stop()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return false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form.reset()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e.preventDefault()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26 / 28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29384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56815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Valyuta konvertorini GitHub + Netlify'ga joylang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06039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633471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Rang tanlagich:</a:t>
            </a:r>
            <a:r>
              <a:rPr sz="2800" b="0">
                <a:solidFill>
                  <a:srgbClr val="1F232B"/>
                </a:solidFill>
                <a:latin typeface="Calibri"/>
              </a:rPr>
              <a:t> 3 ta </a:t>
            </a:r>
            <a:r>
              <a:rPr sz="2576" b="0">
                <a:solidFill>
                  <a:srgbClr val="B02A4A"/>
                </a:solidFill>
                <a:latin typeface="Consolas"/>
              </a:rPr>
              <a:t>range</a:t>
            </a:r>
            <a:r>
              <a:rPr sz="2800" b="0">
                <a:solidFill>
                  <a:srgbClr val="1F232B"/>
                </a:solidFill>
                <a:latin typeface="Calibri"/>
              </a:rPr>
              <a:t> (R, G, B) → quti rangi va HEX kodi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310127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Galereya:</a:t>
            </a:r>
            <a:r>
              <a:rPr sz="2800" b="0">
                <a:solidFill>
                  <a:srgbClr val="1F232B"/>
                </a:solidFill>
                <a:latin typeface="Calibri"/>
              </a:rPr>
              <a:t> kichik rasm bosilsa katta rasm almashsin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19-mavzu · DOM va BOM bilan ishlash. JavaScript'da eventlar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27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DOM — obyektlar daraxti; </a:t>
            </a:r>
            <a:r>
              <a:rPr sz="2576" b="0">
                <a:solidFill>
                  <a:srgbClr val="B02A4A"/>
                </a:solidFill>
                <a:latin typeface="Consolas"/>
              </a:rPr>
              <a:t>querySelector()</a:t>
            </a:r>
            <a:r>
              <a:rPr sz="2800" b="0">
                <a:solidFill>
                  <a:srgbClr val="1F232B"/>
                </a:solidFill>
                <a:latin typeface="Calibri"/>
              </a:rPr>
              <a:t> / </a:t>
            </a:r>
            <a:r>
              <a:rPr sz="2576" b="0">
                <a:solidFill>
                  <a:srgbClr val="B02A4A"/>
                </a:solidFill>
                <a:latin typeface="Consolas"/>
              </a:rPr>
              <a:t>querySelectorAll()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textContent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innerHTML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style.xossa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classList.add/remove/toggle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createElement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append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remove()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BOM: </a:t>
            </a:r>
            <a:r>
              <a:rPr sz="2576" b="0">
                <a:solidFill>
                  <a:srgbClr val="B02A4A"/>
                </a:solidFill>
                <a:latin typeface="Consolas"/>
              </a:rPr>
              <a:t>location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setTimeout/setInterval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localStorage</a:t>
            </a:r>
            <a:r>
              <a:rPr sz="2800" b="0">
                <a:solidFill>
                  <a:srgbClr val="1F232B"/>
                </a:solidFill>
                <a:latin typeface="Calibri"/>
              </a:rPr>
              <a:t> (JSON bilan)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87187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el.addEventListener("click", fn)</a:t>
            </a:r>
            <a:r>
              <a:rPr sz="2800" b="0">
                <a:solidFill>
                  <a:srgbClr val="1F232B"/>
                </a:solidFill>
                <a:latin typeface="Calibri"/>
              </a:rPr>
              <a:t>; formada </a:t>
            </a:r>
            <a:r>
              <a:rPr sz="2576" b="0">
                <a:solidFill>
                  <a:srgbClr val="B02A4A"/>
                </a:solidFill>
                <a:latin typeface="Consolas"/>
              </a:rPr>
              <a:t>e.preventDefault()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347207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20. HTML eventlari va sahifaga interaktivlik. JavaScript mini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19-mavzu: DOM va BOM bilan ishlash. JavaScript'da eventlar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