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Kun.uz ni oching va brauzer oynasini asta-sekin toraytiring — menyu, ustunlar qanday o'zgarishini ko'rsating.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To'g'ri javob: B) Ekran 600px yoki kichik bo'lganda.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To'g'ri javob: A) min-width.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To'g'ri javob: D) max-width: 100%; height: auto;.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To'g'ri javob: C) Flexbox.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5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48640"/>
            <a:ext cx="11091672" cy="5760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48640"/>
            <a:ext cx="164592" cy="5760720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005840"/>
            <a:ext cx="10058400" cy="1005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5400" b="0">
                <a:solidFill>
                  <a:srgbClr val="1F232B"/>
                </a:solidFill>
                <a:latin typeface="Segoe UI Emoji"/>
              </a:rPr>
              <a:t>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103120"/>
            <a:ext cx="100584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500" b="1">
                <a:solidFill>
                  <a:srgbClr val="E2552B"/>
                </a:solidFill>
                <a:latin typeface="Calibri"/>
              </a:rPr>
              <a:t>10-MAVZU  ·  I BOB. HTML VA CSS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606040"/>
            <a:ext cx="10058400" cy="1737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3600" b="1">
                <a:solidFill>
                  <a:srgbClr val="1F232B"/>
                </a:solidFill>
                <a:latin typeface="Calibri"/>
              </a:rPr>
              <a:t>Moslashuvchan (responsiv) dizayn va media so'rovlar. Figma bilan ishlash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4343400"/>
            <a:ext cx="9875520" cy="1188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800" b="0">
                <a:solidFill>
                  <a:srgbClr val="5B6370"/>
                </a:solidFill>
                <a:latin typeface="Calibri"/>
              </a:rPr>
              <a:t>Responsiv dizayn nima, viewport, moslashuvchan rasmlar, media query sintaksisi, mobile-first yondashuv, breakpointlar, DevTools'da telefon rejimi; Figma'da maket bilan ishlash va uni kodga o'tkazish.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5669280"/>
            <a:ext cx="100584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400" b="1">
                <a:solidFill>
                  <a:srgbClr val="5B6370"/>
                </a:solidFill>
                <a:latin typeface="Calibri"/>
              </a:rPr>
              <a:t>8-sinf · Web Full-stack dasturlash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Bugun nimani o'rganamiz?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10-mavzu · Moslashuvchan (responsiv) dizayn va media so'rovlar. Figma bilan ishlash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 / 29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17320"/>
            <a:ext cx="10680192" cy="94386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Nima uchun sayt </a:t>
            </a:r>
            <a:r>
              <a:rPr sz="2800" b="1">
                <a:solidFill>
                  <a:srgbClr val="1F232B"/>
                </a:solidFill>
                <a:latin typeface="Calibri"/>
              </a:rPr>
              <a:t>telefon, planshet, kompyuterda</a:t>
            </a:r>
            <a:r>
              <a:rPr sz="2800" b="0">
                <a:solidFill>
                  <a:srgbClr val="1F232B"/>
                </a:solidFill>
                <a:latin typeface="Calibri"/>
              </a:rPr>
              <a:t> turlicha ko'rinishi kerak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577340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470911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576" b="0">
                <a:solidFill>
                  <a:srgbClr val="B02A4A"/>
                </a:solidFill>
                <a:latin typeface="Consolas"/>
              </a:rPr>
              <a:t>viewport</a:t>
            </a:r>
            <a:r>
              <a:rPr sz="2800" b="0">
                <a:solidFill>
                  <a:srgbClr val="1F232B"/>
                </a:solidFill>
                <a:latin typeface="Calibri"/>
              </a:rPr>
              <a:t> meta-tegi va moslashuvchan rasmlar</a:t>
            </a:r>
          </a:p>
        </p:txBody>
      </p:sp>
      <p:sp>
        <p:nvSpPr>
          <p:cNvPr id="10" name="Oval 9"/>
          <p:cNvSpPr/>
          <p:nvPr/>
        </p:nvSpPr>
        <p:spPr>
          <a:xfrm>
            <a:off x="658368" y="2630931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080004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1">
                <a:solidFill>
                  <a:srgbClr val="1F232B"/>
                </a:solidFill>
                <a:latin typeface="Calibri"/>
              </a:rPr>
              <a:t>Media query</a:t>
            </a:r>
            <a:r>
              <a:rPr sz="2800" b="0">
                <a:solidFill>
                  <a:srgbClr val="1F232B"/>
                </a:solidFill>
                <a:latin typeface="Calibri"/>
              </a:rPr>
              <a:t> — ekran o'lchamiga qarab CSS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" y="3240023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689096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1">
                <a:solidFill>
                  <a:srgbClr val="1F232B"/>
                </a:solidFill>
                <a:latin typeface="Calibri"/>
              </a:rPr>
              <a:t>Mobile-first</a:t>
            </a:r>
            <a:r>
              <a:rPr sz="2800" b="0">
                <a:solidFill>
                  <a:srgbClr val="1F232B"/>
                </a:solidFill>
                <a:latin typeface="Calibri"/>
              </a:rPr>
              <a:t> va breakpointlar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3849116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298188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1">
                <a:solidFill>
                  <a:srgbClr val="1F232B"/>
                </a:solidFill>
                <a:latin typeface="Calibri"/>
              </a:rPr>
              <a:t>Figma:</a:t>
            </a:r>
            <a:r>
              <a:rPr sz="2800" b="0">
                <a:solidFill>
                  <a:srgbClr val="1F232B"/>
                </a:solidFill>
                <a:latin typeface="Calibri"/>
              </a:rPr>
              <a:t> maketdan kodga</a:t>
            </a:r>
          </a:p>
        </p:txBody>
      </p:sp>
      <p:sp>
        <p:nvSpPr>
          <p:cNvPr id="16" name="Oval 15"/>
          <p:cNvSpPr/>
          <p:nvPr/>
        </p:nvSpPr>
        <p:spPr>
          <a:xfrm>
            <a:off x="658368" y="4458208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4907280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Responsiv </a:t>
            </a:r>
            <a:r>
              <a:rPr sz="2800" b="1">
                <a:solidFill>
                  <a:srgbClr val="1F232B"/>
                </a:solidFill>
                <a:latin typeface="Calibri"/>
              </a:rPr>
              <a:t>Landing Page</a:t>
            </a:r>
            <a:r>
              <a:rPr sz="2800" b="0">
                <a:solidFill>
                  <a:srgbClr val="1F232B"/>
                </a:solidFill>
                <a:latin typeface="Calibri"/>
              </a:rPr>
              <a:t> (4 va 5-loyihalar)</a:t>
            </a:r>
          </a:p>
        </p:txBody>
      </p:sp>
      <p:sp>
        <p:nvSpPr>
          <p:cNvPr id="18" name="Oval 17"/>
          <p:cNvSpPr/>
          <p:nvPr/>
        </p:nvSpPr>
        <p:spPr>
          <a:xfrm>
            <a:off x="658368" y="5067300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Responsiv dizayn nima?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10-mavzu · Moslashuvchan (responsiv) dizayn va media so'rovlar. Figma bilan ishlash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3 / 29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872807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3769" b="1">
                <a:solidFill>
                  <a:srgbClr val="E2552B"/>
                </a:solidFill>
                <a:latin typeface="Calibri"/>
              </a:rPr>
              <a:t>Sayt har qanday ekran o'lchamiga o'zi moslashadi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399855"/>
            <a:ext cx="10680192" cy="46761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600" b="0">
                <a:solidFill>
                  <a:srgbClr val="1F232B"/>
                </a:solidFill>
                <a:latin typeface="Calibri"/>
              </a:rPr>
              <a:t>Foydalanuvchilarning </a:t>
            </a:r>
            <a:r>
              <a:rPr sz="2600" b="1">
                <a:solidFill>
                  <a:srgbClr val="1F232B"/>
                </a:solidFill>
                <a:latin typeface="Calibri"/>
              </a:rPr>
              <a:t>60%+</a:t>
            </a:r>
            <a:r>
              <a:rPr sz="2600" b="0">
                <a:solidFill>
                  <a:srgbClr val="1F232B"/>
                </a:solidFill>
                <a:latin typeface="Calibri"/>
              </a:rPr>
              <a:t> telefondan kiradi</a:t>
            </a:r>
          </a:p>
        </p:txBody>
      </p:sp>
      <p:sp>
        <p:nvSpPr>
          <p:cNvPr id="9" name="Oval 8"/>
          <p:cNvSpPr/>
          <p:nvPr/>
        </p:nvSpPr>
        <p:spPr>
          <a:xfrm>
            <a:off x="658368" y="2548445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977197"/>
            <a:ext cx="10680192" cy="46761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600" b="0">
                <a:solidFill>
                  <a:srgbClr val="1F232B"/>
                </a:solidFill>
                <a:latin typeface="Calibri"/>
              </a:rPr>
              <a:t>1200px sayt 390px ekranda yo mayda, yo yonga sig'maydi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3125787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8640" y="3554539"/>
            <a:ext cx="11091672" cy="1040256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554539"/>
            <a:ext cx="82296" cy="1040256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645979"/>
            <a:ext cx="10725912" cy="87566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2470" b="0">
                <a:solidFill>
                  <a:srgbClr val="1F232B"/>
                </a:solidFill>
                <a:latin typeface="Calibri"/>
              </a:rPr>
              <a:t>💡 </a:t>
            </a:r>
            <a:r>
              <a:rPr sz="2470" b="1">
                <a:solidFill>
                  <a:srgbClr val="1F232B"/>
                </a:solidFill>
                <a:latin typeface="Calibri"/>
              </a:rPr>
              <a:t>Suv:</a:t>
            </a:r>
            <a:r>
              <a:rPr sz="2470" b="0">
                <a:solidFill>
                  <a:srgbClr val="1F232B"/>
                </a:solidFill>
                <a:latin typeface="Calibri"/>
              </a:rPr>
              <a:t> qaysi idishga quyilsa — stakan, choynak, chelak — o'sha shaklni oladi. Responsiv sayt ham har ekranga moslashadi.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814252"/>
            <a:ext cx="10680192" cy="880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600" b="0">
                <a:solidFill>
                  <a:srgbClr val="1F232B"/>
                </a:solidFill>
                <a:latin typeface="Calibri"/>
              </a:rPr>
              <a:t>3 vosita: </a:t>
            </a:r>
            <a:r>
              <a:rPr sz="2600" b="1">
                <a:solidFill>
                  <a:srgbClr val="1F232B"/>
                </a:solidFill>
                <a:latin typeface="Calibri"/>
              </a:rPr>
              <a:t>moslashuvchan maket</a:t>
            </a:r>
            <a:r>
              <a:rPr sz="2600" b="0">
                <a:solidFill>
                  <a:srgbClr val="1F232B"/>
                </a:solidFill>
                <a:latin typeface="Calibri"/>
              </a:rPr>
              <a:t> (%, fr, flex, grid) + </a:t>
            </a:r>
            <a:r>
              <a:rPr sz="2600" b="1">
                <a:solidFill>
                  <a:srgbClr val="1F232B"/>
                </a:solidFill>
                <a:latin typeface="Calibri"/>
              </a:rPr>
              <a:t>moslashuvchan rasmlar</a:t>
            </a:r>
            <a:r>
              <a:rPr sz="2600" b="0">
                <a:solidFill>
                  <a:srgbClr val="1F232B"/>
                </a:solidFill>
                <a:latin typeface="Calibri"/>
              </a:rPr>
              <a:t> + </a:t>
            </a:r>
            <a:r>
              <a:rPr sz="2600" b="1">
                <a:solidFill>
                  <a:srgbClr val="1F232B"/>
                </a:solidFill>
                <a:latin typeface="Calibri"/>
              </a:rPr>
              <a:t>media query</a:t>
            </a:r>
          </a:p>
        </p:txBody>
      </p:sp>
      <p:sp>
        <p:nvSpPr>
          <p:cNvPr id="16" name="Oval 15"/>
          <p:cNvSpPr/>
          <p:nvPr/>
        </p:nvSpPr>
        <p:spPr>
          <a:xfrm>
            <a:off x="658368" y="4962842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1-qadam: viewport meta-tegi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10-mavzu · Moslashuvchan (responsiv) dizayn va media so'rovlar. Figma bilan ishlash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4 / 29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11091672" cy="758098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72184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HTML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46504"/>
            <a:ext cx="10725912" cy="41062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904" b="0">
                <a:solidFill>
                  <a:srgbClr val="E06C75"/>
                </a:solidFill>
                <a:latin typeface="Consolas"/>
              </a:rPr>
              <a:t>&lt;meta</a:t>
            </a:r>
            <a:r>
              <a:rPr sz="1904" b="0">
                <a:solidFill>
                  <a:srgbClr val="E6E6E6"/>
                </a:solidFill>
                <a:latin typeface="Consolas"/>
              </a:rPr>
              <a:t> name=</a:t>
            </a:r>
            <a:r>
              <a:rPr sz="1904" b="0">
                <a:solidFill>
                  <a:srgbClr val="98C379"/>
                </a:solidFill>
                <a:latin typeface="Consolas"/>
              </a:rPr>
              <a:t>"viewport"</a:t>
            </a:r>
            <a:r>
              <a:rPr sz="1904" b="0">
                <a:solidFill>
                  <a:srgbClr val="E6E6E6"/>
                </a:solidFill>
                <a:latin typeface="Consolas"/>
              </a:rPr>
              <a:t> content=</a:t>
            </a:r>
            <a:r>
              <a:rPr sz="1904" b="0">
                <a:solidFill>
                  <a:srgbClr val="98C379"/>
                </a:solidFill>
                <a:latin typeface="Consolas"/>
              </a:rPr>
              <a:t>"width=device-width, initial-scale=1.0"</a:t>
            </a:r>
            <a:r>
              <a:rPr sz="1904" b="0">
                <a:solidFill>
                  <a:srgbClr val="E06C75"/>
                </a:solidFill>
                <a:latin typeface="Consolas"/>
              </a:rPr>
              <a:t>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394874"/>
            <a:ext cx="10680192" cy="94386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576" b="0">
                <a:solidFill>
                  <a:srgbClr val="B02A4A"/>
                </a:solidFill>
                <a:latin typeface="Consolas"/>
              </a:rPr>
              <a:t>width=device-width</a:t>
            </a:r>
            <a:r>
              <a:rPr sz="2800" b="0">
                <a:solidFill>
                  <a:srgbClr val="1F232B"/>
                </a:solidFill>
                <a:latin typeface="Calibri"/>
              </a:rPr>
              <a:t> — sahifa kengligi = qurilma ekran kengligi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2554894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8640" y="3448466"/>
            <a:ext cx="11091672" cy="1100581"/>
          </a:xfrm>
          <a:prstGeom prst="roundRect">
            <a:avLst>
              <a:gd name="adj" fmla="val 8000"/>
            </a:avLst>
          </a:prstGeom>
          <a:solidFill>
            <a:srgbClr val="FFF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448466"/>
            <a:ext cx="82296" cy="1100581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539906"/>
            <a:ext cx="10725912" cy="935989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2660" b="0">
                <a:solidFill>
                  <a:srgbClr val="1F232B"/>
                </a:solidFill>
                <a:latin typeface="Calibri"/>
              </a:rPr>
              <a:t>⚠️ </a:t>
            </a:r>
            <a:r>
              <a:rPr sz="2660" b="0">
                <a:solidFill>
                  <a:srgbClr val="1F232B"/>
                </a:solidFill>
                <a:latin typeface="Calibri"/>
              </a:rPr>
              <a:t>Bu qator bo'lmasa telefon sahifani "980px kompyuter" deb kichraytiradi va </a:t>
            </a:r>
            <a:r>
              <a:rPr sz="2660" b="1">
                <a:solidFill>
                  <a:srgbClr val="1F232B"/>
                </a:solidFill>
                <a:latin typeface="Calibri"/>
              </a:rPr>
              <a:t>media query'lar ishlamaydi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768504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VS Code'dagi </a:t>
            </a:r>
            <a:r>
              <a:rPr sz="2576" b="0">
                <a:solidFill>
                  <a:srgbClr val="B02A4A"/>
                </a:solidFill>
                <a:latin typeface="Consolas"/>
              </a:rPr>
              <a:t>!</a:t>
            </a:r>
            <a:r>
              <a:rPr sz="2800" b="0">
                <a:solidFill>
                  <a:srgbClr val="1F232B"/>
                </a:solidFill>
                <a:latin typeface="Calibri"/>
              </a:rPr>
              <a:t> shabloni uni avtomatik qo'shadi</a:t>
            </a:r>
          </a:p>
        </p:txBody>
      </p:sp>
      <p:sp>
        <p:nvSpPr>
          <p:cNvPr id="16" name="Oval 15"/>
          <p:cNvSpPr/>
          <p:nvPr/>
        </p:nvSpPr>
        <p:spPr>
          <a:xfrm>
            <a:off x="658368" y="4928524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2-qadam: moslashuvchan o'lchamlar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10-mavzu · Moslashuvchan (responsiv) dizayn va media so'rovlar. Figma bilan ishlash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5 / 29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08945"/>
            <a:ext cx="11091672" cy="3699174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63809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CSS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838129"/>
            <a:ext cx="10725912" cy="335170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496" b="0">
                <a:solidFill>
                  <a:srgbClr val="7F848E"/>
                </a:solidFill>
                <a:latin typeface="Consolas"/>
              </a:rPr>
              <a:t>/* ❌ Qattiq — telefonda sig'maydi */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E6E6E6"/>
                </a:solidFill>
                <a:latin typeface="Consolas"/>
              </a:rPr>
              <a:t>.konteyner { width: 1100px; }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7F848E"/>
                </a:solidFill>
                <a:latin typeface="Consolas"/>
              </a:rPr>
              <a:t>/* ✅ Moslashuvchan */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E6E6E6"/>
                </a:solidFill>
                <a:latin typeface="Consolas"/>
              </a:rPr>
              <a:t>.konteyner {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E6E6E6"/>
                </a:solidFill>
                <a:latin typeface="Consolas"/>
              </a:rPr>
              <a:t>  width: 100%;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E6E6E6"/>
                </a:solidFill>
                <a:latin typeface="Consolas"/>
              </a:rPr>
              <a:t>  max-width: 1100px;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E6E6E6"/>
                </a:solidFill>
                <a:latin typeface="Consolas"/>
              </a:rPr>
              <a:t>  margin: 0 auto;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E6E6E6"/>
                </a:solidFill>
                <a:latin typeface="Consolas"/>
              </a:rPr>
              <a:t>  padding: 0 16px;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E6E6E6"/>
                </a:solidFill>
                <a:latin typeface="Consolas"/>
              </a:rPr>
              <a:t>}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7F848E"/>
                </a:solidFill>
                <a:latin typeface="Consolas"/>
              </a:rPr>
              <a:t>/* ✅ Rasm hech qachon chiqib ketmasin */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E6E6E6"/>
                </a:solidFill>
                <a:latin typeface="Consolas"/>
              </a:rPr>
              <a:t>img { max-width: 100%; height: auto; 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5427576"/>
            <a:ext cx="10680192" cy="40411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024" b="0">
                <a:solidFill>
                  <a:srgbClr val="B02A4A"/>
                </a:solidFill>
                <a:latin typeface="Consolas"/>
              </a:rPr>
              <a:t>repeat(auto-fill, minmax(220px, 1fr))</a:t>
            </a:r>
            <a:r>
              <a:rPr sz="2200" b="0">
                <a:solidFill>
                  <a:srgbClr val="1F232B"/>
                </a:solidFill>
                <a:latin typeface="Calibri"/>
              </a:rPr>
              <a:t> — ustunlar soni o'zi o'zgaradi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5553306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3-qadam: media so'rovlar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10-mavzu · Moslashuvchan (responsiv) dizayn va media so'rovlar. Figma bilan ishlash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6 / 29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33001"/>
            <a:ext cx="11091672" cy="3174796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87865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CSS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62185"/>
            <a:ext cx="10725912" cy="282732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632" b="0">
                <a:solidFill>
                  <a:srgbClr val="E6E6E6"/>
                </a:solidFill>
                <a:latin typeface="Consolas"/>
              </a:rPr>
              <a:t>@media (max-width: 768px) {</a:t>
            </a:r>
          </a:p>
          <a:p>
            <a:pPr>
              <a:lnSpc>
                <a:spcPct val="100000"/>
              </a:lnSpc>
            </a:pPr>
            <a:r>
              <a:rPr sz="1632" b="0">
                <a:solidFill>
                  <a:srgbClr val="7F848E"/>
                </a:solidFill>
                <a:latin typeface="Consolas"/>
              </a:rPr>
              <a:t>  /* FAQAT ekran 768px yoki KICHIK bo'lsa */</a:t>
            </a:r>
          </a:p>
          <a:p>
            <a:pPr>
              <a:lnSpc>
                <a:spcPct val="100000"/>
              </a:lnSpc>
            </a:pPr>
            <a:r>
              <a:rPr sz="1632" b="0">
                <a:solidFill>
                  <a:srgbClr val="E6E6E6"/>
                </a:solidFill>
                <a:latin typeface="Consolas"/>
              </a:rPr>
              <a:t>  .menyu { flex-direction: column; }</a:t>
            </a:r>
          </a:p>
          <a:p>
            <a:pPr>
              <a:lnSpc>
                <a:spcPct val="100000"/>
              </a:lnSpc>
            </a:pPr>
            <a:r>
              <a:rPr sz="1632" b="0">
                <a:solidFill>
                  <a:srgbClr val="E6E6E6"/>
                </a:solidFill>
                <a:latin typeface="Consolas"/>
              </a:rPr>
              <a:t>  h1 { font-size: 1.8rem; }</a:t>
            </a:r>
          </a:p>
          <a:p>
            <a:pPr>
              <a:lnSpc>
                <a:spcPct val="100000"/>
              </a:lnSpc>
            </a:pPr>
            <a:r>
              <a:rPr sz="1632" b="0">
                <a:solidFill>
                  <a:srgbClr val="E6E6E6"/>
                </a:solidFill>
                <a:latin typeface="Consolas"/>
              </a:rPr>
              <a:t>}</a:t>
            </a:r>
          </a:p>
          <a:p>
            <a:pPr>
              <a:lnSpc>
                <a:spcPct val="100000"/>
              </a:lnSpc>
            </a:pPr>
            <a:r>
              <a:rPr sz="1632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632" b="0">
                <a:solidFill>
                  <a:srgbClr val="E6E6E6"/>
                </a:solidFill>
                <a:latin typeface="Consolas"/>
              </a:rPr>
              <a:t>@media (min-width: 1024px) {</a:t>
            </a:r>
          </a:p>
          <a:p>
            <a:pPr>
              <a:lnSpc>
                <a:spcPct val="100000"/>
              </a:lnSpc>
            </a:pPr>
            <a:r>
              <a:rPr sz="1632" b="0">
                <a:solidFill>
                  <a:srgbClr val="7F848E"/>
                </a:solidFill>
                <a:latin typeface="Consolas"/>
              </a:rPr>
              <a:t>  /* FAQAT ekran 1024px yoki KATTA bo'lsa */</a:t>
            </a:r>
          </a:p>
          <a:p>
            <a:pPr>
              <a:lnSpc>
                <a:spcPct val="100000"/>
              </a:lnSpc>
            </a:pPr>
            <a:r>
              <a:rPr sz="1632" b="0">
                <a:solidFill>
                  <a:srgbClr val="E6E6E6"/>
                </a:solidFill>
                <a:latin typeface="Consolas"/>
              </a:rPr>
              <a:t>  .kartalar { grid-template-columns: repeat(4, 1fr); }</a:t>
            </a:r>
          </a:p>
          <a:p>
            <a:pPr>
              <a:lnSpc>
                <a:spcPct val="100000"/>
              </a:lnSpc>
            </a:pPr>
            <a:r>
              <a:rPr sz="1632" b="0">
                <a:solidFill>
                  <a:srgbClr val="E6E6E6"/>
                </a:solidFill>
                <a:latin typeface="Consolas"/>
              </a:rPr>
              <a:t>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4827254"/>
            <a:ext cx="10680192" cy="4358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208" b="0">
                <a:solidFill>
                  <a:srgbClr val="B02A4A"/>
                </a:solidFill>
                <a:latin typeface="Consolas"/>
              </a:rPr>
              <a:t>max-width</a:t>
            </a:r>
            <a:r>
              <a:rPr sz="2400" b="0">
                <a:solidFill>
                  <a:srgbClr val="1F232B"/>
                </a:solidFill>
                <a:latin typeface="Calibri"/>
              </a:rPr>
              <a:t> — "ko'pi bilan", </a:t>
            </a:r>
            <a:r>
              <a:rPr sz="2208" b="0">
                <a:solidFill>
                  <a:srgbClr val="B02A4A"/>
                </a:solidFill>
                <a:latin typeface="Consolas"/>
              </a:rPr>
              <a:t>min-width</a:t>
            </a:r>
            <a:r>
              <a:rPr sz="2400" b="0">
                <a:solidFill>
                  <a:srgbClr val="1F232B"/>
                </a:solidFill>
                <a:latin typeface="Calibri"/>
              </a:rPr>
              <a:t> — "kamida"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4964414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5372846"/>
            <a:ext cx="10680192" cy="8168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0">
                <a:solidFill>
                  <a:srgbClr val="1F232B"/>
                </a:solidFill>
                <a:latin typeface="Calibri"/>
              </a:rPr>
              <a:t>Birlashtirish: </a:t>
            </a:r>
            <a:r>
              <a:rPr sz="2208" b="0">
                <a:solidFill>
                  <a:srgbClr val="B02A4A"/>
                </a:solidFill>
                <a:latin typeface="Consolas"/>
              </a:rPr>
              <a:t>@media (min-width: 600px) and (max-width: 900px)</a:t>
            </a:r>
          </a:p>
        </p:txBody>
      </p:sp>
      <p:sp>
        <p:nvSpPr>
          <p:cNvPr id="13" name="Oval 12"/>
          <p:cNvSpPr/>
          <p:nvPr/>
        </p:nvSpPr>
        <p:spPr>
          <a:xfrm>
            <a:off x="658368" y="5510006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Breakpointlar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10-mavzu · Moslashuvchan (responsiv) dizayn va media so'rovlar. Figma bilan ishlash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7 / 29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576050"/>
          <a:ext cx="11091672" cy="2509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7224"/>
                <a:gridCol w="3697224"/>
                <a:gridCol w="3697224"/>
              </a:tblGrid>
              <a:tr h="501904">
                <a:tc>
                  <a:txBody>
                    <a:bodyPr/>
                    <a:lstStyle/>
                    <a:p>
                      <a:r>
                        <a:rPr sz="2240" b="1">
                          <a:solidFill>
                            <a:srgbClr val="FFFFFF"/>
                          </a:solidFill>
                          <a:latin typeface="Calibri"/>
                        </a:rPr>
                        <a:t>Qurilma</a:t>
                      </a:r>
                    </a:p>
                  </a:txBody>
                  <a:tcPr marL="73152" marR="73152" marT="36576" marB="36576">
                    <a:solidFill>
                      <a:srgbClr val="E255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1">
                          <a:solidFill>
                            <a:srgbClr val="FFFFFF"/>
                          </a:solidFill>
                          <a:latin typeface="Calibri"/>
                        </a:rPr>
                        <a:t>Kenglik</a:t>
                      </a:r>
                    </a:p>
                  </a:txBody>
                  <a:tcPr marL="73152" marR="73152" marT="36576" marB="36576">
                    <a:solidFill>
                      <a:srgbClr val="E255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1">
                          <a:solidFill>
                            <a:srgbClr val="FFFFFF"/>
                          </a:solidFill>
                          <a:latin typeface="Calibri"/>
                        </a:rPr>
                        <a:t>Odatiy maket</a:t>
                      </a:r>
                    </a:p>
                  </a:txBody>
                  <a:tcPr marL="73152" marR="73152" marT="36576" marB="36576">
                    <a:solidFill>
                      <a:srgbClr val="E2552B"/>
                    </a:solidFill>
                  </a:tcPr>
                </a:tc>
              </a:tr>
              <a:tr h="501904"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📱 Telefon</a:t>
                      </a:r>
                    </a:p>
                  </a:txBody>
                  <a:tcPr marL="73152" marR="73152" marT="36576" marB="36576">
                    <a:solidFill>
                      <a:srgbClr val="FC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360–480px</a:t>
                      </a:r>
                    </a:p>
                  </a:txBody>
                  <a:tcPr marL="73152" marR="73152" marT="36576" marB="36576">
                    <a:solidFill>
                      <a:srgbClr val="FC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1 ustun, "burger" menyu</a:t>
                      </a:r>
                    </a:p>
                  </a:txBody>
                  <a:tcPr marL="73152" marR="73152" marT="36576" marB="36576">
                    <a:solidFill>
                      <a:srgbClr val="FCF1EE"/>
                    </a:solidFill>
                  </a:tcPr>
                </a:tc>
              </a:tr>
              <a:tr h="501904"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📱 Katta telefon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481–768px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1–2 ustun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01904"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📟 Planshet</a:t>
                      </a:r>
                    </a:p>
                  </a:txBody>
                  <a:tcPr marL="73152" marR="73152" marT="36576" marB="36576">
                    <a:solidFill>
                      <a:srgbClr val="FC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769–1024px</a:t>
                      </a:r>
                    </a:p>
                  </a:txBody>
                  <a:tcPr marL="73152" marR="73152" marT="36576" marB="36576">
                    <a:solidFill>
                      <a:srgbClr val="FC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2–3 ustun</a:t>
                      </a:r>
                    </a:p>
                  </a:txBody>
                  <a:tcPr marL="73152" marR="73152" marT="36576" marB="36576">
                    <a:solidFill>
                      <a:srgbClr val="FCF1EE"/>
                    </a:solidFill>
                  </a:tcPr>
                </a:tc>
              </a:tr>
              <a:tr h="501904"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💻 Kompyuter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1025px+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3–4 ustun, to'liq menyu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48640" y="4305026"/>
            <a:ext cx="11091672" cy="1100581"/>
          </a:xfrm>
          <a:prstGeom prst="roundRect">
            <a:avLst>
              <a:gd name="adj" fmla="val 8000"/>
            </a:avLst>
          </a:prstGeom>
          <a:solidFill>
            <a:srgbClr val="FFF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4305026"/>
            <a:ext cx="82296" cy="1100581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4396466"/>
            <a:ext cx="10725912" cy="935989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2660" b="0">
                <a:solidFill>
                  <a:srgbClr val="1F232B"/>
                </a:solidFill>
                <a:latin typeface="Calibri"/>
              </a:rPr>
              <a:t>⚠️ </a:t>
            </a:r>
            <a:r>
              <a:rPr sz="2660" b="0">
                <a:solidFill>
                  <a:srgbClr val="1F232B"/>
                </a:solidFill>
                <a:latin typeface="Calibri"/>
              </a:rPr>
              <a:t>Breakpointni dizayn </a:t>
            </a:r>
            <a:r>
              <a:rPr sz="2660" b="1">
                <a:solidFill>
                  <a:srgbClr val="1F232B"/>
                </a:solidFill>
                <a:latin typeface="Calibri"/>
              </a:rPr>
              <a:t>"buzila boshlagan"</a:t>
            </a:r>
            <a:r>
              <a:rPr sz="2660" b="0">
                <a:solidFill>
                  <a:srgbClr val="1F232B"/>
                </a:solidFill>
                <a:latin typeface="Calibri"/>
              </a:rPr>
              <a:t> joyda qo'ying, aniq qurilmaga emas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Mobile-first yondashuvi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10-mavzu · Moslashuvchan (responsiv) dizayn va media so'rovlar. Figma bilan ishlash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8 / 29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62911"/>
            <a:ext cx="11091672" cy="3448385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17775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CSS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92095"/>
            <a:ext cx="10725912" cy="310091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496" b="0">
                <a:solidFill>
                  <a:srgbClr val="7F848E"/>
                </a:solidFill>
                <a:latin typeface="Consolas"/>
              </a:rPr>
              <a:t>/* 1. Standart — telefon: 1 ustun */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E6E6E6"/>
                </a:solidFill>
                <a:latin typeface="Consolas"/>
              </a:rPr>
              <a:t>.kartalar { display: grid; grid-template-columns: 1fr; gap: 16px; }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7F848E"/>
                </a:solidFill>
                <a:latin typeface="Consolas"/>
              </a:rPr>
              <a:t>/* 2. Planshet */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E6E6E6"/>
                </a:solidFill>
                <a:latin typeface="Consolas"/>
              </a:rPr>
              <a:t>@media (min-width: 640px) {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E6E6E6"/>
                </a:solidFill>
                <a:latin typeface="Consolas"/>
              </a:rPr>
              <a:t>  .kartalar { grid-template-columns: repeat(2, 1fr); }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E6E6E6"/>
                </a:solidFill>
                <a:latin typeface="Consolas"/>
              </a:rPr>
              <a:t>}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7F848E"/>
                </a:solidFill>
                <a:latin typeface="Consolas"/>
              </a:rPr>
              <a:t>/* 3. Kompyuter */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E6E6E6"/>
                </a:solidFill>
                <a:latin typeface="Consolas"/>
              </a:rPr>
              <a:t>@media (min-width: 1024px) {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E6E6E6"/>
                </a:solidFill>
                <a:latin typeface="Consolas"/>
              </a:rPr>
              <a:t>  .kartalar { grid-template-columns: repeat(4, 1fr); }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E6E6E6"/>
                </a:solidFill>
                <a:latin typeface="Consolas"/>
              </a:rPr>
              <a:t>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5130752"/>
            <a:ext cx="10680192" cy="40411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200" b="0">
                <a:solidFill>
                  <a:srgbClr val="1F232B"/>
                </a:solidFill>
                <a:latin typeface="Calibri"/>
              </a:rPr>
              <a:t>Avval </a:t>
            </a:r>
            <a:r>
              <a:rPr sz="2200" b="1">
                <a:solidFill>
                  <a:srgbClr val="1F232B"/>
                </a:solidFill>
                <a:latin typeface="Calibri"/>
              </a:rPr>
              <a:t>oddiy</a:t>
            </a:r>
            <a:r>
              <a:rPr sz="2200" b="0">
                <a:solidFill>
                  <a:srgbClr val="1F232B"/>
                </a:solidFill>
                <a:latin typeface="Calibri"/>
              </a:rPr>
              <a:t> (telefon), keyin </a:t>
            </a:r>
            <a:r>
              <a:rPr sz="2024" b="0">
                <a:solidFill>
                  <a:srgbClr val="B02A4A"/>
                </a:solidFill>
                <a:latin typeface="Consolas"/>
              </a:rPr>
              <a:t>min-width</a:t>
            </a:r>
            <a:r>
              <a:rPr sz="2200" b="0">
                <a:solidFill>
                  <a:srgbClr val="1F232B"/>
                </a:solidFill>
                <a:latin typeface="Calibri"/>
              </a:rPr>
              <a:t> bilan </a:t>
            </a:r>
            <a:r>
              <a:rPr sz="2200" b="1">
                <a:solidFill>
                  <a:srgbClr val="1F232B"/>
                </a:solidFill>
                <a:latin typeface="Calibri"/>
              </a:rPr>
              <a:t>murakkab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5256482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5644594"/>
            <a:ext cx="10680192" cy="40411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200" b="0">
                <a:solidFill>
                  <a:srgbClr val="1F232B"/>
                </a:solidFill>
                <a:latin typeface="Calibri"/>
              </a:rPr>
              <a:t>Eng ko'p foydalanuvchi — telefonda</a:t>
            </a:r>
          </a:p>
        </p:txBody>
      </p:sp>
      <p:sp>
        <p:nvSpPr>
          <p:cNvPr id="13" name="Oval 12"/>
          <p:cNvSpPr/>
          <p:nvPr/>
        </p:nvSpPr>
        <p:spPr>
          <a:xfrm>
            <a:off x="658368" y="5770324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DevTools'da telefon rejimi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10-mavzu · Moslashuvchan (responsiv) dizayn va media so'rovlar. Figma bilan ishlash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9 / 29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1417320"/>
            <a:ext cx="457200" cy="457200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4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19" y="1444752"/>
            <a:ext cx="10451592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Chrome'da sahifani oching, </a:t>
            </a:r>
            <a:r>
              <a:rPr sz="2800" b="1">
                <a:solidFill>
                  <a:srgbClr val="1F232B"/>
                </a:solidFill>
                <a:latin typeface="Calibri"/>
              </a:rPr>
              <a:t>F12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093976"/>
            <a:ext cx="457200" cy="457200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4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19" y="2121408"/>
            <a:ext cx="10451592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1">
                <a:solidFill>
                  <a:srgbClr val="1F232B"/>
                </a:solidFill>
                <a:latin typeface="Calibri"/>
              </a:rPr>
              <a:t>Ctrl+Shift+M</a:t>
            </a:r>
            <a:r>
              <a:rPr sz="2800" b="0">
                <a:solidFill>
                  <a:srgbClr val="1F232B"/>
                </a:solidFill>
                <a:latin typeface="Calibri"/>
              </a:rPr>
              <a:t> — Toggle device toolbar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2770632"/>
            <a:ext cx="457200" cy="457200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4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19" y="2798064"/>
            <a:ext cx="10451592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Qurilma tanlang: iPhone SE, Pixel 7, iPad...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3447288"/>
            <a:ext cx="457200" cy="457200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4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19" y="3474720"/>
            <a:ext cx="10451592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"Responsive" rejimida chetini sudrab o'lchamni o'zgartiring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123944"/>
            <a:ext cx="11091672" cy="918845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4060" b="1">
                <a:solidFill>
                  <a:srgbClr val="E2552B"/>
                </a:solidFill>
                <a:latin typeface="Calibri"/>
              </a:rPr>
              <a:t>Gorizontal scroll bo'lmasligi kerak!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Responsiv navigatsiya: "burger" menyu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10-mavzu · Moslashuvchan (responsiv) dizayn va media so'rovlar. Figma bilan ishlash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10 / 29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34486"/>
            <a:ext cx="11091672" cy="2513624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89350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CSS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63670"/>
            <a:ext cx="10725912" cy="216615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768" b="0">
                <a:solidFill>
                  <a:srgbClr val="E6E6E6"/>
                </a:solidFill>
                <a:latin typeface="Consolas"/>
              </a:rPr>
              <a:t>#burger, .burger-tugma { display: none; }</a:t>
            </a:r>
          </a:p>
          <a:p>
            <a:pPr>
              <a:lnSpc>
                <a:spcPct val="100000"/>
              </a:lnSpc>
            </a:pPr>
            <a:r>
              <a:rPr sz="1768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768" b="0">
                <a:solidFill>
                  <a:srgbClr val="E6E6E6"/>
                </a:solidFill>
                <a:latin typeface="Consolas"/>
              </a:rPr>
              <a:t>@media (max-width: 640px) {</a:t>
            </a:r>
          </a:p>
          <a:p>
            <a:pPr>
              <a:lnSpc>
                <a:spcPct val="100000"/>
              </a:lnSpc>
            </a:pPr>
            <a:r>
              <a:rPr sz="1768" b="0">
                <a:solidFill>
                  <a:srgbClr val="E6E6E6"/>
                </a:solidFill>
                <a:latin typeface="Consolas"/>
              </a:rPr>
              <a:t>  .burger-tugma { display: block; cursor: pointer; }</a:t>
            </a:r>
          </a:p>
          <a:p>
            <a:pPr>
              <a:lnSpc>
                <a:spcPct val="100000"/>
              </a:lnSpc>
            </a:pPr>
            <a:r>
              <a:rPr sz="1768" b="0">
                <a:solidFill>
                  <a:srgbClr val="E6E6E6"/>
                </a:solidFill>
                <a:latin typeface="Consolas"/>
              </a:rPr>
              <a:t>  .menyu { display: none; flex-direction: column; width: 100%; }</a:t>
            </a:r>
          </a:p>
          <a:p>
            <a:pPr>
              <a:lnSpc>
                <a:spcPct val="100000"/>
              </a:lnSpc>
            </a:pPr>
            <a:r>
              <a:rPr sz="1768" b="0">
                <a:solidFill>
                  <a:srgbClr val="E6E6E6"/>
                </a:solidFill>
                <a:latin typeface="Consolas"/>
              </a:rPr>
              <a:t>  #burger:checked ~ .menyu { display: flex; }</a:t>
            </a:r>
          </a:p>
          <a:p>
            <a:pPr>
              <a:lnSpc>
                <a:spcPct val="100000"/>
              </a:lnSpc>
            </a:pPr>
            <a:r>
              <a:rPr sz="1768" b="0">
                <a:solidFill>
                  <a:srgbClr val="E6E6E6"/>
                </a:solidFill>
                <a:latin typeface="Consolas"/>
              </a:rPr>
              <a:t>}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167567"/>
            <a:ext cx="11091672" cy="1328074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222431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HTML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496751"/>
            <a:ext cx="10725912" cy="98060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768" b="0">
                <a:solidFill>
                  <a:srgbClr val="E06C75"/>
                </a:solidFill>
                <a:latin typeface="Consolas"/>
              </a:rPr>
              <a:t>&lt;input</a:t>
            </a:r>
            <a:r>
              <a:rPr sz="1768" b="0">
                <a:solidFill>
                  <a:srgbClr val="E6E6E6"/>
                </a:solidFill>
                <a:latin typeface="Consolas"/>
              </a:rPr>
              <a:t> type=</a:t>
            </a:r>
            <a:r>
              <a:rPr sz="1768" b="0">
                <a:solidFill>
                  <a:srgbClr val="98C379"/>
                </a:solidFill>
                <a:latin typeface="Consolas"/>
              </a:rPr>
              <a:t>"checkbox"</a:t>
            </a:r>
            <a:r>
              <a:rPr sz="1768" b="0">
                <a:solidFill>
                  <a:srgbClr val="E6E6E6"/>
                </a:solidFill>
                <a:latin typeface="Consolas"/>
              </a:rPr>
              <a:t> id=</a:t>
            </a:r>
            <a:r>
              <a:rPr sz="1768" b="0">
                <a:solidFill>
                  <a:srgbClr val="98C379"/>
                </a:solidFill>
                <a:latin typeface="Consolas"/>
              </a:rPr>
              <a:t>"burger"</a:t>
            </a:r>
            <a:r>
              <a:rPr sz="1768" b="0">
                <a:solidFill>
                  <a:srgbClr val="E06C75"/>
                </a:solidFill>
                <a:latin typeface="Consolas"/>
              </a:rPr>
              <a:t>&gt;</a:t>
            </a:r>
          </a:p>
          <a:p>
            <a:pPr>
              <a:lnSpc>
                <a:spcPct val="100000"/>
              </a:lnSpc>
            </a:pPr>
            <a:r>
              <a:rPr sz="1768" b="0">
                <a:solidFill>
                  <a:srgbClr val="E06C75"/>
                </a:solidFill>
                <a:latin typeface="Consolas"/>
              </a:rPr>
              <a:t>&lt;label</a:t>
            </a:r>
            <a:r>
              <a:rPr sz="1768" b="0">
                <a:solidFill>
                  <a:srgbClr val="E6E6E6"/>
                </a:solidFill>
                <a:latin typeface="Consolas"/>
              </a:rPr>
              <a:t> for=</a:t>
            </a:r>
            <a:r>
              <a:rPr sz="1768" b="0">
                <a:solidFill>
                  <a:srgbClr val="98C379"/>
                </a:solidFill>
                <a:latin typeface="Consolas"/>
              </a:rPr>
              <a:t>"burger"</a:t>
            </a:r>
            <a:r>
              <a:rPr sz="1768" b="0">
                <a:solidFill>
                  <a:srgbClr val="E6E6E6"/>
                </a:solidFill>
                <a:latin typeface="Consolas"/>
              </a:rPr>
              <a:t> class=</a:t>
            </a:r>
            <a:r>
              <a:rPr sz="1768" b="0">
                <a:solidFill>
                  <a:srgbClr val="98C379"/>
                </a:solidFill>
                <a:latin typeface="Consolas"/>
              </a:rPr>
              <a:t>"burger-tugma"</a:t>
            </a:r>
            <a:r>
              <a:rPr sz="1768" b="0">
                <a:solidFill>
                  <a:srgbClr val="E06C75"/>
                </a:solidFill>
                <a:latin typeface="Consolas"/>
              </a:rPr>
              <a:t>&gt;</a:t>
            </a:r>
            <a:r>
              <a:rPr sz="1768" b="0">
                <a:solidFill>
                  <a:srgbClr val="E6E6E6"/>
                </a:solidFill>
                <a:latin typeface="Consolas"/>
              </a:rPr>
              <a:t>☰</a:t>
            </a:r>
            <a:r>
              <a:rPr sz="1768" b="0">
                <a:solidFill>
                  <a:srgbClr val="E06C75"/>
                </a:solidFill>
                <a:latin typeface="Consolas"/>
              </a:rPr>
              <a:t>&lt;/label</a:t>
            </a:r>
            <a:r>
              <a:rPr sz="1768" b="0">
                <a:solidFill>
                  <a:srgbClr val="E06C75"/>
                </a:solidFill>
                <a:latin typeface="Consolas"/>
              </a:rPr>
              <a:t>&gt;</a:t>
            </a:r>
          </a:p>
          <a:p>
            <a:pPr>
              <a:lnSpc>
                <a:spcPct val="100000"/>
              </a:lnSpc>
            </a:pPr>
            <a:r>
              <a:rPr sz="1768" b="0">
                <a:solidFill>
                  <a:srgbClr val="E06C75"/>
                </a:solidFill>
                <a:latin typeface="Consolas"/>
              </a:rPr>
              <a:t>&lt;nav</a:t>
            </a:r>
            <a:r>
              <a:rPr sz="1768" b="0">
                <a:solidFill>
                  <a:srgbClr val="E6E6E6"/>
                </a:solidFill>
                <a:latin typeface="Consolas"/>
              </a:rPr>
              <a:t> class=</a:t>
            </a:r>
            <a:r>
              <a:rPr sz="1768" b="0">
                <a:solidFill>
                  <a:srgbClr val="98C379"/>
                </a:solidFill>
                <a:latin typeface="Consolas"/>
              </a:rPr>
              <a:t>"menyu"</a:t>
            </a:r>
            <a:r>
              <a:rPr sz="1768" b="0">
                <a:solidFill>
                  <a:srgbClr val="E06C75"/>
                </a:solidFill>
                <a:latin typeface="Consolas"/>
              </a:rPr>
              <a:t>&gt;</a:t>
            </a:r>
            <a:r>
              <a:rPr sz="1768" b="0">
                <a:solidFill>
                  <a:srgbClr val="E6E6E6"/>
                </a:solidFill>
                <a:latin typeface="Consolas"/>
              </a:rPr>
              <a:t>...</a:t>
            </a:r>
            <a:r>
              <a:rPr sz="1768" b="0">
                <a:solidFill>
                  <a:srgbClr val="E06C75"/>
                </a:solidFill>
                <a:latin typeface="Consolas"/>
              </a:rPr>
              <a:t>&lt;/nav</a:t>
            </a:r>
            <a:r>
              <a:rPr sz="1768" b="0">
                <a:solidFill>
                  <a:srgbClr val="E06C75"/>
                </a:solidFill>
                <a:latin typeface="Consolas"/>
              </a:rPr>
              <a:t>&gt;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5715097"/>
            <a:ext cx="10680192" cy="46761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600" b="0">
                <a:solidFill>
                  <a:srgbClr val="1F232B"/>
                </a:solidFill>
                <a:latin typeface="Calibri"/>
              </a:rPr>
              <a:t>Yashirin checkbox + label = tugma; 19-mavzuda JavaScript bilan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5863687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5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327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600" b="1">
                <a:solidFill>
                  <a:srgbClr val="F6CCBF"/>
                </a:solidFill>
                <a:latin typeface="Calibri"/>
              </a:rPr>
              <a:t>BO'LIM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32720" cy="1645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Calibri"/>
              </a:rPr>
              <a:t>Figma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931920"/>
            <a:ext cx="10332720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200" b="0">
                <a:solidFill>
                  <a:srgbClr val="FAE5DF"/>
                </a:solidFill>
                <a:latin typeface="Calibri"/>
              </a:rPr>
              <a:t>Dizayndan kodga — professional jamoalar shunday ishlaydi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F6CCBF"/>
                </a:solidFill>
                <a:latin typeface="Calibri"/>
              </a:rPr>
              <a:t>11 / 29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Figma bilan tanishish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10-mavzu · Moslashuvchan (responsiv) dizayn va media so'rovlar. Figma bilan ishlash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12 / 29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43812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1">
                <a:solidFill>
                  <a:srgbClr val="1F232B"/>
                </a:solidFill>
                <a:latin typeface="Calibri"/>
              </a:rPr>
              <a:t>figma.com</a:t>
            </a:r>
            <a:r>
              <a:rPr sz="2800" b="0">
                <a:solidFill>
                  <a:srgbClr val="1F232B"/>
                </a:solidFill>
                <a:latin typeface="Calibri"/>
              </a:rPr>
              <a:t> — brauzerda ishlaydi, o'quvchilarga bepul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603832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052904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1">
                <a:solidFill>
                  <a:srgbClr val="1F232B"/>
                </a:solidFill>
                <a:latin typeface="Calibri"/>
              </a:rPr>
              <a:t>Community</a:t>
            </a:r>
            <a:r>
              <a:rPr sz="2800" b="0">
                <a:solidFill>
                  <a:srgbClr val="1F232B"/>
                </a:solidFill>
                <a:latin typeface="Calibri"/>
              </a:rPr>
              <a:t> → bepul "Landing page" shabloni → Open in Figma</a:t>
            </a:r>
          </a:p>
        </p:txBody>
      </p:sp>
      <p:sp>
        <p:nvSpPr>
          <p:cNvPr id="10" name="Oval 9"/>
          <p:cNvSpPr/>
          <p:nvPr/>
        </p:nvSpPr>
        <p:spPr>
          <a:xfrm>
            <a:off x="658368" y="2212924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48640" y="2661996"/>
          <a:ext cx="11091672" cy="33670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45836"/>
                <a:gridCol w="5545836"/>
              </a:tblGrid>
              <a:tr h="561170">
                <a:tc>
                  <a:txBody>
                    <a:bodyPr/>
                    <a:lstStyle/>
                    <a:p>
                      <a:r>
                        <a:rPr sz="2240" b="1">
                          <a:solidFill>
                            <a:srgbClr val="FFFFFF"/>
                          </a:solidFill>
                          <a:latin typeface="Calibri"/>
                        </a:rPr>
                        <a:t>Tushuncha</a:t>
                      </a:r>
                    </a:p>
                  </a:txBody>
                  <a:tcPr marL="73152" marR="73152" marT="36576" marB="36576">
                    <a:solidFill>
                      <a:srgbClr val="E255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1">
                          <a:solidFill>
                            <a:srgbClr val="FFFFFF"/>
                          </a:solidFill>
                          <a:latin typeface="Calibri"/>
                        </a:rPr>
                        <a:t>Ma'nosi</a:t>
                      </a:r>
                    </a:p>
                  </a:txBody>
                  <a:tcPr marL="73152" marR="73152" marT="36576" marB="36576">
                    <a:solidFill>
                      <a:srgbClr val="E2552B"/>
                    </a:solidFill>
                  </a:tcPr>
                </a:tc>
              </a:tr>
              <a:tr h="561170">
                <a:tc>
                  <a:txBody>
                    <a:bodyPr/>
                    <a:lstStyle/>
                    <a:p>
                      <a:r>
                        <a:rPr sz="2240" b="1">
                          <a:solidFill>
                            <a:srgbClr val="1F232B"/>
                          </a:solidFill>
                          <a:latin typeface="Calibri"/>
                        </a:rPr>
                        <a:t>Frame</a:t>
                      </a:r>
                    </a:p>
                  </a:txBody>
                  <a:tcPr marL="73152" marR="73152" marT="36576" marB="36576">
                    <a:solidFill>
                      <a:srgbClr val="FC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Ekran/sahifa: "Desktop 1440", "iPhone 14"</a:t>
                      </a:r>
                    </a:p>
                  </a:txBody>
                  <a:tcPr marL="73152" marR="73152" marT="36576" marB="36576">
                    <a:solidFill>
                      <a:srgbClr val="FCF1EE"/>
                    </a:solidFill>
                  </a:tcPr>
                </a:tc>
              </a:tr>
              <a:tr h="561170">
                <a:tc>
                  <a:txBody>
                    <a:bodyPr/>
                    <a:lstStyle/>
                    <a:p>
                      <a:r>
                        <a:rPr sz="2240" b="1">
                          <a:solidFill>
                            <a:srgbClr val="1F232B"/>
                          </a:solidFill>
                          <a:latin typeface="Calibri"/>
                        </a:rPr>
                        <a:t>Layers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Elementlar daraxti — HTML'ga o'xshaydi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61170">
                <a:tc>
                  <a:txBody>
                    <a:bodyPr/>
                    <a:lstStyle/>
                    <a:p>
                      <a:r>
                        <a:rPr sz="2240" b="1">
                          <a:solidFill>
                            <a:srgbClr val="1F232B"/>
                          </a:solidFill>
                          <a:latin typeface="Calibri"/>
                        </a:rPr>
                        <a:t>Design</a:t>
                      </a:r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 paneli</a:t>
                      </a:r>
                    </a:p>
                  </a:txBody>
                  <a:tcPr marL="73152" marR="73152" marT="36576" marB="36576">
                    <a:solidFill>
                      <a:srgbClr val="FC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O'lcham, rang, shrift, radius, soya</a:t>
                      </a:r>
                    </a:p>
                  </a:txBody>
                  <a:tcPr marL="73152" marR="73152" marT="36576" marB="36576">
                    <a:solidFill>
                      <a:srgbClr val="FCF1EE"/>
                    </a:solidFill>
                  </a:tcPr>
                </a:tc>
              </a:tr>
              <a:tr h="561170">
                <a:tc>
                  <a:txBody>
                    <a:bodyPr/>
                    <a:lstStyle/>
                    <a:p>
                      <a:r>
                        <a:rPr sz="2240" b="1">
                          <a:solidFill>
                            <a:srgbClr val="1F232B"/>
                          </a:solidFill>
                          <a:latin typeface="Calibri"/>
                        </a:rPr>
                        <a:t>Auto layout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Figma'dagi </a:t>
                      </a:r>
                      <a:r>
                        <a:rPr sz="2240" b="1">
                          <a:solidFill>
                            <a:srgbClr val="1F232B"/>
                          </a:solidFill>
                          <a:latin typeface="Calibri"/>
                        </a:rPr>
                        <a:t>Flexbox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61174">
                <a:tc>
                  <a:txBody>
                    <a:bodyPr/>
                    <a:lstStyle/>
                    <a:p>
                      <a:r>
                        <a:rPr sz="2240" b="1">
                          <a:solidFill>
                            <a:srgbClr val="1F232B"/>
                          </a:solidFill>
                          <a:latin typeface="Calibri"/>
                        </a:rPr>
                        <a:t>Dev Mode</a:t>
                      </a:r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 (Shift+D)</a:t>
                      </a:r>
                    </a:p>
                  </a:txBody>
                  <a:tcPr marL="73152" marR="73152" marT="36576" marB="36576">
                    <a:solidFill>
                      <a:srgbClr val="FC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Tayyor CSS qiymatlar</a:t>
                      </a:r>
                    </a:p>
                  </a:txBody>
                  <a:tcPr marL="73152" marR="73152" marT="36576" marB="36576">
                    <a:solidFill>
                      <a:srgbClr val="FCF1E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Figma → CSS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10-mavzu · Moslashuvchan (responsiv) dizayn va media so'rovlar. Figma bilan ishlash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13 / 29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449324"/>
          <a:ext cx="11091672" cy="3462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45836"/>
                <a:gridCol w="5545836"/>
              </a:tblGrid>
              <a:tr h="494646">
                <a:tc>
                  <a:txBody>
                    <a:bodyPr/>
                    <a:lstStyle/>
                    <a:p>
                      <a:r>
                        <a:rPr sz="1920" b="1">
                          <a:solidFill>
                            <a:srgbClr val="FFFFFF"/>
                          </a:solidFill>
                          <a:latin typeface="Calibri"/>
                        </a:rPr>
                        <a:t>Figma'da</a:t>
                      </a:r>
                    </a:p>
                  </a:txBody>
                  <a:tcPr marL="73152" marR="73152" marT="36576" marB="36576">
                    <a:solidFill>
                      <a:srgbClr val="E255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20" b="1">
                          <a:solidFill>
                            <a:srgbClr val="FFFFFF"/>
                          </a:solidFill>
                          <a:latin typeface="Calibri"/>
                        </a:rPr>
                        <a:t>CSS'da</a:t>
                      </a:r>
                    </a:p>
                  </a:txBody>
                  <a:tcPr marL="73152" marR="73152" marT="36576" marB="36576">
                    <a:solidFill>
                      <a:srgbClr val="E2552B"/>
                    </a:solidFill>
                  </a:tcPr>
                </a:tc>
              </a:tr>
              <a:tr h="494646">
                <a:tc>
                  <a:txBody>
                    <a:bodyPr/>
                    <a:lstStyle/>
                    <a:p>
                      <a:r>
                        <a:rPr sz="1920" b="0">
                          <a:solidFill>
                            <a:srgbClr val="1F232B"/>
                          </a:solidFill>
                          <a:latin typeface="Calibri"/>
                        </a:rPr>
                        <a:t>Fill: </a:t>
                      </a:r>
                      <a:r>
                        <a:rPr sz="1766" b="0">
                          <a:solidFill>
                            <a:srgbClr val="B02A4A"/>
                          </a:solidFill>
                          <a:latin typeface="Consolas"/>
                        </a:rPr>
                        <a:t>#4F46E5</a:t>
                      </a:r>
                    </a:p>
                  </a:txBody>
                  <a:tcPr marL="73152" marR="73152" marT="36576" marB="36576">
                    <a:solidFill>
                      <a:srgbClr val="FC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66" b="0">
                          <a:solidFill>
                            <a:srgbClr val="B02A4A"/>
                          </a:solidFill>
                          <a:latin typeface="Consolas"/>
                        </a:rPr>
                        <a:t>background-color: #4f46e5;</a:t>
                      </a:r>
                    </a:p>
                  </a:txBody>
                  <a:tcPr marL="73152" marR="73152" marT="36576" marB="36576">
                    <a:solidFill>
                      <a:srgbClr val="FCF1EE"/>
                    </a:solidFill>
                  </a:tcPr>
                </a:tc>
              </a:tr>
              <a:tr h="494646">
                <a:tc>
                  <a:txBody>
                    <a:bodyPr/>
                    <a:lstStyle/>
                    <a:p>
                      <a:r>
                        <a:rPr sz="1920" b="0">
                          <a:solidFill>
                            <a:srgbClr val="1F232B"/>
                          </a:solidFill>
                          <a:latin typeface="Calibri"/>
                        </a:rPr>
                        <a:t>Text: Inter, Bold, 48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66" b="0">
                          <a:solidFill>
                            <a:srgbClr val="B02A4A"/>
                          </a:solidFill>
                          <a:latin typeface="Consolas"/>
                        </a:rPr>
                        <a:t>font-weight: 700; font-size: 48px;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94646">
                <a:tc>
                  <a:txBody>
                    <a:bodyPr/>
                    <a:lstStyle/>
                    <a:p>
                      <a:r>
                        <a:rPr sz="1920" b="0">
                          <a:solidFill>
                            <a:srgbClr val="1F232B"/>
                          </a:solidFill>
                          <a:latin typeface="Calibri"/>
                        </a:rPr>
                        <a:t>Corner radius: 12</a:t>
                      </a:r>
                    </a:p>
                  </a:txBody>
                  <a:tcPr marL="73152" marR="73152" marT="36576" marB="36576">
                    <a:solidFill>
                      <a:srgbClr val="FC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66" b="0">
                          <a:solidFill>
                            <a:srgbClr val="B02A4A"/>
                          </a:solidFill>
                          <a:latin typeface="Consolas"/>
                        </a:rPr>
                        <a:t>border-radius: 12px;</a:t>
                      </a:r>
                    </a:p>
                  </a:txBody>
                  <a:tcPr marL="73152" marR="73152" marT="36576" marB="36576">
                    <a:solidFill>
                      <a:srgbClr val="FCF1EE"/>
                    </a:solidFill>
                  </a:tcPr>
                </a:tc>
              </a:tr>
              <a:tr h="494646">
                <a:tc>
                  <a:txBody>
                    <a:bodyPr/>
                    <a:lstStyle/>
                    <a:p>
                      <a:r>
                        <a:rPr sz="1920" b="0">
                          <a:solidFill>
                            <a:srgbClr val="1F232B"/>
                          </a:solidFill>
                          <a:latin typeface="Calibri"/>
                        </a:rPr>
                        <a:t>Stroke: 1, #E5E7EB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66" b="0">
                          <a:solidFill>
                            <a:srgbClr val="B02A4A"/>
                          </a:solidFill>
                          <a:latin typeface="Consolas"/>
                        </a:rPr>
                        <a:t>border: 1px solid #e5e7eb;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94646">
                <a:tc>
                  <a:txBody>
                    <a:bodyPr/>
                    <a:lstStyle/>
                    <a:p>
                      <a:r>
                        <a:rPr sz="1920" b="0">
                          <a:solidFill>
                            <a:srgbClr val="1F232B"/>
                          </a:solidFill>
                          <a:latin typeface="Calibri"/>
                        </a:rPr>
                        <a:t>Drop shadow: Y 4, Blur 12, 10%</a:t>
                      </a:r>
                    </a:p>
                  </a:txBody>
                  <a:tcPr marL="73152" marR="73152" marT="36576" marB="36576">
                    <a:solidFill>
                      <a:srgbClr val="FC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66" b="0">
                          <a:solidFill>
                            <a:srgbClr val="B02A4A"/>
                          </a:solidFill>
                          <a:latin typeface="Consolas"/>
                        </a:rPr>
                        <a:t>box-shadow: 0 4px 12px rgba(0,0,0,.1);</a:t>
                      </a:r>
                    </a:p>
                  </a:txBody>
                  <a:tcPr marL="73152" marR="73152" marT="36576" marB="36576">
                    <a:solidFill>
                      <a:srgbClr val="FCF1EE"/>
                    </a:solidFill>
                  </a:tcPr>
                </a:tc>
              </a:tr>
              <a:tr h="494652">
                <a:tc>
                  <a:txBody>
                    <a:bodyPr/>
                    <a:lstStyle/>
                    <a:p>
                      <a:r>
                        <a:rPr sz="1920" b="0">
                          <a:solidFill>
                            <a:srgbClr val="1F232B"/>
                          </a:solidFill>
                          <a:latin typeface="Calibri"/>
                        </a:rPr>
                        <a:t>Auto layout: horizontal, gap 24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66" b="0">
                          <a:solidFill>
                            <a:srgbClr val="B02A4A"/>
                          </a:solidFill>
                          <a:latin typeface="Consolas"/>
                        </a:rPr>
                        <a:t>display:flex; gap:24px;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960120" y="5131308"/>
            <a:ext cx="10680192" cy="4358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0">
                <a:solidFill>
                  <a:srgbClr val="1F232B"/>
                </a:solidFill>
                <a:latin typeface="Calibri"/>
              </a:rPr>
              <a:t>Masofani o'lchash: element tanlab </a:t>
            </a:r>
            <a:r>
              <a:rPr sz="2400" b="1">
                <a:solidFill>
                  <a:srgbClr val="1F232B"/>
                </a:solidFill>
                <a:latin typeface="Calibri"/>
              </a:rPr>
              <a:t>Alt</a:t>
            </a:r>
            <a:r>
              <a:rPr sz="2400" b="0">
                <a:solidFill>
                  <a:srgbClr val="1F232B"/>
                </a:solidFill>
                <a:latin typeface="Calibri"/>
              </a:rPr>
              <a:t> + boshqa element ustiga</a:t>
            </a:r>
          </a:p>
        </p:txBody>
      </p:sp>
      <p:sp>
        <p:nvSpPr>
          <p:cNvPr id="9" name="Oval 8"/>
          <p:cNvSpPr/>
          <p:nvPr/>
        </p:nvSpPr>
        <p:spPr>
          <a:xfrm>
            <a:off x="658368" y="5268468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5676900"/>
            <a:ext cx="10680192" cy="4358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0">
                <a:solidFill>
                  <a:srgbClr val="1F232B"/>
                </a:solidFill>
                <a:latin typeface="Calibri"/>
              </a:rPr>
              <a:t>Rasm/ikonka: </a:t>
            </a:r>
            <a:r>
              <a:rPr sz="2400" b="1">
                <a:solidFill>
                  <a:srgbClr val="1F232B"/>
                </a:solidFill>
                <a:latin typeface="Calibri"/>
              </a:rPr>
              <a:t>Export</a:t>
            </a:r>
            <a:r>
              <a:rPr sz="2400" b="0">
                <a:solidFill>
                  <a:srgbClr val="1F232B"/>
                </a:solidFill>
                <a:latin typeface="Calibri"/>
              </a:rPr>
              <a:t> → PNG/JPG yoki SVG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5814060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Maketni kodlash tartibi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10-mavzu · Moslashuvchan (responsiv) dizayn va media so'rovlar. Figma bilan ishlash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14 / 29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1417320"/>
            <a:ext cx="457200" cy="457200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4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19" y="1444752"/>
            <a:ext cx="10451592" cy="9987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Dizaynni </a:t>
            </a:r>
            <a:r>
              <a:rPr sz="2800" b="1">
                <a:solidFill>
                  <a:srgbClr val="1F232B"/>
                </a:solidFill>
                <a:latin typeface="Calibri"/>
              </a:rPr>
              <a:t>bloklarga</a:t>
            </a:r>
            <a:r>
              <a:rPr sz="2800" b="0">
                <a:solidFill>
                  <a:srgbClr val="1F232B"/>
                </a:solidFill>
                <a:latin typeface="Calibri"/>
              </a:rPr>
              <a:t> bo'ling: header, hero, xizmatlar, sharhlar, footer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525776"/>
            <a:ext cx="457200" cy="457200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4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19" y="2553208"/>
            <a:ext cx="10451592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Avval faqat </a:t>
            </a:r>
            <a:r>
              <a:rPr sz="2800" b="1">
                <a:solidFill>
                  <a:srgbClr val="1F232B"/>
                </a:solidFill>
                <a:latin typeface="Calibri"/>
              </a:rPr>
              <a:t>HTML</a:t>
            </a:r>
            <a:r>
              <a:rPr sz="2800" b="0">
                <a:solidFill>
                  <a:srgbClr val="1F232B"/>
                </a:solidFill>
                <a:latin typeface="Calibri"/>
              </a:rPr>
              <a:t> tuzilmasi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202432"/>
            <a:ext cx="457200" cy="457200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4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19" y="3229864"/>
            <a:ext cx="10451592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Ranglar va shriftlarni bir joyga yig'ing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3879088"/>
            <a:ext cx="457200" cy="457200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4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19" y="3906520"/>
            <a:ext cx="10451592" cy="9987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Yuqoridan pastga: avval katta maket (flex/grid), keyin detallar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4987544"/>
            <a:ext cx="457200" cy="457200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4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19" y="5014976"/>
            <a:ext cx="10451592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Oxirida </a:t>
            </a:r>
            <a:r>
              <a:rPr sz="2800" b="1">
                <a:solidFill>
                  <a:srgbClr val="1F232B"/>
                </a:solidFill>
                <a:latin typeface="Calibri"/>
              </a:rPr>
              <a:t>telefon versiyasi</a:t>
            </a:r>
            <a:r>
              <a:rPr sz="2800" b="0">
                <a:solidFill>
                  <a:srgbClr val="1F232B"/>
                </a:solidFill>
                <a:latin typeface="Calibri"/>
              </a:rPr>
              <a:t> — media query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5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327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600" b="1">
                <a:solidFill>
                  <a:srgbClr val="F6CCBF"/>
                </a:solidFill>
                <a:latin typeface="Calibri"/>
              </a:rPr>
              <a:t>BO'LIM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32720" cy="1645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Calibri"/>
              </a:rPr>
              <a:t>Amaliy mashg'ulot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931920"/>
            <a:ext cx="10332720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200" b="0">
                <a:solidFill>
                  <a:srgbClr val="FAE5DF"/>
                </a:solidFill>
                <a:latin typeface="Calibri"/>
              </a:rPr>
              <a:t>4-loyiha: "IT Akademiya" responsiv Landing Page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F6CCBF"/>
                </a:solidFill>
                <a:latin typeface="Calibri"/>
              </a:rPr>
              <a:t>15 / 29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Amaliyot: Landing Page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10-mavzu · Moslashuvchan (responsiv) dizayn va media so'rovlar. Figma bilan ishlash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16 / 29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23315"/>
            <a:ext cx="11091672" cy="4702332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78179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CSS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52499"/>
            <a:ext cx="10725912" cy="43548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496" b="0">
                <a:solidFill>
                  <a:srgbClr val="E6E6E6"/>
                </a:solidFill>
                <a:latin typeface="Consolas"/>
              </a:rPr>
              <a:t>* { box-sizing: border-box; margin: 0; padding: 0; }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E6E6E6"/>
                </a:solidFill>
                <a:latin typeface="Consolas"/>
              </a:rPr>
              <a:t>img { max-width: 100%; height: auto; display: block; }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E6E6E6"/>
                </a:solidFill>
                <a:latin typeface="Consolas"/>
              </a:rPr>
              <a:t>.konteyner { max-width: 1100px; margin: 0 auto; padding: 0 16px; }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7F848E"/>
                </a:solidFill>
                <a:latin typeface="Consolas"/>
              </a:rPr>
              <a:t>/* MOBILE (standart) */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E6E6E6"/>
                </a:solidFill>
                <a:latin typeface="Consolas"/>
              </a:rPr>
              <a:t>.kurslar { display: grid; grid-template-columns: 1fr; gap: 16px; }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E6E6E6"/>
                </a:solidFill>
                <a:latin typeface="Consolas"/>
              </a:rPr>
              <a:t>.hero h1 { font-size: 2rem; }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7F848E"/>
                </a:solidFill>
                <a:latin typeface="Consolas"/>
              </a:rPr>
              <a:t>/* PLANSHET */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E6E6E6"/>
                </a:solidFill>
                <a:latin typeface="Consolas"/>
              </a:rPr>
              <a:t>@media (min-width: 640px) {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E6E6E6"/>
                </a:solidFill>
                <a:latin typeface="Consolas"/>
              </a:rPr>
              <a:t>  .kurslar { grid-template-columns: repeat(2, 1fr); }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E6E6E6"/>
                </a:solidFill>
                <a:latin typeface="Consolas"/>
              </a:rPr>
              <a:t>}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7F848E"/>
                </a:solidFill>
                <a:latin typeface="Consolas"/>
              </a:rPr>
              <a:t>/* KOMPYUTER */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E6E6E6"/>
                </a:solidFill>
                <a:latin typeface="Consolas"/>
              </a:rPr>
              <a:t>@media (min-width: 1024px) {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E6E6E6"/>
                </a:solidFill>
                <a:latin typeface="Consolas"/>
              </a:rPr>
              <a:t>  .kurslar { grid-template-columns: repeat(4, 1fr); }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E6E6E6"/>
                </a:solidFill>
                <a:latin typeface="Consolas"/>
              </a:rPr>
              <a:t>  .hero h1 { font-size: 3.2rem; }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E6E6E6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Amaliyot: topshiriq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10-mavzu · Moslashuvchan (responsiv) dizayn va media so'rovlar. Figma bilan ishlash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17 / 29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1417320"/>
            <a:ext cx="457200" cy="457200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4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19" y="1444752"/>
            <a:ext cx="10451592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O'z mavzuingiz: kitob do'koni, sport zali, sayohat...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093976"/>
            <a:ext cx="457200" cy="457200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4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19" y="2121408"/>
            <a:ext cx="10451592" cy="9987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Kamida </a:t>
            </a:r>
            <a:r>
              <a:rPr sz="2800" b="1">
                <a:solidFill>
                  <a:srgbClr val="1F232B"/>
                </a:solidFill>
                <a:latin typeface="Calibri"/>
              </a:rPr>
              <a:t>5 bo'lim</a:t>
            </a:r>
            <a:r>
              <a:rPr sz="2800" b="0">
                <a:solidFill>
                  <a:srgbClr val="1F232B"/>
                </a:solidFill>
                <a:latin typeface="Calibri"/>
              </a:rPr>
              <a:t>: header, hero, xizmatlar, raqamlar/sharhlar, footer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202432"/>
            <a:ext cx="457200" cy="457200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4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19" y="3229863"/>
            <a:ext cx="10451592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3 o'lchamda tekshiring: </a:t>
            </a:r>
            <a:r>
              <a:rPr sz="2800" b="1">
                <a:solidFill>
                  <a:srgbClr val="1F232B"/>
                </a:solidFill>
                <a:latin typeface="Calibri"/>
              </a:rPr>
              <a:t>375px</a:t>
            </a:r>
            <a:r>
              <a:rPr sz="2800" b="0">
                <a:solidFill>
                  <a:srgbClr val="1F232B"/>
                </a:solidFill>
                <a:latin typeface="Calibri"/>
              </a:rPr>
              <a:t>, </a:t>
            </a:r>
            <a:r>
              <a:rPr sz="2800" b="1">
                <a:solidFill>
                  <a:srgbClr val="1F232B"/>
                </a:solidFill>
                <a:latin typeface="Calibri"/>
              </a:rPr>
              <a:t>768px</a:t>
            </a:r>
            <a:r>
              <a:rPr sz="2800" b="0">
                <a:solidFill>
                  <a:srgbClr val="1F232B"/>
                </a:solidFill>
                <a:latin typeface="Calibri"/>
              </a:rPr>
              <a:t>, </a:t>
            </a:r>
            <a:r>
              <a:rPr sz="2800" b="1">
                <a:solidFill>
                  <a:srgbClr val="1F232B"/>
                </a:solidFill>
                <a:latin typeface="Calibri"/>
              </a:rPr>
              <a:t>1280px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3879087"/>
            <a:ext cx="457200" cy="457200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4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19" y="3906520"/>
            <a:ext cx="10451592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Telefonda </a:t>
            </a:r>
            <a:r>
              <a:rPr sz="2800" b="1">
                <a:solidFill>
                  <a:srgbClr val="1F232B"/>
                </a:solidFill>
                <a:latin typeface="Calibri"/>
              </a:rPr>
              <a:t>burger</a:t>
            </a:r>
            <a:r>
              <a:rPr sz="2800" b="0">
                <a:solidFill>
                  <a:srgbClr val="1F232B"/>
                </a:solidFill>
                <a:latin typeface="Calibri"/>
              </a:rPr>
              <a:t> menyu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4555744"/>
            <a:ext cx="457200" cy="457200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4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19" y="4583176"/>
            <a:ext cx="10451592" cy="9987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1">
                <a:solidFill>
                  <a:srgbClr val="1F232B"/>
                </a:solidFill>
                <a:latin typeface="Calibri"/>
              </a:rPr>
              <a:t>5-loyiha:</a:t>
            </a:r>
            <a:r>
              <a:rPr sz="2800" b="0">
                <a:solidFill>
                  <a:srgbClr val="1F232B"/>
                </a:solidFill>
                <a:latin typeface="Calibri"/>
              </a:rPr>
              <a:t> Figma Community shablonini Dev Mode qiymatlari bilan aniq kodlang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Ko'p uchraydigan xatolar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10-mavzu · Moslashuvchan (responsiv) dizayn va media so'rovlar. Figma bilan ishlash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18 / 29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17320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❌ </a:t>
            </a:r>
            <a:r>
              <a:rPr sz="2576" b="0">
                <a:solidFill>
                  <a:srgbClr val="B02A4A"/>
                </a:solidFill>
                <a:latin typeface="Consolas"/>
              </a:rPr>
              <a:t>viewport</a:t>
            </a:r>
            <a:r>
              <a:rPr sz="2800" b="0">
                <a:solidFill>
                  <a:srgbClr val="1F232B"/>
                </a:solidFill>
                <a:latin typeface="Calibri"/>
              </a:rPr>
              <a:t> meta-tegi unutilgan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577340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026412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❌ </a:t>
            </a:r>
            <a:r>
              <a:rPr sz="2576" b="0">
                <a:solidFill>
                  <a:srgbClr val="B02A4A"/>
                </a:solidFill>
                <a:latin typeface="Consolas"/>
              </a:rPr>
              <a:t>width: 1200px</a:t>
            </a:r>
            <a:r>
              <a:rPr sz="2800" b="0">
                <a:solidFill>
                  <a:srgbClr val="1F232B"/>
                </a:solidFill>
                <a:latin typeface="Calibri"/>
              </a:rPr>
              <a:t> — gorizontal scroll; </a:t>
            </a:r>
            <a:r>
              <a:rPr sz="2576" b="0">
                <a:solidFill>
                  <a:srgbClr val="B02A4A"/>
                </a:solidFill>
                <a:latin typeface="Consolas"/>
              </a:rPr>
              <a:t>max-width</a:t>
            </a:r>
            <a:r>
              <a:rPr sz="2800" b="0">
                <a:solidFill>
                  <a:srgbClr val="1F232B"/>
                </a:solidFill>
                <a:latin typeface="Calibri"/>
              </a:rPr>
              <a:t> ishlating</a:t>
            </a:r>
          </a:p>
        </p:txBody>
      </p:sp>
      <p:sp>
        <p:nvSpPr>
          <p:cNvPr id="10" name="Oval 9"/>
          <p:cNvSpPr/>
          <p:nvPr/>
        </p:nvSpPr>
        <p:spPr>
          <a:xfrm>
            <a:off x="658368" y="2186432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635504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❌ Media query </a:t>
            </a:r>
            <a:r>
              <a:rPr sz="2800" b="1">
                <a:solidFill>
                  <a:srgbClr val="1F232B"/>
                </a:solidFill>
                <a:latin typeface="Calibri"/>
              </a:rPr>
              <a:t>fayl boshida</a:t>
            </a:r>
            <a:r>
              <a:rPr sz="2800" b="0">
                <a:solidFill>
                  <a:srgbClr val="1F232B"/>
                </a:solidFill>
                <a:latin typeface="Calibri"/>
              </a:rPr>
              <a:t> — keyingi qoidalar uni bosib ketadi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" y="2795524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244596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❌ </a:t>
            </a:r>
            <a:r>
              <a:rPr sz="2576" b="0">
                <a:solidFill>
                  <a:srgbClr val="B02A4A"/>
                </a:solidFill>
                <a:latin typeface="Consolas"/>
              </a:rPr>
              <a:t>@media (max-width: 768)</a:t>
            </a:r>
            <a:r>
              <a:rPr sz="2800" b="0">
                <a:solidFill>
                  <a:srgbClr val="1F232B"/>
                </a:solidFill>
                <a:latin typeface="Calibri"/>
              </a:rPr>
              <a:t> — </a:t>
            </a:r>
            <a:r>
              <a:rPr sz="2576" b="0">
                <a:solidFill>
                  <a:srgbClr val="B02A4A"/>
                </a:solidFill>
                <a:latin typeface="Consolas"/>
              </a:rPr>
              <a:t>px</a:t>
            </a:r>
            <a:r>
              <a:rPr sz="2800" b="0">
                <a:solidFill>
                  <a:srgbClr val="1F232B"/>
                </a:solidFill>
                <a:latin typeface="Calibri"/>
              </a:rPr>
              <a:t> unutilgan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3404616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853688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❌ Faqat kompyuterda tekshirish — haqiqiy telefonda ham oching</a:t>
            </a:r>
          </a:p>
        </p:txBody>
      </p:sp>
      <p:sp>
        <p:nvSpPr>
          <p:cNvPr id="16" name="Oval 15"/>
          <p:cNvSpPr/>
          <p:nvPr/>
        </p:nvSpPr>
        <p:spPr>
          <a:xfrm>
            <a:off x="658368" y="4013708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10-mavzu · Moslashuvchan (responsiv) dizayn va media so'rovlar. Figma bilan ishlash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19 / 29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208" b="1">
                <a:solidFill>
                  <a:srgbClr val="B02A4A"/>
                </a:solidFill>
                <a:latin typeface="Consolas"/>
              </a:rPr>
              <a:t>@media (max-width: 600px) { ... }</a:t>
            </a:r>
            <a:r>
              <a:rPr sz="2400" b="1">
                <a:solidFill>
                  <a:srgbClr val="1F232B"/>
                </a:solidFill>
                <a:latin typeface="Calibri"/>
              </a:rPr>
              <a:t> ichidagi qoidalar qachon ishlaydi?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Ekran 600px dan katta bo'lganda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Ekran 600px yoki kichik bo'lganda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Faqat aynan 600px da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Har doim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 — javob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10-mavzu · Moslashuvchan (responsiv) dizayn va media so'rovlar. Figma bilan ishlash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20 / 29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208" b="1">
                <a:solidFill>
                  <a:srgbClr val="B02A4A"/>
                </a:solidFill>
                <a:latin typeface="Consolas"/>
              </a:rPr>
              <a:t>@media (max-width: 600px) { ... }</a:t>
            </a:r>
            <a:r>
              <a:rPr sz="2400" b="1">
                <a:solidFill>
                  <a:srgbClr val="1F232B"/>
                </a:solidFill>
                <a:latin typeface="Calibri"/>
              </a:rPr>
              <a:t> ichidagi qoidalar qachon ishlaydi?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Ekran 600px dan katta bo'lganda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1587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1">
                <a:solidFill>
                  <a:srgbClr val="1F232B"/>
                </a:solidFill>
                <a:latin typeface="Calibri"/>
              </a:rPr>
              <a:t>Ekran 600px yoki kichik bo'lganda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Faqat aynan 600px da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Har doim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10-mavzu · Moslashuvchan (responsiv) dizayn va media so'rovlar. Figma bilan ishlash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21 / 29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1">
                <a:solidFill>
                  <a:srgbClr val="1F232B"/>
                </a:solidFill>
                <a:latin typeface="Calibri"/>
              </a:rPr>
              <a:t>Mobile-first yondashuvida asosan qaysi shart ishlatiladi?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min-width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max-width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orientation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max-height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 — javob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10-mavzu · Moslashuvchan (responsiv) dizayn va media so'rovlar. Figma bilan ishlash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22 / 29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1">
                <a:solidFill>
                  <a:srgbClr val="1F232B"/>
                </a:solidFill>
                <a:latin typeface="Calibri"/>
              </a:rPr>
              <a:t>Mobile-first yondashuvida asosan qaysi shart ishlatiladi?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1587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1">
                <a:solidFill>
                  <a:srgbClr val="B02A4A"/>
                </a:solidFill>
                <a:latin typeface="Consolas"/>
              </a:rPr>
              <a:t>min-width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max-width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orientation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max-height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10-mavzu · Moslashuvchan (responsiv) dizayn va media so'rovlar. Figma bilan ishlash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23 / 29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1">
                <a:solidFill>
                  <a:srgbClr val="1F232B"/>
                </a:solidFill>
                <a:latin typeface="Calibri"/>
              </a:rPr>
              <a:t>Rasm konteynerdan chiqib ketmasligi uchun eng to'g'ri CSS?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width: 1000px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overflow: scroll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width: 100vw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max-width: 100%; height: auto;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 — javob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10-mavzu · Moslashuvchan (responsiv) dizayn va media so'rovlar. Figma bilan ishlash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24 / 29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1">
                <a:solidFill>
                  <a:srgbClr val="1F232B"/>
                </a:solidFill>
                <a:latin typeface="Calibri"/>
              </a:rPr>
              <a:t>Rasm konteynerdan chiqib ketmasligi uchun eng to'g'ri CSS?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width: 1000px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overflow: scroll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width: 100vw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1587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1">
                <a:solidFill>
                  <a:srgbClr val="B02A4A"/>
                </a:solidFill>
                <a:latin typeface="Consolas"/>
              </a:rPr>
              <a:t>max-width: 100%; height: auto;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10-mavzu · Moslashuvchan (responsiv) dizayn va media so'rovlar. Figma bilan ishlash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25 / 29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1">
                <a:solidFill>
                  <a:srgbClr val="1F232B"/>
                </a:solidFill>
                <a:latin typeface="Calibri"/>
              </a:rPr>
              <a:t>Figma'dagi "Auto layout" CSS'dagi qaysi texnologiyaga o'xshaydi?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position: absolute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HTML jadval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Flexbox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Media query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 — javob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10-mavzu · Moslashuvchan (responsiv) dizayn va media so'rovlar. Figma bilan ishlash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26 / 29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1">
                <a:solidFill>
                  <a:srgbClr val="1F232B"/>
                </a:solidFill>
                <a:latin typeface="Calibri"/>
              </a:rPr>
              <a:t>Figma'dagi "Auto layout" CSS'dagi qaysi texnologiyaga o'xshaydi?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position: absolute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HTML jadval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1587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1">
                <a:solidFill>
                  <a:srgbClr val="1F232B"/>
                </a:solidFill>
                <a:latin typeface="Calibri"/>
              </a:rPr>
              <a:t>Flexbox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Media query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🏠 Uyga vazifa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10-mavzu · Moslashuvchan (responsiv) dizayn va media so'rovlar. Figma bilan ishlash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27 / 29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1778254"/>
            <a:ext cx="457200" cy="457200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4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19" y="1805686"/>
            <a:ext cx="10451592" cy="9987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Portfolio va maktab saytlarini </a:t>
            </a:r>
            <a:r>
              <a:rPr sz="2800" b="1">
                <a:solidFill>
                  <a:srgbClr val="1F232B"/>
                </a:solidFill>
                <a:latin typeface="Calibri"/>
              </a:rPr>
              <a:t>to'liq responsiv</a:t>
            </a:r>
            <a:r>
              <a:rPr sz="2800" b="0">
                <a:solidFill>
                  <a:srgbClr val="1F232B"/>
                </a:solidFill>
                <a:latin typeface="Calibri"/>
              </a:rPr>
              <a:t> qiling (3 breakpoint)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886709"/>
            <a:ext cx="457200" cy="457200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4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19" y="2914141"/>
            <a:ext cx="10451592" cy="9987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Figma'da portfolio maketi: Desktop (1440px) + Mobile (390px) frame, Auto layout bilan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995166"/>
            <a:ext cx="457200" cy="457200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4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19" y="4022598"/>
            <a:ext cx="10451592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3 ta saytning mobil versiyasida nima o'zgarganini yozing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✅ Yodda tuting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10-mavzu · Moslashuvchan (responsiv) dizayn va media so'rovlar. Figma bilan ishlash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28 / 29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17320"/>
            <a:ext cx="10680192" cy="94386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Responsivlik = </a:t>
            </a:r>
            <a:r>
              <a:rPr sz="2576" b="0">
                <a:solidFill>
                  <a:srgbClr val="B02A4A"/>
                </a:solidFill>
                <a:latin typeface="Consolas"/>
              </a:rPr>
              <a:t>viewport</a:t>
            </a:r>
            <a:r>
              <a:rPr sz="2800" b="0">
                <a:solidFill>
                  <a:srgbClr val="1F232B"/>
                </a:solidFill>
                <a:latin typeface="Calibri"/>
              </a:rPr>
              <a:t> + </a:t>
            </a:r>
            <a:r>
              <a:rPr sz="2576" b="0">
                <a:solidFill>
                  <a:srgbClr val="B02A4A"/>
                </a:solidFill>
                <a:latin typeface="Consolas"/>
              </a:rPr>
              <a:t>%</a:t>
            </a:r>
            <a:r>
              <a:rPr sz="2800" b="0">
                <a:solidFill>
                  <a:srgbClr val="1F232B"/>
                </a:solidFill>
                <a:latin typeface="Calibri"/>
              </a:rPr>
              <a:t>, </a:t>
            </a:r>
            <a:r>
              <a:rPr sz="2576" b="0">
                <a:solidFill>
                  <a:srgbClr val="B02A4A"/>
                </a:solidFill>
                <a:latin typeface="Consolas"/>
              </a:rPr>
              <a:t>max-width</a:t>
            </a:r>
            <a:r>
              <a:rPr sz="2800" b="0">
                <a:solidFill>
                  <a:srgbClr val="1F232B"/>
                </a:solidFill>
                <a:latin typeface="Calibri"/>
              </a:rPr>
              <a:t>, </a:t>
            </a:r>
            <a:r>
              <a:rPr sz="2576" b="0">
                <a:solidFill>
                  <a:srgbClr val="B02A4A"/>
                </a:solidFill>
                <a:latin typeface="Consolas"/>
              </a:rPr>
              <a:t>fr</a:t>
            </a:r>
            <a:r>
              <a:rPr sz="2800" b="0">
                <a:solidFill>
                  <a:srgbClr val="1F232B"/>
                </a:solidFill>
                <a:latin typeface="Calibri"/>
              </a:rPr>
              <a:t> + </a:t>
            </a:r>
            <a:r>
              <a:rPr sz="2576" b="0">
                <a:solidFill>
                  <a:srgbClr val="B02A4A"/>
                </a:solidFill>
                <a:latin typeface="Consolas"/>
              </a:rPr>
              <a:t>img { max-width: 100% }</a:t>
            </a:r>
            <a:r>
              <a:rPr sz="2800" b="0">
                <a:solidFill>
                  <a:srgbClr val="1F232B"/>
                </a:solidFill>
                <a:latin typeface="Calibri"/>
              </a:rPr>
              <a:t> + media query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577340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470911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576" b="0">
                <a:solidFill>
                  <a:srgbClr val="B02A4A"/>
                </a:solidFill>
                <a:latin typeface="Consolas"/>
              </a:rPr>
              <a:t>@media (min-width: 768px) { ... }</a:t>
            </a:r>
            <a:r>
              <a:rPr sz="2800" b="0">
                <a:solidFill>
                  <a:srgbClr val="1F232B"/>
                </a:solidFill>
                <a:latin typeface="Calibri"/>
              </a:rPr>
              <a:t> — shartli CSS</a:t>
            </a:r>
          </a:p>
        </p:txBody>
      </p:sp>
      <p:sp>
        <p:nvSpPr>
          <p:cNvPr id="10" name="Oval 9"/>
          <p:cNvSpPr/>
          <p:nvPr/>
        </p:nvSpPr>
        <p:spPr>
          <a:xfrm>
            <a:off x="658368" y="2630931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080004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Mobile-first → </a:t>
            </a:r>
            <a:r>
              <a:rPr sz="2576" b="0">
                <a:solidFill>
                  <a:srgbClr val="B02A4A"/>
                </a:solidFill>
                <a:latin typeface="Consolas"/>
              </a:rPr>
              <a:t>min-width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" y="3240023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689096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DevTools: </a:t>
            </a:r>
            <a:r>
              <a:rPr sz="2800" b="1">
                <a:solidFill>
                  <a:srgbClr val="1F232B"/>
                </a:solidFill>
                <a:latin typeface="Calibri"/>
              </a:rPr>
              <a:t>Ctrl+Shift+M</a:t>
            </a:r>
            <a:r>
              <a:rPr sz="2800" b="0">
                <a:solidFill>
                  <a:srgbClr val="1F232B"/>
                </a:solidFill>
                <a:latin typeface="Calibri"/>
              </a:rPr>
              <a:t>; gorizontal scroll bo'lmasin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3849116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298188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Figma: Frame, Layers, Auto layout (= Flexbox), Dev Mode, Export</a:t>
            </a:r>
          </a:p>
        </p:txBody>
      </p:sp>
      <p:sp>
        <p:nvSpPr>
          <p:cNvPr id="16" name="Oval 15"/>
          <p:cNvSpPr/>
          <p:nvPr/>
        </p:nvSpPr>
        <p:spPr>
          <a:xfrm>
            <a:off x="658368" y="4458208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5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48640"/>
            <a:ext cx="11091672" cy="5760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48640"/>
            <a:ext cx="164592" cy="5760720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463040"/>
            <a:ext cx="1005840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6000" b="0">
                <a:solidFill>
                  <a:srgbClr val="1F232B"/>
                </a:solidFill>
                <a:latin typeface="Segoe UI Emoji"/>
              </a:rPr>
              <a:t>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651760"/>
            <a:ext cx="100584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4800" b="1">
                <a:solidFill>
                  <a:srgbClr val="1F232B"/>
                </a:solidFill>
                <a:latin typeface="Calibri"/>
              </a:rPr>
              <a:t>Savollar bormi?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3749039"/>
            <a:ext cx="1005840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200" b="0">
                <a:solidFill>
                  <a:srgbClr val="5B6370"/>
                </a:solidFill>
                <a:latin typeface="Calibri"/>
              </a:rPr>
              <a:t>Keyingi mavzu: </a:t>
            </a:r>
            <a:r>
              <a:rPr sz="2200" b="1">
                <a:solidFill>
                  <a:srgbClr val="5B6370"/>
                </a:solidFill>
                <a:latin typeface="Calibri"/>
              </a:rPr>
              <a:t>11. Git va GitHub, hosting va SEO bo'yicha umumiy bilimlar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5669280"/>
            <a:ext cx="100584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400" b="1">
                <a:solidFill>
                  <a:srgbClr val="5B6370"/>
                </a:solidFill>
                <a:latin typeface="Calibri"/>
              </a:rPr>
              <a:t>8-sinf · Web Full-stack dasturlash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10-mavzu: Moslashuvchan (responsiv) dizayn va media so'rovlar. Figma bilan ishlash</dc:title>
  <dc:subject/>
  <dc:creator>8-sinf · Web Full-stack dasturlash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