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Javob: PK yo'q (ikki Ali); rahbar takrorlanadi va har xil yozilgan — sinflar jadvali kerak; bir katakda bir nechta to'garak — N:M oraliq jadval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Birlamchi kalit (Primary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Tashqi kalit (Foreign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N:M.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Oraliq (bog'lovchi) jadval orqali.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🗄️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2F6FAD"/>
                </a:solidFill>
                <a:latin typeface="Calibri"/>
              </a:rPr>
              <a:t>26-MAVZU  ·  III BOB. PYTHON VA MA'LUMOTLAR BAZASI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Ma'lumotlar bazasiga kirish. Relyatsion ma'lumotlar bazasi tushunchasi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Nima uchun fayllar yetarli emas, ma'lumotlar bazasi va DBMS, jadval, ustun, qator, birlamchi kalit, tashqi kalit, bog'lanish turlari (1:1, 1:N, N:M), SQL nima, relyatsion va NoSQL bazalar.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Nega fayllar emas, </a:t>
            </a:r>
            <a:r>
              <a:rPr sz="2800" b="1">
                <a:solidFill>
                  <a:srgbClr val="1F232B"/>
                </a:solidFill>
                <a:latin typeface="Calibri"/>
              </a:rPr>
              <a:t>ma'lumotlar bazasi</a:t>
            </a:r>
            <a:r>
              <a:rPr sz="2800" b="0">
                <a:solidFill>
                  <a:srgbClr val="1F232B"/>
                </a:solidFill>
                <a:latin typeface="Calibri"/>
              </a:rPr>
              <a:t> kerak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Jadval, ustun, qator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Birlamchi kalit</a:t>
            </a:r>
            <a:r>
              <a:rPr sz="2800" b="0">
                <a:solidFill>
                  <a:srgbClr val="1F232B"/>
                </a:solidFill>
                <a:latin typeface="Calibri"/>
              </a:rPr>
              <a:t> (PK) va </a:t>
            </a:r>
            <a:r>
              <a:rPr sz="2800" b="1">
                <a:solidFill>
                  <a:srgbClr val="1F232B"/>
                </a:solidFill>
                <a:latin typeface="Calibri"/>
              </a:rPr>
              <a:t>tashqi kalit</a:t>
            </a:r>
            <a:r>
              <a:rPr sz="2800" b="0">
                <a:solidFill>
                  <a:srgbClr val="1F232B"/>
                </a:solidFill>
                <a:latin typeface="Calibri"/>
              </a:rPr>
              <a:t> (FK)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Bog'lanish turlari: </a:t>
            </a:r>
            <a:r>
              <a:rPr sz="2800" b="1">
                <a:solidFill>
                  <a:srgbClr val="1F232B"/>
                </a:solidFill>
                <a:latin typeface="Calibri"/>
              </a:rPr>
              <a:t>1:1, 1:N, N:M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SQL</a:t>
            </a:r>
            <a:r>
              <a:rPr sz="2800" b="0">
                <a:solidFill>
                  <a:srgbClr val="1F232B"/>
                </a:solidFill>
                <a:latin typeface="Calibri"/>
              </a:rPr>
              <a:t> va relyatsion / NoSQL bazalar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Nima uchun fayl yetarli emas?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2000 o'quvchi, baholar, davomat, 100 o'qituvchi...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🐢 </a:t>
            </a:r>
            <a:r>
              <a:rPr sz="2800" b="1">
                <a:solidFill>
                  <a:srgbClr val="1F232B"/>
                </a:solidFill>
                <a:latin typeface="Calibri"/>
              </a:rPr>
              <a:t>Sekinlik:</a:t>
            </a:r>
            <a:r>
              <a:rPr sz="2800" b="0">
                <a:solidFill>
                  <a:srgbClr val="1F232B"/>
                </a:solidFill>
                <a:latin typeface="Calibri"/>
              </a:rPr>
              <a:t> qidirish uchun butun faylni o'qish kerak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💥 </a:t>
            </a:r>
            <a:r>
              <a:rPr sz="2800" b="1">
                <a:solidFill>
                  <a:srgbClr val="1F232B"/>
                </a:solidFill>
                <a:latin typeface="Calibri"/>
              </a:rPr>
              <a:t>Bir vaqtda yozish:</a:t>
            </a:r>
            <a:r>
              <a:rPr sz="2800" b="0">
                <a:solidFill>
                  <a:srgbClr val="1F232B"/>
                </a:solidFill>
                <a:latin typeface="Calibri"/>
              </a:rPr>
              <a:t> ikki o'qituvchi bir-birining yozuvini o'chiradi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🤷 </a:t>
            </a:r>
            <a:r>
              <a:rPr sz="2800" b="1">
                <a:solidFill>
                  <a:srgbClr val="1F232B"/>
                </a:solidFill>
                <a:latin typeface="Calibri"/>
              </a:rPr>
              <a:t>Tartibsizlik:</a:t>
            </a:r>
            <a:r>
              <a:rPr sz="2800" b="0">
                <a:solidFill>
                  <a:srgbClr val="1F232B"/>
                </a:solidFill>
                <a:latin typeface="Calibri"/>
              </a:rPr>
              <a:t> "o'n to'rt" va 14, baho 7 — fayl tekshirmaydi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🔁 </a:t>
            </a:r>
            <a:r>
              <a:rPr sz="2800" b="1">
                <a:solidFill>
                  <a:srgbClr val="1F232B"/>
                </a:solidFill>
                <a:latin typeface="Calibri"/>
              </a:rPr>
              <a:t>Takrorlanish:</a:t>
            </a:r>
            <a:r>
              <a:rPr sz="2800" b="0">
                <a:solidFill>
                  <a:srgbClr val="1F232B"/>
                </a:solidFill>
                <a:latin typeface="Calibri"/>
              </a:rPr>
              <a:t> manzil har yozuvda qayta yoziladi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0728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🔐 </a:t>
            </a:r>
            <a:r>
              <a:rPr sz="2800" b="1">
                <a:solidFill>
                  <a:srgbClr val="1F232B"/>
                </a:solidFill>
                <a:latin typeface="Calibri"/>
              </a:rPr>
              <a:t>Xavfsizlik va zaxira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hammasi qo'lda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506730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Ma'lumotlar bazasi va DBMS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13792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79" b="1">
                <a:solidFill>
                  <a:srgbClr val="2F6FAD"/>
                </a:solidFill>
                <a:latin typeface="Calibri"/>
              </a:rPr>
              <a:t>Ma'lumotlar bazasi — tartibli saqlash, tez qidirish, xavfsiz boshqarish tizimi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06268"/>
            <a:ext cx="10680192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DBMS</a:t>
            </a:r>
            <a:r>
              <a:rPr sz="2400" b="0">
                <a:solidFill>
                  <a:srgbClr val="1F232B"/>
                </a:solidFill>
                <a:latin typeface="Calibri"/>
              </a:rPr>
              <a:t> (MBBT) — bazani boshqaruvchi dastur: </a:t>
            </a:r>
            <a:r>
              <a:rPr sz="2400" b="1">
                <a:solidFill>
                  <a:srgbClr val="1F232B"/>
                </a:solidFill>
                <a:latin typeface="Calibri"/>
              </a:rPr>
              <a:t>PostgreSQL</a:t>
            </a:r>
            <a:r>
              <a:rPr sz="2400" b="0">
                <a:solidFill>
                  <a:srgbClr val="1F232B"/>
                </a:solidFill>
                <a:latin typeface="Calibri"/>
              </a:rPr>
              <a:t>, MySQL, SQLite, Oracle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04342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832860"/>
            <a:ext cx="11091672" cy="134188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832860"/>
            <a:ext cx="82296" cy="134188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24299"/>
            <a:ext cx="10725912" cy="11772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Kutubxona:</a:t>
            </a:r>
            <a:r>
              <a:rPr sz="2279" b="0">
                <a:solidFill>
                  <a:srgbClr val="1F232B"/>
                </a:solidFill>
                <a:latin typeface="Calibri"/>
              </a:rPr>
              <a:t> fayl — kitoblar uyilgan xona; baza — zamonaviy kutubxona: javonlar (jadvallar), raqamlar (kalitlar), katalog (indeks), kutubxonachi (DBMS) kitobni bir zumda topadi.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394197"/>
            <a:ext cx="10680192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Telegram xabarlari, Instagram postlari, bank balansi, elektron kundalik — hammasi bazada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53135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Jadval, ustun, qator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1672" cy="1906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476504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ism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familiya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tugilgan_sana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sinf_id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Ali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Valiyev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2012-03-15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Zarina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Karimova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2012-07-02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Bobur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Toshmatov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2011-11-20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3542792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Jadval</a:t>
            </a:r>
            <a:r>
              <a:rPr sz="2600" b="0">
                <a:solidFill>
                  <a:srgbClr val="1F232B"/>
                </a:solidFill>
                <a:latin typeface="Calibri"/>
              </a:rPr>
              <a:t> (table) — bir turdagi obyektlar: </a:t>
            </a:r>
            <a:r>
              <a:rPr sz="2392" b="0">
                <a:solidFill>
                  <a:srgbClr val="B02A4A"/>
                </a:solidFill>
                <a:latin typeface="Consolas"/>
              </a:rPr>
              <a:t>oquvchilar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691381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20134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Ustun</a:t>
            </a:r>
            <a:r>
              <a:rPr sz="2600" b="0">
                <a:solidFill>
                  <a:srgbClr val="1F232B"/>
                </a:solidFill>
                <a:latin typeface="Calibri"/>
              </a:rPr>
              <a:t> (column) — xususiyat; </a:t>
            </a:r>
            <a:r>
              <a:rPr sz="2600" b="1">
                <a:solidFill>
                  <a:srgbClr val="1F232B"/>
                </a:solidFill>
                <a:latin typeface="Calibri"/>
              </a:rPr>
              <a:t>har birining turi bor</a:t>
            </a:r>
            <a:r>
              <a:rPr sz="2600" b="0">
                <a:solidFill>
                  <a:srgbClr val="1F232B"/>
                </a:solidFill>
                <a:latin typeface="Calibri"/>
              </a:rPr>
              <a:t> (matn, sana)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2687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697476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Qator</a:t>
            </a:r>
            <a:r>
              <a:rPr sz="2600" b="0">
                <a:solidFill>
                  <a:srgbClr val="1F232B"/>
                </a:solidFill>
                <a:latin typeface="Calibri"/>
              </a:rPr>
              <a:t> (row, yozuv) — bitta obyekt haqidagi ma'lumot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84606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274818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Excel'ga o'xshaydi, lekin baza </a:t>
            </a:r>
            <a:r>
              <a:rPr sz="2600" b="1">
                <a:solidFill>
                  <a:srgbClr val="1F232B"/>
                </a:solidFill>
                <a:latin typeface="Calibri"/>
              </a:rPr>
              <a:t>qoidalarni majburiy tekshiradi</a:t>
            </a:r>
            <a:r>
              <a:rPr sz="2600" b="0">
                <a:solidFill>
                  <a:srgbClr val="1F232B"/>
                </a:solidFill>
                <a:latin typeface="Calibri"/>
              </a:rPr>
              <a:t> va millionlab qator bilan tez ishlaydi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4234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Birlamchi kalit — Primary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6265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bir qatorni </a:t>
            </a:r>
            <a:r>
              <a:rPr sz="2800" b="1">
                <a:solidFill>
                  <a:srgbClr val="1F232B"/>
                </a:solidFill>
                <a:latin typeface="Calibri"/>
              </a:rPr>
              <a:t>noyob</a:t>
            </a:r>
            <a:r>
              <a:rPr sz="2800" b="0">
                <a:solidFill>
                  <a:srgbClr val="1F232B"/>
                </a:solidFill>
                <a:latin typeface="Calibri"/>
              </a:rPr>
              <a:t> aniqlovchi ustun, odatda </a:t>
            </a:r>
            <a:r>
              <a:rPr sz="2576" b="0">
                <a:solidFill>
                  <a:srgbClr val="B02A4A"/>
                </a:solidFill>
                <a:latin typeface="Consolas"/>
              </a:rPr>
              <a:t>id</a:t>
            </a:r>
            <a:r>
              <a:rPr sz="2800" b="0">
                <a:solidFill>
                  <a:srgbClr val="1F232B"/>
                </a:solidFill>
                <a:latin typeface="Calibri"/>
              </a:rPr>
              <a:t> (1, 2, 3... avtomatik)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92267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24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Noyob · bo'sh emas (NOT NULL) · o'zgarmaydi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97626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425336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425336"/>
            <a:ext cx="82296" cy="110058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6776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Nega ism yetmaydi?</a:t>
            </a:r>
            <a:r>
              <a:rPr sz="2660" b="0">
                <a:solidFill>
                  <a:srgbClr val="1F232B"/>
                </a:solidFill>
                <a:latin typeface="Calibri"/>
              </a:rPr>
              <a:t> Maktabda ikkita "Ali Valiyev" bo'lishi mumkin. Lekin pasport raqami har xil. PK — qatorning </a:t>
            </a:r>
            <a:r>
              <a:rPr sz="2660" b="1">
                <a:solidFill>
                  <a:srgbClr val="1F232B"/>
                </a:solidFill>
                <a:latin typeface="Calibri"/>
              </a:rPr>
              <a:t>"pasport raqami"</a:t>
            </a:r>
            <a:r>
              <a:rPr sz="2660" b="0">
                <a:solidFill>
                  <a:srgbClr val="1F23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Tashqi kalit — Foreign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219443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184696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oquvchilar                          sinflar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┌────────────────┐                  ┌──────────────────┐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│ id (PK)        │                  │ id (PK)          │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│ ism            │    sinf_id → id  │ nomi             │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│ ...            │ ───────────────▶ │ sinf_rahbari     │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│ sinf_id (FK)   │                  │ xona             │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└────────────────┘                  └──────────────────┘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31214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Ali (</a:t>
            </a:r>
            <a:r>
              <a:rPr sz="2024" b="0">
                <a:solidFill>
                  <a:srgbClr val="B02A4A"/>
                </a:solidFill>
                <a:latin typeface="Consolas"/>
              </a:rPr>
              <a:t>sinf_id = 1</a:t>
            </a:r>
            <a:r>
              <a:rPr sz="2200" b="0">
                <a:solidFill>
                  <a:srgbClr val="1F232B"/>
                </a:solidFill>
                <a:latin typeface="Calibri"/>
              </a:rPr>
              <a:t>) → 8-A sinfi, rahbari Karimova N., 204-xona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95694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345056"/>
            <a:ext cx="11091672" cy="7807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190" b="1">
                <a:solidFill>
                  <a:srgbClr val="2F6FAD"/>
                </a:solidFill>
                <a:latin typeface="Calibri"/>
              </a:rPr>
              <a:t>Bitta fakt — bitta joyda (normalizatsiya)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35516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Rahbar almashsa — 30 ta emas, </a:t>
            </a:r>
            <a:r>
              <a:rPr sz="2200" b="1">
                <a:solidFill>
                  <a:srgbClr val="1F232B"/>
                </a:solidFill>
                <a:latin typeface="Calibri"/>
              </a:rPr>
              <a:t>bitta</a:t>
            </a:r>
            <a:r>
              <a:rPr sz="2200" b="0">
                <a:solidFill>
                  <a:srgbClr val="1F232B"/>
                </a:solidFill>
                <a:latin typeface="Calibri"/>
              </a:rPr>
              <a:t> qator tuzatiladi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36124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749358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Baza </a:t>
            </a:r>
            <a:r>
              <a:rPr sz="2024" b="0">
                <a:solidFill>
                  <a:srgbClr val="B02A4A"/>
                </a:solidFill>
                <a:latin typeface="Consolas"/>
              </a:rPr>
              <a:t>sinf_id = 99</a:t>
            </a:r>
            <a:r>
              <a:rPr sz="2200" b="0">
                <a:solidFill>
                  <a:srgbClr val="1F232B"/>
                </a:solidFill>
                <a:latin typeface="Calibri"/>
              </a:rPr>
              <a:t> yozishga ruxsat bermaydi — </a:t>
            </a:r>
            <a:r>
              <a:rPr sz="2200" b="1">
                <a:solidFill>
                  <a:srgbClr val="1F232B"/>
                </a:solidFill>
                <a:latin typeface="Calibri"/>
              </a:rPr>
              <a:t>ma'lumotlar yaxlitligi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87508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Bog'lanish turlari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39678"/>
          <a:ext cx="11091672" cy="1906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76504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Qanday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1F232B"/>
                          </a:solidFill>
                          <a:latin typeface="Calibri"/>
                        </a:rPr>
                        <a:t>1:1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O'quvchi ↔ shaxsiy kartochka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FK + noyoblik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1F232B"/>
                          </a:solidFill>
                          <a:latin typeface="Calibri"/>
                        </a:rPr>
                        <a:t>1:N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Bir sinfda ko'p o'quvchi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"Ko'p" tomonda FK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1F232B"/>
                          </a:solidFill>
                          <a:latin typeface="Calibri"/>
                        </a:rPr>
                        <a:t>N:M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O'quvchi ↔ to'garaklar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1F232B"/>
                          </a:solidFill>
                          <a:latin typeface="Calibri"/>
                        </a:rPr>
                        <a:t>Oraliq jadval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3565150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N:M misol — oraliq jadval </a:t>
            </a:r>
            <a:r>
              <a:rPr sz="2392" b="0">
                <a:solidFill>
                  <a:srgbClr val="B02A4A"/>
                </a:solidFill>
                <a:latin typeface="Consolas"/>
              </a:rPr>
              <a:t>azoliklar</a:t>
            </a:r>
            <a:r>
              <a:rPr sz="2600" b="0">
                <a:solidFill>
                  <a:srgbClr val="1F232B"/>
                </a:solidFill>
                <a:latin typeface="Calibri"/>
              </a:rPr>
              <a:t>: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7137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142492"/>
          <a:ext cx="11091672" cy="1906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76504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azoliklar.oquvchi_id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azoliklar.togarak_id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1 (Ali)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1 (Shaxmat)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1 (Ali)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2 (Robototexnika)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2 (Zarina)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1 (Shaxmat)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ER-diagramma — bazani loyihalash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95504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16075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┌──────────────┐        ┌──────────────────┐        ┌──────────────┐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│   sinflar    │ 1    N │   oquvchilar     │ 1    N │   baholar    │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├──────────────┤────────├──────────────────┤────────├──────────────┤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│ id (PK)      │        │ id (PK)          │        │ id (PK)      │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│ nomi         │        │ ism, familiya    │        │ oquvchi_id FK│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│ sinf_rahbari │        │ sinf_id (FK)     │        │ fan, baho    │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└──────────────┘        └──────────────────┘        └──────────────┘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91824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361925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Mavjudotlar (o'quvchi, sinf, baho)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268480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429591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Har birining xususiyatlari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94513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497256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Kalitlar (PK, FK)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621792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564922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Bog'lanishlar va turi — </a:t>
            </a:r>
            <a:r>
              <a:rPr sz="1900" b="1">
                <a:solidFill>
                  <a:srgbClr val="1F232B"/>
                </a:solidFill>
                <a:latin typeface="Calibri"/>
              </a:rPr>
              <a:t>dbdiagram.io</a:t>
            </a:r>
            <a:r>
              <a:rPr sz="1900" b="0">
                <a:solidFill>
                  <a:srgbClr val="1F232B"/>
                </a:solidFill>
                <a:latin typeface="Calibri"/>
              </a:rPr>
              <a:t> da chizish qulay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SQL — ma'lumotlar bazasi tili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9155"/>
            <a:ext cx="11091672" cy="169285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401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8339"/>
            <a:ext cx="10725912" cy="13453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-- 8-A sinfidagi o'quvchilar, familiya bo'yicha alifbo tartibida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SELECT</a:t>
            </a:r>
            <a:r>
              <a:rPr sz="1496" b="0">
                <a:solidFill>
                  <a:srgbClr val="E6E6E6"/>
                </a:solidFill>
                <a:latin typeface="Consolas"/>
              </a:rPr>
              <a:t> ism, familiya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WHERE</a:t>
            </a:r>
            <a:r>
              <a:rPr sz="1496" b="0">
                <a:solidFill>
                  <a:srgbClr val="E6E6E6"/>
                </a:solidFill>
                <a:latin typeface="Consolas"/>
              </a:rPr>
              <a:t> sinf_id = 1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ORDER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BY</a:t>
            </a:r>
            <a:r>
              <a:rPr sz="1496" b="0">
                <a:solidFill>
                  <a:srgbClr val="E6E6E6"/>
                </a:solidFill>
                <a:latin typeface="Consolas"/>
              </a:rPr>
              <a:t> familiya;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61470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"Qanday qidirish"ni emas, </a:t>
            </a:r>
            <a:r>
              <a:rPr sz="2200" b="1">
                <a:solidFill>
                  <a:srgbClr val="1F232B"/>
                </a:solidFill>
                <a:latin typeface="Calibri"/>
              </a:rPr>
              <a:t>"nima kerak"</a:t>
            </a:r>
            <a:r>
              <a:rPr sz="2200" b="0">
                <a:solidFill>
                  <a:srgbClr val="1F232B"/>
                </a:solidFill>
                <a:latin typeface="Calibri"/>
              </a:rPr>
              <a:t>ligini yozasiz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48720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875312"/>
          <a:ext cx="11091672" cy="212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25704"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Buyruq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Mavzu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CREATE TABLE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Jadval yaratish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INSERT SELECT UPDATE DELETE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CRUD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JOIN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Jadvallarni birlashtirish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WHERE GROUP BY COUNT AVG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Filtr va statistika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Relyatsion va NoSQL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98219"/>
          <a:ext cx="11091672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44144"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Relyatsion (SQL)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NoSQL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Misollar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PostgreSQL, MySQL, SQLite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MongoDB, Redis, Firebase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Tuzilma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Qat'iy jadvallar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Moslashuvchan hujjatlar (JSON)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Bog'lanishlar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Kuchli (kalitlar, JOIN)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Cheklangan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Qachon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Maktab, bank, do'kon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Kesh, real vaqt, o'zgaruvchan tuzilma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9383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Kursda: </a:t>
            </a:r>
            <a:r>
              <a:rPr sz="2800" b="1">
                <a:solidFill>
                  <a:srgbClr val="1F232B"/>
                </a:solidFill>
                <a:latin typeface="Calibri"/>
              </a:rPr>
              <a:t>PostgreSQL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bepul, ishonchli, Django bilan eng yaxshi ishlaydi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098415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bazani loyihalash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23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871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Kutubxona:</a:t>
            </a:r>
            <a:r>
              <a:rPr sz="2400" b="0">
                <a:solidFill>
                  <a:srgbClr val="1F232B"/>
                </a:solidFill>
                <a:latin typeface="Calibri"/>
              </a:rPr>
              <a:t> kitoblar, mualliflar, o'quvchilar, ijaralar — ustunlar, PK, FK. Kitob ↔ muallif qanday bog'lanish?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98775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426207"/>
            <a:ext cx="10451592" cy="871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Internet-do'kon:</a:t>
            </a:r>
            <a:r>
              <a:rPr sz="2400" b="0">
                <a:solidFill>
                  <a:srgbClr val="1F232B"/>
                </a:solidFill>
                <a:latin typeface="Calibri"/>
              </a:rPr>
              <a:t> mijozlar, mahsulotlar, toifalar, buyurtmalar — qanday oraliq jadval kerak?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380231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407663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Xatoni toping: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056888"/>
          <a:ext cx="11091672" cy="1804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51104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ism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sinf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sinf_rahbari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togaraklar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Ali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8-A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Karimova N.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shaxmat, robototexnika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Zarina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8-A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Karimova 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shaxmat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Ali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8-B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Rasulov A.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Har bir qatorni noyob aniqlovchi ustun nima deyiladi?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Tashqi kalit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Indeks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Birlamchi kalit (Primary Key)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Ustun nomi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Har bir qatorni noyob aniqlovchi ustun nima deyiladi?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Tashqi kalit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Indeks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Birlamchi kalit (Primary Key)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Ustun nomi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oquvchilar.sinf_id</a:t>
            </a:r>
            <a:r>
              <a:rPr sz="2400" b="1">
                <a:solidFill>
                  <a:srgbClr val="1F232B"/>
                </a:solidFill>
                <a:latin typeface="Calibri"/>
              </a:rPr>
              <a:t> ustuni </a:t>
            </a:r>
            <a:r>
              <a:rPr sz="2208" b="1">
                <a:solidFill>
                  <a:srgbClr val="B02A4A"/>
                </a:solidFill>
                <a:latin typeface="Consolas"/>
              </a:rPr>
              <a:t>sinflar.id</a:t>
            </a:r>
            <a:r>
              <a:rPr sz="2400" b="1">
                <a:solidFill>
                  <a:srgbClr val="1F232B"/>
                </a:solidFill>
                <a:latin typeface="Calibri"/>
              </a:rPr>
              <a:t> ga ishora qiladi. U qanday kalit?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Birlamchi kalit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Tashqi kalit (Foreign Key)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Noyob kalit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Parol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oquvchilar.sinf_id</a:t>
            </a:r>
            <a:r>
              <a:rPr sz="2400" b="1">
                <a:solidFill>
                  <a:srgbClr val="1F232B"/>
                </a:solidFill>
                <a:latin typeface="Calibri"/>
              </a:rPr>
              <a:t> ustuni </a:t>
            </a:r>
            <a:r>
              <a:rPr sz="2208" b="1">
                <a:solidFill>
                  <a:srgbClr val="B02A4A"/>
                </a:solidFill>
                <a:latin typeface="Consolas"/>
              </a:rPr>
              <a:t>sinflar.id</a:t>
            </a:r>
            <a:r>
              <a:rPr sz="2400" b="1">
                <a:solidFill>
                  <a:srgbClr val="1F232B"/>
                </a:solidFill>
                <a:latin typeface="Calibri"/>
              </a:rPr>
              <a:t> ga ishora qiladi. U qanday kalit?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Birlamchi kalit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Tashqi kalit (Foreign Key)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Noyob kalit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Parol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"O'quvchi ko'p to'garakka, to'garakda ko'p o'quvchi" — qanday bog'lanish?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1:N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N:1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N:M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"O'quvchi ko'p to'garakka, to'garakda ko'p o'quvchi" — qanday bog'lanish?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1:N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N:1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N:M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Ko'pga-ko'p bog'lanish qanday amalga oshiriladi?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Oraliq (bog'lovchi) jadval orqali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Bitta katakka vergul bilan yozib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Ikki jadvalni bitta qilib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NoSQL'da mumkin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Ko'pga-ko'p bog'lanish qanday amalga oshiriladi?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Oraliq (bog'lovchi) jadval orqali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Bitta katakka vergul bilan yozib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Ikki jadvalni bitta qilib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Faqat NoSQL'da mumkin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23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96668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2410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Elektron kundalik</a:t>
            </a:r>
            <a:r>
              <a:rPr sz="2800" b="0">
                <a:solidFill>
                  <a:srgbClr val="1F232B"/>
                </a:solidFill>
                <a:latin typeface="Calibri"/>
              </a:rPr>
              <a:t> ER-diagrammasi: o'quvchilar, sinflar, fanlar, o'qituvchilar, baholar, dars jadvali — PK, FK, bog'lanishlar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05124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303255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Telegram yoki YouTube qanday jadvallarda ma'lumot saqlashi mumkin — taxmin qiling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26-mavzu · Ma'lumotlar bazasiga kirish. Relyatsion ma'lumotlar bazasi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Baza — tartibli, tez, xavfsiz saqlash; DBMS — PostgreSQL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Jadval → ustun (turi bor) → qator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PK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noyob identifikator; </a:t>
            </a:r>
            <a:r>
              <a:rPr sz="2800" b="1">
                <a:solidFill>
                  <a:srgbClr val="1F232B"/>
                </a:solidFill>
                <a:latin typeface="Calibri"/>
              </a:rPr>
              <a:t>FK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boshqa jadval PK'siga havola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1:1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800" b="1">
                <a:solidFill>
                  <a:srgbClr val="1F232B"/>
                </a:solidFill>
                <a:latin typeface="Calibri"/>
              </a:rPr>
              <a:t>1:N</a:t>
            </a:r>
            <a:r>
              <a:rPr sz="2800" b="0">
                <a:solidFill>
                  <a:srgbClr val="1F232B"/>
                </a:solidFill>
                <a:latin typeface="Calibri"/>
              </a:rPr>
              <a:t> (FK "ko'p" tomonda), </a:t>
            </a:r>
            <a:r>
              <a:rPr sz="2800" b="1">
                <a:solidFill>
                  <a:srgbClr val="1F232B"/>
                </a:solidFill>
                <a:latin typeface="Calibri"/>
              </a:rPr>
              <a:t>N:M</a:t>
            </a:r>
            <a:r>
              <a:rPr sz="2800" b="0">
                <a:solidFill>
                  <a:srgbClr val="1F232B"/>
                </a:solidFill>
                <a:latin typeface="Calibri"/>
              </a:rPr>
              <a:t> (oraliq jadval)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"Bitta fakt — bitta joyda"; SQL — bazalar tili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27. PostgreSQL bilan tanishish. Jadval yaratish va ma'lumot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26-mavzu: Ma'lumotlar bazasiga kirish. Relyatsion ma'lumotlar bazasi tushunchasi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