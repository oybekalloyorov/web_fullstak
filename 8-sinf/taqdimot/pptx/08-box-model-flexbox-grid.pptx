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kursdagi eng muhim CSS mavzusi — 3 soat. 1-soat: box model va birliklar; 2-soat: Flexbox; 3-soat: Grid va amaliyot.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padding.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200px.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display:flex; justify-content: space-between.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200px.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32px.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8-MAVZU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Box model va o'lcham birliklari. Flexbox va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Har bir element — quti: content, padding, border, margin; box-sizing; px, %, em, rem, vw, vh; display; Flexbox bilan bir o'lchamli va CSS Grid bilan ikki o'lchamli sahifa maketlari.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Box model:</a:t>
            </a:r>
            <a:r>
              <a:rPr sz="2800" b="0">
                <a:solidFill>
                  <a:srgbClr val="1F232B"/>
                </a:solidFill>
                <a:latin typeface="Calibri"/>
              </a:rPr>
              <a:t> har bir element — quti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margin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padding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border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box-sizing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O'lcham birliklari: </a:t>
            </a:r>
            <a:r>
              <a:rPr sz="2576" b="0">
                <a:solidFill>
                  <a:srgbClr val="B02A4A"/>
                </a:solidFill>
                <a:latin typeface="Consolas"/>
              </a:rPr>
              <a:t>px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%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em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rem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vw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vh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Flexbox:</a:t>
            </a:r>
            <a:r>
              <a:rPr sz="2800" b="0">
                <a:solidFill>
                  <a:srgbClr val="1F232B"/>
                </a:solidFill>
                <a:latin typeface="Calibri"/>
              </a:rPr>
              <a:t> menyu, kartalar qatori, markazlash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CSS Grid:</a:t>
            </a:r>
            <a:r>
              <a:rPr sz="2800" b="0">
                <a:solidFill>
                  <a:srgbClr val="1F232B"/>
                </a:solidFill>
                <a:latin typeface="Calibri"/>
              </a:rPr>
              <a:t> sahifa maketi va galereya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Box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Brauzer har bir elementni to'rtburchak quti sifatida chizadi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Qutining 4 qatlami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5688"/>
            <a:ext cx="11091672" cy="33115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55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872"/>
            <a:ext cx="10725912" cy="2964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┌──────────────── margin (tashqi bo'shliq) ────────────────┐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┌──────────────── border (chegara) ─────────────────┐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│  ┌──────────── padding (ichki bo'shliq) ───────┐  │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│  │                                              │  │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│  │          content — mazmun (matn, rasm)       │  │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│  │                                              │  │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│  └──────────────────────────────────────────────┘  │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└────────────────────────────────────────────────────┘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66735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966735"/>
            <a:ext cx="82296" cy="11005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58175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Rasmli ramka:</a:t>
            </a:r>
            <a:r>
              <a:rPr sz="2660" b="0">
                <a:solidFill>
                  <a:srgbClr val="1F232B"/>
                </a:solidFill>
                <a:latin typeface="Calibri"/>
              </a:rPr>
              <a:t> content — rasm, padding — oq hoshiya, border — yog'och ramka, margin — devordagi qo'shni ramkagacha masofa.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padding va margin yozish usullari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padding: 20px;                 /* 4 tomon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padding: 10px 20px;            /* tepa-past | chap-o'ng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padding: 10px 20px 30px;       /* tepa | chap-o'ng | past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padding: 10px 20px 30px 40px;  /* tepa o'ng past chap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padding-top: 10px;             /* bitta tomon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margin: 0 auto;                /* blokni GORIZONTAL markazlash */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0999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padding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ichki bo'shliq, </a:t>
            </a:r>
            <a:r>
              <a:rPr sz="2800" b="1">
                <a:solidFill>
                  <a:srgbClr val="1F232B"/>
                </a:solidFill>
                <a:latin typeface="Calibri"/>
              </a:rPr>
              <a:t>fon rangi</a:t>
            </a:r>
            <a:r>
              <a:rPr sz="2800" b="0">
                <a:solidFill>
                  <a:srgbClr val="1F232B"/>
                </a:solidFill>
                <a:latin typeface="Calibri"/>
              </a:rPr>
              <a:t> shu yerga ham tarqaladi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7001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1908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margin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tashqi bo'shliq, </a:t>
            </a:r>
            <a:r>
              <a:rPr sz="2800" b="1">
                <a:solidFill>
                  <a:srgbClr val="1F232B"/>
                </a:solidFill>
                <a:latin typeface="Calibri"/>
              </a:rPr>
              <a:t>doim shaffof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07910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52817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Markazlash: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width: 600px; margin: 0 auto;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68819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box-sizing — eng muhim bitta qator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88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width: 250px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padding: 20px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border: 5px</a:t>
            </a:r>
            <a:r>
              <a:rPr sz="2800" b="0">
                <a:solidFill>
                  <a:srgbClr val="1F232B"/>
                </a:solidFill>
                <a:latin typeface="Calibri"/>
              </a:rPr>
              <a:t> = aslida </a:t>
            </a:r>
            <a:r>
              <a:rPr sz="2800" b="1">
                <a:solidFill>
                  <a:srgbClr val="1F232B"/>
                </a:solidFill>
                <a:latin typeface="Calibri"/>
              </a:rPr>
              <a:t>300px</a:t>
            </a:r>
            <a:r>
              <a:rPr sz="2800" b="0">
                <a:solidFill>
                  <a:srgbClr val="1F232B"/>
                </a:solidFill>
                <a:latin typeface="Calibri"/>
              </a:rPr>
              <a:t> 😕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288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22404"/>
            <a:ext cx="11091672" cy="171565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7726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1588"/>
            <a:ext cx="10725912" cy="13681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/* Har bir loyihaning CSS faylini shu bilan boshlang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*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box-sizing: border-box;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57518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border-box: width = content + padding + border → 250px haqiqatan 250px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display xossasi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94764"/>
          <a:ext cx="11091672" cy="372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20437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Xatti-harakat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block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Yangi qatordan, butun kenglik;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width/height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ishlaydi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Qatorda;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width/height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ishlamaydi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inline-block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Qatorda turadi, lekin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width/height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ishlaydi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Butunlay yashirin, joy egallamaydi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0439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flex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grid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Zamonaviy maket tizimlari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O'lcham birliklari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24800"/>
          <a:ext cx="11091672" cy="3513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Birlik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Nimaga nisbatan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px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Ekran pikseli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Chegara, soya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Ota element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Kengliklar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em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Joriy shrift o'lchami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Tugma padding'i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Sahifa shrifti (16px)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Shrift va bo'shliqlar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vw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Ekran kengligining 1%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Ekran kengligidagi blok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vh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Ekran balandligining 1%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min-height: 100vh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hero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525758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1.5rem</a:t>
            </a:r>
            <a:r>
              <a:rPr sz="2800" b="0">
                <a:solidFill>
                  <a:srgbClr val="1F232B"/>
                </a:solidFill>
                <a:latin typeface="Calibri"/>
              </a:rPr>
              <a:t> = 16 × 1.5 = </a:t>
            </a:r>
            <a:r>
              <a:rPr sz="2800" b="1">
                <a:solidFill>
                  <a:srgbClr val="1F232B"/>
                </a:solidFill>
                <a:latin typeface="Calibri"/>
              </a:rPr>
              <a:t>24px</a:t>
            </a:r>
            <a:r>
              <a:rPr sz="2800" b="0">
                <a:solidFill>
                  <a:srgbClr val="1F232B"/>
                </a:solidFill>
                <a:latin typeface="Calibri"/>
              </a:rPr>
              <a:t>; ota 20px bo'lsa </a:t>
            </a:r>
            <a:r>
              <a:rPr sz="2576" b="0">
                <a:solidFill>
                  <a:srgbClr val="B02A4A"/>
                </a:solidFill>
                <a:latin typeface="Consolas"/>
              </a:rPr>
              <a:t>2em</a:t>
            </a:r>
            <a:r>
              <a:rPr sz="2800" b="0">
                <a:solidFill>
                  <a:srgbClr val="1F232B"/>
                </a:solidFill>
                <a:latin typeface="Calibri"/>
              </a:rPr>
              <a:t> = </a:t>
            </a:r>
            <a:r>
              <a:rPr sz="2800" b="1">
                <a:solidFill>
                  <a:srgbClr val="1F232B"/>
                </a:solidFill>
                <a:latin typeface="Calibri"/>
              </a:rPr>
              <a:t>40px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41760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Flexbox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Elementlarni bir yo'nalishda — qator yoki ustunga terish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Flexbox: bitta qator hammasini o'zgartiradi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71565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3681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.konteyner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display: flex;    /* ⬅ farzandlar bir qatorga tiziladi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gap: 10px;        /* oralaridagi masofa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5243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Flex konteyner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display: flex</a:t>
            </a:r>
            <a:r>
              <a:rPr sz="2800" b="0">
                <a:solidFill>
                  <a:srgbClr val="1F232B"/>
                </a:solidFill>
                <a:latin typeface="Calibri"/>
              </a:rPr>
              <a:t> berilgan </a:t>
            </a:r>
            <a:r>
              <a:rPr sz="2800" b="1">
                <a:solidFill>
                  <a:srgbClr val="1F232B"/>
                </a:solidFill>
                <a:latin typeface="Calibri"/>
              </a:rPr>
              <a:t>ota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1245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6152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Flex elementlar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uning bevosita farzandlari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2154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7061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Menyu, tugmalar qatori, kartalar, markazlash — Flexbox'ning ishi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73063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Ikki o'q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29363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422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8547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asosiy o'q (main axis) — justify-content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─────────────────────────────────────────────▶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┌─────┐   ┌─────┐   ┌─────┐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│  1  │   │  2  │   │  3  │      │ kesishgan o'q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└─────┘   └─────┘   └─────┘      │ (cross axis)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                             ▼ align-items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02850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02850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94290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Avtobus bekati:</a:t>
            </a:r>
            <a:r>
              <a:rPr sz="2660" b="0">
                <a:solidFill>
                  <a:srgbClr val="1F232B"/>
                </a:solidFill>
                <a:latin typeface="Calibri"/>
              </a:rPr>
              <a:t> navbat yo'nalishi — asosiy o'q; </a:t>
            </a:r>
            <a:r>
              <a:rPr sz="2447" b="0">
                <a:solidFill>
                  <a:srgbClr val="B02A4A"/>
                </a:solidFill>
                <a:latin typeface="Consolas"/>
              </a:rPr>
              <a:t>justify-content</a:t>
            </a:r>
            <a:r>
              <a:rPr sz="2660" b="0">
                <a:solidFill>
                  <a:srgbClr val="1F232B"/>
                </a:solidFill>
                <a:latin typeface="Calibri"/>
              </a:rPr>
              <a:t> odamlarni shu chiziq bo'ylab taqsimlaydi. </a:t>
            </a:r>
            <a:r>
              <a:rPr sz="2447" b="0">
                <a:solidFill>
                  <a:srgbClr val="B02A4A"/>
                </a:solidFill>
                <a:latin typeface="Consolas"/>
              </a:rPr>
              <a:t>align-items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ularni bo'yi bo'yicha tekislaydi.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justify-content va align-items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50448"/>
          <a:ext cx="11091672" cy="2655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42637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Xossa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Qiymatlar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442637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justify-content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flex-start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center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flex-end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space-between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space-around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space-evenly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42637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align-items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stretch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(standart)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flex-start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center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flex-end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2637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flex-direction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row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column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row-reverse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42637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flex-wrap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nowrap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wrap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— sig'masa keyingi qatorga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2639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gap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16px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325728"/>
            <a:ext cx="11091672" cy="89489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05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54912"/>
            <a:ext cx="10725912" cy="5474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7F848E"/>
                </a:solidFill>
                <a:latin typeface="Consolas"/>
              </a:rPr>
              <a:t>/* ✨ To'liq markazlash */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.k { display: flex; justify-content: center; align-items: center;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40077"/>
            <a:ext cx="11091672" cy="557657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440077"/>
            <a:ext cx="82296" cy="55765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31517"/>
            <a:ext cx="10725912" cy="3930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748" b="0">
                <a:solidFill>
                  <a:srgbClr val="B02A4A"/>
                </a:solidFill>
                <a:latin typeface="Consolas"/>
              </a:rPr>
              <a:t>flex-direction: column</a:t>
            </a:r>
            <a:r>
              <a:rPr sz="1900" b="0">
                <a:solidFill>
                  <a:srgbClr val="1F232B"/>
                </a:solidFill>
                <a:latin typeface="Calibri"/>
              </a:rPr>
              <a:t> da o'qlar almashadi: </a:t>
            </a:r>
            <a:r>
              <a:rPr sz="1748" b="0">
                <a:solidFill>
                  <a:srgbClr val="B02A4A"/>
                </a:solidFill>
                <a:latin typeface="Consolas"/>
              </a:rPr>
              <a:t>justify-content</a:t>
            </a:r>
            <a:r>
              <a:rPr sz="1900" b="0">
                <a:solidFill>
                  <a:srgbClr val="1F232B"/>
                </a:solidFill>
                <a:latin typeface="Calibri"/>
              </a:rPr>
              <a:t> vertikal ishlaydi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Element xossasi: flex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19053"/>
            <a:ext cx="11091672" cy="171565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7391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48237"/>
            <a:ext cx="10725912" cy="13681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.k      { display: flex; gap: 8px;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.yon    { flex: 0 0 150px; }   /* qat'iy 150px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.asosiy { flex: 1; }           /* qolgan BARCHA joy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.ikki   { flex: 2; }           /* flex:1 dan 2 barobar keng */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4167"/>
            <a:ext cx="11091672" cy="10772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903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83351"/>
            <a:ext cx="10725912" cy="729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┌──yon 150px──┐┌────────── asosiy (flex: 1) ──────────┐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┌─ flex:1 ─┐┌──────── flex:2 ────────┐┌─ flex:1 ─┐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CSS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Qator va ustunlardan iborat to'r — ikki o'lchamli maket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Grid asoslari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164591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.grid {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grid-template-columns: 1fr 1fr 1fr;  /* 3 ta teng ustun */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gap: 12px;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fr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bo'sh joy </a:t>
            </a:r>
            <a:r>
              <a:rPr sz="2400" b="1">
                <a:solidFill>
                  <a:srgbClr val="1F232B"/>
                </a:solidFill>
                <a:latin typeface="Calibri"/>
              </a:rPr>
              <a:t>ulushi</a:t>
            </a:r>
            <a:r>
              <a:rPr sz="2400" b="0">
                <a:solidFill>
                  <a:srgbClr val="1F232B"/>
                </a:solidFill>
                <a:latin typeface="Calibri"/>
              </a:rPr>
              <a:t>: </a:t>
            </a:r>
            <a:r>
              <a:rPr sz="2208" b="0">
                <a:solidFill>
                  <a:srgbClr val="B02A4A"/>
                </a:solidFill>
                <a:latin typeface="Consolas"/>
              </a:rPr>
              <a:t>1fr 2fr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ikkinchisi 2 barobar keng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5448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343912"/>
            <a:ext cx="4951476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repeat(4, 1fr)</a:t>
            </a:r>
            <a:r>
              <a:rPr sz="2400" b="0">
                <a:solidFill>
                  <a:srgbClr val="1F232B"/>
                </a:solidFill>
                <a:latin typeface="Calibri"/>
              </a:rPr>
              <a:t> = </a:t>
            </a:r>
            <a:r>
              <a:rPr sz="2208" b="0">
                <a:solidFill>
                  <a:srgbClr val="B02A4A"/>
                </a:solidFill>
                <a:latin typeface="Consolas"/>
              </a:rPr>
              <a:t>1fr 1fr 1fr 1fr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48107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3270504"/>
            <a:ext cx="4951476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250px 1fr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qat'iy yon panel + qolgani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40766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7356" y="4197096"/>
            <a:ext cx="5362956" cy="170383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7356" y="4197096"/>
            <a:ext cx="82296" cy="170383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5956" y="4288536"/>
            <a:ext cx="4997196" cy="15392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Shaxmat taxtasi / Excel:</a:t>
            </a:r>
            <a:r>
              <a:rPr sz="2279" b="0">
                <a:solidFill>
                  <a:srgbClr val="1F232B"/>
                </a:solidFill>
                <a:latin typeface="Calibri"/>
              </a:rPr>
              <a:t> avval nechta ustun va qatorligini belgilaysiz, keyin elementlarni kataklarga joylaysiz.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✨ Sehrli qator: moslashuvchi galereya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5510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037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4694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.galereya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grid-template-columns: repeat(auto-fill, minmax(150px, 1fr));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gap: 10px;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.galereya img { width: 100%; height: 120px; object-fit: cover;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3899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"Har ustun </a:t>
            </a:r>
            <a:r>
              <a:rPr sz="2800" b="1">
                <a:solidFill>
                  <a:srgbClr val="1F232B"/>
                </a:solidFill>
                <a:latin typeface="Calibri"/>
              </a:rPr>
              <a:t>kamida 150px</a:t>
            </a:r>
            <a:r>
              <a:rPr sz="2800" b="0">
                <a:solidFill>
                  <a:srgbClr val="1F232B"/>
                </a:solidFill>
                <a:latin typeface="Calibri"/>
              </a:rPr>
              <a:t>, nechta sig'sa shuncha, ortgan joyni teng taqsimla"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19901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9259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Telefonda 2, planshetda 4, kompyuterda 6 ustun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qo'shimcha kodsiz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25261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Elementni bir nechta katakka cho'zish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16650"/>
            <a:ext cx="11091672" cy="12763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151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5834"/>
            <a:ext cx="10725912" cy="9288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.g     { display: grid; grid-template-columns: repeat(4, 1fr); gap: 10px; }</a:t>
            </a:r>
          </a:p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.katta { grid-column: span 2; grid-row: span 2; }  /* 2×2 */</a:t>
            </a:r>
          </a:p>
          <a:p>
            <a:pPr>
              <a:lnSpc>
                <a:spcPct val="100000"/>
              </a:lnSpc>
            </a:pPr>
            <a:r>
              <a:rPr sz="1665" b="0">
                <a:solidFill>
                  <a:srgbClr val="E6E6E6"/>
                </a:solidFill>
                <a:latin typeface="Consolas"/>
              </a:rPr>
              <a:t>.keng  { grid-column: 1 / 5; }                     /* 1-chiziqdan 5-chiziqqacha */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2423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6728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41607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┌───────────┬─────┬─────┐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        │  b  │  c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2×2      ├─────┼─────┤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katta    │  d  │  e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├───────────┴─────┴─────┤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  butun qator    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└───────────────────────┘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Nomlangan hududlar — sahifa maketi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458602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423855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.sahifa {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grid-template-columns: 200px 1fr;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grid-template-rows: 70px 1fr 50px;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grid-template-areas: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  </a:t>
            </a:r>
            <a:r>
              <a:rPr sz="1767" b="0">
                <a:solidFill>
                  <a:srgbClr val="98C379"/>
                </a:solidFill>
                <a:latin typeface="Consolas"/>
              </a:rPr>
              <a:t>"header header"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  </a:t>
            </a:r>
            <a:r>
              <a:rPr sz="1767" b="0">
                <a:solidFill>
                  <a:srgbClr val="98C379"/>
                </a:solidFill>
                <a:latin typeface="Consolas"/>
              </a:rPr>
              <a:t>"aside  main"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  </a:t>
            </a:r>
            <a:r>
              <a:rPr sz="1767" b="0">
                <a:solidFill>
                  <a:srgbClr val="98C379"/>
                </a:solidFill>
                <a:latin typeface="Consolas"/>
              </a:rPr>
              <a:t>"footer footer"</a:t>
            </a:r>
            <a:r>
              <a:rPr sz="1767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min-height: 100vh;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header { grid-area: header; }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aside  { grid-area: aside; }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main   { grid-area: main; }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footer { grid-area: footer;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Maketni </a:t>
            </a:r>
            <a:r>
              <a:rPr sz="2800" b="1">
                <a:solidFill>
                  <a:srgbClr val="1F232B"/>
                </a:solidFill>
                <a:latin typeface="Calibri"/>
              </a:rPr>
              <a:t>so'zlar bilan chizish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026412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qo'shtirnoq — bitta qator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3080004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so'z — bitta ustun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Flexbox yoki Grid?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27701"/>
          <a:ext cx="11091672" cy="1861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20437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Flexbox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Grid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O'lcham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Bir o'lchamli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Ikki o'lchamli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620438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Eng yaxshi joyi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Menyu, tugmalar, kartaning ichi, markazlash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Sahifa maketi, galereya, katalog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708469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Raqobatchi emas: skelet — Grid, ichidagi qismlar — Flexbox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2-loyiha: portfolio sayti maketi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header — Flexbox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3315"/>
            <a:ext cx="11091672" cy="470233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817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2499"/>
            <a:ext cx="10725912" cy="43548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* { box-sizing: border-box; margin: 0; padding: 0;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.header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display: flex;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justify-content: space-between;  /* logo chapda, menyu o'ngda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align-items: center;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padding: 16px 40px;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box-shadow: 0 2px 10px rgba(0,0,0,.06);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.menu { display: flex; gap: 24px;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.hero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min-height: 70vh;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display: flex; flex-direction: column;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justify-content: center; align-items: center;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text-align: center;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loyihalar —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62761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228014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.loyihalar {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grid-template-columns: repeat(auto-fit, minmax(250px, 1fr));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gap: 24px;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padding: 60px 40px;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.karta {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background: white;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border-radius: 14px;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box-shadow: 0 6px 20px rgba(0,0,0,.08);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overflow: hidden;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264395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29182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"Men haqimda": rasm + matn — </a:t>
            </a:r>
            <a:r>
              <a:rPr sz="1472" b="0">
                <a:solidFill>
                  <a:srgbClr val="B02A4A"/>
                </a:solidFill>
                <a:latin typeface="Consolas"/>
              </a:rPr>
              <a:t>display:flex; gap:30px; align-items:center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941051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496848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"Ko'nikmalar" nishonlari — </a:t>
            </a:r>
            <a:r>
              <a:rPr sz="1472" b="0">
                <a:solidFill>
                  <a:srgbClr val="B02A4A"/>
                </a:solidFill>
                <a:latin typeface="Consolas"/>
              </a:rPr>
              <a:t>flex-wrap: wrap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617707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8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5645139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F12 → Elements: </a:t>
            </a:r>
            <a:r>
              <a:rPr sz="1472" b="0">
                <a:solidFill>
                  <a:srgbClr val="B02A4A"/>
                </a:solidFill>
                <a:latin typeface="Consolas"/>
              </a:rPr>
              <a:t>grid</a:t>
            </a:r>
            <a:r>
              <a:rPr sz="1600" b="0">
                <a:solidFill>
                  <a:srgbClr val="1F232B"/>
                </a:solidFill>
                <a:latin typeface="Calibri"/>
              </a:rPr>
              <a:t> / </a:t>
            </a:r>
            <a:r>
              <a:rPr sz="1472" b="0">
                <a:solidFill>
                  <a:srgbClr val="B02A4A"/>
                </a:solidFill>
                <a:latin typeface="Consolas"/>
              </a:rPr>
              <a:t>flex</a:t>
            </a:r>
            <a:r>
              <a:rPr sz="1600" b="0">
                <a:solidFill>
                  <a:srgbClr val="1F232B"/>
                </a:solidFill>
                <a:latin typeface="Calibri"/>
              </a:rPr>
              <a:t> belgisini bosing — brauzer to'rni chizadi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display: flex</a:t>
            </a:r>
            <a:r>
              <a:rPr sz="2800" b="0">
                <a:solidFill>
                  <a:srgbClr val="1F232B"/>
                </a:solidFill>
                <a:latin typeface="Calibri"/>
              </a:rPr>
              <a:t> ni </a:t>
            </a:r>
            <a:r>
              <a:rPr sz="2800" b="1">
                <a:solidFill>
                  <a:srgbClr val="1F232B"/>
                </a:solidFill>
                <a:latin typeface="Calibri"/>
              </a:rPr>
              <a:t>farzandga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yozish — u </a:t>
            </a:r>
            <a:r>
              <a:rPr sz="2800" b="1">
                <a:solidFill>
                  <a:srgbClr val="1F232B"/>
                </a:solidFill>
                <a:latin typeface="Calibri"/>
              </a:rPr>
              <a:t>otaga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yoziladi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justify-content: center</a:t>
            </a:r>
            <a:r>
              <a:rPr sz="2800" b="0">
                <a:solidFill>
                  <a:srgbClr val="1F232B"/>
                </a:solidFill>
                <a:latin typeface="Calibri"/>
              </a:rPr>
              <a:t> vertikal markazlamaydi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align-items</a:t>
            </a:r>
            <a:r>
              <a:rPr sz="2800" b="0">
                <a:solidFill>
                  <a:srgbClr val="1F232B"/>
                </a:solidFill>
                <a:latin typeface="Calibri"/>
              </a:rPr>
              <a:t> kerak (va balandlik!)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box-sizing: border-box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 — elementlar qatorga sig'maydi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a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span</a:t>
            </a:r>
            <a:r>
              <a:rPr sz="2800" b="0">
                <a:solidFill>
                  <a:srgbClr val="1F232B"/>
                </a:solidFill>
                <a:latin typeface="Calibri"/>
              </a:rPr>
              <a:t> ga </a:t>
            </a:r>
            <a:r>
              <a:rPr sz="2576" b="0">
                <a:solidFill>
                  <a:srgbClr val="B02A4A"/>
                </a:solidFill>
                <a:latin typeface="Consolas"/>
              </a:rPr>
              <a:t>width/height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inline-block</a:t>
            </a:r>
            <a:r>
              <a:rPr sz="2800" b="0">
                <a:solidFill>
                  <a:srgbClr val="1F232B"/>
                </a:solidFill>
                <a:latin typeface="Calibri"/>
              </a:rPr>
              <a:t>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block</a:t>
            </a:r>
            <a:r>
              <a:rPr sz="2800" b="0">
                <a:solidFill>
                  <a:srgbClr val="1F232B"/>
                </a:solidFill>
                <a:latin typeface="Calibri"/>
              </a:rPr>
              <a:t> kerak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grid-template-columns: 1fr, 1fr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vergul </a:t>
            </a:r>
            <a:r>
              <a:rPr sz="2800" b="1">
                <a:solidFill>
                  <a:srgbClr val="1F232B"/>
                </a:solidFill>
                <a:latin typeface="Calibri"/>
              </a:rPr>
              <a:t>qo'yilmaydi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Element chegarasi bilan mazmuni orasidagi bo'shliq nima deyiladi?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gap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Element chegarasi bilan mazmuni orasidagi bo'shliq nima deyiladi?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padding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gap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1">
                <a:solidFill>
                  <a:srgbClr val="B02A4A"/>
                </a:solidFill>
                <a:latin typeface="Consolas"/>
              </a:rPr>
              <a:t>width:200px; padding:10px; border:5px solid;</a:t>
            </a:r>
            <a:r>
              <a:rPr sz="2000" b="1">
                <a:solidFill>
                  <a:srgbClr val="1F232B"/>
                </a:solidFill>
                <a:latin typeface="Calibri"/>
              </a:rPr>
              <a:t> + </a:t>
            </a:r>
            <a:r>
              <a:rPr sz="1840" b="1">
                <a:solidFill>
                  <a:srgbClr val="B02A4A"/>
                </a:solidFill>
                <a:latin typeface="Consolas"/>
              </a:rPr>
              <a:t>box-sizing: border-box</a:t>
            </a:r>
            <a:r>
              <a:rPr sz="2000" b="1">
                <a:solidFill>
                  <a:srgbClr val="1F232B"/>
                </a:solidFill>
                <a:latin typeface="Calibri"/>
              </a:rPr>
              <a:t>. To'liq kenglik?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230px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215px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210px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1">
                <a:solidFill>
                  <a:srgbClr val="B02A4A"/>
                </a:solidFill>
                <a:latin typeface="Consolas"/>
              </a:rPr>
              <a:t>width:200px; padding:10px; border:5px solid;</a:t>
            </a:r>
            <a:r>
              <a:rPr sz="2000" b="1">
                <a:solidFill>
                  <a:srgbClr val="1F232B"/>
                </a:solidFill>
                <a:latin typeface="Calibri"/>
              </a:rPr>
              <a:t> + </a:t>
            </a:r>
            <a:r>
              <a:rPr sz="1840" b="1">
                <a:solidFill>
                  <a:srgbClr val="B02A4A"/>
                </a:solidFill>
                <a:latin typeface="Consolas"/>
              </a:rPr>
              <a:t>box-sizing: border-box</a:t>
            </a:r>
            <a:r>
              <a:rPr sz="2000" b="1">
                <a:solidFill>
                  <a:srgbClr val="1F232B"/>
                </a:solidFill>
                <a:latin typeface="Calibri"/>
              </a:rPr>
              <a:t>. To'liq kenglik?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230px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48462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200px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215px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210px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28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Logotipni chapga, menyuni o'ngga surish uchun konteynerga nima yoziladi?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display:flex; justify-content: space-between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display:flex; align-items: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display:grid; gap: 10px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text-align: justify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29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Logotipni chapga, menyuni o'ngga surish uchun konteynerga nima yoziladi?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display:flex; justify-content: space-between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display:flex; align-items: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display:grid; gap: 10px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text-align: justify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30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1">
                <a:solidFill>
                  <a:srgbClr val="B02A4A"/>
                </a:solidFill>
                <a:latin typeface="Consolas"/>
              </a:rPr>
              <a:t>grid-template-columns: 1fr 3fr;</a:t>
            </a:r>
            <a:r>
              <a:rPr sz="2000" b="1">
                <a:solidFill>
                  <a:srgbClr val="1F232B"/>
                </a:solidFill>
                <a:latin typeface="Calibri"/>
              </a:rPr>
              <a:t> — konteyner 800px (gap yo'q). Birinchi ustun necha piksel?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400px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200px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267px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31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40" b="1">
                <a:solidFill>
                  <a:srgbClr val="B02A4A"/>
                </a:solidFill>
                <a:latin typeface="Consolas"/>
              </a:rPr>
              <a:t>grid-template-columns: 1fr 3fr;</a:t>
            </a:r>
            <a:r>
              <a:rPr sz="2000" b="1">
                <a:solidFill>
                  <a:srgbClr val="1F232B"/>
                </a:solidFill>
                <a:latin typeface="Calibri"/>
              </a:rPr>
              <a:t> — konteyner 800px (gap yo'q). Birinchi ustun necha piksel?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400px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3063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4846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3063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9902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200px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2072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39902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22072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267px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32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Root shrift 16px bo'lsa, </a:t>
            </a:r>
            <a:r>
              <a:rPr sz="2208" b="1">
                <a:solidFill>
                  <a:srgbClr val="B02A4A"/>
                </a:solidFill>
                <a:latin typeface="Consolas"/>
              </a:rPr>
              <a:t>2rem</a:t>
            </a:r>
            <a:r>
              <a:rPr sz="2400" b="1">
                <a:solidFill>
                  <a:srgbClr val="1F232B"/>
                </a:solidFill>
                <a:latin typeface="Calibri"/>
              </a:rPr>
              <a:t> necha piksel?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16px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18px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32px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33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Root shrift 16px bo'lsa, </a:t>
            </a:r>
            <a:r>
              <a:rPr sz="2208" b="1">
                <a:solidFill>
                  <a:srgbClr val="B02A4A"/>
                </a:solidFill>
                <a:latin typeface="Consolas"/>
              </a:rPr>
              <a:t>2rem</a:t>
            </a:r>
            <a:r>
              <a:rPr sz="2400" b="1">
                <a:solidFill>
                  <a:srgbClr val="1F232B"/>
                </a:solidFill>
                <a:latin typeface="Calibri"/>
              </a:rPr>
              <a:t> necha piksel?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16px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18px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32px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34 / 36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7825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0568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Flexbox Froggy</a:t>
            </a:r>
            <a:r>
              <a:rPr sz="2800" b="0">
                <a:solidFill>
                  <a:srgbClr val="1F232B"/>
                </a:solidFill>
                <a:latin typeface="Calibri"/>
              </a:rPr>
              <a:t> (24 daraja) va </a:t>
            </a:r>
            <a:r>
              <a:rPr sz="2800" b="1">
                <a:solidFill>
                  <a:srgbClr val="1F232B"/>
                </a:solidFill>
                <a:latin typeface="Calibri"/>
              </a:rPr>
              <a:t>Grid Garden</a:t>
            </a:r>
            <a:r>
              <a:rPr sz="2800" b="0">
                <a:solidFill>
                  <a:srgbClr val="1F232B"/>
                </a:solidFill>
                <a:latin typeface="Calibri"/>
              </a:rPr>
              <a:t> (28 daraja) o'yinlari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8670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14141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Portfolio: "Men haqimda" (Flex), "Loyihalar" (Grid), "Ko'nikmalar" (</a:t>
            </a:r>
            <a:r>
              <a:rPr sz="2576" b="0">
                <a:solidFill>
                  <a:srgbClr val="B02A4A"/>
                </a:solidFill>
                <a:latin typeface="Consolas"/>
              </a:rPr>
              <a:t>flex-wrap</a:t>
            </a:r>
            <a:r>
              <a:rPr sz="2800" b="0">
                <a:solidFill>
                  <a:srgbClr val="1F232B"/>
                </a:solidFill>
                <a:latin typeface="Calibri"/>
              </a:rPr>
              <a:t>), "Aloqa", footer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9516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402259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12 rasmli galereya: 2 tasi </a:t>
            </a:r>
            <a:r>
              <a:rPr sz="2576" b="0">
                <a:solidFill>
                  <a:srgbClr val="B02A4A"/>
                </a:solidFill>
                <a:latin typeface="Consolas"/>
              </a:rPr>
              <a:t>span 2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katta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8-mavzu · Box model va o'lcham birliklari. Flexbox va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35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Box model: content + padding + border + margin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doim </a:t>
            </a:r>
            <a:r>
              <a:rPr sz="2576" b="0">
                <a:solidFill>
                  <a:srgbClr val="B02A4A"/>
                </a:solidFill>
                <a:latin typeface="Consolas"/>
              </a:rPr>
              <a:t>* { box-sizing: border-box; }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Birliklar: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px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%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rem</a:t>
            </a:r>
            <a:r>
              <a:rPr sz="2800" b="0">
                <a:solidFill>
                  <a:srgbClr val="1F232B"/>
                </a:solidFill>
                <a:latin typeface="Calibri"/>
              </a:rPr>
              <a:t> (shrift), </a:t>
            </a:r>
            <a:r>
              <a:rPr sz="2576" b="0">
                <a:solidFill>
                  <a:srgbClr val="B02A4A"/>
                </a:solidFill>
                <a:latin typeface="Consolas"/>
              </a:rPr>
              <a:t>vw/vh</a:t>
            </a:r>
            <a:r>
              <a:rPr sz="2800" b="0">
                <a:solidFill>
                  <a:srgbClr val="1F232B"/>
                </a:solidFill>
                <a:latin typeface="Calibri"/>
              </a:rPr>
              <a:t> (ekran)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Flexbox: </a:t>
            </a:r>
            <a:r>
              <a:rPr sz="2576" b="0">
                <a:solidFill>
                  <a:srgbClr val="B02A4A"/>
                </a:solidFill>
                <a:latin typeface="Consolas"/>
              </a:rPr>
              <a:t>justify-content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asosiy o'q, </a:t>
            </a:r>
            <a:r>
              <a:rPr sz="2576" b="0">
                <a:solidFill>
                  <a:srgbClr val="B02A4A"/>
                </a:solidFill>
                <a:latin typeface="Consolas"/>
              </a:rPr>
              <a:t>align-items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kesishgan o'q, </a:t>
            </a:r>
            <a:r>
              <a:rPr sz="2576" b="0">
                <a:solidFill>
                  <a:srgbClr val="B02A4A"/>
                </a:solidFill>
                <a:latin typeface="Consolas"/>
              </a:rPr>
              <a:t>gap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flex: 1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Grid: </a:t>
            </a:r>
            <a:r>
              <a:rPr sz="2576" b="0">
                <a:solidFill>
                  <a:srgbClr val="B02A4A"/>
                </a:solidFill>
                <a:latin typeface="Consolas"/>
              </a:rPr>
              <a:t>repeat(auto-fill, minmax(200px, 1fr))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span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grid-template-areas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9. CSS pseudo-class va pseudo-elementlar. CSS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8-mavzu: Box model va o'lcham birliklari. Flexbox va Grid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