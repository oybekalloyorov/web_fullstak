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II bobning yakuni: o'zgaruvchilar, shartlar, sikllar, funksiyalar, massivlar, DOM va hodisalar bitta loyihada birlashadi.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C) Ma'lumotlar massivi (holat).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A) JSON.stringify() bilan matnga aylantiriladi.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D) tugma.dataset.filtr.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B) vazifalar = vazifalar.filter(v =&gt; v.id !== id).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94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11091672" cy="5760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64592" cy="5760720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005840"/>
            <a:ext cx="1005840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5400" b="0">
                <a:solidFill>
                  <a:srgbClr val="1F232B"/>
                </a:solidFill>
                <a:latin typeface="Segoe UI Emoji"/>
              </a:rPr>
              <a:t>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10312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500" b="1">
                <a:solidFill>
                  <a:srgbClr val="C99400"/>
                </a:solidFill>
                <a:latin typeface="Calibri"/>
              </a:rPr>
              <a:t>20-MAVZU  ·  II BOB. JAVASCRIPT ASOSLARI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606040"/>
            <a:ext cx="100584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3600" b="1">
                <a:solidFill>
                  <a:srgbClr val="1F232B"/>
                </a:solidFill>
                <a:latin typeface="Calibri"/>
              </a:rPr>
              <a:t>HTML eventlari va sahifaga interaktivlik. JavaScript mini loyiha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343400"/>
            <a:ext cx="987552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800" b="0">
                <a:solidFill>
                  <a:srgbClr val="5B6370"/>
                </a:solidFill>
                <a:latin typeface="Calibri"/>
              </a:rPr>
              <a:t>Loyihani rejalashtirish, "holat → chizish" usuli, forma tekshirish; To-Do List (localStorage bilan), mini test tizimi va interaktiv komponentlar — bosqichma-bosqich.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5669280"/>
            <a:ext cx="10058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400" b="1">
                <a:solidFill>
                  <a:srgbClr val="5B6370"/>
                </a:solidFill>
                <a:latin typeface="Calibri"/>
              </a:rPr>
              <a:t>8-sinf · Web Full-stack dasturlash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Bugun nimani o'rganamiz?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20-mavzu · HTML eventlari va sahifaga interaktivlik. JavaScript mini loyiha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Loyihani boshlashdan oldin </a:t>
            </a:r>
            <a:r>
              <a:rPr sz="2800" b="1">
                <a:solidFill>
                  <a:srgbClr val="1F232B"/>
                </a:solidFill>
                <a:latin typeface="Calibri"/>
              </a:rPr>
              <a:t>rejalashtirish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26412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Professional usul: </a:t>
            </a:r>
            <a:r>
              <a:rPr sz="2800" b="1">
                <a:solidFill>
                  <a:srgbClr val="1F232B"/>
                </a:solidFill>
                <a:latin typeface="Calibri"/>
              </a:rPr>
              <a:t>"Holat → Chizish"</a:t>
            </a:r>
            <a:r>
              <a:rPr sz="2800" b="0">
                <a:solidFill>
                  <a:srgbClr val="1F232B"/>
                </a:solidFill>
                <a:latin typeface="Calibri"/>
              </a:rPr>
              <a:t> (render)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186432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635504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Formani JavaScript bilan </a:t>
            </a:r>
            <a:r>
              <a:rPr sz="2800" b="1">
                <a:solidFill>
                  <a:srgbClr val="1F232B"/>
                </a:solidFill>
                <a:latin typeface="Calibri"/>
              </a:rPr>
              <a:t>tekshirish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2795524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244596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To-Do List</a:t>
            </a:r>
            <a:r>
              <a:rPr sz="2800" b="0">
                <a:solidFill>
                  <a:srgbClr val="1F232B"/>
                </a:solidFill>
                <a:latin typeface="Calibri"/>
              </a:rPr>
              <a:t> ilovasi (11-loyiha)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404616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853688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Mini test tizimi</a:t>
            </a:r>
            <a:r>
              <a:rPr sz="2800" b="0">
                <a:solidFill>
                  <a:srgbClr val="1F232B"/>
                </a:solidFill>
                <a:latin typeface="Calibri"/>
              </a:rPr>
              <a:t> (12-loyiha)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4013708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Loyihani qanday boshlash kerak?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20-mavzu · HTML eventlari va sahifaga interaktivlik. JavaScript mini loyiha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3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11091672" cy="617982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82296" cy="61798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08760"/>
            <a:ext cx="10725912" cy="453389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279" b="0">
                <a:solidFill>
                  <a:srgbClr val="1F232B"/>
                </a:solidFill>
                <a:latin typeface="Calibri"/>
              </a:rPr>
              <a:t>⚠️ </a:t>
            </a:r>
            <a:r>
              <a:rPr sz="2279" b="0">
                <a:solidFill>
                  <a:srgbClr val="1F232B"/>
                </a:solidFill>
                <a:latin typeface="Calibri"/>
              </a:rPr>
              <a:t>Eng katta xato — darhol kod yozishga tushish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254758"/>
            <a:ext cx="457200" cy="457200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92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19" y="2282190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Nima qiladi?</a:t>
            </a:r>
            <a:r>
              <a:rPr sz="2400" b="0">
                <a:solidFill>
                  <a:srgbClr val="1F232B"/>
                </a:solidFill>
                <a:latin typeface="Calibri"/>
              </a:rPr>
              <a:t> Funksiyalar ro'yxati: qo'shish, belgilash, o'chirish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931414"/>
            <a:ext cx="457200" cy="457200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92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19" y="2958846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Qanday ko'rinadi?</a:t>
            </a:r>
            <a:r>
              <a:rPr sz="2400" b="0">
                <a:solidFill>
                  <a:srgbClr val="1F232B"/>
                </a:solidFill>
                <a:latin typeface="Calibri"/>
              </a:rPr>
              <a:t> Qog'ozga chizing: input, tugma, ro'yxat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608070"/>
            <a:ext cx="457200" cy="457200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92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19" y="3635502"/>
            <a:ext cx="10451592" cy="8717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Qanday ma'lumot?</a:t>
            </a:r>
            <a:r>
              <a:rPr sz="2400" b="0">
                <a:solidFill>
                  <a:srgbClr val="1F232B"/>
                </a:solidFill>
                <a:latin typeface="Calibri"/>
              </a:rPr>
              <a:t> Har vazifa — </a:t>
            </a:r>
            <a:r>
              <a:rPr sz="2208" b="0">
                <a:solidFill>
                  <a:srgbClr val="B02A4A"/>
                </a:solidFill>
                <a:latin typeface="Consolas"/>
              </a:rPr>
              <a:t>{ id, matn, bajarildi }</a:t>
            </a:r>
            <a:r>
              <a:rPr sz="2400" b="0">
                <a:solidFill>
                  <a:srgbClr val="1F232B"/>
                </a:solidFill>
                <a:latin typeface="Calibri"/>
              </a:rPr>
              <a:t>; hammasi — massiv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4589526"/>
            <a:ext cx="457200" cy="457200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92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19" y="4616958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Qaysi hodisalar?</a:t>
            </a:r>
            <a:r>
              <a:rPr sz="2400" b="0">
                <a:solidFill>
                  <a:srgbClr val="1F232B"/>
                </a:solidFill>
                <a:latin typeface="Calibri"/>
              </a:rPr>
              <a:t> submit → qo'shish; checkbox → belgilash; 🗑 → o'chirish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5266182"/>
            <a:ext cx="457200" cy="457200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92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19" y="5293614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Kichik qadamlar</a:t>
            </a:r>
            <a:r>
              <a:rPr sz="2400" b="0">
                <a:solidFill>
                  <a:srgbClr val="1F232B"/>
                </a:solidFill>
                <a:latin typeface="Calibri"/>
              </a:rPr>
              <a:t> bilan yozing, har qadamdan keyin tekshiring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"Holat → Chizish" usuli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20-mavzu · HTML eventlari va sahifaga interaktivlik. JavaScript mini loyiha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4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5807"/>
            <a:ext cx="11091672" cy="1308118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60671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Matn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34991"/>
            <a:ext cx="10725912" cy="96064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728" b="0">
                <a:solidFill>
                  <a:srgbClr val="E6E6E6"/>
                </a:solidFill>
                <a:latin typeface="Consolas"/>
              </a:rPr>
              <a:t>👆 Hodisa  ──▶  📦 Holat (massiv) o'zgaradi  ──▶  🎨 render()  ──▶  💾 localStorage</a:t>
            </a:r>
          </a:p>
          <a:p>
            <a:pPr>
              <a:lnSpc>
                <a:spcPct val="100000"/>
              </a:lnSpc>
            </a:pPr>
            <a:r>
              <a:rPr sz="1728" b="0">
                <a:solidFill>
                  <a:srgbClr val="E6E6E6"/>
                </a:solidFill>
                <a:latin typeface="Consolas"/>
              </a:rPr>
              <a:t> tugma bosildi     push / filter / map           sahifa massivdan     saqlash</a:t>
            </a:r>
          </a:p>
          <a:p>
            <a:pPr>
              <a:lnSpc>
                <a:spcPct val="100000"/>
              </a:lnSpc>
            </a:pPr>
            <a:r>
              <a:rPr sz="1728" b="0">
                <a:solidFill>
                  <a:srgbClr val="E6E6E6"/>
                </a:solidFill>
                <a:latin typeface="Consolas"/>
              </a:rPr>
              <a:t>                                                  qayta chiziladi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133381"/>
            <a:ext cx="11091672" cy="1522857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3133381"/>
            <a:ext cx="82296" cy="1522857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224821"/>
            <a:ext cx="10725912" cy="1358265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60" b="0">
                <a:solidFill>
                  <a:srgbClr val="1F232B"/>
                </a:solidFill>
                <a:latin typeface="Calibri"/>
              </a:rPr>
              <a:t>💡 </a:t>
            </a:r>
            <a:r>
              <a:rPr sz="2660" b="1">
                <a:solidFill>
                  <a:srgbClr val="1F232B"/>
                </a:solidFill>
                <a:latin typeface="Calibri"/>
              </a:rPr>
              <a:t>Doska va daftar:</a:t>
            </a:r>
            <a:r>
              <a:rPr sz="2660" b="0">
                <a:solidFill>
                  <a:srgbClr val="1F232B"/>
                </a:solidFill>
                <a:latin typeface="Calibri"/>
              </a:rPr>
              <a:t> daftar — holat (haqiqiy ma'lumot), doska — ekran. O'qituvchi avval daftarni yangilaydi, keyin doskani artib, daftardagini qayta yozadi — ular hech qachon farq qilmaydi.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875694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Aynan shu g'oya </a:t>
            </a:r>
            <a:r>
              <a:rPr sz="2800" b="1">
                <a:solidFill>
                  <a:srgbClr val="1F232B"/>
                </a:solidFill>
                <a:latin typeface="Calibri"/>
              </a:rPr>
              <a:t>React</a:t>
            </a:r>
            <a:r>
              <a:rPr sz="2800" b="0">
                <a:solidFill>
                  <a:srgbClr val="1F232B"/>
                </a:solidFill>
                <a:latin typeface="Calibri"/>
              </a:rPr>
              <a:t> kabi kutubxonalarning asosida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5035714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94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600" b="1">
                <a:solidFill>
                  <a:srgbClr val="EEDEB2"/>
                </a:solidFill>
                <a:latin typeface="Calibri"/>
              </a:rPr>
              <a:t>BO'LIM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1-loyiha: To-Do 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33272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F6EED8"/>
                </a:solidFill>
                <a:latin typeface="Calibri"/>
              </a:rPr>
              <a:t>11-loyiha — localStorage bilan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EEDEB2"/>
                </a:solidFill>
                <a:latin typeface="Calibri"/>
              </a:rPr>
              <a:t>5 / 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To-Do: holat va amallar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20-mavzu · HTML eventlari va sahifaga interaktivlik. JavaScript mini loyiha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6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57228"/>
            <a:ext cx="11091672" cy="4508540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12092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JavaScript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86412"/>
            <a:ext cx="10725912" cy="41610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156" b="0">
                <a:solidFill>
                  <a:srgbClr val="7F848E"/>
                </a:solidFill>
                <a:latin typeface="Consolas"/>
              </a:rPr>
              <a:t>// 1. HOLAT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C678DD"/>
                </a:solidFill>
                <a:latin typeface="Consolas"/>
              </a:rPr>
              <a:t>let</a:t>
            </a:r>
            <a:r>
              <a:rPr sz="1156" b="0">
                <a:solidFill>
                  <a:srgbClr val="E6E6E6"/>
                </a:solidFill>
                <a:latin typeface="Consolas"/>
              </a:rPr>
              <a:t> vazifalar = JSON.parse(localStorage.getItem(</a:t>
            </a:r>
            <a:r>
              <a:rPr sz="1156" b="0">
                <a:solidFill>
                  <a:srgbClr val="98C379"/>
                </a:solidFill>
                <a:latin typeface="Consolas"/>
              </a:rPr>
              <a:t>"vazifalar"</a:t>
            </a:r>
            <a:r>
              <a:rPr sz="1156" b="0">
                <a:solidFill>
                  <a:srgbClr val="E6E6E6"/>
                </a:solidFill>
                <a:latin typeface="Consolas"/>
              </a:rPr>
              <a:t>)) || [];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7F848E"/>
                </a:solidFill>
                <a:latin typeface="Consolas"/>
              </a:rPr>
              <a:t>// 2. AMALLAR — faqat holatni o'zgartiradi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C678DD"/>
                </a:solidFill>
                <a:latin typeface="Consolas"/>
              </a:rPr>
              <a:t>function</a:t>
            </a:r>
            <a:r>
              <a:rPr sz="1156" b="0">
                <a:solidFill>
                  <a:srgbClr val="E6E6E6"/>
                </a:solidFill>
                <a:latin typeface="Consolas"/>
              </a:rPr>
              <a:t> qoshish(matn) {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E6E6E6"/>
                </a:solidFill>
                <a:latin typeface="Consolas"/>
              </a:rPr>
              <a:t>  vazifalar.push({ id: Date.now(), matn, bajarildi: </a:t>
            </a:r>
            <a:r>
              <a:rPr sz="1156" b="0">
                <a:solidFill>
                  <a:srgbClr val="C678DD"/>
                </a:solidFill>
                <a:latin typeface="Consolas"/>
              </a:rPr>
              <a:t>false</a:t>
            </a:r>
            <a:r>
              <a:rPr sz="1156" b="0">
                <a:solidFill>
                  <a:srgbClr val="E6E6E6"/>
                </a:solidFill>
                <a:latin typeface="Consolas"/>
              </a:rPr>
              <a:t> });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E6E6E6"/>
                </a:solidFill>
                <a:latin typeface="Consolas"/>
              </a:rPr>
              <a:t>  yangilash();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E6E6E6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C678DD"/>
                </a:solidFill>
                <a:latin typeface="Consolas"/>
              </a:rPr>
              <a:t>function</a:t>
            </a:r>
            <a:r>
              <a:rPr sz="1156" b="0">
                <a:solidFill>
                  <a:srgbClr val="E6E6E6"/>
                </a:solidFill>
                <a:latin typeface="Consolas"/>
              </a:rPr>
              <a:t> almashtir(id) {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E6E6E6"/>
                </a:solidFill>
                <a:latin typeface="Consolas"/>
              </a:rPr>
              <a:t>  vazifalar = vazifalar.map(v =&gt;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E6E6E6"/>
                </a:solidFill>
                <a:latin typeface="Consolas"/>
              </a:rPr>
              <a:t>    v.id === id ? { ...v, bajarildi: !v.bajarildi } : v);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E6E6E6"/>
                </a:solidFill>
                <a:latin typeface="Consolas"/>
              </a:rPr>
              <a:t>  yangilash();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E6E6E6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C678DD"/>
                </a:solidFill>
                <a:latin typeface="Consolas"/>
              </a:rPr>
              <a:t>function</a:t>
            </a:r>
            <a:r>
              <a:rPr sz="1156" b="0">
                <a:solidFill>
                  <a:srgbClr val="E6E6E6"/>
                </a:solidFill>
                <a:latin typeface="Consolas"/>
              </a:rPr>
              <a:t> ochir(id) {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E6E6E6"/>
                </a:solidFill>
                <a:latin typeface="Consolas"/>
              </a:rPr>
              <a:t>  vazifalar = vazifalar.filter(v =&gt; v.id !== id);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E6E6E6"/>
                </a:solidFill>
                <a:latin typeface="Consolas"/>
              </a:rPr>
              <a:t>  yangilash();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E6E6E6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C678DD"/>
                </a:solidFill>
                <a:latin typeface="Consolas"/>
              </a:rPr>
              <a:t>function</a:t>
            </a:r>
            <a:r>
              <a:rPr sz="1156" b="0">
                <a:solidFill>
                  <a:srgbClr val="E6E6E6"/>
                </a:solidFill>
                <a:latin typeface="Consolas"/>
              </a:rPr>
              <a:t> yangilash() {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E6E6E6"/>
                </a:solidFill>
                <a:latin typeface="Consolas"/>
              </a:rPr>
              <a:t>  localStorage.setItem(</a:t>
            </a:r>
            <a:r>
              <a:rPr sz="1156" b="0">
                <a:solidFill>
                  <a:srgbClr val="98C379"/>
                </a:solidFill>
                <a:latin typeface="Consolas"/>
              </a:rPr>
              <a:t>"vazifalar"</a:t>
            </a:r>
            <a:r>
              <a:rPr sz="1156" b="0">
                <a:solidFill>
                  <a:srgbClr val="E6E6E6"/>
                </a:solidFill>
                <a:latin typeface="Consolas"/>
              </a:rPr>
              <a:t>, JSON.stringify(vazifalar));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E6E6E6"/>
                </a:solidFill>
                <a:latin typeface="Consolas"/>
              </a:rPr>
              <a:t>  render();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E6E6E6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To-Do: render() — holatdan chizish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20-mavzu · HTML eventlari va sahifaga interaktivlik. JavaScript mini loyiha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7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7203"/>
            <a:ext cx="11091672" cy="4451543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22067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JavaScript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96387"/>
            <a:ext cx="10725912" cy="4104071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496" b="0">
                <a:solidFill>
                  <a:srgbClr val="C678DD"/>
                </a:solidFill>
                <a:latin typeface="Consolas"/>
              </a:rPr>
              <a:t>function</a:t>
            </a:r>
            <a:r>
              <a:rPr sz="1496" b="0">
                <a:solidFill>
                  <a:srgbClr val="E6E6E6"/>
                </a:solidFill>
                <a:latin typeface="Consolas"/>
              </a:rPr>
              <a:t> render() {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royxat.innerHTML = </a:t>
            </a:r>
            <a:r>
              <a:rPr sz="1496" b="0">
                <a:solidFill>
                  <a:srgbClr val="98C379"/>
                </a:solidFill>
                <a:latin typeface="Consolas"/>
              </a:rPr>
              <a:t>""</a:t>
            </a:r>
            <a:r>
              <a:rPr sz="1496" b="0">
                <a:solidFill>
                  <a:srgbClr val="E6E6E6"/>
                </a:solidFill>
                <a:latin typeface="Consolas"/>
              </a:rPr>
              <a:t>;                     // avval tozalash!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vazifalar.forEach(v =&gt; {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  </a:t>
            </a:r>
            <a:r>
              <a:rPr sz="1496" b="0">
                <a:solidFill>
                  <a:srgbClr val="C678DD"/>
                </a:solidFill>
                <a:latin typeface="Consolas"/>
              </a:rPr>
              <a:t>const</a:t>
            </a:r>
            <a:r>
              <a:rPr sz="1496" b="0">
                <a:solidFill>
                  <a:srgbClr val="E6E6E6"/>
                </a:solidFill>
                <a:latin typeface="Consolas"/>
              </a:rPr>
              <a:t> li = </a:t>
            </a:r>
            <a:r>
              <a:rPr sz="1496" b="0">
                <a:solidFill>
                  <a:srgbClr val="C678DD"/>
                </a:solidFill>
                <a:latin typeface="Consolas"/>
              </a:rPr>
              <a:t>document</a:t>
            </a:r>
            <a:r>
              <a:rPr sz="1496" b="0">
                <a:solidFill>
                  <a:srgbClr val="E6E6E6"/>
                </a:solidFill>
                <a:latin typeface="Consolas"/>
              </a:rPr>
              <a:t>.createElement(</a:t>
            </a:r>
            <a:r>
              <a:rPr sz="1496" b="0">
                <a:solidFill>
                  <a:srgbClr val="98C379"/>
                </a:solidFill>
                <a:latin typeface="Consolas"/>
              </a:rPr>
              <a:t>"li"</a:t>
            </a:r>
            <a:r>
              <a:rPr sz="1496" b="0">
                <a:solidFill>
                  <a:srgbClr val="E6E6E6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  li.classList.toggle(</a:t>
            </a:r>
            <a:r>
              <a:rPr sz="1496" b="0">
                <a:solidFill>
                  <a:srgbClr val="98C379"/>
                </a:solidFill>
                <a:latin typeface="Consolas"/>
              </a:rPr>
              <a:t>"bajarildi"</a:t>
            </a:r>
            <a:r>
              <a:rPr sz="1496" b="0">
                <a:solidFill>
                  <a:srgbClr val="E6E6E6"/>
                </a:solidFill>
                <a:latin typeface="Consolas"/>
              </a:rPr>
              <a:t>, v.bajarildi);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  </a:t>
            </a:r>
            <a:r>
              <a:rPr sz="1496" b="0">
                <a:solidFill>
                  <a:srgbClr val="C678DD"/>
                </a:solidFill>
                <a:latin typeface="Consolas"/>
              </a:rPr>
              <a:t>const</a:t>
            </a:r>
            <a:r>
              <a:rPr sz="1496" b="0">
                <a:solidFill>
                  <a:srgbClr val="E6E6E6"/>
                </a:solidFill>
                <a:latin typeface="Consolas"/>
              </a:rPr>
              <a:t> span = </a:t>
            </a:r>
            <a:r>
              <a:rPr sz="1496" b="0">
                <a:solidFill>
                  <a:srgbClr val="C678DD"/>
                </a:solidFill>
                <a:latin typeface="Consolas"/>
              </a:rPr>
              <a:t>document</a:t>
            </a:r>
            <a:r>
              <a:rPr sz="1496" b="0">
                <a:solidFill>
                  <a:srgbClr val="E6E6E6"/>
                </a:solidFill>
                <a:latin typeface="Consolas"/>
              </a:rPr>
              <a:t>.createElement(</a:t>
            </a:r>
            <a:r>
              <a:rPr sz="1496" b="0">
                <a:solidFill>
                  <a:srgbClr val="98C379"/>
                </a:solidFill>
                <a:latin typeface="Consolas"/>
              </a:rPr>
              <a:t>"span"</a:t>
            </a:r>
            <a:r>
              <a:rPr sz="1496" b="0">
                <a:solidFill>
                  <a:srgbClr val="E6E6E6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  span.textContent = v.matn;               // XSS'dan himoya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  </a:t>
            </a:r>
            <a:r>
              <a:rPr sz="1496" b="0">
                <a:solidFill>
                  <a:srgbClr val="C678DD"/>
                </a:solidFill>
                <a:latin typeface="Consolas"/>
              </a:rPr>
              <a:t>const</a:t>
            </a:r>
            <a:r>
              <a:rPr sz="1496" b="0">
                <a:solidFill>
                  <a:srgbClr val="E6E6E6"/>
                </a:solidFill>
                <a:latin typeface="Consolas"/>
              </a:rPr>
              <a:t> ochirish = </a:t>
            </a:r>
            <a:r>
              <a:rPr sz="1496" b="0">
                <a:solidFill>
                  <a:srgbClr val="C678DD"/>
                </a:solidFill>
                <a:latin typeface="Consolas"/>
              </a:rPr>
              <a:t>document</a:t>
            </a:r>
            <a:r>
              <a:rPr sz="1496" b="0">
                <a:solidFill>
                  <a:srgbClr val="E6E6E6"/>
                </a:solidFill>
                <a:latin typeface="Consolas"/>
              </a:rPr>
              <a:t>.createElement(</a:t>
            </a:r>
            <a:r>
              <a:rPr sz="1496" b="0">
                <a:solidFill>
                  <a:srgbClr val="98C379"/>
                </a:solidFill>
                <a:latin typeface="Consolas"/>
              </a:rPr>
              <a:t>"button"</a:t>
            </a:r>
            <a:r>
              <a:rPr sz="1496" b="0">
                <a:solidFill>
                  <a:srgbClr val="E6E6E6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  ochirish.textContent = </a:t>
            </a:r>
            <a:r>
              <a:rPr sz="1496" b="0">
                <a:solidFill>
                  <a:srgbClr val="98C379"/>
                </a:solidFill>
                <a:latin typeface="Consolas"/>
              </a:rPr>
              <a:t>"🗑"</a:t>
            </a:r>
            <a:r>
              <a:rPr sz="1496" b="0">
                <a:solidFill>
                  <a:srgbClr val="E6E6E6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  ochirish.addEventListener(</a:t>
            </a:r>
            <a:r>
              <a:rPr sz="1496" b="0">
                <a:solidFill>
                  <a:srgbClr val="98C379"/>
                </a:solidFill>
                <a:latin typeface="Consolas"/>
              </a:rPr>
              <a:t>"click"</a:t>
            </a:r>
            <a:r>
              <a:rPr sz="1496" b="0">
                <a:solidFill>
                  <a:srgbClr val="E6E6E6"/>
                </a:solidFill>
                <a:latin typeface="Consolas"/>
              </a:rPr>
              <a:t>, () =&gt; ochir(v.id));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  span.addEventListener(</a:t>
            </a:r>
            <a:r>
              <a:rPr sz="1496" b="0">
                <a:solidFill>
                  <a:srgbClr val="98C379"/>
                </a:solidFill>
                <a:latin typeface="Consolas"/>
              </a:rPr>
              <a:t>"click"</a:t>
            </a:r>
            <a:r>
              <a:rPr sz="1496" b="0">
                <a:solidFill>
                  <a:srgbClr val="E6E6E6"/>
                </a:solidFill>
                <a:latin typeface="Consolas"/>
              </a:rPr>
              <a:t>, () =&gt; almashtir(v.id));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  li.append(span, ochirish);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  royxat.append(li);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});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hisob.textContent = `${vazifalar.filter(v =&gt; !v.bajarildi).length} ta qoldi`;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To-Do: forma hodisasi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20-mavzu · HTML eventlari va sahifaga interaktivlik. JavaScript mini loyiha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8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7772"/>
            <a:ext cx="11091672" cy="2880415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12636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JavaScript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86956"/>
            <a:ext cx="10725912" cy="253294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820" b="0">
                <a:solidFill>
                  <a:srgbClr val="E6E6E6"/>
                </a:solidFill>
                <a:latin typeface="Consolas"/>
              </a:rPr>
              <a:t>forma.addEventListener(</a:t>
            </a:r>
            <a:r>
              <a:rPr sz="1820" b="0">
                <a:solidFill>
                  <a:srgbClr val="98C379"/>
                </a:solidFill>
                <a:latin typeface="Consolas"/>
              </a:rPr>
              <a:t>"submit"</a:t>
            </a:r>
            <a:r>
              <a:rPr sz="1820" b="0">
                <a:solidFill>
                  <a:srgbClr val="E6E6E6"/>
                </a:solidFill>
                <a:latin typeface="Consolas"/>
              </a:rPr>
              <a:t>, (e) =&gt; {</a:t>
            </a:r>
          </a:p>
          <a:p>
            <a:pPr>
              <a:lnSpc>
                <a:spcPct val="100000"/>
              </a:lnSpc>
            </a:pPr>
            <a:r>
              <a:rPr sz="1820" b="0">
                <a:solidFill>
                  <a:srgbClr val="E6E6E6"/>
                </a:solidFill>
                <a:latin typeface="Consolas"/>
              </a:rPr>
              <a:t>  e.preventDefault();</a:t>
            </a:r>
          </a:p>
          <a:p>
            <a:pPr>
              <a:lnSpc>
                <a:spcPct val="100000"/>
              </a:lnSpc>
            </a:pPr>
            <a:r>
              <a:rPr sz="1820" b="0">
                <a:solidFill>
                  <a:srgbClr val="E6E6E6"/>
                </a:solidFill>
                <a:latin typeface="Consolas"/>
              </a:rPr>
              <a:t>  </a:t>
            </a:r>
            <a:r>
              <a:rPr sz="1820" b="0">
                <a:solidFill>
                  <a:srgbClr val="C678DD"/>
                </a:solidFill>
                <a:latin typeface="Consolas"/>
              </a:rPr>
              <a:t>const</a:t>
            </a:r>
            <a:r>
              <a:rPr sz="1820" b="0">
                <a:solidFill>
                  <a:srgbClr val="E6E6E6"/>
                </a:solidFill>
                <a:latin typeface="Consolas"/>
              </a:rPr>
              <a:t> matn = kiritish.value.trim();</a:t>
            </a:r>
          </a:p>
          <a:p>
            <a:pPr>
              <a:lnSpc>
                <a:spcPct val="100000"/>
              </a:lnSpc>
            </a:pPr>
            <a:r>
              <a:rPr sz="1820" b="0">
                <a:solidFill>
                  <a:srgbClr val="E6E6E6"/>
                </a:solidFill>
                <a:latin typeface="Consolas"/>
              </a:rPr>
              <a:t>  </a:t>
            </a:r>
            <a:r>
              <a:rPr sz="1820" b="0">
                <a:solidFill>
                  <a:srgbClr val="C678DD"/>
                </a:solidFill>
                <a:latin typeface="Consolas"/>
              </a:rPr>
              <a:t>if</a:t>
            </a:r>
            <a:r>
              <a:rPr sz="1820" b="0">
                <a:solidFill>
                  <a:srgbClr val="E6E6E6"/>
                </a:solidFill>
                <a:latin typeface="Consolas"/>
              </a:rPr>
              <a:t> (matn.length &lt; 3) { xato.textContent = </a:t>
            </a:r>
            <a:r>
              <a:rPr sz="1820" b="0">
                <a:solidFill>
                  <a:srgbClr val="98C379"/>
                </a:solidFill>
                <a:latin typeface="Consolas"/>
              </a:rPr>
              <a:t>"Kamida 3 ta belgi!"</a:t>
            </a:r>
            <a:r>
              <a:rPr sz="1820" b="0">
                <a:solidFill>
                  <a:srgbClr val="E6E6E6"/>
                </a:solidFill>
                <a:latin typeface="Consolas"/>
              </a:rPr>
              <a:t>; </a:t>
            </a:r>
            <a:r>
              <a:rPr sz="1820" b="0">
                <a:solidFill>
                  <a:srgbClr val="C678DD"/>
                </a:solidFill>
                <a:latin typeface="Consolas"/>
              </a:rPr>
              <a:t>return</a:t>
            </a:r>
            <a:r>
              <a:rPr sz="1820" b="0">
                <a:solidFill>
                  <a:srgbClr val="E6E6E6"/>
                </a:solidFill>
                <a:latin typeface="Consolas"/>
              </a:rPr>
              <a:t>; }</a:t>
            </a:r>
          </a:p>
          <a:p>
            <a:pPr>
              <a:lnSpc>
                <a:spcPct val="100000"/>
              </a:lnSpc>
            </a:pPr>
            <a:r>
              <a:rPr sz="1820" b="0">
                <a:solidFill>
                  <a:srgbClr val="E6E6E6"/>
                </a:solidFill>
                <a:latin typeface="Consolas"/>
              </a:rPr>
              <a:t>  qoshish(matn);</a:t>
            </a:r>
          </a:p>
          <a:p>
            <a:pPr>
              <a:lnSpc>
                <a:spcPct val="100000"/>
              </a:lnSpc>
            </a:pPr>
            <a:r>
              <a:rPr sz="1820" b="0">
                <a:solidFill>
                  <a:srgbClr val="E6E6E6"/>
                </a:solidFill>
                <a:latin typeface="Consolas"/>
              </a:rPr>
              <a:t>  kiritish.value = </a:t>
            </a:r>
            <a:r>
              <a:rPr sz="1820" b="0">
                <a:solidFill>
                  <a:srgbClr val="98C379"/>
                </a:solidFill>
                <a:latin typeface="Consolas"/>
              </a:rPr>
              <a:t>""</a:t>
            </a:r>
            <a:r>
              <a:rPr sz="1820" b="0">
                <a:solidFill>
                  <a:srgbClr val="E6E6E6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</a:pPr>
            <a:r>
              <a:rPr sz="1820" b="0">
                <a:solidFill>
                  <a:srgbClr val="E6E6E6"/>
                </a:solidFill>
                <a:latin typeface="Consolas"/>
              </a:rPr>
              <a:t>});</a:t>
            </a:r>
          </a:p>
          <a:p>
            <a:pPr>
              <a:lnSpc>
                <a:spcPct val="100000"/>
              </a:lnSpc>
            </a:pPr>
            <a:r>
              <a:rPr sz="1820" b="0">
                <a:solidFill>
                  <a:srgbClr val="E6E6E6"/>
                </a:solidFill>
                <a:latin typeface="Consolas"/>
              </a:rPr>
              <a:t>render();      // sahifa ochilganda — saqlangan vazifalarni chizish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657643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Validatsiya: kamida 3 belgi; </a:t>
            </a:r>
            <a:r>
              <a:rPr sz="2576" b="0">
                <a:solidFill>
                  <a:srgbClr val="B02A4A"/>
                </a:solidFill>
                <a:latin typeface="Consolas"/>
              </a:rPr>
              <a:t>trim()</a:t>
            </a:r>
            <a:r>
              <a:rPr sz="2800" b="0">
                <a:solidFill>
                  <a:srgbClr val="1F232B"/>
                </a:solidFill>
                <a:latin typeface="Calibri"/>
              </a:rPr>
              <a:t> bo'sh joylarni olib tashlaydi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4817663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To-Do: tekshiring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20-mavzu · HTML eventlari va sahifaga interaktivlik. JavaScript mini loyiha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9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Vazifalar qo'shing, sahifani </a:t>
            </a:r>
            <a:r>
              <a:rPr sz="2800" b="1">
                <a:solidFill>
                  <a:srgbClr val="1F232B"/>
                </a:solidFill>
                <a:latin typeface="Calibri"/>
              </a:rPr>
              <a:t>yangilang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ular saqlanib qoladi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26412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Filtrlar: </a:t>
            </a:r>
            <a:r>
              <a:rPr sz="2800" b="1">
                <a:solidFill>
                  <a:srgbClr val="1F232B"/>
                </a:solidFill>
                <a:latin typeface="Calibri"/>
              </a:rPr>
              <a:t>hammasi / faol / bajarilgan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</a:t>
            </a:r>
            <a:r>
              <a:rPr sz="2576" b="0">
                <a:solidFill>
                  <a:srgbClr val="B02A4A"/>
                </a:solidFill>
                <a:latin typeface="Consolas"/>
              </a:rPr>
              <a:t>data-filtr</a:t>
            </a:r>
            <a:r>
              <a:rPr sz="2800" b="0">
                <a:solidFill>
                  <a:srgbClr val="1F232B"/>
                </a:solidFill>
                <a:latin typeface="Calibri"/>
              </a:rPr>
              <a:t> atributi va </a:t>
            </a:r>
            <a:r>
              <a:rPr sz="2576" b="0">
                <a:solidFill>
                  <a:srgbClr val="B02A4A"/>
                </a:solidFill>
                <a:latin typeface="Consolas"/>
              </a:rPr>
              <a:t>dataset.filtr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186432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080004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DevTools → Application → Local Storage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JSON qanday o'zgarishini kuzating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3240023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4133595"/>
            <a:ext cx="11091672" cy="758098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188459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HTML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462780"/>
            <a:ext cx="10725912" cy="41062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E06C75"/>
                </a:solidFill>
                <a:latin typeface="Consolas"/>
              </a:rPr>
              <a:t>&lt;button</a:t>
            </a:r>
            <a:r>
              <a:rPr sz="1904" b="0">
                <a:solidFill>
                  <a:srgbClr val="E6E6E6"/>
                </a:solidFill>
                <a:latin typeface="Consolas"/>
              </a:rPr>
              <a:t> data-filtr=</a:t>
            </a:r>
            <a:r>
              <a:rPr sz="1904" b="0">
                <a:solidFill>
                  <a:srgbClr val="98C379"/>
                </a:solidFill>
                <a:latin typeface="Consolas"/>
              </a:rPr>
              <a:t>"faol"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  <a:r>
              <a:rPr sz="1904" b="0">
                <a:solidFill>
                  <a:srgbClr val="E6E6E6"/>
                </a:solidFill>
                <a:latin typeface="Consolas"/>
              </a:rPr>
              <a:t>Faol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&lt;/button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111150"/>
            <a:ext cx="11091672" cy="758098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166014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JavaScript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440334"/>
            <a:ext cx="10725912" cy="41062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tugma.dataset.filtr   // </a:t>
            </a:r>
            <a:r>
              <a:rPr sz="1904" b="0">
                <a:solidFill>
                  <a:srgbClr val="98C379"/>
                </a:solidFill>
                <a:latin typeface="Consolas"/>
              </a:rPr>
              <a:t>"faol"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94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600" b="1">
                <a:solidFill>
                  <a:srgbClr val="EEDEB2"/>
                </a:solidFill>
                <a:latin typeface="Calibri"/>
              </a:rPr>
              <a:t>BO'LIM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2-loyiha: Mini test tizimi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33272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F6EED8"/>
                </a:solidFill>
                <a:latin typeface="Calibri"/>
              </a:rPr>
              <a:t>12-loyiha — savollar ma'lumot sifatida massivda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EEDEB2"/>
                </a:solidFill>
                <a:latin typeface="Calibri"/>
              </a:rPr>
              <a:t>10 / 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Mini test: ma'lumot va mantiq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20-mavzu · HTML eventlari va sahifaga interaktivlik. JavaScript mini loyiha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11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8017"/>
            <a:ext cx="11091672" cy="4218762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72881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JavaScript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47201"/>
            <a:ext cx="10725912" cy="387129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252" b="0">
                <a:solidFill>
                  <a:srgbClr val="C678DD"/>
                </a:solidFill>
                <a:latin typeface="Consolas"/>
              </a:rPr>
              <a:t>const</a:t>
            </a:r>
            <a:r>
              <a:rPr sz="1252" b="0">
                <a:solidFill>
                  <a:srgbClr val="E6E6E6"/>
                </a:solidFill>
                <a:latin typeface="Consolas"/>
              </a:rPr>
              <a:t> savollar = [</a:t>
            </a:r>
          </a:p>
          <a:p>
            <a:pPr>
              <a:lnSpc>
                <a:spcPct val="100000"/>
              </a:lnSpc>
            </a:pPr>
            <a:r>
              <a:rPr sz="1252" b="0">
                <a:solidFill>
                  <a:srgbClr val="E6E6E6"/>
                </a:solidFill>
                <a:latin typeface="Consolas"/>
              </a:rPr>
              <a:t>  { savol: </a:t>
            </a:r>
            <a:r>
              <a:rPr sz="1252" b="0">
                <a:solidFill>
                  <a:srgbClr val="98C379"/>
                </a:solidFill>
                <a:latin typeface="Consolas"/>
              </a:rPr>
              <a:t>"HTML nima?"</a:t>
            </a:r>
            <a:r>
              <a:rPr sz="1252" b="0">
                <a:solidFill>
                  <a:srgbClr val="E6E6E6"/>
                </a:solidFill>
                <a:latin typeface="Consolas"/>
              </a:rPr>
              <a:t>, variantlar: [</a:t>
            </a:r>
            <a:r>
              <a:rPr sz="1252" b="0">
                <a:solidFill>
                  <a:srgbClr val="98C379"/>
                </a:solidFill>
                <a:latin typeface="Consolas"/>
              </a:rPr>
              <a:t>"Dasturlash tili"</a:t>
            </a:r>
            <a:r>
              <a:rPr sz="1252" b="0">
                <a:solidFill>
                  <a:srgbClr val="E6E6E6"/>
                </a:solidFill>
                <a:latin typeface="Consolas"/>
              </a:rPr>
              <a:t>, </a:t>
            </a:r>
            <a:r>
              <a:rPr sz="1252" b="0">
                <a:solidFill>
                  <a:srgbClr val="98C379"/>
                </a:solidFill>
                <a:latin typeface="Consolas"/>
              </a:rPr>
              <a:t>"Belgilash tili"</a:t>
            </a:r>
            <a:r>
              <a:rPr sz="1252" b="0">
                <a:solidFill>
                  <a:srgbClr val="E6E6E6"/>
                </a:solidFill>
                <a:latin typeface="Consolas"/>
              </a:rPr>
              <a:t>, </a:t>
            </a:r>
            <a:r>
              <a:rPr sz="1252" b="0">
                <a:solidFill>
                  <a:srgbClr val="98C379"/>
                </a:solidFill>
                <a:latin typeface="Consolas"/>
              </a:rPr>
              <a:t>"Ma'lumotlar bazasi"</a:t>
            </a:r>
            <a:r>
              <a:rPr sz="1252" b="0">
                <a:solidFill>
                  <a:srgbClr val="E6E6E6"/>
                </a:solidFill>
                <a:latin typeface="Consolas"/>
              </a:rPr>
              <a:t>], togri: 1 },</a:t>
            </a:r>
          </a:p>
          <a:p>
            <a:pPr>
              <a:lnSpc>
                <a:spcPct val="100000"/>
              </a:lnSpc>
            </a:pPr>
            <a:r>
              <a:rPr sz="1252" b="0">
                <a:solidFill>
                  <a:srgbClr val="E6E6E6"/>
                </a:solidFill>
                <a:latin typeface="Consolas"/>
              </a:rPr>
              <a:t>  { savol: </a:t>
            </a:r>
            <a:r>
              <a:rPr sz="1252" b="0">
                <a:solidFill>
                  <a:srgbClr val="98C379"/>
                </a:solidFill>
                <a:latin typeface="Consolas"/>
              </a:rPr>
              <a:t>"Qaysi teg havola yaratadi?"</a:t>
            </a:r>
            <a:r>
              <a:rPr sz="1252" b="0">
                <a:solidFill>
                  <a:srgbClr val="E6E6E6"/>
                </a:solidFill>
                <a:latin typeface="Consolas"/>
              </a:rPr>
              <a:t>, variantlar: [</a:t>
            </a:r>
            <a:r>
              <a:rPr sz="1252" b="0">
                <a:solidFill>
                  <a:srgbClr val="98C379"/>
                </a:solidFill>
                <a:latin typeface="Consolas"/>
              </a:rPr>
              <a:t>"&lt;a&gt;"</a:t>
            </a:r>
            <a:r>
              <a:rPr sz="1252" b="0">
                <a:solidFill>
                  <a:srgbClr val="E6E6E6"/>
                </a:solidFill>
                <a:latin typeface="Consolas"/>
              </a:rPr>
              <a:t>, </a:t>
            </a:r>
            <a:r>
              <a:rPr sz="1252" b="0">
                <a:solidFill>
                  <a:srgbClr val="98C379"/>
                </a:solidFill>
                <a:latin typeface="Consolas"/>
              </a:rPr>
              <a:t>"&lt;link&gt;"</a:t>
            </a:r>
            <a:r>
              <a:rPr sz="1252" b="0">
                <a:solidFill>
                  <a:srgbClr val="E6E6E6"/>
                </a:solidFill>
                <a:latin typeface="Consolas"/>
              </a:rPr>
              <a:t>, </a:t>
            </a:r>
            <a:r>
              <a:rPr sz="1252" b="0">
                <a:solidFill>
                  <a:srgbClr val="98C379"/>
                </a:solidFill>
                <a:latin typeface="Consolas"/>
              </a:rPr>
              <a:t>"&lt;href&gt;"</a:t>
            </a:r>
            <a:r>
              <a:rPr sz="1252" b="0">
                <a:solidFill>
                  <a:srgbClr val="E6E6E6"/>
                </a:solidFill>
                <a:latin typeface="Consolas"/>
              </a:rPr>
              <a:t>], togri: 0 },</a:t>
            </a:r>
          </a:p>
          <a:p>
            <a:pPr>
              <a:lnSpc>
                <a:spcPct val="100000"/>
              </a:lnSpc>
            </a:pPr>
            <a:r>
              <a:rPr sz="1252" b="0">
                <a:solidFill>
                  <a:srgbClr val="E6E6E6"/>
                </a:solidFill>
                <a:latin typeface="Consolas"/>
              </a:rPr>
              <a:t>];</a:t>
            </a:r>
          </a:p>
          <a:p>
            <a:pPr>
              <a:lnSpc>
                <a:spcPct val="100000"/>
              </a:lnSpc>
            </a:pPr>
            <a:r>
              <a:rPr sz="1252" b="0">
                <a:solidFill>
                  <a:srgbClr val="C678DD"/>
                </a:solidFill>
                <a:latin typeface="Consolas"/>
              </a:rPr>
              <a:t>let</a:t>
            </a:r>
            <a:r>
              <a:rPr sz="1252" b="0">
                <a:solidFill>
                  <a:srgbClr val="E6E6E6"/>
                </a:solidFill>
                <a:latin typeface="Consolas"/>
              </a:rPr>
              <a:t> joriy = 0, ball = 0;</a:t>
            </a:r>
          </a:p>
          <a:p>
            <a:pPr>
              <a:lnSpc>
                <a:spcPct val="100000"/>
              </a:lnSpc>
            </a:pPr>
            <a:r>
              <a:rPr sz="1252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252" b="0">
                <a:solidFill>
                  <a:srgbClr val="C678DD"/>
                </a:solidFill>
                <a:latin typeface="Consolas"/>
              </a:rPr>
              <a:t>function</a:t>
            </a:r>
            <a:r>
              <a:rPr sz="1252" b="0">
                <a:solidFill>
                  <a:srgbClr val="E6E6E6"/>
                </a:solidFill>
                <a:latin typeface="Consolas"/>
              </a:rPr>
              <a:t> korsat() {</a:t>
            </a:r>
          </a:p>
          <a:p>
            <a:pPr>
              <a:lnSpc>
                <a:spcPct val="100000"/>
              </a:lnSpc>
            </a:pPr>
            <a:r>
              <a:rPr sz="1252" b="0">
                <a:solidFill>
                  <a:srgbClr val="E6E6E6"/>
                </a:solidFill>
                <a:latin typeface="Consolas"/>
              </a:rPr>
              <a:t>  </a:t>
            </a:r>
            <a:r>
              <a:rPr sz="1252" b="0">
                <a:solidFill>
                  <a:srgbClr val="C678DD"/>
                </a:solidFill>
                <a:latin typeface="Consolas"/>
              </a:rPr>
              <a:t>const</a:t>
            </a:r>
            <a:r>
              <a:rPr sz="1252" b="0">
                <a:solidFill>
                  <a:srgbClr val="E6E6E6"/>
                </a:solidFill>
                <a:latin typeface="Consolas"/>
              </a:rPr>
              <a:t> s = savollar[joriy];</a:t>
            </a:r>
          </a:p>
          <a:p>
            <a:pPr>
              <a:lnSpc>
                <a:spcPct val="100000"/>
              </a:lnSpc>
            </a:pPr>
            <a:r>
              <a:rPr sz="1252" b="0">
                <a:solidFill>
                  <a:srgbClr val="E6E6E6"/>
                </a:solidFill>
                <a:latin typeface="Consolas"/>
              </a:rPr>
              <a:t>  sarlavha.textContent = s.savol;</a:t>
            </a:r>
          </a:p>
          <a:p>
            <a:pPr>
              <a:lnSpc>
                <a:spcPct val="100000"/>
              </a:lnSpc>
            </a:pPr>
            <a:r>
              <a:rPr sz="1252" b="0">
                <a:solidFill>
                  <a:srgbClr val="E6E6E6"/>
                </a:solidFill>
                <a:latin typeface="Consolas"/>
              </a:rPr>
              <a:t>  variantlarBox.innerHTML = </a:t>
            </a:r>
            <a:r>
              <a:rPr sz="1252" b="0">
                <a:solidFill>
                  <a:srgbClr val="98C379"/>
                </a:solidFill>
                <a:latin typeface="Consolas"/>
              </a:rPr>
              <a:t>""</a:t>
            </a:r>
            <a:r>
              <a:rPr sz="1252" b="0">
                <a:solidFill>
                  <a:srgbClr val="E6E6E6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</a:pPr>
            <a:r>
              <a:rPr sz="1252" b="0">
                <a:solidFill>
                  <a:srgbClr val="E6E6E6"/>
                </a:solidFill>
                <a:latin typeface="Consolas"/>
              </a:rPr>
              <a:t>  s.variantlar.forEach((v, i) =&gt; {</a:t>
            </a:r>
          </a:p>
          <a:p>
            <a:pPr>
              <a:lnSpc>
                <a:spcPct val="100000"/>
              </a:lnSpc>
            </a:pPr>
            <a:r>
              <a:rPr sz="1252" b="0">
                <a:solidFill>
                  <a:srgbClr val="E6E6E6"/>
                </a:solidFill>
                <a:latin typeface="Consolas"/>
              </a:rPr>
              <a:t>    </a:t>
            </a:r>
            <a:r>
              <a:rPr sz="1252" b="0">
                <a:solidFill>
                  <a:srgbClr val="C678DD"/>
                </a:solidFill>
                <a:latin typeface="Consolas"/>
              </a:rPr>
              <a:t>const</a:t>
            </a:r>
            <a:r>
              <a:rPr sz="1252" b="0">
                <a:solidFill>
                  <a:srgbClr val="E6E6E6"/>
                </a:solidFill>
                <a:latin typeface="Consolas"/>
              </a:rPr>
              <a:t> b = </a:t>
            </a:r>
            <a:r>
              <a:rPr sz="1252" b="0">
                <a:solidFill>
                  <a:srgbClr val="C678DD"/>
                </a:solidFill>
                <a:latin typeface="Consolas"/>
              </a:rPr>
              <a:t>document</a:t>
            </a:r>
            <a:r>
              <a:rPr sz="1252" b="0">
                <a:solidFill>
                  <a:srgbClr val="E6E6E6"/>
                </a:solidFill>
                <a:latin typeface="Consolas"/>
              </a:rPr>
              <a:t>.createElement(</a:t>
            </a:r>
            <a:r>
              <a:rPr sz="1252" b="0">
                <a:solidFill>
                  <a:srgbClr val="98C379"/>
                </a:solidFill>
                <a:latin typeface="Consolas"/>
              </a:rPr>
              <a:t>"button"</a:t>
            </a:r>
            <a:r>
              <a:rPr sz="1252" b="0">
                <a:solidFill>
                  <a:srgbClr val="E6E6E6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</a:pPr>
            <a:r>
              <a:rPr sz="1252" b="0">
                <a:solidFill>
                  <a:srgbClr val="E6E6E6"/>
                </a:solidFill>
                <a:latin typeface="Consolas"/>
              </a:rPr>
              <a:t>    b.textContent = v;</a:t>
            </a:r>
          </a:p>
          <a:p>
            <a:pPr>
              <a:lnSpc>
                <a:spcPct val="100000"/>
              </a:lnSpc>
            </a:pPr>
            <a:r>
              <a:rPr sz="1252" b="0">
                <a:solidFill>
                  <a:srgbClr val="E6E6E6"/>
                </a:solidFill>
                <a:latin typeface="Consolas"/>
              </a:rPr>
              <a:t>    b.addEventListener(</a:t>
            </a:r>
            <a:r>
              <a:rPr sz="1252" b="0">
                <a:solidFill>
                  <a:srgbClr val="98C379"/>
                </a:solidFill>
                <a:latin typeface="Consolas"/>
              </a:rPr>
              <a:t>"click"</a:t>
            </a:r>
            <a:r>
              <a:rPr sz="1252" b="0">
                <a:solidFill>
                  <a:srgbClr val="E6E6E6"/>
                </a:solidFill>
                <a:latin typeface="Consolas"/>
              </a:rPr>
              <a:t>, () =&gt; javob(i));</a:t>
            </a:r>
          </a:p>
          <a:p>
            <a:pPr>
              <a:lnSpc>
                <a:spcPct val="100000"/>
              </a:lnSpc>
            </a:pPr>
            <a:r>
              <a:rPr sz="1252" b="0">
                <a:solidFill>
                  <a:srgbClr val="E6E6E6"/>
                </a:solidFill>
                <a:latin typeface="Consolas"/>
              </a:rPr>
              <a:t>    variantlarBox.append(b);</a:t>
            </a:r>
          </a:p>
          <a:p>
            <a:pPr>
              <a:lnSpc>
                <a:spcPct val="100000"/>
              </a:lnSpc>
            </a:pPr>
            <a:r>
              <a:rPr sz="1252" b="0">
                <a:solidFill>
                  <a:srgbClr val="E6E6E6"/>
                </a:solidFill>
                <a:latin typeface="Consolas"/>
              </a:rPr>
              <a:t>  });</a:t>
            </a:r>
          </a:p>
          <a:p>
            <a:pPr>
              <a:lnSpc>
                <a:spcPct val="100000"/>
              </a:lnSpc>
            </a:pPr>
            <a:r>
              <a:rPr sz="1252" b="0">
                <a:solidFill>
                  <a:srgbClr val="E6E6E6"/>
                </a:solidFill>
                <a:latin typeface="Consolas"/>
              </a:rPr>
              <a:t>  progress.style.width = `${joriy / savollar.length * 100}%`;</a:t>
            </a:r>
          </a:p>
          <a:p>
            <a:pPr>
              <a:lnSpc>
                <a:spcPct val="100000"/>
              </a:lnSpc>
            </a:pPr>
            <a:r>
              <a:rPr sz="1252" b="0">
                <a:solidFill>
                  <a:srgbClr val="E6E6E6"/>
                </a:solidFill>
                <a:latin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5856236"/>
            <a:ext cx="10680192" cy="40411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1F232B"/>
                </a:solidFill>
                <a:latin typeface="Calibri"/>
              </a:rPr>
              <a:t>Yangi savol qo'shish uchun </a:t>
            </a:r>
            <a:r>
              <a:rPr sz="2200" b="1">
                <a:solidFill>
                  <a:srgbClr val="1F232B"/>
                </a:solidFill>
                <a:latin typeface="Calibri"/>
              </a:rPr>
              <a:t>kod emas, faqat massiv</a:t>
            </a:r>
            <a:r>
              <a:rPr sz="2200" b="0">
                <a:solidFill>
                  <a:srgbClr val="1F232B"/>
                </a:solidFill>
                <a:latin typeface="Calibri"/>
              </a:rPr>
              <a:t> o'zgaradi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5981966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Mini test: kengaytirish g'oyalari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20-mavzu · HTML eventlari va sahifaga interaktivlik. JavaScript mini loyiha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12 / 25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1444752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O'zingiz </a:t>
            </a:r>
            <a:r>
              <a:rPr sz="2800" b="1">
                <a:solidFill>
                  <a:srgbClr val="1F232B"/>
                </a:solidFill>
                <a:latin typeface="Calibri"/>
              </a:rPr>
              <a:t>10 ta savol</a:t>
            </a:r>
            <a:r>
              <a:rPr sz="2800" b="0">
                <a:solidFill>
                  <a:srgbClr val="1F232B"/>
                </a:solidFill>
                <a:latin typeface="Calibri"/>
              </a:rPr>
              <a:t> yozing (HTML, CSS, JS)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093976"/>
            <a:ext cx="457200" cy="457200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2121408"/>
            <a:ext cx="10451592" cy="9987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Savollar va variantlarni </a:t>
            </a:r>
            <a:r>
              <a:rPr sz="2800" b="1">
                <a:solidFill>
                  <a:srgbClr val="1F232B"/>
                </a:solidFill>
                <a:latin typeface="Calibri"/>
              </a:rPr>
              <a:t>aralashtiring</a:t>
            </a:r>
            <a:r>
              <a:rPr sz="2800" b="0">
                <a:solidFill>
                  <a:srgbClr val="1F232B"/>
                </a:solidFill>
                <a:latin typeface="Calibri"/>
              </a:rPr>
              <a:t> (to'g'ri javob indeksini yangilashni unutmang!)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202432"/>
            <a:ext cx="457200" cy="457200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3229863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Har savolga </a:t>
            </a:r>
            <a:r>
              <a:rPr sz="2800" b="1">
                <a:solidFill>
                  <a:srgbClr val="1F232B"/>
                </a:solidFill>
                <a:latin typeface="Calibri"/>
              </a:rPr>
              <a:t>20 soniyalik taymer</a:t>
            </a:r>
            <a:r>
              <a:rPr sz="2800" b="0">
                <a:solidFill>
                  <a:srgbClr val="1F232B"/>
                </a:solidFill>
                <a:latin typeface="Calibri"/>
              </a:rPr>
              <a:t> (</a:t>
            </a:r>
            <a:r>
              <a:rPr sz="2576" b="0">
                <a:solidFill>
                  <a:srgbClr val="B02A4A"/>
                </a:solidFill>
                <a:latin typeface="Consolas"/>
              </a:rPr>
              <a:t>setInterval</a:t>
            </a:r>
            <a:r>
              <a:rPr sz="2800" b="0">
                <a:solidFill>
                  <a:srgbClr val="1F232B"/>
                </a:solidFill>
                <a:latin typeface="Calibri"/>
              </a:rPr>
              <a:t>)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879087"/>
            <a:ext cx="457200" cy="457200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19" y="3906520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Rekord</a:t>
            </a:r>
            <a:r>
              <a:rPr sz="2800" b="0">
                <a:solidFill>
                  <a:srgbClr val="1F232B"/>
                </a:solidFill>
                <a:latin typeface="Calibri"/>
              </a:rPr>
              <a:t> natijani </a:t>
            </a:r>
            <a:r>
              <a:rPr sz="2576" b="0">
                <a:solidFill>
                  <a:srgbClr val="B02A4A"/>
                </a:solidFill>
                <a:latin typeface="Consolas"/>
              </a:rPr>
              <a:t>localStorage</a:t>
            </a:r>
            <a:r>
              <a:rPr sz="2800" b="0">
                <a:solidFill>
                  <a:srgbClr val="1F232B"/>
                </a:solidFill>
                <a:latin typeface="Calibri"/>
              </a:rPr>
              <a:t> da saqlang: "Rekord: 9/10"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Forma validatsiyasi: real vaqtda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20-mavzu · HTML eventlari va sahifaga interaktivlik. JavaScript mini loyiha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13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25601"/>
            <a:ext cx="11091672" cy="3699174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80465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JavaScript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54785"/>
            <a:ext cx="10725912" cy="335170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768" b="0">
                <a:solidFill>
                  <a:srgbClr val="C678DD"/>
                </a:solidFill>
                <a:latin typeface="Consolas"/>
              </a:rPr>
              <a:t>const</a:t>
            </a:r>
            <a:r>
              <a:rPr sz="1768" b="0">
                <a:solidFill>
                  <a:srgbClr val="E6E6E6"/>
                </a:solidFill>
                <a:latin typeface="Consolas"/>
              </a:rPr>
              <a:t> qoidalar = {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  email: v =&gt; /^\S+@\S+\.\S+$/.test(v) ? </a:t>
            </a:r>
            <a:r>
              <a:rPr sz="1768" b="0">
                <a:solidFill>
                  <a:srgbClr val="98C379"/>
                </a:solidFill>
                <a:latin typeface="Consolas"/>
              </a:rPr>
              <a:t>""</a:t>
            </a:r>
            <a:r>
              <a:rPr sz="1768" b="0">
                <a:solidFill>
                  <a:srgbClr val="E6E6E6"/>
                </a:solidFill>
                <a:latin typeface="Consolas"/>
              </a:rPr>
              <a:t> : </a:t>
            </a:r>
            <a:r>
              <a:rPr sz="1768" b="0">
                <a:solidFill>
                  <a:srgbClr val="98C379"/>
                </a:solidFill>
                <a:latin typeface="Consolas"/>
              </a:rPr>
              <a:t>"Email noto'g'ri"</a:t>
            </a:r>
            <a:r>
              <a:rPr sz="1768" b="0">
                <a:solidFill>
                  <a:srgbClr val="E6E6E6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  parol: v =&gt; v.length &gt;= 8 ? </a:t>
            </a:r>
            <a:r>
              <a:rPr sz="1768" b="0">
                <a:solidFill>
                  <a:srgbClr val="98C379"/>
                </a:solidFill>
                <a:latin typeface="Consolas"/>
              </a:rPr>
              <a:t>""</a:t>
            </a:r>
            <a:r>
              <a:rPr sz="1768" b="0">
                <a:solidFill>
                  <a:srgbClr val="E6E6E6"/>
                </a:solidFill>
                <a:latin typeface="Consolas"/>
              </a:rPr>
              <a:t> : </a:t>
            </a:r>
            <a:r>
              <a:rPr sz="1768" b="0">
                <a:solidFill>
                  <a:srgbClr val="98C379"/>
                </a:solidFill>
                <a:latin typeface="Consolas"/>
              </a:rPr>
              <a:t>"Kamida 8 ta belgi"</a:t>
            </a:r>
            <a:r>
              <a:rPr sz="1768" b="0">
                <a:solidFill>
                  <a:srgbClr val="E6E6E6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};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input.addEventListener(</a:t>
            </a:r>
            <a:r>
              <a:rPr sz="1768" b="0">
                <a:solidFill>
                  <a:srgbClr val="98C379"/>
                </a:solidFill>
                <a:latin typeface="Consolas"/>
              </a:rPr>
              <a:t>"input"</a:t>
            </a:r>
            <a:r>
              <a:rPr sz="1768" b="0">
                <a:solidFill>
                  <a:srgbClr val="E6E6E6"/>
                </a:solidFill>
                <a:latin typeface="Consolas"/>
              </a:rPr>
              <a:t>, () =&gt; {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  </a:t>
            </a:r>
            <a:r>
              <a:rPr sz="1768" b="0">
                <a:solidFill>
                  <a:srgbClr val="C678DD"/>
                </a:solidFill>
                <a:latin typeface="Consolas"/>
              </a:rPr>
              <a:t>const</a:t>
            </a:r>
            <a:r>
              <a:rPr sz="1768" b="0">
                <a:solidFill>
                  <a:srgbClr val="E6E6E6"/>
                </a:solidFill>
                <a:latin typeface="Consolas"/>
              </a:rPr>
              <a:t> xato = qoidalar[input.name](input.value);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  maydon.classList.toggle(</a:t>
            </a:r>
            <a:r>
              <a:rPr sz="1768" b="0">
                <a:solidFill>
                  <a:srgbClr val="98C379"/>
                </a:solidFill>
                <a:latin typeface="Consolas"/>
              </a:rPr>
              <a:t>"xato"</a:t>
            </a:r>
            <a:r>
              <a:rPr sz="1768" b="0">
                <a:solidFill>
                  <a:srgbClr val="E6E6E6"/>
                </a:solidFill>
                <a:latin typeface="Consolas"/>
              </a:rPr>
              <a:t>, xato !== </a:t>
            </a:r>
            <a:r>
              <a:rPr sz="1768" b="0">
                <a:solidFill>
                  <a:srgbClr val="98C379"/>
                </a:solidFill>
                <a:latin typeface="Consolas"/>
              </a:rPr>
              <a:t>""</a:t>
            </a:r>
            <a:r>
              <a:rPr sz="1768" b="0">
                <a:solidFill>
                  <a:srgbClr val="E6E6E6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  maydon.classList.toggle(</a:t>
            </a:r>
            <a:r>
              <a:rPr sz="1768" b="0">
                <a:solidFill>
                  <a:srgbClr val="98C379"/>
                </a:solidFill>
                <a:latin typeface="Consolas"/>
              </a:rPr>
              <a:t>"ok"</a:t>
            </a:r>
            <a:r>
              <a:rPr sz="1768" b="0">
                <a:solidFill>
                  <a:srgbClr val="E6E6E6"/>
                </a:solidFill>
                <a:latin typeface="Consolas"/>
              </a:rPr>
              <a:t>, xato === </a:t>
            </a:r>
            <a:r>
              <a:rPr sz="1768" b="0">
                <a:solidFill>
                  <a:srgbClr val="98C379"/>
                </a:solidFill>
                <a:latin typeface="Consolas"/>
              </a:rPr>
              <a:t>""</a:t>
            </a:r>
            <a:r>
              <a:rPr sz="1768" b="0">
                <a:solidFill>
                  <a:srgbClr val="E6E6E6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  maydon.querySelector(</a:t>
            </a:r>
            <a:r>
              <a:rPr sz="1768" b="0">
                <a:solidFill>
                  <a:srgbClr val="98C379"/>
                </a:solidFill>
                <a:latin typeface="Consolas"/>
              </a:rPr>
              <a:t>"small"</a:t>
            </a:r>
            <a:r>
              <a:rPr sz="1768" b="0">
                <a:solidFill>
                  <a:srgbClr val="E6E6E6"/>
                </a:solidFill>
                <a:latin typeface="Consolas"/>
              </a:rPr>
              <a:t>).textContent = xato;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});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5344232"/>
            <a:ext cx="10680192" cy="880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392" b="0">
                <a:solidFill>
                  <a:srgbClr val="B02A4A"/>
                </a:solidFill>
                <a:latin typeface="Consolas"/>
              </a:rPr>
              <a:t>/^\S+@\S+\.\S+$/</a:t>
            </a:r>
            <a:r>
              <a:rPr sz="2600" b="0">
                <a:solidFill>
                  <a:srgbClr val="1F232B"/>
                </a:solidFill>
                <a:latin typeface="Calibri"/>
              </a:rPr>
              <a:t> — </a:t>
            </a:r>
            <a:r>
              <a:rPr sz="2600" b="1">
                <a:solidFill>
                  <a:srgbClr val="1F232B"/>
                </a:solidFill>
                <a:latin typeface="Calibri"/>
              </a:rPr>
              <a:t>regex</a:t>
            </a:r>
            <a:r>
              <a:rPr sz="2600" b="0">
                <a:solidFill>
                  <a:srgbClr val="1F232B"/>
                </a:solidFill>
                <a:latin typeface="Calibri"/>
              </a:rPr>
              <a:t> (muntazam ifoda): matnni naqsh bo'yicha tekshirish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5492822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Ko'p uchraydigan xatolar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20-mavzu · HTML eventlari va sahifaga interaktivlik. JavaScript mini loyiha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14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Holat o'zgardi, lekin </a:t>
            </a:r>
            <a:r>
              <a:rPr sz="2576" b="0">
                <a:solidFill>
                  <a:srgbClr val="B02A4A"/>
                </a:solidFill>
                <a:latin typeface="Consolas"/>
              </a:rPr>
              <a:t>render()</a:t>
            </a:r>
            <a:r>
              <a:rPr sz="2800" b="0">
                <a:solidFill>
                  <a:srgbClr val="1F232B"/>
                </a:solidFill>
                <a:latin typeface="Calibri"/>
              </a:rPr>
              <a:t> chaqirilmadi — ekran eski holicha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470911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Massivni </a:t>
            </a:r>
            <a:r>
              <a:rPr sz="2576" b="0">
                <a:solidFill>
                  <a:srgbClr val="B02A4A"/>
                </a:solidFill>
                <a:latin typeface="Consolas"/>
              </a:rPr>
              <a:t>JSON.stringify</a:t>
            </a:r>
            <a:r>
              <a:rPr sz="2800" b="0">
                <a:solidFill>
                  <a:srgbClr val="1F232B"/>
                </a:solidFill>
                <a:latin typeface="Calibri"/>
              </a:rPr>
              <a:t> siz saqlash → </a:t>
            </a:r>
            <a:r>
              <a:rPr sz="2576" b="0">
                <a:solidFill>
                  <a:srgbClr val="B02A4A"/>
                </a:solidFill>
                <a:latin typeface="Consolas"/>
              </a:rPr>
              <a:t>"[object Object]"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630931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524503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</a:t>
            </a:r>
            <a:r>
              <a:rPr sz="2576" b="0">
                <a:solidFill>
                  <a:srgbClr val="B02A4A"/>
                </a:solidFill>
                <a:latin typeface="Consolas"/>
              </a:rPr>
              <a:t>render()</a:t>
            </a:r>
            <a:r>
              <a:rPr sz="2800" b="0">
                <a:solidFill>
                  <a:srgbClr val="1F232B"/>
                </a:solidFill>
                <a:latin typeface="Calibri"/>
              </a:rPr>
              <a:t> da </a:t>
            </a:r>
            <a:r>
              <a:rPr sz="2576" b="0">
                <a:solidFill>
                  <a:srgbClr val="B02A4A"/>
                </a:solidFill>
                <a:latin typeface="Consolas"/>
              </a:rPr>
              <a:t>innerHTML = ""</a:t>
            </a:r>
            <a:r>
              <a:rPr sz="2800" b="0">
                <a:solidFill>
                  <a:srgbClr val="1F232B"/>
                </a:solidFill>
                <a:latin typeface="Calibri"/>
              </a:rPr>
              <a:t> yo'q — elementlar ikki baravar ko'payadi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3684523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578095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Foydalanuvchi matni </a:t>
            </a:r>
            <a:r>
              <a:rPr sz="2576" b="0">
                <a:solidFill>
                  <a:srgbClr val="B02A4A"/>
                </a:solidFill>
                <a:latin typeface="Consolas"/>
              </a:rPr>
              <a:t>innerHTML</a:t>
            </a:r>
            <a:r>
              <a:rPr sz="2800" b="0">
                <a:solidFill>
                  <a:srgbClr val="1F232B"/>
                </a:solidFill>
                <a:latin typeface="Calibri"/>
              </a:rPr>
              <a:t> bilan — XSS xavfi; </a:t>
            </a:r>
            <a:r>
              <a:rPr sz="2576" b="0">
                <a:solidFill>
                  <a:srgbClr val="B02A4A"/>
                </a:solidFill>
                <a:latin typeface="Consolas"/>
              </a:rPr>
              <a:t>textContent</a:t>
            </a:r>
            <a:r>
              <a:rPr sz="2800" b="0">
                <a:solidFill>
                  <a:srgbClr val="1F232B"/>
                </a:solidFill>
                <a:latin typeface="Calibri"/>
              </a:rPr>
              <a:t>!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4738115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20-mavzu · HTML eventlari va sahifaga interaktivlik. JavaScript mini loyiha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15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"Holat → Chizish" usulida tugma bosilganda </a:t>
            </a:r>
            <a:r>
              <a:rPr sz="2400" b="1">
                <a:solidFill>
                  <a:srgbClr val="1F232B"/>
                </a:solidFill>
                <a:latin typeface="Calibri"/>
              </a:rPr>
              <a:t>birinchi</a:t>
            </a:r>
            <a:r>
              <a:rPr sz="2400" b="1">
                <a:solidFill>
                  <a:srgbClr val="1F232B"/>
                </a:solidFill>
                <a:latin typeface="Calibri"/>
              </a:rPr>
              <a:t> nima o'zgaradi?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Sahifadagi HTML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CSS fayl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Ma'lumotlar massivi (holat)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localStorage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20-mavzu · HTML eventlari va sahifaga interaktivlik. JavaScript mini loyiha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16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"Holat → Chizish" usulida tugma bosilganda </a:t>
            </a:r>
            <a:r>
              <a:rPr sz="2400" b="1">
                <a:solidFill>
                  <a:srgbClr val="1F232B"/>
                </a:solidFill>
                <a:latin typeface="Calibri"/>
              </a:rPr>
              <a:t>birinchi</a:t>
            </a:r>
            <a:r>
              <a:rPr sz="2400" b="1">
                <a:solidFill>
                  <a:srgbClr val="1F232B"/>
                </a:solidFill>
                <a:latin typeface="Calibri"/>
              </a:rPr>
              <a:t> nima o'zgaradi?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Sahifadagi HTML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CSS fayl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1">
                <a:solidFill>
                  <a:srgbClr val="1F232B"/>
                </a:solidFill>
                <a:latin typeface="Calibri"/>
              </a:rPr>
              <a:t>Ma'lumotlar massivi (holat)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localStorage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20-mavzu · HTML eventlari va sahifaga interaktivlik. JavaScript mini loyiha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17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Massivni localStorage'da saqlash uchun avval nima qilinadi?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JSON.stringify()</a:t>
            </a:r>
            <a:r>
              <a:rPr sz="1900" b="0">
                <a:solidFill>
                  <a:srgbClr val="1F232B"/>
                </a:solidFill>
                <a:latin typeface="Calibri"/>
              </a:rPr>
              <a:t> bilan matnga aylantiriladi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toString()</a:t>
            </a:r>
            <a:r>
              <a:rPr sz="1900" b="0">
                <a:solidFill>
                  <a:srgbClr val="1F232B"/>
                </a:solidFill>
                <a:latin typeface="Calibri"/>
              </a:rPr>
              <a:t> chaqiriladi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Hech narsa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Number()</a:t>
            </a:r>
            <a:r>
              <a:rPr sz="1900" b="0">
                <a:solidFill>
                  <a:srgbClr val="1F232B"/>
                </a:solidFill>
                <a:latin typeface="Calibri"/>
              </a:rPr>
              <a:t> bilan songa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20-mavzu · HTML eventlari va sahifaga interaktivlik. JavaScript mini loyiha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18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Massivni localStorage'da saqlash uchun avval nima qilinadi?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1">
                <a:solidFill>
                  <a:srgbClr val="B02A4A"/>
                </a:solidFill>
                <a:latin typeface="Consolas"/>
              </a:rPr>
              <a:t>JSON.stringify()</a:t>
            </a:r>
            <a:r>
              <a:rPr sz="1900" b="1">
                <a:solidFill>
                  <a:srgbClr val="1F232B"/>
                </a:solidFill>
                <a:latin typeface="Calibri"/>
              </a:rPr>
              <a:t> bilan matnga aylantiriladi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toString()</a:t>
            </a:r>
            <a:r>
              <a:rPr sz="1900" b="0">
                <a:solidFill>
                  <a:srgbClr val="1F232B"/>
                </a:solidFill>
                <a:latin typeface="Calibri"/>
              </a:rPr>
              <a:t> chaqiriladi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Hech narsa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Number()</a:t>
            </a:r>
            <a:r>
              <a:rPr sz="1900" b="0">
                <a:solidFill>
                  <a:srgbClr val="1F232B"/>
                </a:solidFill>
                <a:latin typeface="Calibri"/>
              </a:rPr>
              <a:t> bilan songa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20-mavzu · HTML eventlari va sahifaga interaktivlik. JavaScript mini loyiha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19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1">
                <a:solidFill>
                  <a:srgbClr val="B02A4A"/>
                </a:solidFill>
                <a:latin typeface="Consolas"/>
              </a:rPr>
              <a:t>&lt;button data-filtr="faol"&gt;</a:t>
            </a:r>
            <a:r>
              <a:rPr sz="2400" b="1">
                <a:solidFill>
                  <a:srgbClr val="1F232B"/>
                </a:solidFill>
                <a:latin typeface="Calibri"/>
              </a:rPr>
              <a:t> dagi qiymatni JS'da qanday o'qiysiz?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tugma.filtr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tugma.data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tugma.value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tugma.dataset.filtr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20-mavzu · HTML eventlari va sahifaga interaktivlik. JavaScript mini loyiha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20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1">
                <a:solidFill>
                  <a:srgbClr val="B02A4A"/>
                </a:solidFill>
                <a:latin typeface="Consolas"/>
              </a:rPr>
              <a:t>&lt;button data-filtr="faol"&gt;</a:t>
            </a:r>
            <a:r>
              <a:rPr sz="2400" b="1">
                <a:solidFill>
                  <a:srgbClr val="1F232B"/>
                </a:solidFill>
                <a:latin typeface="Calibri"/>
              </a:rPr>
              <a:t> dagi qiymatni JS'da qanday o'qiysiz?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tugma.filtr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tugma.data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tugma.value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1">
                <a:solidFill>
                  <a:srgbClr val="B02A4A"/>
                </a:solidFill>
                <a:latin typeface="Consolas"/>
              </a:rPr>
              <a:t>tugma.dataset.filtr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20-mavzu · HTML eventlari va sahifaga interaktivlik. JavaScript mini loyiha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21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Vazifani id bo'yicha o'chirishning eng qulay usuli?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11091672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10222992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vazifalar.pop(id)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956560"/>
            <a:ext cx="11091672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956560"/>
            <a:ext cx="10222992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vazifalar = vazifalar.filter(v =&gt; v.id !== id)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870960"/>
            <a:ext cx="11091672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40492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870960"/>
            <a:ext cx="10222992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delete vazifalar[id]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785360"/>
            <a:ext cx="11091672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5800" y="49636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785360"/>
            <a:ext cx="10222992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vazifalar.remove(id)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20-mavzu · HTML eventlari va sahifaga interaktivlik. JavaScript mini loyiha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22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Vazifani id bo'yicha o'chirishning eng qulay usuli?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11091672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10222992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vazifalar.pop(id)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956560"/>
            <a:ext cx="1109167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956560"/>
            <a:ext cx="10222992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1">
                <a:solidFill>
                  <a:srgbClr val="B02A4A"/>
                </a:solidFill>
                <a:latin typeface="Consolas"/>
              </a:rPr>
              <a:t>vazifalar = vazifalar.filter(v =&gt; v.id !== id)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870960"/>
            <a:ext cx="11091672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40492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870960"/>
            <a:ext cx="10222992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delete vazifalar[id]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785360"/>
            <a:ext cx="11091672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5800" y="4963668"/>
            <a:ext cx="420624" cy="420624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785360"/>
            <a:ext cx="10222992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vazifalar.remove(id)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🏠 Bob yakunlovchi loyiha (bittasini tanlang)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20-mavzu · HTML eventlari va sahifaga interaktivlik. JavaScript mini loyiha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23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💰 </a:t>
            </a:r>
            <a:r>
              <a:rPr sz="2800" b="1">
                <a:solidFill>
                  <a:srgbClr val="1F232B"/>
                </a:solidFill>
                <a:latin typeface="Calibri"/>
              </a:rPr>
              <a:t>Xarajatlar hisobchisi:</a:t>
            </a:r>
            <a:r>
              <a:rPr sz="2800" b="0">
                <a:solidFill>
                  <a:srgbClr val="1F232B"/>
                </a:solidFill>
                <a:latin typeface="Calibri"/>
              </a:rPr>
              <a:t> nom, summa, toifa; jami va toifalar bo'yicha yig'indi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470911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📖 </a:t>
            </a:r>
            <a:r>
              <a:rPr sz="2800" b="1">
                <a:solidFill>
                  <a:srgbClr val="1F232B"/>
                </a:solidFill>
                <a:latin typeface="Calibri"/>
              </a:rPr>
              <a:t>Lug'at o'yini:</a:t>
            </a:r>
            <a:r>
              <a:rPr sz="2800" b="0">
                <a:solidFill>
                  <a:srgbClr val="1F232B"/>
                </a:solidFill>
                <a:latin typeface="Calibri"/>
              </a:rPr>
              <a:t> inglizcha so'z → tarjima; ball va "qiyin so'zlar"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630931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524503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📚 </a:t>
            </a:r>
            <a:r>
              <a:rPr sz="2800" b="1">
                <a:solidFill>
                  <a:srgbClr val="1F232B"/>
                </a:solidFill>
                <a:latin typeface="Calibri"/>
              </a:rPr>
              <a:t>Kutubxona katalogi:</a:t>
            </a:r>
            <a:r>
              <a:rPr sz="2800" b="0">
                <a:solidFill>
                  <a:srgbClr val="1F232B"/>
                </a:solidFill>
                <a:latin typeface="Calibri"/>
              </a:rPr>
              <a:t> kartochkalar, real vaqtda qidiruv, janr filtri, "o'qildi"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3684523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578095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GitHub + Netlify'ga joylang!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4738115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🎉 II bob yakunlandi!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20-mavzu · HTML eventlari va sahifaga interaktivlik. JavaScript mini loyiha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24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Loyiha: </a:t>
            </a:r>
            <a:r>
              <a:rPr sz="2800" b="1">
                <a:solidFill>
                  <a:srgbClr val="1F232B"/>
                </a:solidFill>
                <a:latin typeface="Calibri"/>
              </a:rPr>
              <a:t>reja → dizayn → ma'lumot → hodisalar → kichik qadamlar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26412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Holat → Chizish:</a:t>
            </a:r>
            <a:r>
              <a:rPr sz="2800" b="0">
                <a:solidFill>
                  <a:srgbClr val="1F232B"/>
                </a:solidFill>
                <a:latin typeface="Calibri"/>
              </a:rPr>
              <a:t> hodisa holatni o'zgartiradi, </a:t>
            </a:r>
            <a:r>
              <a:rPr sz="2576" b="0">
                <a:solidFill>
                  <a:srgbClr val="B02A4A"/>
                </a:solidFill>
                <a:latin typeface="Consolas"/>
              </a:rPr>
              <a:t>render()</a:t>
            </a:r>
            <a:r>
              <a:rPr sz="2800" b="0">
                <a:solidFill>
                  <a:srgbClr val="1F232B"/>
                </a:solidFill>
                <a:latin typeface="Calibri"/>
              </a:rPr>
              <a:t> chizadi, </a:t>
            </a:r>
            <a:r>
              <a:rPr sz="2576" b="0">
                <a:solidFill>
                  <a:srgbClr val="B02A4A"/>
                </a:solidFill>
                <a:latin typeface="Consolas"/>
              </a:rPr>
              <a:t>localStorage</a:t>
            </a:r>
            <a:r>
              <a:rPr sz="2800" b="0">
                <a:solidFill>
                  <a:srgbClr val="1F232B"/>
                </a:solidFill>
                <a:latin typeface="Calibri"/>
              </a:rPr>
              <a:t> saqlaydi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186432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080004"/>
            <a:ext cx="11091672" cy="156337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060" b="1">
                <a:solidFill>
                  <a:srgbClr val="C99400"/>
                </a:solidFill>
                <a:latin typeface="Calibri"/>
              </a:rPr>
              <a:t>Siz endi interaktiv veb-ilovalar yarata olasiz!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753102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Keyingi bob:</a:t>
            </a:r>
            <a:r>
              <a:rPr sz="2800" b="0">
                <a:solidFill>
                  <a:srgbClr val="1F232B"/>
                </a:solidFill>
                <a:latin typeface="Calibri"/>
              </a:rPr>
              <a:t> server tomoni — </a:t>
            </a:r>
            <a:r>
              <a:rPr sz="2800" b="1">
                <a:solidFill>
                  <a:srgbClr val="1F232B"/>
                </a:solidFill>
                <a:latin typeface="Calibri"/>
              </a:rPr>
              <a:t>Python</a:t>
            </a:r>
            <a:r>
              <a:rPr sz="2800" b="0">
                <a:solidFill>
                  <a:srgbClr val="1F232B"/>
                </a:solidFill>
                <a:latin typeface="Calibri"/>
              </a:rPr>
              <a:t> va </a:t>
            </a:r>
            <a:r>
              <a:rPr sz="2800" b="1">
                <a:solidFill>
                  <a:srgbClr val="1F232B"/>
                </a:solidFill>
                <a:latin typeface="Calibri"/>
              </a:rPr>
              <a:t>ma'lumotlar bazalari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4913122"/>
            <a:ext cx="118872" cy="118872"/>
          </a:xfrm>
          <a:prstGeom prst="ellipse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94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11091672" cy="5760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64592" cy="5760720"/>
          </a:xfrm>
          <a:prstGeom prst="rect">
            <a:avLst/>
          </a:prstGeom>
          <a:solidFill>
            <a:srgbClr val="C99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463040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6000" b="0">
                <a:solidFill>
                  <a:srgbClr val="1F232B"/>
                </a:solidFill>
                <a:latin typeface="Segoe UI Emoji"/>
              </a:rPr>
              <a:t>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651760"/>
            <a:ext cx="10058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4800" b="1">
                <a:solidFill>
                  <a:srgbClr val="1F232B"/>
                </a:solidFill>
                <a:latin typeface="Calibri"/>
              </a:rPr>
              <a:t>Savollar bormi?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749039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5B6370"/>
                </a:solidFill>
                <a:latin typeface="Calibri"/>
              </a:rPr>
              <a:t>Keyingi mavzu: </a:t>
            </a:r>
            <a:r>
              <a:rPr sz="2200" b="1">
                <a:solidFill>
                  <a:srgbClr val="5B6370"/>
                </a:solidFill>
                <a:latin typeface="Calibri"/>
              </a:rPr>
              <a:t>21. Back-end haqida. Python'ga kirish va o'rnatish. O'zgaruvchilar, turlar, operatorlar, kiritish-chiqarish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669280"/>
            <a:ext cx="10058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400" b="1">
                <a:solidFill>
                  <a:srgbClr val="5B6370"/>
                </a:solidFill>
                <a:latin typeface="Calibri"/>
              </a:rPr>
              <a:t>8-sinf · Web Full-stack dasturlash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20-mavzu: HTML eventlari va sahifaga interaktivlik. JavaScript mini loyiha</dc:title>
  <dc:subject/>
  <dc:creator>8-sinf · Web Full-stack dasturlash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