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../index.html.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target="_blank".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&lt;a href="#narxlar"&gt;.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4-MAVZU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Havolalar va navigatsiya. Rasmlar va media elementlari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Giperhavolalar (a, href, target), absolyut va nisbiy yo'llar, sahifa ichidagi havolalar, navigatsiya menyusi; rasmlar (img, alt), audio, video va iframe.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Havolalar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sahifalarni bog'lash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Absolyut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nisbiy</a:t>
            </a:r>
            <a:r>
              <a:rPr sz="2800" b="0">
                <a:solidFill>
                  <a:srgbClr val="1F232B"/>
                </a:solidFill>
                <a:latin typeface="Calibri"/>
              </a:rPr>
              <a:t> yo'llar (eng ko'p xato manbai!)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Sahifa ichidagi, email va telefon havolalari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Ko'p sahifali sayt va </a:t>
            </a:r>
            <a:r>
              <a:rPr sz="2800" b="1">
                <a:solidFill>
                  <a:srgbClr val="1F232B"/>
                </a:solidFill>
                <a:latin typeface="Calibri"/>
              </a:rPr>
              <a:t>navigatsiya menyusi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Rasm, audio, video</a:t>
            </a:r>
            <a:r>
              <a:rPr sz="2800" b="0">
                <a:solidFill>
                  <a:srgbClr val="1F232B"/>
                </a:solidFill>
                <a:latin typeface="Calibri"/>
              </a:rPr>
              <a:t>, YouTube videosini joylash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Havola — webning "H" harfi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"https://uz.wikipedia.org"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O'zbekcha Vikipediya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"https://github.com"</a:t>
            </a:r>
            <a:r>
              <a:rPr sz="1904" b="0">
                <a:solidFill>
                  <a:srgbClr val="E6E6E6"/>
                </a:solidFill>
                <a:latin typeface="Consolas"/>
              </a:rPr>
              <a:t> target=</a:t>
            </a:r>
            <a:r>
              <a:rPr sz="1904" b="0">
                <a:solidFill>
                  <a:srgbClr val="98C379"/>
                </a:solidFill>
                <a:latin typeface="Consolas"/>
              </a:rPr>
              <a:t>"_blank"</a:t>
            </a:r>
            <a:r>
              <a:rPr sz="1904" b="0">
                <a:solidFill>
                  <a:srgbClr val="E6E6E6"/>
                </a:solidFill>
                <a:latin typeface="Consolas"/>
              </a:rPr>
              <a:t> rel=</a:t>
            </a:r>
            <a:r>
              <a:rPr sz="1904" b="0">
                <a:solidFill>
                  <a:srgbClr val="98C379"/>
                </a:solidFill>
                <a:latin typeface="Consolas"/>
              </a:rPr>
              <a:t>"noopener"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GitHub (yangi yorliqda)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16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&lt;a&gt;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anchor (langar); </a:t>
            </a:r>
            <a:r>
              <a:rPr sz="2576" b="0">
                <a:solidFill>
                  <a:srgbClr val="B02A4A"/>
                </a:solidFill>
                <a:latin typeface="Consolas"/>
              </a:rPr>
              <a:t>href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havola qayerga olib boradi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316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807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target="_blank"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yangi yorliqda ochadi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407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898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rel="noopener"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xavfsizlik uchun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0498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Absolyut va nisbiy yo'l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3158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Absolyut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to'liq manzil: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https://www.w3schools.com/html/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boshqa saytlar uchun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9160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8517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Nisbiy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joriy fayldan nisbatan → o'z saytingiz fayllari uchun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4519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94267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4913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Papka tuzilmasi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3451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mening-saytim/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index.html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haqida.html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 rasmlar/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└── logo.png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└── sahifalar/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├── loyihalar.html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└── aloqa.html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Nisbiy yo'l: misollar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9330"/>
          <a:ext cx="11091672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Qaysi fayldan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Qaysi faylga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Yo'l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index.html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haqida.html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haqida.html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index.html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rasmlar/logo.png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rasmlar/logo.png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sahifalar/aloqa.html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index.html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../index.html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sahifalar/aloqa.html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rasmlar/logo.png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../rasmlar/logo.png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sahifalar/aloqa.html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sahifalar/loyihalar.html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loyihalar.html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425410"/>
            <a:ext cx="11091672" cy="13418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425410"/>
            <a:ext cx="82296" cy="13418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16850"/>
            <a:ext cx="10725912" cy="11772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Maktab binosi:</a:t>
            </a:r>
            <a:r>
              <a:rPr sz="2279" b="0">
                <a:solidFill>
                  <a:srgbClr val="1F232B"/>
                </a:solidFill>
                <a:latin typeface="Calibri"/>
              </a:rPr>
              <a:t> "qo'shni sinfga o't" — nisbiy yo'l; "koridorga chiq (</a:t>
            </a:r>
            <a:r>
              <a:rPr sz="2097" b="0">
                <a:solidFill>
                  <a:srgbClr val="B02A4A"/>
                </a:solidFill>
                <a:latin typeface="Consolas"/>
              </a:rPr>
              <a:t>../</a:t>
            </a:r>
            <a:r>
              <a:rPr sz="2279" b="0">
                <a:solidFill>
                  <a:srgbClr val="1F232B"/>
                </a:solidFill>
                <a:latin typeface="Calibri"/>
              </a:rPr>
              <a:t>), keyin kutubxonaga kir" — </a:t>
            </a:r>
            <a:r>
              <a:rPr sz="2097" b="0">
                <a:solidFill>
                  <a:srgbClr val="B02A4A"/>
                </a:solidFill>
                <a:latin typeface="Consolas"/>
              </a:rPr>
              <a:t>../kutubxona/</a:t>
            </a:r>
            <a:r>
              <a:rPr sz="2279" b="0">
                <a:solidFill>
                  <a:srgbClr val="1F232B"/>
                </a:solidFill>
                <a:latin typeface="Calibri"/>
              </a:rPr>
              <a:t>; to'liq pochta manzili — absolyut yo'l.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Eng ko'p uchraydigan xato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C:\Users\Ali\Desktop\sayt\rasm.jpg</a:t>
            </a:r>
            <a:r>
              <a:rPr sz="2660" b="0">
                <a:solidFill>
                  <a:srgbClr val="1F232B"/>
                </a:solidFill>
                <a:latin typeface="Calibri"/>
              </a:rPr>
              <a:t> kabi kompyuterdagi yo'lni </a:t>
            </a:r>
            <a:r>
              <a:rPr sz="2660" b="1">
                <a:solidFill>
                  <a:srgbClr val="1F232B"/>
                </a:solidFill>
                <a:latin typeface="Calibri"/>
              </a:rPr>
              <a:t>yozmang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hostingda ishlamaydi!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3735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doim </a:t>
            </a:r>
            <a:r>
              <a:rPr sz="2800" b="1">
                <a:solidFill>
                  <a:srgbClr val="1F232B"/>
                </a:solidFill>
                <a:latin typeface="Calibri"/>
              </a:rPr>
              <a:t>nisbiy yo'l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89737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4645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Fayl nomlarida bo'sh joy, katta harf, </a:t>
            </a:r>
            <a:r>
              <a:rPr sz="2576" b="0">
                <a:solidFill>
                  <a:srgbClr val="B02A4A"/>
                </a:solidFill>
                <a:latin typeface="Consolas"/>
              </a:rPr>
              <a:t>o'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ishlatmang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50647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55542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Mening Rasmim.JPG ❌ → mening-rasmim.jpg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411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Serverda </a:t>
            </a:r>
            <a:r>
              <a:rPr sz="2576" b="0">
                <a:solidFill>
                  <a:srgbClr val="B02A4A"/>
                </a:solidFill>
                <a:latin typeface="Consolas"/>
              </a:rPr>
              <a:t>Men.JPG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men.jpg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ikki xil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14413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Boshqa havola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&lt;!-- Sahifa ichidagi bo'limga --&gt;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"#aloqa"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Aloqa bo'limiga o'tish ↓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&lt;section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id=</a:t>
            </a:r>
            <a:r>
              <a:rPr sz="1904" b="0">
                <a:solidFill>
                  <a:srgbClr val="98C379"/>
                </a:solidFill>
                <a:latin typeface="Consolas"/>
              </a:rPr>
              <a:t>"aloqa"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...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&lt;/section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&lt;!-- Email va telefon --&gt;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"mailto:maktab5@mail.uz"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Bizga xat yozing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"tel:+998901234567"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+998 90 123 45 67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&lt;!-- Faylni yuklab olish --&gt;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"fayllar/jadval.pdf"</a:t>
            </a:r>
            <a:r>
              <a:rPr sz="1904" b="0">
                <a:solidFill>
                  <a:srgbClr val="E6E6E6"/>
                </a:solidFill>
                <a:latin typeface="Consolas"/>
              </a:rPr>
              <a:t> download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Dars jadvali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Navigatsiya menyusi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9370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423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8554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&lt;nav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"index.html"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Bosh sahifa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"haqida.html"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Men haqimda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"loyihalar.html"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Loyihalar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"aloqa.html"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Aloqa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&lt;/nav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2123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sahifaning tepasida </a:t>
            </a:r>
            <a:r>
              <a:rPr sz="2800" b="1">
                <a:solidFill>
                  <a:srgbClr val="1F232B"/>
                </a:solidFill>
                <a:latin typeface="Calibri"/>
              </a:rPr>
              <a:t>bir xil</a:t>
            </a:r>
            <a:r>
              <a:rPr sz="2800" b="0">
                <a:solidFill>
                  <a:srgbClr val="1F232B"/>
                </a:solidFill>
                <a:latin typeface="Calibri"/>
              </a:rPr>
              <a:t> menyu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88125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3032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8-mavzuda Flexbox bilan gorizontal menyuga aylantiramiz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49034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Rasmlar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2040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690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1224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&lt;img</a:t>
            </a:r>
            <a:r>
              <a:rPr sz="1904" b="0">
                <a:solidFill>
                  <a:srgbClr val="E6E6E6"/>
                </a:solidFill>
                <a:latin typeface="Consolas"/>
              </a:rPr>
              <a:t> src=</a:t>
            </a:r>
            <a:r>
              <a:rPr sz="1904" b="0">
                <a:solidFill>
                  <a:srgbClr val="98C379"/>
                </a:solidFill>
                <a:latin typeface="Consolas"/>
              </a:rPr>
              <a:t>"rasmlar/registon.jpg"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alt=</a:t>
            </a:r>
            <a:r>
              <a:rPr sz="1904" b="0">
                <a:solidFill>
                  <a:srgbClr val="98C379"/>
                </a:solidFill>
                <a:latin typeface="Consolas"/>
              </a:rPr>
              <a:t>"Registon maydoni kechqurun chiroqlarda"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width=</a:t>
            </a:r>
            <a:r>
              <a:rPr sz="1904" b="0">
                <a:solidFill>
                  <a:srgbClr val="98C379"/>
                </a:solidFill>
                <a:latin typeface="Consolas"/>
              </a:rPr>
              <a:t>"600"</a:t>
            </a:r>
            <a:r>
              <a:rPr sz="1904" b="0">
                <a:solidFill>
                  <a:srgbClr val="E6E6E6"/>
                </a:solidFill>
                <a:latin typeface="Consolas"/>
              </a:rPr>
              <a:t> loading=</a:t>
            </a:r>
            <a:r>
              <a:rPr sz="1904" b="0">
                <a:solidFill>
                  <a:srgbClr val="98C379"/>
                </a:solidFill>
                <a:latin typeface="Consolas"/>
              </a:rPr>
              <a:t>"lazy"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77967"/>
          <a:ext cx="110916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Atribut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src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Rasm fayli yo'li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Matnli tavsif —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majburiy!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width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height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O'lcham (faqat bittasini bering — proporsiya saqlanadi)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loading="lazy"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Yaqinlashganda yuklanadi — sahifa tezroq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alt nima uchun muhim?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Rasm yuklanmasa — o'rnida </a:t>
            </a:r>
            <a:r>
              <a:rPr sz="2800" b="1">
                <a:solidFill>
                  <a:srgbClr val="1F232B"/>
                </a:solidFill>
                <a:latin typeface="Calibri"/>
              </a:rPr>
              <a:t>alt matni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ko'rinadi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Ko'zi ojizlarning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ekran o'quvchi</a:t>
            </a:r>
            <a:r>
              <a:rPr sz="2800" b="0">
                <a:solidFill>
                  <a:srgbClr val="1F232B"/>
                </a:solidFill>
                <a:latin typeface="Calibri"/>
              </a:rPr>
              <a:t> dasturlari shu matnni o'qiydi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Google</a:t>
            </a:r>
            <a:r>
              <a:rPr sz="2800" b="0">
                <a:solidFill>
                  <a:srgbClr val="1F232B"/>
                </a:solidFill>
                <a:latin typeface="Calibri"/>
              </a:rPr>
              <a:t> rasm mazmunini alt orqali tushunadi (SEO)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44596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alt="rasm" ❌ → alt="Registon maydoni kechqurun"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Rasm formatlari va figure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36295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.jpg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Fotosuratlar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Shaffof fon, skrinshot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.svg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Logotip, ikonka — har o'lchamda tiniq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.webp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Zamonaviy, 25–35% yengil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77356" y="1417320"/>
            <a:ext cx="5362956" cy="26344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0236" y="1746504"/>
            <a:ext cx="4997196" cy="22869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70" b="0">
                <a:solidFill>
                  <a:srgbClr val="E06C75"/>
                </a:solidFill>
                <a:latin typeface="Consolas"/>
              </a:rPr>
              <a:t>&lt;figure</a:t>
            </a:r>
            <a:r>
              <a:rPr sz="187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</a:t>
            </a:r>
            <a:r>
              <a:rPr sz="1870" b="0">
                <a:solidFill>
                  <a:srgbClr val="E06C75"/>
                </a:solidFill>
                <a:latin typeface="Consolas"/>
              </a:rPr>
              <a:t>&lt;img</a:t>
            </a:r>
            <a:r>
              <a:rPr sz="1870" b="0">
                <a:solidFill>
                  <a:srgbClr val="E6E6E6"/>
                </a:solidFill>
                <a:latin typeface="Consolas"/>
              </a:rPr>
              <a:t> src=</a:t>
            </a:r>
            <a:r>
              <a:rPr sz="1870" b="0">
                <a:solidFill>
                  <a:srgbClr val="98C379"/>
                </a:solidFill>
                <a:latin typeface="Consolas"/>
              </a:rPr>
              <a:t>"rasmlar/hovli.jpg"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   alt=</a:t>
            </a:r>
            <a:r>
              <a:rPr sz="1870" b="0">
                <a:solidFill>
                  <a:srgbClr val="98C379"/>
                </a:solidFill>
                <a:latin typeface="Consolas"/>
              </a:rPr>
              <a:t>"Maktab hovlisi"</a:t>
            </a:r>
            <a:r>
              <a:rPr sz="187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</a:t>
            </a:r>
            <a:r>
              <a:rPr sz="1870" b="0">
                <a:solidFill>
                  <a:srgbClr val="E06C75"/>
                </a:solidFill>
                <a:latin typeface="Consolas"/>
              </a:rPr>
              <a:t>&lt;figcaption</a:t>
            </a:r>
            <a:r>
              <a:rPr sz="187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  1-rasm. Maktab hovlisi bahorda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 </a:t>
            </a:r>
            <a:r>
              <a:rPr sz="1870" b="0">
                <a:solidFill>
                  <a:srgbClr val="E06C75"/>
                </a:solidFill>
                <a:latin typeface="Consolas"/>
              </a:rPr>
              <a:t>&lt;/figcaption</a:t>
            </a:r>
            <a:r>
              <a:rPr sz="187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06C75"/>
                </a:solidFill>
                <a:latin typeface="Consolas"/>
              </a:rPr>
              <a:t>&lt;/figure</a:t>
            </a:r>
            <a:r>
              <a:rPr sz="187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Audio, video va iframe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8302"/>
            <a:ext cx="11091672" cy="310639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316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7486"/>
            <a:ext cx="10725912" cy="275892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&lt;audio</a:t>
            </a:r>
            <a:r>
              <a:rPr sz="1768" b="0">
                <a:solidFill>
                  <a:srgbClr val="E6E6E6"/>
                </a:solidFill>
                <a:latin typeface="Consolas"/>
              </a:rPr>
              <a:t> controls src=</a:t>
            </a:r>
            <a:r>
              <a:rPr sz="1768" b="0">
                <a:solidFill>
                  <a:srgbClr val="98C379"/>
                </a:solidFill>
                <a:latin typeface="Consolas"/>
              </a:rPr>
              <a:t>"media/madhiya.mp3"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&lt;/audio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&lt;video</a:t>
            </a:r>
            <a:r>
              <a:rPr sz="1768" b="0">
                <a:solidFill>
                  <a:srgbClr val="E6E6E6"/>
                </a:solidFill>
                <a:latin typeface="Consolas"/>
              </a:rPr>
              <a:t> controls width=</a:t>
            </a:r>
            <a:r>
              <a:rPr sz="1768" b="0">
                <a:solidFill>
                  <a:srgbClr val="98C379"/>
                </a:solidFill>
                <a:latin typeface="Consolas"/>
              </a:rPr>
              <a:t>"640"</a:t>
            </a:r>
            <a:r>
              <a:rPr sz="1768" b="0">
                <a:solidFill>
                  <a:srgbClr val="E6E6E6"/>
                </a:solidFill>
                <a:latin typeface="Consolas"/>
              </a:rPr>
              <a:t> poster=</a:t>
            </a:r>
            <a:r>
              <a:rPr sz="1768" b="0">
                <a:solidFill>
                  <a:srgbClr val="98C379"/>
                </a:solidFill>
                <a:latin typeface="Consolas"/>
              </a:rPr>
              <a:t>"rasmlar/muqova.jpg"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&lt;source</a:t>
            </a:r>
            <a:r>
              <a:rPr sz="1768" b="0">
                <a:solidFill>
                  <a:srgbClr val="E6E6E6"/>
                </a:solidFill>
                <a:latin typeface="Consolas"/>
              </a:rPr>
              <a:t> src=</a:t>
            </a:r>
            <a:r>
              <a:rPr sz="1768" b="0">
                <a:solidFill>
                  <a:srgbClr val="98C379"/>
                </a:solidFill>
                <a:latin typeface="Consolas"/>
              </a:rPr>
              <a:t>"media/tadbir.mp4"</a:t>
            </a:r>
            <a:r>
              <a:rPr sz="1768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68" b="0">
                <a:solidFill>
                  <a:srgbClr val="98C379"/>
                </a:solidFill>
                <a:latin typeface="Consolas"/>
              </a:rPr>
              <a:t>"video/mp4"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Brauzeringiz videoni qo'llab-quvvatlamaydi.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&lt;/video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&lt;iframe</a:t>
            </a:r>
            <a:r>
              <a:rPr sz="1768" b="0">
                <a:solidFill>
                  <a:srgbClr val="E6E6E6"/>
                </a:solidFill>
                <a:latin typeface="Consolas"/>
              </a:rPr>
              <a:t> width=</a:t>
            </a:r>
            <a:r>
              <a:rPr sz="1768" b="0">
                <a:solidFill>
                  <a:srgbClr val="98C379"/>
                </a:solidFill>
                <a:latin typeface="Consolas"/>
              </a:rPr>
              <a:t>"560"</a:t>
            </a:r>
            <a:r>
              <a:rPr sz="1768" b="0">
                <a:solidFill>
                  <a:srgbClr val="E6E6E6"/>
                </a:solidFill>
                <a:latin typeface="Consolas"/>
              </a:rPr>
              <a:t> height=</a:t>
            </a:r>
            <a:r>
              <a:rPr sz="1768" b="0">
                <a:solidFill>
                  <a:srgbClr val="98C379"/>
                </a:solidFill>
                <a:latin typeface="Consolas"/>
              </a:rPr>
              <a:t>"315"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src=</a:t>
            </a:r>
            <a:r>
              <a:rPr sz="1768" b="0">
                <a:solidFill>
                  <a:srgbClr val="98C379"/>
                </a:solidFill>
                <a:latin typeface="Consolas"/>
              </a:rPr>
              <a:t>"https://www.youtube.com/embed/VIDEO_ID"</a:t>
            </a:r>
            <a:r>
              <a:rPr sz="1768" b="0">
                <a:solidFill>
                  <a:srgbClr val="E6E6E6"/>
                </a:solidFill>
                <a:latin typeface="Consolas"/>
              </a:rPr>
              <a:t> allowfullscreen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&lt;/iframe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158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controls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tugmalar; </a:t>
            </a:r>
            <a:r>
              <a:rPr sz="2392" b="0">
                <a:solidFill>
                  <a:srgbClr val="B02A4A"/>
                </a:solidFill>
                <a:latin typeface="Consolas"/>
              </a:rPr>
              <a:t>autoplay</a:t>
            </a:r>
            <a:r>
              <a:rPr sz="2600" b="0">
                <a:solidFill>
                  <a:srgbClr val="1F232B"/>
                </a:solidFill>
                <a:latin typeface="Calibri"/>
              </a:rPr>
              <a:t> (faqat </a:t>
            </a:r>
            <a:r>
              <a:rPr sz="2392" b="0">
                <a:solidFill>
                  <a:srgbClr val="B02A4A"/>
                </a:solidFill>
                <a:latin typeface="Consolas"/>
              </a:rPr>
              <a:t>muted</a:t>
            </a:r>
            <a:r>
              <a:rPr sz="2600" b="0">
                <a:solidFill>
                  <a:srgbClr val="1F232B"/>
                </a:solidFill>
                <a:latin typeface="Calibri"/>
              </a:rPr>
              <a:t> bilan), </a:t>
            </a:r>
            <a:r>
              <a:rPr sz="2392" b="0">
                <a:solidFill>
                  <a:srgbClr val="B02A4A"/>
                </a:solidFill>
                <a:latin typeface="Consolas"/>
              </a:rPr>
              <a:t>loop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poster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0274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4425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YouTube: </a:t>
            </a:r>
            <a:r>
              <a:rPr sz="2600" b="1">
                <a:solidFill>
                  <a:srgbClr val="1F232B"/>
                </a:solidFill>
                <a:latin typeface="Calibri"/>
              </a:rPr>
              <a:t>Ulashish → Joylashtirish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tayyor iframe kodi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928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1-loyiha: 3 sahifali shaxsiy vizitka sayti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vizitka sayti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80685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4593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vizitka/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├── index.html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├── hobbilar.html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├── aloqa.html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└── rasmlar/</a:t>
            </a:r>
          </a:p>
        </p:txBody>
      </p:sp>
      <p:sp>
        <p:nvSpPr>
          <p:cNvPr id="10" name="Oval 9"/>
          <p:cNvSpPr/>
          <p:nvPr/>
        </p:nvSpPr>
        <p:spPr>
          <a:xfrm>
            <a:off x="6277356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7436" y="1444752"/>
            <a:ext cx="4722876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Uchala sahifaga bir xil </a:t>
            </a:r>
            <a:r>
              <a:rPr sz="2208" b="0">
                <a:solidFill>
                  <a:srgbClr val="B02A4A"/>
                </a:solidFill>
                <a:latin typeface="Consolas"/>
              </a:rPr>
              <a:t>nav</a:t>
            </a:r>
            <a:r>
              <a:rPr sz="2400" b="0">
                <a:solidFill>
                  <a:srgbClr val="1F232B"/>
                </a:solidFill>
                <a:latin typeface="Calibri"/>
              </a:rPr>
              <a:t> menyu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2398775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7436" y="2426207"/>
            <a:ext cx="4722876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400" b="0">
                <a:solidFill>
                  <a:srgbClr val="1F232B"/>
                </a:solidFill>
                <a:latin typeface="Calibri"/>
              </a:rPr>
              <a:t>: ism, rasm (mazmunli </a:t>
            </a:r>
            <a:r>
              <a:rPr sz="2208" b="0">
                <a:solidFill>
                  <a:srgbClr val="B02A4A"/>
                </a:solidFill>
                <a:latin typeface="Consolas"/>
              </a:rPr>
              <a:t>alt</a:t>
            </a:r>
            <a:r>
              <a:rPr sz="2400" b="0">
                <a:solidFill>
                  <a:srgbClr val="1F232B"/>
                </a:solidFill>
                <a:latin typeface="Calibri"/>
              </a:rPr>
              <a:t>), 2 paragraf</a:t>
            </a:r>
          </a:p>
        </p:txBody>
      </p:sp>
      <p:sp>
        <p:nvSpPr>
          <p:cNvPr id="14" name="Oval 13"/>
          <p:cNvSpPr/>
          <p:nvPr/>
        </p:nvSpPr>
        <p:spPr>
          <a:xfrm>
            <a:off x="6277356" y="338023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7436" y="3407663"/>
            <a:ext cx="4722876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hobbilar.html</a:t>
            </a:r>
            <a:r>
              <a:rPr sz="2400" b="0">
                <a:solidFill>
                  <a:srgbClr val="1F232B"/>
                </a:solidFill>
                <a:latin typeface="Calibri"/>
              </a:rPr>
              <a:t>: 3 hobbi — </a:t>
            </a:r>
            <a:r>
              <a:rPr sz="2208" b="0">
                <a:solidFill>
                  <a:srgbClr val="B02A4A"/>
                </a:solidFill>
                <a:latin typeface="Consolas"/>
              </a:rPr>
              <a:t>figure</a:t>
            </a:r>
            <a:r>
              <a:rPr sz="2400" b="0">
                <a:solidFill>
                  <a:srgbClr val="1F232B"/>
                </a:solidFill>
                <a:latin typeface="Calibri"/>
              </a:rPr>
              <a:t> + YouTube video</a:t>
            </a:r>
          </a:p>
        </p:txBody>
      </p:sp>
      <p:sp>
        <p:nvSpPr>
          <p:cNvPr id="16" name="Oval 15"/>
          <p:cNvSpPr/>
          <p:nvPr/>
        </p:nvSpPr>
        <p:spPr>
          <a:xfrm>
            <a:off x="6277356" y="43616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7436" y="4389120"/>
            <a:ext cx="4722876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aloqa.html</a:t>
            </a:r>
            <a:r>
              <a:rPr sz="2400" b="0">
                <a:solidFill>
                  <a:srgbClr val="1F232B"/>
                </a:solidFill>
                <a:latin typeface="Calibri"/>
              </a:rPr>
              <a:t>: </a:t>
            </a:r>
            <a:r>
              <a:rPr sz="2208" b="0">
                <a:solidFill>
                  <a:srgbClr val="B02A4A"/>
                </a:solidFill>
                <a:latin typeface="Consolas"/>
              </a:rPr>
              <a:t>mailto: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tel:</a:t>
            </a:r>
            <a:r>
              <a:rPr sz="2400" b="0">
                <a:solidFill>
                  <a:srgbClr val="1F232B"/>
                </a:solidFill>
                <a:latin typeface="Calibri"/>
              </a:rPr>
              <a:t>, ijtimoiy tarmoqlar (</a:t>
            </a:r>
            <a:r>
              <a:rPr sz="2208" b="0">
                <a:solidFill>
                  <a:srgbClr val="B02A4A"/>
                </a:solidFill>
                <a:latin typeface="Consolas"/>
              </a:rPr>
              <a:t>_blank</a:t>
            </a:r>
            <a:r>
              <a:rPr sz="24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8" name="Oval 17"/>
          <p:cNvSpPr/>
          <p:nvPr/>
        </p:nvSpPr>
        <p:spPr>
          <a:xfrm>
            <a:off x="6277356" y="53431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436" y="5370576"/>
            <a:ext cx="4722876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Barcha havolalarni bosib tekshiring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Rasm ko'rinmayapti → fayl nomi, papka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../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href="www.google.com"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https://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bu </a:t>
            </a:r>
            <a:r>
              <a:rPr sz="2800" b="1">
                <a:solidFill>
                  <a:srgbClr val="1F232B"/>
                </a:solidFill>
                <a:latin typeface="Calibri"/>
              </a:rPr>
              <a:t>nisbiy</a:t>
            </a:r>
            <a:r>
              <a:rPr sz="2800" b="0">
                <a:solidFill>
                  <a:srgbClr val="1F232B"/>
                </a:solidFill>
                <a:latin typeface="Calibri"/>
              </a:rPr>
              <a:t> yo'l bo'lib qoladi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alt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yozilmagan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alt="rasm"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5–10 MB rasmlar — sahifa sekin; avval kichraytiring (squoosh.app)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sahifalar/aloqa.html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</a:t>
            </a:r>
            <a:r>
              <a:rPr sz="2208" b="1">
                <a:solidFill>
                  <a:srgbClr val="B02A4A"/>
                </a:solidFill>
                <a:latin typeface="Consolas"/>
              </a:rPr>
              <a:t>index.html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(bir papka yuqorida) ga to'g'ri havola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index.html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../index.html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/sahifalar/index.html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sahifalar/index.html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sahifalar/aloqa.html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</a:t>
            </a:r>
            <a:r>
              <a:rPr sz="2208" b="1">
                <a:solidFill>
                  <a:srgbClr val="B02A4A"/>
                </a:solidFill>
                <a:latin typeface="Consolas"/>
              </a:rPr>
              <a:t>index.html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(bir papka yuqorida) ga to'g'ri havola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index.html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../index.html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/sahifalar/index.html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sahifalar/index.html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Havolani yangi yorliqda ochish uchun qaysi atribut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href="_new"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open="tab"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target="_blank"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rel="new"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Havolani yangi yorliqda ochish uchun qaysi atribut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href="_new"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open="tab"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target="_blank"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rel="new"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Sahifadagi </a:t>
            </a:r>
            <a:r>
              <a:rPr sz="2208" b="1">
                <a:solidFill>
                  <a:srgbClr val="B02A4A"/>
                </a:solidFill>
                <a:latin typeface="Consolas"/>
              </a:rPr>
              <a:t>id="narxlar"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bo'limiga o'tuvchi havola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href="#narxlar"&gt;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href="narxlar"&gt;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id="#narxlar"&gt;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href=".narxlar"&gt;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Sahifadagi </a:t>
            </a:r>
            <a:r>
              <a:rPr sz="2208" b="1">
                <a:solidFill>
                  <a:srgbClr val="B02A4A"/>
                </a:solidFill>
                <a:latin typeface="Consolas"/>
              </a:rPr>
              <a:t>id="narxlar"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bo'limiga o'tuvchi havola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&lt;a href="#narxlar"&gt;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href="narxlar"&gt;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id="#narxlar"&gt;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 href=".narxlar"&gt;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Logotip uchun eng mos rasm formati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BMP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Logotip uchun eng mos rasm formati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BMP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sahifalar/kitoblar.html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qo'shing — ichki papkadan </a:t>
            </a:r>
            <a:r>
              <a:rPr sz="2576" b="0">
                <a:solidFill>
                  <a:srgbClr val="B02A4A"/>
                </a:solidFill>
                <a:latin typeface="Consolas"/>
              </a:rPr>
              <a:t>../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to'g'ri havolalar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70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1414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ta sevimli kitob: muqova (</a:t>
            </a:r>
            <a:r>
              <a:rPr sz="2576" b="0">
                <a:solidFill>
                  <a:srgbClr val="B02A4A"/>
                </a:solidFill>
                <a:latin typeface="Consolas"/>
              </a:rPr>
              <a:t>figure</a:t>
            </a:r>
            <a:r>
              <a:rPr sz="2800" b="0">
                <a:solidFill>
                  <a:srgbClr val="1F232B"/>
                </a:solidFill>
                <a:latin typeface="Calibri"/>
              </a:rPr>
              <a:t>), tavsif, tashqi havola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Maktabingiz joylashuvini Google Xaritadan </a:t>
            </a:r>
            <a:r>
              <a:rPr sz="2576" b="0">
                <a:solidFill>
                  <a:srgbClr val="B02A4A"/>
                </a:solidFill>
                <a:latin typeface="Consolas"/>
              </a:rPr>
              <a:t>iframe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joylang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4-mavzu · Havolalar va navigatsiya. Rasmlar va media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&lt;a href&gt;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havola; </a:t>
            </a:r>
            <a:r>
              <a:rPr sz="2576" b="0">
                <a:solidFill>
                  <a:srgbClr val="B02A4A"/>
                </a:solidFill>
                <a:latin typeface="Consolas"/>
              </a:rPr>
              <a:t>target="_blank"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yangi yorliq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Tashqi saytga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absolyut</a:t>
            </a:r>
            <a:r>
              <a:rPr sz="2800" b="0">
                <a:solidFill>
                  <a:srgbClr val="1F232B"/>
                </a:solidFill>
                <a:latin typeface="Calibri"/>
              </a:rPr>
              <a:t>, o'z fayllaringizga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nisbiy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../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 papka yuqoriga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#id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mailto: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tel: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maxsus havolalar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&lt;img src alt&gt;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alt</a:t>
            </a:r>
            <a:r>
              <a:rPr sz="2800" b="0">
                <a:solidFill>
                  <a:srgbClr val="1F232B"/>
                </a:solidFill>
                <a:latin typeface="Calibri"/>
              </a:rPr>
              <a:t> doim mazmunli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&lt;audio&gt;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&lt;video controls&gt;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&lt;iframe&gt;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media joylash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5. HTML5 semantik teglari va ularning roli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4-mavzu: Havolalar va navigatsiya. Rasmlar va media elementlari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