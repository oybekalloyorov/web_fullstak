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INNER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oquvchilar LEFT JOIN sinflar.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Qidiruvni tezlashtirish.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pg_dump.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29-MAVZU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Jadvallarni bog'lash va JOIN. Index, constraint, data integrity. Backup va 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INNER, LEFT, RIGHT JOIN va ular farqi; bir nechta jadvalni birlashtirish; indekslar va EXPLAIN; cheklovlar va ma'lumotlar yaxlitligi (ON DELETE); pg_dump va pgAdmin orqali zaxira nusxa va tiklash.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Bir nechta jadvalni </a:t>
            </a:r>
            <a:r>
              <a:rPr sz="2800" b="1">
                <a:solidFill>
                  <a:srgbClr val="1F232B"/>
                </a:solidFill>
                <a:latin typeface="Calibri"/>
              </a:rPr>
              <a:t>JOIN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birlashtirish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INNER, LEFT, RIGHT</a:t>
            </a:r>
            <a:r>
              <a:rPr sz="2800" b="0">
                <a:solidFill>
                  <a:srgbClr val="1F232B"/>
                </a:solidFill>
                <a:latin typeface="Calibri"/>
              </a:rPr>
              <a:t> JOIN farqi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Qidiruvni tezlashtiruvchi </a:t>
            </a:r>
            <a:r>
              <a:rPr sz="2800" b="1">
                <a:solidFill>
                  <a:srgbClr val="1F232B"/>
                </a:solidFill>
                <a:latin typeface="Calibri"/>
              </a:rPr>
              <a:t>indekslar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Ma'lumotlar yaxlitligi</a:t>
            </a:r>
            <a:r>
              <a:rPr sz="2800" b="0">
                <a:solidFill>
                  <a:srgbClr val="1F232B"/>
                </a:solidFill>
                <a:latin typeface="Calibri"/>
              </a:rPr>
              <a:t> va cheklovlar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Zaxira nusxa: </a:t>
            </a:r>
            <a:r>
              <a:rPr sz="2800" b="1">
                <a:solidFill>
                  <a:srgbClr val="1F232B"/>
                </a:solidFill>
                <a:latin typeface="Calibri"/>
              </a:rPr>
              <a:t>backup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restore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Nima uchun JOIN kerak?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3706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Ma'lumotlarni takrorlamaslik uchun ajratdik: o'quvchilar, sinflar, baholar alohida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9708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9066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Savol: "Ali qaysi sinfda va </a:t>
            </a:r>
            <a:r>
              <a:rPr sz="2800" b="1">
                <a:solidFill>
                  <a:srgbClr val="1F232B"/>
                </a:solidFill>
                <a:latin typeface="Calibri"/>
              </a:rPr>
              <a:t>sinf rahbari kim</a:t>
            </a:r>
            <a:r>
              <a:rPr sz="2800" b="0">
                <a:solidFill>
                  <a:srgbClr val="1F232B"/>
                </a:solidFill>
                <a:latin typeface="Calibri"/>
              </a:rPr>
              <a:t>?" → ikkala jadval kerak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5068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644252"/>
            <a:ext cx="11091672" cy="1945132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44252"/>
            <a:ext cx="82296" cy="19451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35692"/>
            <a:ext cx="10725912" cy="17805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Ikki ro'yxat:</a:t>
            </a:r>
            <a:r>
              <a:rPr sz="2660" b="0">
                <a:solidFill>
                  <a:srgbClr val="1F232B"/>
                </a:solidFill>
                <a:latin typeface="Calibri"/>
              </a:rPr>
              <a:t> birinchisida "O'quvchi — sinf raqami", ikkinchisida "Sinf raqami — rahbar". Ali'ning raqamini topib, ikkinchi ro'yxatdan qidirasiz. JOIN buni millionlab qator uchun bir zumda 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INNER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53326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1857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32" b="0">
                <a:solidFill>
                  <a:srgbClr val="E6E6E6"/>
                </a:solidFill>
                <a:latin typeface="Consolas"/>
              </a:rPr>
              <a:t> o.ism, o.familiya, s.nomi </a:t>
            </a:r>
            <a:r>
              <a:rPr sz="1632" b="0">
                <a:solidFill>
                  <a:srgbClr val="C678DD"/>
                </a:solidFill>
                <a:latin typeface="Consolas"/>
              </a:rPr>
              <a:t>AS</a:t>
            </a:r>
            <a:r>
              <a:rPr sz="1632" b="0">
                <a:solidFill>
                  <a:srgbClr val="E6E6E6"/>
                </a:solidFill>
                <a:latin typeface="Consolas"/>
              </a:rPr>
              <a:t> sinf, s.sinf_rahbari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FROM</a:t>
            </a:r>
            <a:r>
              <a:rPr sz="1632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32" b="0">
                <a:solidFill>
                  <a:srgbClr val="C678DD"/>
                </a:solidFill>
                <a:latin typeface="Consolas"/>
              </a:rPr>
              <a:t>AS</a:t>
            </a:r>
            <a:r>
              <a:rPr sz="1632" b="0">
                <a:solidFill>
                  <a:srgbClr val="E6E6E6"/>
                </a:solidFill>
                <a:latin typeface="Consolas"/>
              </a:rPr>
              <a:t> o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JOIN</a:t>
            </a:r>
            <a:r>
              <a:rPr sz="1632" b="0">
                <a:solidFill>
                  <a:srgbClr val="E6E6E6"/>
                </a:solidFill>
                <a:latin typeface="Consolas"/>
              </a:rPr>
              <a:t> sinflar </a:t>
            </a:r>
            <a:r>
              <a:rPr sz="1632" b="0">
                <a:solidFill>
                  <a:srgbClr val="C678DD"/>
                </a:solidFill>
                <a:latin typeface="Consolas"/>
              </a:rPr>
              <a:t>AS</a:t>
            </a:r>
            <a:r>
              <a:rPr sz="1632" b="0">
                <a:solidFill>
                  <a:srgbClr val="E6E6E6"/>
                </a:solidFill>
                <a:latin typeface="Consolas"/>
              </a:rPr>
              <a:t> s </a:t>
            </a:r>
            <a:r>
              <a:rPr sz="1632" b="0">
                <a:solidFill>
                  <a:srgbClr val="C678DD"/>
                </a:solidFill>
                <a:latin typeface="Consolas"/>
              </a:rPr>
              <a:t>ON</a:t>
            </a:r>
            <a:r>
              <a:rPr sz="1632" b="0">
                <a:solidFill>
                  <a:srgbClr val="E6E6E6"/>
                </a:solidFill>
                <a:latin typeface="Consolas"/>
              </a:rPr>
              <a:t> o.sinf_id = s.id      -- </a:t>
            </a:r>
            <a:r>
              <a:rPr sz="1632" b="0">
                <a:solidFill>
                  <a:srgbClr val="C678DD"/>
                </a:solidFill>
                <a:latin typeface="Consolas"/>
              </a:rPr>
              <a:t>JOIN</a:t>
            </a:r>
            <a:r>
              <a:rPr sz="1632" b="0">
                <a:solidFill>
                  <a:srgbClr val="E6E6E6"/>
                </a:solidFill>
                <a:latin typeface="Consolas"/>
              </a:rPr>
              <a:t> = </a:t>
            </a:r>
            <a:r>
              <a:rPr sz="1632" b="0">
                <a:solidFill>
                  <a:srgbClr val="C678DD"/>
                </a:solidFill>
                <a:latin typeface="Consolas"/>
              </a:rPr>
              <a:t>INNER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JOIN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ORDER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BY</a:t>
            </a:r>
            <a:r>
              <a:rPr sz="1632" b="0">
                <a:solidFill>
                  <a:srgbClr val="E6E6E6"/>
                </a:solidFill>
                <a:latin typeface="Consolas"/>
              </a:rPr>
              <a:t> s.nomi, o.familiya;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70041"/>
            <a:ext cx="11091672" cy="180685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2490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99225"/>
            <a:ext cx="10725912" cy="145938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1F232B"/>
                </a:solidFill>
                <a:latin typeface="Consolas"/>
              </a:rPr>
              <a:t> ism     | familiya  | sinf | sinf_rahbari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1F232B"/>
                </a:solidFill>
                <a:latin typeface="Consolas"/>
              </a:rPr>
              <a:t>---------+-----------+------+-----------------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1F232B"/>
                </a:solidFill>
                <a:latin typeface="Consolas"/>
              </a:rPr>
              <a:t> Zarina  | Karimova  | 8-A  | Karimova Nodira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1F232B"/>
                </a:solidFill>
                <a:latin typeface="Consolas"/>
              </a:rPr>
              <a:t> Ali     | Valiyev   | 8-A  | Karimova Nodira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1F232B"/>
                </a:solidFill>
                <a:latin typeface="Consolas"/>
              </a:rPr>
              <a:t> Bobur   | Toshmatov | 8-B  | Rasulov Akmal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96352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ON o.sinf_id = s.id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qaysi ustunlar bo'yicha moslash (odatda </a:t>
            </a:r>
            <a:r>
              <a:rPr sz="2400" b="1">
                <a:solidFill>
                  <a:srgbClr val="1F232B"/>
                </a:solidFill>
                <a:latin typeface="Calibri"/>
              </a:rPr>
              <a:t>FK = PK</a:t>
            </a:r>
            <a:r>
              <a:rPr sz="24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33351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741944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o</a:t>
            </a:r>
            <a:r>
              <a:rPr sz="2400" b="0">
                <a:solidFill>
                  <a:srgbClr val="1F232B"/>
                </a:solidFill>
                <a:latin typeface="Calibri"/>
              </a:rPr>
              <a:t>, </a:t>
            </a:r>
            <a:r>
              <a:rPr sz="2208" b="0">
                <a:solidFill>
                  <a:srgbClr val="B02A4A"/>
                </a:solidFill>
                <a:latin typeface="Consolas"/>
              </a:rPr>
              <a:t>s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</a:t>
            </a:r>
            <a:r>
              <a:rPr sz="2400" b="1">
                <a:solidFill>
                  <a:srgbClr val="1F232B"/>
                </a:solidFill>
                <a:latin typeface="Calibri"/>
              </a:rPr>
              <a:t>taxalluslar</a:t>
            </a:r>
            <a:r>
              <a:rPr sz="2400" b="0">
                <a:solidFill>
                  <a:srgbClr val="1F232B"/>
                </a:solidFill>
                <a:latin typeface="Calibri"/>
              </a:rPr>
              <a:t>; bir xil nomli ustunlarni (</a:t>
            </a:r>
            <a:r>
              <a:rPr sz="2208" b="0">
                <a:solidFill>
                  <a:srgbClr val="B02A4A"/>
                </a:solidFill>
                <a:latin typeface="Consolas"/>
              </a:rPr>
              <a:t>id</a:t>
            </a:r>
            <a:r>
              <a:rPr sz="2400" b="0">
                <a:solidFill>
                  <a:srgbClr val="1F232B"/>
                </a:solidFill>
                <a:latin typeface="Calibri"/>
              </a:rPr>
              <a:t>) aniq ko'rsatadi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87910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JOIN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28156"/>
          <a:ext cx="11091672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5110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INNER JOIN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Faqat </a:t>
                      </a:r>
                      <a:r>
                        <a:rPr sz="1600" b="1">
                          <a:solidFill>
                            <a:srgbClr val="1F232B"/>
                          </a:solidFill>
                          <a:latin typeface="Calibri"/>
                        </a:rPr>
                        <a:t>ikkala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jadvalda mos keladiganlar (kesishma)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LEFT JOIN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2B"/>
                          </a:solidFill>
                          <a:latin typeface="Calibri"/>
                        </a:rPr>
                        <a:t>Chap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jadvalning hammasi + o'ngdan moslar (yo'q bo'lsa NULL)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RIGHT JOIN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2B"/>
                          </a:solidFill>
                          <a:latin typeface="Calibri"/>
                        </a:rPr>
                        <a:t>O'ng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jadvalning hammasi + chapdan moslar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FULL JOIN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Ikkala jadvalning hammasi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903132"/>
            <a:ext cx="11091672" cy="89489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5799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32316"/>
            <a:ext cx="10725912" cy="5474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360" b="0">
                <a:solidFill>
                  <a:srgbClr val="E6E6E6"/>
                </a:solidFill>
                <a:latin typeface="Consolas"/>
              </a:rPr>
              <a:t> o.ism, s.nomi </a:t>
            </a:r>
            <a:r>
              <a:rPr sz="1360" b="0">
                <a:solidFill>
                  <a:srgbClr val="C678DD"/>
                </a:solidFill>
                <a:latin typeface="Consolas"/>
              </a:rPr>
              <a:t>FROM</a:t>
            </a:r>
            <a:r>
              <a:rPr sz="1360" b="0">
                <a:solidFill>
                  <a:srgbClr val="E6E6E6"/>
                </a:solidFill>
                <a:latin typeface="Consolas"/>
              </a:rPr>
              <a:t> oquvchilar o </a:t>
            </a:r>
            <a:r>
              <a:rPr sz="1360" b="0">
                <a:solidFill>
                  <a:srgbClr val="C678DD"/>
                </a:solidFill>
                <a:latin typeface="Consolas"/>
              </a:rPr>
              <a:t>LEFT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JOIN</a:t>
            </a:r>
            <a:r>
              <a:rPr sz="1360" b="0">
                <a:solidFill>
                  <a:srgbClr val="E6E6E6"/>
                </a:solidFill>
                <a:latin typeface="Consolas"/>
              </a:rPr>
              <a:t> sinflar s </a:t>
            </a:r>
            <a:r>
              <a:rPr sz="1360" b="0">
                <a:solidFill>
                  <a:srgbClr val="C678DD"/>
                </a:solidFill>
                <a:latin typeface="Consolas"/>
              </a:rPr>
              <a:t>ON</a:t>
            </a:r>
            <a:r>
              <a:rPr sz="1360" b="0">
                <a:solidFill>
                  <a:srgbClr val="E6E6E6"/>
                </a:solidFill>
                <a:latin typeface="Consolas"/>
              </a:rPr>
              <a:t> o.sinf_id = s.id;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7F848E"/>
                </a:solidFill>
                <a:latin typeface="Consolas"/>
              </a:rPr>
              <a:t>-- "Yangi Keldi" ham chiqadi, sinfi —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17481"/>
            <a:ext cx="11091672" cy="11950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900" b="1">
                <a:solidFill>
                  <a:srgbClr val="2F6FAD"/>
                </a:solidFill>
                <a:latin typeface="Calibri"/>
              </a:rPr>
              <a:t>"Mos kelmaganlar ko'rinishi kerakmi?" Yo'q → INNER. Chapning hammasi → LEFT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LEFT JOIN bilan "yo'q"larni topish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9156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5402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8340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-- Hali birorta ham baho olmagan o'quvchilar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904" b="0">
                <a:solidFill>
                  <a:srgbClr val="E6E6E6"/>
                </a:solidFill>
                <a:latin typeface="Consolas"/>
              </a:rPr>
              <a:t> o.ism, o.familiya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o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LEFT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JOIN</a:t>
            </a:r>
            <a:r>
              <a:rPr sz="1904" b="0">
                <a:solidFill>
                  <a:srgbClr val="E6E6E6"/>
                </a:solidFill>
                <a:latin typeface="Consolas"/>
              </a:rPr>
              <a:t> baholar b </a:t>
            </a:r>
            <a:r>
              <a:rPr sz="1904" b="0">
                <a:solidFill>
                  <a:srgbClr val="C678DD"/>
                </a:solidFill>
                <a:latin typeface="Consolas"/>
              </a:rPr>
              <a:t>ON</a:t>
            </a:r>
            <a:r>
              <a:rPr sz="1904" b="0">
                <a:solidFill>
                  <a:srgbClr val="E6E6E6"/>
                </a:solidFill>
                <a:latin typeface="Consolas"/>
              </a:rPr>
              <a:t> b.oquvchi_id = o.id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b.id </a:t>
            </a:r>
            <a:r>
              <a:rPr sz="1904" b="0">
                <a:solidFill>
                  <a:srgbClr val="C678DD"/>
                </a:solidFill>
                <a:latin typeface="Consolas"/>
              </a:rPr>
              <a:t>IS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NULL</a:t>
            </a:r>
            <a:r>
              <a:rPr sz="1904" b="0">
                <a:solidFill>
                  <a:srgbClr val="E6E6E6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5345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Bahosi yo'q o'quvchida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b</a:t>
            </a:r>
            <a:r>
              <a:rPr sz="2800" b="0">
                <a:solidFill>
                  <a:srgbClr val="1F232B"/>
                </a:solidFill>
                <a:latin typeface="Calibri"/>
              </a:rPr>
              <a:t> ustunlari </a:t>
            </a:r>
            <a:r>
              <a:rPr sz="2800" b="1">
                <a:solidFill>
                  <a:srgbClr val="1F232B"/>
                </a:solidFill>
                <a:latin typeface="Calibri"/>
              </a:rPr>
              <a:t>NULL</a:t>
            </a:r>
            <a:r>
              <a:rPr sz="2800" b="0">
                <a:solidFill>
                  <a:srgbClr val="1F232B"/>
                </a:solidFill>
                <a:latin typeface="Calibri"/>
              </a:rPr>
              <a:t> bo'ladi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01347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6254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Amalda </a:t>
            </a:r>
            <a:r>
              <a:rPr sz="2576" b="0">
                <a:solidFill>
                  <a:srgbClr val="B02A4A"/>
                </a:solidFill>
                <a:latin typeface="Consolas"/>
              </a:rPr>
              <a:t>RIGHT JOIN</a:t>
            </a:r>
            <a:r>
              <a:rPr sz="2800" b="0">
                <a:solidFill>
                  <a:srgbClr val="1F232B"/>
                </a:solidFill>
                <a:latin typeface="Calibri"/>
              </a:rPr>
              <a:t> kam ishlatiladi — jadvallar o'rnini almashtirib </a:t>
            </a:r>
            <a:r>
              <a:rPr sz="2576" b="0">
                <a:solidFill>
                  <a:srgbClr val="B02A4A"/>
                </a:solidFill>
                <a:latin typeface="Consolas"/>
              </a:rPr>
              <a:t>LEFT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yoziladi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62256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Uch jadvalni va N:M ni birlashtirish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28519"/>
            <a:ext cx="11091672" cy="410116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338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7703"/>
            <a:ext cx="10725912" cy="37536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820" b="0">
                <a:solidFill>
                  <a:srgbClr val="E6E6E6"/>
                </a:solidFill>
                <a:latin typeface="Consolas"/>
              </a:rPr>
              <a:t> o.ism || </a:t>
            </a:r>
            <a:r>
              <a:rPr sz="1820" b="0">
                <a:solidFill>
                  <a:srgbClr val="98C379"/>
                </a:solidFill>
                <a:latin typeface="Consolas"/>
              </a:rPr>
              <a:t>' '</a:t>
            </a:r>
            <a:r>
              <a:rPr sz="1820" b="0">
                <a:solidFill>
                  <a:srgbClr val="E6E6E6"/>
                </a:solidFill>
                <a:latin typeface="Consolas"/>
              </a:rPr>
              <a:t> || o.familiya </a:t>
            </a:r>
            <a:r>
              <a:rPr sz="1820" b="0">
                <a:solidFill>
                  <a:srgbClr val="C678DD"/>
                </a:solidFill>
                <a:latin typeface="Consolas"/>
              </a:rPr>
              <a:t>AS</a:t>
            </a:r>
            <a:r>
              <a:rPr sz="1820" b="0">
                <a:solidFill>
                  <a:srgbClr val="E6E6E6"/>
                </a:solidFill>
                <a:latin typeface="Consolas"/>
              </a:rPr>
              <a:t> oquvchi, s.nomi </a:t>
            </a:r>
            <a:r>
              <a:rPr sz="1820" b="0">
                <a:solidFill>
                  <a:srgbClr val="C678DD"/>
                </a:solidFill>
                <a:latin typeface="Consolas"/>
              </a:rPr>
              <a:t>AS</a:t>
            </a:r>
            <a:r>
              <a:rPr sz="1820" b="0">
                <a:solidFill>
                  <a:srgbClr val="E6E6E6"/>
                </a:solidFill>
                <a:latin typeface="Consolas"/>
              </a:rPr>
              <a:t> sinf, b.fan, b.baho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FROM</a:t>
            </a:r>
            <a:r>
              <a:rPr sz="1820" b="0">
                <a:solidFill>
                  <a:srgbClr val="E6E6E6"/>
                </a:solidFill>
                <a:latin typeface="Consolas"/>
              </a:rPr>
              <a:t> baholar b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JOIN</a:t>
            </a:r>
            <a:r>
              <a:rPr sz="1820" b="0">
                <a:solidFill>
                  <a:srgbClr val="E6E6E6"/>
                </a:solidFill>
                <a:latin typeface="Consolas"/>
              </a:rPr>
              <a:t> oquvchilar o </a:t>
            </a:r>
            <a:r>
              <a:rPr sz="1820" b="0">
                <a:solidFill>
                  <a:srgbClr val="C678DD"/>
                </a:solidFill>
                <a:latin typeface="Consolas"/>
              </a:rPr>
              <a:t>ON</a:t>
            </a:r>
            <a:r>
              <a:rPr sz="1820" b="0">
                <a:solidFill>
                  <a:srgbClr val="E6E6E6"/>
                </a:solidFill>
                <a:latin typeface="Consolas"/>
              </a:rPr>
              <a:t> b.oquvchi_id = o.id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JOIN</a:t>
            </a:r>
            <a:r>
              <a:rPr sz="1820" b="0">
                <a:solidFill>
                  <a:srgbClr val="E6E6E6"/>
                </a:solidFill>
                <a:latin typeface="Consolas"/>
              </a:rPr>
              <a:t> sinflar s    </a:t>
            </a:r>
            <a:r>
              <a:rPr sz="1820" b="0">
                <a:solidFill>
                  <a:srgbClr val="C678DD"/>
                </a:solidFill>
                <a:latin typeface="Consolas"/>
              </a:rPr>
              <a:t>ON</a:t>
            </a:r>
            <a:r>
              <a:rPr sz="1820" b="0">
                <a:solidFill>
                  <a:srgbClr val="E6E6E6"/>
                </a:solidFill>
                <a:latin typeface="Consolas"/>
              </a:rPr>
              <a:t> o.sinf_id = s.id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WHERE</a:t>
            </a:r>
            <a:r>
              <a:rPr sz="1820" b="0">
                <a:solidFill>
                  <a:srgbClr val="E6E6E6"/>
                </a:solidFill>
                <a:latin typeface="Consolas"/>
              </a:rPr>
              <a:t> b.fan = </a:t>
            </a:r>
            <a:r>
              <a:rPr sz="1820" b="0">
                <a:solidFill>
                  <a:srgbClr val="98C379"/>
                </a:solidFill>
                <a:latin typeface="Consolas"/>
              </a:rPr>
              <a:t>'Matematika'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ORDER</a:t>
            </a: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  <a:r>
              <a:rPr sz="1820" b="0">
                <a:solidFill>
                  <a:srgbClr val="C678DD"/>
                </a:solidFill>
                <a:latin typeface="Consolas"/>
              </a:rPr>
              <a:t>BY</a:t>
            </a:r>
            <a:r>
              <a:rPr sz="1820" b="0">
                <a:solidFill>
                  <a:srgbClr val="E6E6E6"/>
                </a:solidFill>
                <a:latin typeface="Consolas"/>
              </a:rPr>
              <a:t> b.baho </a:t>
            </a:r>
            <a:r>
              <a:rPr sz="1820" b="0">
                <a:solidFill>
                  <a:srgbClr val="C678DD"/>
                </a:solidFill>
                <a:latin typeface="Consolas"/>
              </a:rPr>
              <a:t>DESC</a:t>
            </a:r>
            <a:r>
              <a:rPr sz="1820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7F848E"/>
                </a:solidFill>
                <a:latin typeface="Consolas"/>
              </a:rPr>
              <a:t>-- Ko'pga-ko'p: oraliq jadval orqali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820" b="0">
                <a:solidFill>
                  <a:srgbClr val="E6E6E6"/>
                </a:solidFill>
                <a:latin typeface="Consolas"/>
              </a:rPr>
              <a:t> o.ism, t.nomi </a:t>
            </a:r>
            <a:r>
              <a:rPr sz="1820" b="0">
                <a:solidFill>
                  <a:srgbClr val="C678DD"/>
                </a:solidFill>
                <a:latin typeface="Consolas"/>
              </a:rPr>
              <a:t>AS</a:t>
            </a:r>
            <a:r>
              <a:rPr sz="1820" b="0">
                <a:solidFill>
                  <a:srgbClr val="E6E6E6"/>
                </a:solidFill>
                <a:latin typeface="Consolas"/>
              </a:rPr>
              <a:t> togarak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FROM</a:t>
            </a:r>
            <a:r>
              <a:rPr sz="1820" b="0">
                <a:solidFill>
                  <a:srgbClr val="E6E6E6"/>
                </a:solidFill>
                <a:latin typeface="Consolas"/>
              </a:rPr>
              <a:t> oquvchilar o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JOIN</a:t>
            </a:r>
            <a:r>
              <a:rPr sz="1820" b="0">
                <a:solidFill>
                  <a:srgbClr val="E6E6E6"/>
                </a:solidFill>
                <a:latin typeface="Consolas"/>
              </a:rPr>
              <a:t> azoliklar a  </a:t>
            </a:r>
            <a:r>
              <a:rPr sz="1820" b="0">
                <a:solidFill>
                  <a:srgbClr val="C678DD"/>
                </a:solidFill>
                <a:latin typeface="Consolas"/>
              </a:rPr>
              <a:t>ON</a:t>
            </a:r>
            <a:r>
              <a:rPr sz="1820" b="0">
                <a:solidFill>
                  <a:srgbClr val="E6E6E6"/>
                </a:solidFill>
                <a:latin typeface="Consolas"/>
              </a:rPr>
              <a:t> a.oquvchi_id = o.id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JOIN</a:t>
            </a:r>
            <a:r>
              <a:rPr sz="1820" b="0">
                <a:solidFill>
                  <a:srgbClr val="E6E6E6"/>
                </a:solidFill>
                <a:latin typeface="Consolas"/>
              </a:rPr>
              <a:t> togaraklar t </a:t>
            </a:r>
            <a:r>
              <a:rPr sz="1820" b="0">
                <a:solidFill>
                  <a:srgbClr val="C678DD"/>
                </a:solidFill>
                <a:latin typeface="Consolas"/>
              </a:rPr>
              <a:t>ON</a:t>
            </a:r>
            <a:r>
              <a:rPr sz="1820" b="0">
                <a:solidFill>
                  <a:srgbClr val="E6E6E6"/>
                </a:solidFill>
                <a:latin typeface="Consolas"/>
              </a:rPr>
              <a:t> t.id = a.togarak_id;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Indekslar — qidiruvni tezlashtirish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3418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" cy="13418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725912" cy="11772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Kitob ko'rsatkichi:</a:t>
            </a:r>
            <a:r>
              <a:rPr sz="2279" b="0">
                <a:solidFill>
                  <a:srgbClr val="1F232B"/>
                </a:solidFill>
                <a:latin typeface="Calibri"/>
              </a:rPr>
              <a:t> "Fotosintez"ni topish uchun 300 betni varaqlamaysiz — oxiridagi ko'rsatkichga qaraysiz: "47, 112-betlar". Indeks — baza uchun shunday ko'rsatkich.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8658"/>
            <a:ext cx="11091672" cy="153326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3352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07842"/>
            <a:ext cx="10725912" cy="11857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CREATE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INDEX</a:t>
            </a:r>
            <a:r>
              <a:rPr sz="1632" b="0">
                <a:solidFill>
                  <a:srgbClr val="E6E6E6"/>
                </a:solidFill>
                <a:latin typeface="Consolas"/>
              </a:rPr>
              <a:t> idx_oquvchilar_familiya </a:t>
            </a:r>
            <a:r>
              <a:rPr sz="1632" b="0">
                <a:solidFill>
                  <a:srgbClr val="C678DD"/>
                </a:solidFill>
                <a:latin typeface="Consolas"/>
              </a:rPr>
              <a:t>ON</a:t>
            </a:r>
            <a:r>
              <a:rPr sz="1632" b="0">
                <a:solidFill>
                  <a:srgbClr val="E6E6E6"/>
                </a:solidFill>
                <a:latin typeface="Consolas"/>
              </a:rPr>
              <a:t> oquvchilar (familiya);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CREATE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INDEX</a:t>
            </a:r>
            <a:r>
              <a:rPr sz="1632" b="0">
                <a:solidFill>
                  <a:srgbClr val="E6E6E6"/>
                </a:solidFill>
                <a:latin typeface="Consolas"/>
              </a:rPr>
              <a:t> idx_baholar_oquvchi </a:t>
            </a:r>
            <a:r>
              <a:rPr sz="1632" b="0">
                <a:solidFill>
                  <a:srgbClr val="C678DD"/>
                </a:solidFill>
                <a:latin typeface="Consolas"/>
              </a:rPr>
              <a:t>ON</a:t>
            </a:r>
            <a:r>
              <a:rPr sz="1632" b="0">
                <a:solidFill>
                  <a:srgbClr val="E6E6E6"/>
                </a:solidFill>
                <a:latin typeface="Consolas"/>
              </a:rPr>
              <a:t> baholar (oquvchi_id);   -- FK uchun foydali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EXPLAIN </a:t>
            </a:r>
            <a:r>
              <a:rPr sz="1632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32" b="0">
                <a:solidFill>
                  <a:srgbClr val="E6E6E6"/>
                </a:solidFill>
                <a:latin typeface="Consolas"/>
              </a:rPr>
              <a:t> * </a:t>
            </a:r>
            <a:r>
              <a:rPr sz="1632" b="0">
                <a:solidFill>
                  <a:srgbClr val="C678DD"/>
                </a:solidFill>
                <a:latin typeface="Consolas"/>
              </a:rPr>
              <a:t>FROM</a:t>
            </a:r>
            <a:r>
              <a:rPr sz="1632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32" b="0">
                <a:solidFill>
                  <a:srgbClr val="C678DD"/>
                </a:solidFill>
                <a:latin typeface="Consolas"/>
              </a:rPr>
              <a:t>WHERE</a:t>
            </a:r>
            <a:r>
              <a:rPr sz="1632" b="0">
                <a:solidFill>
                  <a:srgbClr val="E6E6E6"/>
                </a:solidFill>
                <a:latin typeface="Consolas"/>
              </a:rPr>
              <a:t> familiya = </a:t>
            </a:r>
            <a:r>
              <a:rPr sz="1632" b="0">
                <a:solidFill>
                  <a:srgbClr val="98C379"/>
                </a:solidFill>
                <a:latin typeface="Consolas"/>
              </a:rPr>
              <a:t>'Karimova'</a:t>
            </a:r>
            <a:r>
              <a:rPr sz="1632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DROP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INDEX</a:t>
            </a:r>
            <a:r>
              <a:rPr sz="1632" b="0">
                <a:solidFill>
                  <a:srgbClr val="E6E6E6"/>
                </a:solidFill>
                <a:latin typeface="Consolas"/>
              </a:rPr>
              <a:t> idx_oquvchilar_familiya;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31379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PRIMARY KEY</a:t>
            </a:r>
            <a:r>
              <a:rPr sz="2400" b="0">
                <a:solidFill>
                  <a:srgbClr val="1F232B"/>
                </a:solidFill>
                <a:latin typeface="Calibri"/>
              </a:rPr>
              <a:t> va </a:t>
            </a:r>
            <a:r>
              <a:rPr sz="2208" b="0">
                <a:solidFill>
                  <a:srgbClr val="B02A4A"/>
                </a:solidFill>
                <a:latin typeface="Consolas"/>
              </a:rPr>
              <a:t>UNIQUE</a:t>
            </a:r>
            <a:r>
              <a:rPr sz="2400" b="0">
                <a:solidFill>
                  <a:srgbClr val="1F232B"/>
                </a:solidFill>
                <a:latin typeface="Calibri"/>
              </a:rPr>
              <a:t> ga indeks </a:t>
            </a:r>
            <a:r>
              <a:rPr sz="2400" b="1">
                <a:solidFill>
                  <a:srgbClr val="1F232B"/>
                </a:solidFill>
                <a:latin typeface="Calibri"/>
              </a:rPr>
              <a:t>avtomatik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868539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76971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O'qishni tezlashtiradi, yozishni biroz sekinlashtiradi — faqat </a:t>
            </a:r>
            <a:r>
              <a:rPr sz="2400" b="1">
                <a:solidFill>
                  <a:srgbClr val="1F232B"/>
                </a:solidFill>
                <a:latin typeface="Calibri"/>
              </a:rPr>
              <a:t>tez-tez qidiriladigan</a:t>
            </a:r>
            <a:r>
              <a:rPr sz="2400" b="0">
                <a:solidFill>
                  <a:srgbClr val="1F232B"/>
                </a:solidFill>
                <a:latin typeface="Calibri"/>
              </a:rPr>
              <a:t> ustunlarga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41413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Ma'lumotlar yaxlitligi (data integrity)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77638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2F6FAD"/>
                </a:solidFill>
                <a:latin typeface="Calibri"/>
              </a:rPr>
              <a:t>Ma'lumot har doim to'g'ri, izchil va ishonchli — buni bazaning o'ziga topshiring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150736"/>
          <a:ext cx="11091672" cy="2718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797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Yaxlitlik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Kafolat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Vosita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Obyekt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 qator noyob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PRIMARY KEY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Havola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FK doim mavjud qatorga ishora qiladi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REFERENCES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To'g'ri tur va chegara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NOT NULL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UNIQUE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FK qatori o'chirilganda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74389"/>
          <a:ext cx="11091672" cy="236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08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Xatti-harakat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RESTRICT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(standart)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O'chirishga ruxsat bermaydi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O'quvchilari bor sinf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CASCADE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Bog'liqlar ham o'chadi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O'quvchi → baholari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SET NULL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FK NULL bo'ladi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Sinf yopilsa — "sinfsiz"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57061"/>
            <a:ext cx="11091672" cy="125637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1192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6245"/>
            <a:ext cx="10725912" cy="90890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25" b="0">
                <a:solidFill>
                  <a:srgbClr val="C678DD"/>
                </a:solidFill>
                <a:latin typeface="Consolas"/>
              </a:rPr>
              <a:t>DELETE</a:t>
            </a:r>
            <a:r>
              <a:rPr sz="1625" b="0">
                <a:solidFill>
                  <a:srgbClr val="E6E6E6"/>
                </a:solidFill>
                <a:latin typeface="Consolas"/>
              </a:rPr>
              <a:t> </a:t>
            </a:r>
            <a:r>
              <a:rPr sz="1625" b="0">
                <a:solidFill>
                  <a:srgbClr val="C678DD"/>
                </a:solidFill>
                <a:latin typeface="Consolas"/>
              </a:rPr>
              <a:t>FROM</a:t>
            </a:r>
            <a:r>
              <a:rPr sz="1625" b="0">
                <a:solidFill>
                  <a:srgbClr val="E6E6E6"/>
                </a:solidFill>
                <a:latin typeface="Consolas"/>
              </a:rPr>
              <a:t> sinflar </a:t>
            </a:r>
            <a:r>
              <a:rPr sz="1625" b="0">
                <a:solidFill>
                  <a:srgbClr val="C678DD"/>
                </a:solidFill>
                <a:latin typeface="Consolas"/>
              </a:rPr>
              <a:t>WHERE</a:t>
            </a:r>
            <a:r>
              <a:rPr sz="1625" b="0">
                <a:solidFill>
                  <a:srgbClr val="E6E6E6"/>
                </a:solidFill>
                <a:latin typeface="Consolas"/>
              </a:rPr>
              <a:t> id = 1;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7F848E"/>
                </a:solidFill>
                <a:latin typeface="Consolas"/>
              </a:rPr>
              <a:t>-- ❌ violates foreign key constraint ... is still referenced from table "oquvchilar"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C678DD"/>
                </a:solidFill>
                <a:latin typeface="Consolas"/>
              </a:rPr>
              <a:t>ALTER</a:t>
            </a:r>
            <a:r>
              <a:rPr sz="1625" b="0">
                <a:solidFill>
                  <a:srgbClr val="E6E6E6"/>
                </a:solidFill>
                <a:latin typeface="Consolas"/>
              </a:rPr>
              <a:t> </a:t>
            </a:r>
            <a:r>
              <a:rPr sz="1625" b="0">
                <a:solidFill>
                  <a:srgbClr val="C678DD"/>
                </a:solidFill>
                <a:latin typeface="Consolas"/>
              </a:rPr>
              <a:t>TABLE</a:t>
            </a:r>
            <a:r>
              <a:rPr sz="1625" b="0">
                <a:solidFill>
                  <a:srgbClr val="E6E6E6"/>
                </a:solidFill>
                <a:latin typeface="Consolas"/>
              </a:rPr>
              <a:t> sinflar ADD CONSTRAINT xona_musbat </a:t>
            </a:r>
            <a:r>
              <a:rPr sz="1625" b="0">
                <a:solidFill>
                  <a:srgbClr val="C678DD"/>
                </a:solidFill>
                <a:latin typeface="Consolas"/>
              </a:rPr>
              <a:t>CHECK</a:t>
            </a:r>
            <a:r>
              <a:rPr sz="1625" b="0">
                <a:solidFill>
                  <a:srgbClr val="E6E6E6"/>
                </a:solidFill>
                <a:latin typeface="Consolas"/>
              </a:rPr>
              <a:t> (xona &gt; 0);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Backup va Restore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7116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755" b="1">
                <a:solidFill>
                  <a:srgbClr val="2F6FAD"/>
                </a:solidFill>
                <a:latin typeface="Calibri"/>
              </a:rPr>
              <a:t>"Tekshirilmagan zaxira — zaxira emas" — tiklashni ham sinab ko'ring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38724"/>
            <a:ext cx="10680192" cy="3564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pgAdmin:</a:t>
            </a:r>
            <a:r>
              <a:rPr sz="1900" b="0">
                <a:solidFill>
                  <a:srgbClr val="1F232B"/>
                </a:solidFill>
                <a:latin typeface="Calibri"/>
              </a:rPr>
              <a:t> baza → o'ng tugma → </a:t>
            </a:r>
            <a:r>
              <a:rPr sz="1900" b="1">
                <a:solidFill>
                  <a:srgbClr val="1F232B"/>
                </a:solidFill>
                <a:latin typeface="Calibri"/>
              </a:rPr>
              <a:t>Backup...</a:t>
            </a:r>
            <a:r>
              <a:rPr sz="1900" b="0">
                <a:solidFill>
                  <a:srgbClr val="1F232B"/>
                </a:solidFill>
                <a:latin typeface="Calibri"/>
              </a:rPr>
              <a:t> (Custom) / yangi baza → </a:t>
            </a:r>
            <a:r>
              <a:rPr sz="1900" b="1">
                <a:solidFill>
                  <a:srgbClr val="1F232B"/>
                </a:solidFill>
                <a:latin typeface="Calibri"/>
              </a:rPr>
              <a:t>Restore...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347309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704941"/>
            <a:ext cx="11091672" cy="173845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5980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4125"/>
            <a:ext cx="10725912" cy="139098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pg_dump -U postgres -d maktab -f maktab_backup.sql       # SQL fayl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pg_dump -U postgres -d maktab -F c -f maktab.backup      # siqilgan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createdb -U postgres maktab_yangi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psql -U postgres -d maktab_yangi -f maktab_backup.sql     # tiklash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pg_restore -U postgres -d maktab_yangi maktab.backup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2854"/>
            <a:ext cx="10680192" cy="3564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.sql</a:t>
            </a:r>
            <a:r>
              <a:rPr sz="1900" b="0">
                <a:solidFill>
                  <a:srgbClr val="1F232B"/>
                </a:solidFill>
                <a:latin typeface="Calibri"/>
              </a:rPr>
              <a:t> faylni oching — u </a:t>
            </a:r>
            <a:r>
              <a:rPr sz="1748" b="0">
                <a:solidFill>
                  <a:srgbClr val="B02A4A"/>
                </a:solidFill>
                <a:latin typeface="Consolas"/>
              </a:rPr>
              <a:t>CREATE TABLE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INSERT</a:t>
            </a:r>
            <a:r>
              <a:rPr sz="1900" b="0">
                <a:solidFill>
                  <a:srgbClr val="1F232B"/>
                </a:solidFill>
                <a:latin typeface="Calibri"/>
              </a:rPr>
              <a:t> lardan iborat!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71439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129071"/>
            <a:ext cx="11091672" cy="542575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129071"/>
            <a:ext cx="82296" cy="542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20511"/>
            <a:ext cx="10725912" cy="37798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805" b="0">
                <a:solidFill>
                  <a:srgbClr val="1F232B"/>
                </a:solidFill>
                <a:latin typeface="Calibri"/>
              </a:rPr>
              <a:t>⚠️ </a:t>
            </a:r>
            <a:r>
              <a:rPr sz="1805" b="0">
                <a:solidFill>
                  <a:srgbClr val="1F232B"/>
                </a:solidFill>
                <a:latin typeface="Calibri"/>
              </a:rPr>
              <a:t>Nusxani boshqa joyga ham ko'chiring (fleshka, bulut)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C0D3E6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FE9F2"/>
                </a:solidFill>
                <a:latin typeface="Calibri"/>
              </a:rPr>
              <a:t>19-loyiha: mahsulotlar va buyurtmalar bazasi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C0D3E6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jadvallar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7228"/>
            <a:ext cx="11091672" cy="450854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20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6412"/>
            <a:ext cx="10725912" cy="41610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CREATE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TABLE</a:t>
            </a:r>
            <a:r>
              <a:rPr sz="1156" b="0">
                <a:solidFill>
                  <a:srgbClr val="E6E6E6"/>
                </a:solidFill>
                <a:latin typeface="Consolas"/>
              </a:rPr>
              <a:t> mijozlar (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id </a:t>
            </a:r>
            <a:r>
              <a:rPr sz="1156" b="0">
                <a:solidFill>
                  <a:srgbClr val="C678DD"/>
                </a:solidFill>
                <a:latin typeface="Consolas"/>
              </a:rPr>
              <a:t>SERIAL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PRIMARY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KEY</a:t>
            </a:r>
            <a:r>
              <a:rPr sz="1156" b="0">
                <a:solidFill>
                  <a:srgbClr val="E6E6E6"/>
                </a:solidFill>
                <a:latin typeface="Consolas"/>
              </a:rPr>
              <a:t>, ism </a:t>
            </a:r>
            <a:r>
              <a:rPr sz="1156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156" b="0">
                <a:solidFill>
                  <a:srgbClr val="E6E6E6"/>
                </a:solidFill>
                <a:latin typeface="Consolas"/>
              </a:rPr>
              <a:t>(100) </a:t>
            </a:r>
            <a:r>
              <a:rPr sz="1156" b="0">
                <a:solidFill>
                  <a:srgbClr val="C678DD"/>
                </a:solidFill>
                <a:latin typeface="Consolas"/>
              </a:rPr>
              <a:t>NOT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NULL</a:t>
            </a:r>
            <a:r>
              <a:rPr sz="1156" b="0">
                <a:solidFill>
                  <a:srgbClr val="E6E6E6"/>
                </a:solidFill>
                <a:latin typeface="Consolas"/>
              </a:rPr>
              <a:t>, telefon </a:t>
            </a:r>
            <a:r>
              <a:rPr sz="1156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156" b="0">
                <a:solidFill>
                  <a:srgbClr val="E6E6E6"/>
                </a:solidFill>
                <a:latin typeface="Consolas"/>
              </a:rPr>
              <a:t>(20) </a:t>
            </a:r>
            <a:r>
              <a:rPr sz="1156" b="0">
                <a:solidFill>
                  <a:srgbClr val="C678DD"/>
                </a:solidFill>
                <a:latin typeface="Consolas"/>
              </a:rPr>
              <a:t>UNIQUE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CREATE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TABLE</a:t>
            </a:r>
            <a:r>
              <a:rPr sz="1156" b="0">
                <a:solidFill>
                  <a:srgbClr val="E6E6E6"/>
                </a:solidFill>
                <a:latin typeface="Consolas"/>
              </a:rPr>
              <a:t> mahsulotlar (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id </a:t>
            </a:r>
            <a:r>
              <a:rPr sz="1156" b="0">
                <a:solidFill>
                  <a:srgbClr val="C678DD"/>
                </a:solidFill>
                <a:latin typeface="Consolas"/>
              </a:rPr>
              <a:t>SERIAL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PRIMARY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KEY</a:t>
            </a:r>
            <a:r>
              <a:rPr sz="1156" b="0">
                <a:solidFill>
                  <a:srgbClr val="E6E6E6"/>
                </a:solidFill>
                <a:latin typeface="Consolas"/>
              </a:rPr>
              <a:t>, nomi </a:t>
            </a:r>
            <a:r>
              <a:rPr sz="1156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156" b="0">
                <a:solidFill>
                  <a:srgbClr val="E6E6E6"/>
                </a:solidFill>
                <a:latin typeface="Consolas"/>
              </a:rPr>
              <a:t>(100) </a:t>
            </a:r>
            <a:r>
              <a:rPr sz="1156" b="0">
                <a:solidFill>
                  <a:srgbClr val="C678DD"/>
                </a:solidFill>
                <a:latin typeface="Consolas"/>
              </a:rPr>
              <a:t>NOT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NULL</a:t>
            </a:r>
            <a:r>
              <a:rPr sz="115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narx </a:t>
            </a:r>
            <a:r>
              <a:rPr sz="1156" b="0">
                <a:solidFill>
                  <a:srgbClr val="C678DD"/>
                </a:solidFill>
                <a:latin typeface="Consolas"/>
              </a:rPr>
              <a:t>NUMERIC</a:t>
            </a:r>
            <a:r>
              <a:rPr sz="1156" b="0">
                <a:solidFill>
                  <a:srgbClr val="E6E6E6"/>
                </a:solidFill>
                <a:latin typeface="Consolas"/>
              </a:rPr>
              <a:t>(12, 2) </a:t>
            </a:r>
            <a:r>
              <a:rPr sz="1156" b="0">
                <a:solidFill>
                  <a:srgbClr val="C678DD"/>
                </a:solidFill>
                <a:latin typeface="Consolas"/>
              </a:rPr>
              <a:t>NOT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NULL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CHECK</a:t>
            </a:r>
            <a:r>
              <a:rPr sz="1156" b="0">
                <a:solidFill>
                  <a:srgbClr val="E6E6E6"/>
                </a:solidFill>
                <a:latin typeface="Consolas"/>
              </a:rPr>
              <a:t> (narx &gt; 0),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soni </a:t>
            </a:r>
            <a:r>
              <a:rPr sz="1156" b="0">
                <a:solidFill>
                  <a:srgbClr val="C678DD"/>
                </a:solidFill>
                <a:latin typeface="Consolas"/>
              </a:rPr>
              <a:t>INTEGER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NOT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NULL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DEFAULT</a:t>
            </a:r>
            <a:r>
              <a:rPr sz="1156" b="0">
                <a:solidFill>
                  <a:srgbClr val="E6E6E6"/>
                </a:solidFill>
                <a:latin typeface="Consolas"/>
              </a:rPr>
              <a:t> 0 </a:t>
            </a:r>
            <a:r>
              <a:rPr sz="1156" b="0">
                <a:solidFill>
                  <a:srgbClr val="C678DD"/>
                </a:solidFill>
                <a:latin typeface="Consolas"/>
              </a:rPr>
              <a:t>CHECK</a:t>
            </a:r>
            <a:r>
              <a:rPr sz="1156" b="0">
                <a:solidFill>
                  <a:srgbClr val="E6E6E6"/>
                </a:solidFill>
                <a:latin typeface="Consolas"/>
              </a:rPr>
              <a:t> (soni &gt;= 0)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CREATE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TABLE</a:t>
            </a:r>
            <a:r>
              <a:rPr sz="1156" b="0">
                <a:solidFill>
                  <a:srgbClr val="E6E6E6"/>
                </a:solidFill>
                <a:latin typeface="Consolas"/>
              </a:rPr>
              <a:t> buyurtmalar (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id </a:t>
            </a:r>
            <a:r>
              <a:rPr sz="1156" b="0">
                <a:solidFill>
                  <a:srgbClr val="C678DD"/>
                </a:solidFill>
                <a:latin typeface="Consolas"/>
              </a:rPr>
              <a:t>SERIAL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PRIMARY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KEY</a:t>
            </a:r>
            <a:r>
              <a:rPr sz="115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mijoz_id </a:t>
            </a:r>
            <a:r>
              <a:rPr sz="1156" b="0">
                <a:solidFill>
                  <a:srgbClr val="C678DD"/>
                </a:solidFill>
                <a:latin typeface="Consolas"/>
              </a:rPr>
              <a:t>INTEGER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NOT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NULL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REFERENCES</a:t>
            </a:r>
            <a:r>
              <a:rPr sz="1156" b="0">
                <a:solidFill>
                  <a:srgbClr val="E6E6E6"/>
                </a:solidFill>
                <a:latin typeface="Consolas"/>
              </a:rPr>
              <a:t> mijozlar(id),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sana TIMESTAMP </a:t>
            </a:r>
            <a:r>
              <a:rPr sz="1156" b="0">
                <a:solidFill>
                  <a:srgbClr val="C678DD"/>
                </a:solidFill>
                <a:latin typeface="Consolas"/>
              </a:rPr>
              <a:t>DEFAULT</a:t>
            </a:r>
            <a:r>
              <a:rPr sz="1156" b="0">
                <a:solidFill>
                  <a:srgbClr val="E6E6E6"/>
                </a:solidFill>
                <a:latin typeface="Consolas"/>
              </a:rPr>
              <a:t> NOW(),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holat </a:t>
            </a:r>
            <a:r>
              <a:rPr sz="1156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156" b="0">
                <a:solidFill>
                  <a:srgbClr val="E6E6E6"/>
                </a:solidFill>
                <a:latin typeface="Consolas"/>
              </a:rPr>
              <a:t>(20) </a:t>
            </a:r>
            <a:r>
              <a:rPr sz="1156" b="0">
                <a:solidFill>
                  <a:srgbClr val="C678DD"/>
                </a:solidFill>
                <a:latin typeface="Consolas"/>
              </a:rPr>
              <a:t>DEFAULT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98C379"/>
                </a:solidFill>
                <a:latin typeface="Consolas"/>
              </a:rPr>
              <a:t>'yangi'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CREATE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TABLE</a:t>
            </a:r>
            <a:r>
              <a:rPr sz="1156" b="0">
                <a:solidFill>
                  <a:srgbClr val="E6E6E6"/>
                </a:solidFill>
                <a:latin typeface="Consolas"/>
              </a:rPr>
              <a:t> buyurtma_tarkibi (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buyurtma_id </a:t>
            </a:r>
            <a:r>
              <a:rPr sz="1156" b="0">
                <a:solidFill>
                  <a:srgbClr val="C678DD"/>
                </a:solidFill>
                <a:latin typeface="Consolas"/>
              </a:rPr>
              <a:t>INTEGER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REFERENCES</a:t>
            </a:r>
            <a:r>
              <a:rPr sz="1156" b="0">
                <a:solidFill>
                  <a:srgbClr val="E6E6E6"/>
                </a:solidFill>
                <a:latin typeface="Consolas"/>
              </a:rPr>
              <a:t> buyurtmalar(id) </a:t>
            </a:r>
            <a:r>
              <a:rPr sz="1156" b="0">
                <a:solidFill>
                  <a:srgbClr val="C678DD"/>
                </a:solidFill>
                <a:latin typeface="Consolas"/>
              </a:rPr>
              <a:t>ON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DELETE</a:t>
            </a:r>
            <a:r>
              <a:rPr sz="1156" b="0">
                <a:solidFill>
                  <a:srgbClr val="E6E6E6"/>
                </a:solidFill>
                <a:latin typeface="Consolas"/>
              </a:rPr>
              <a:t> CASCADE,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mahsulot_id </a:t>
            </a:r>
            <a:r>
              <a:rPr sz="1156" b="0">
                <a:solidFill>
                  <a:srgbClr val="C678DD"/>
                </a:solidFill>
                <a:latin typeface="Consolas"/>
              </a:rPr>
              <a:t>INTEGER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REFERENCES</a:t>
            </a:r>
            <a:r>
              <a:rPr sz="1156" b="0">
                <a:solidFill>
                  <a:srgbClr val="E6E6E6"/>
                </a:solidFill>
                <a:latin typeface="Consolas"/>
              </a:rPr>
              <a:t> mahsulotlar(id),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soni </a:t>
            </a:r>
            <a:r>
              <a:rPr sz="1156" b="0">
                <a:solidFill>
                  <a:srgbClr val="C678DD"/>
                </a:solidFill>
                <a:latin typeface="Consolas"/>
              </a:rPr>
              <a:t>INTEGER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NOT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NULL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CHECK</a:t>
            </a:r>
            <a:r>
              <a:rPr sz="1156" b="0">
                <a:solidFill>
                  <a:srgbClr val="E6E6E6"/>
                </a:solidFill>
                <a:latin typeface="Consolas"/>
              </a:rPr>
              <a:t> (soni &gt; 0),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narx </a:t>
            </a:r>
            <a:r>
              <a:rPr sz="1156" b="0">
                <a:solidFill>
                  <a:srgbClr val="C678DD"/>
                </a:solidFill>
                <a:latin typeface="Consolas"/>
              </a:rPr>
              <a:t>NUMERIC</a:t>
            </a:r>
            <a:r>
              <a:rPr sz="1156" b="0">
                <a:solidFill>
                  <a:srgbClr val="E6E6E6"/>
                </a:solidFill>
                <a:latin typeface="Consolas"/>
              </a:rPr>
              <a:t>(12, 2) </a:t>
            </a:r>
            <a:r>
              <a:rPr sz="1156" b="0">
                <a:solidFill>
                  <a:srgbClr val="C678DD"/>
                </a:solidFill>
                <a:latin typeface="Consolas"/>
              </a:rPr>
              <a:t>NOT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NULL</a:t>
            </a:r>
            <a:r>
              <a:rPr sz="115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PRIMARY</a:t>
            </a: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  <a:r>
              <a:rPr sz="1156" b="0">
                <a:solidFill>
                  <a:srgbClr val="C678DD"/>
                </a:solidFill>
                <a:latin typeface="Consolas"/>
              </a:rPr>
              <a:t>KEY</a:t>
            </a:r>
            <a:r>
              <a:rPr sz="1156" b="0">
                <a:solidFill>
                  <a:srgbClr val="E6E6E6"/>
                </a:solidFill>
                <a:latin typeface="Consolas"/>
              </a:rPr>
              <a:t> (buyurtma_id, mahsulot_id)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so'rovlar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9840"/>
            <a:ext cx="11091672" cy="32545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470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9024"/>
            <a:ext cx="10725912" cy="29071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7F848E"/>
                </a:solidFill>
                <a:latin typeface="Consolas"/>
              </a:rPr>
              <a:t>-- 1. Buyurtma, mijoz, sana, holat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SELECT</a:t>
            </a:r>
            <a:r>
              <a:rPr sz="1292" b="0">
                <a:solidFill>
                  <a:srgbClr val="E6E6E6"/>
                </a:solidFill>
                <a:latin typeface="Consolas"/>
              </a:rPr>
              <a:t> b.id, m.ism, b.sana, b.holat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FROM</a:t>
            </a:r>
            <a:r>
              <a:rPr sz="1292" b="0">
                <a:solidFill>
                  <a:srgbClr val="E6E6E6"/>
                </a:solidFill>
                <a:latin typeface="Consolas"/>
              </a:rPr>
              <a:t> buyurtmalar b </a:t>
            </a:r>
            <a:r>
              <a:rPr sz="1292" b="0">
                <a:solidFill>
                  <a:srgbClr val="C678DD"/>
                </a:solidFill>
                <a:latin typeface="Consolas"/>
              </a:rPr>
              <a:t>JOIN</a:t>
            </a:r>
            <a:r>
              <a:rPr sz="1292" b="0">
                <a:solidFill>
                  <a:srgbClr val="E6E6E6"/>
                </a:solidFill>
                <a:latin typeface="Consolas"/>
              </a:rPr>
              <a:t> mijozlar m </a:t>
            </a:r>
            <a:r>
              <a:rPr sz="1292" b="0">
                <a:solidFill>
                  <a:srgbClr val="C678DD"/>
                </a:solidFill>
                <a:latin typeface="Consolas"/>
              </a:rPr>
              <a:t>ON</a:t>
            </a:r>
            <a:r>
              <a:rPr sz="1292" b="0">
                <a:solidFill>
                  <a:srgbClr val="E6E6E6"/>
                </a:solidFill>
                <a:latin typeface="Consolas"/>
              </a:rPr>
              <a:t> m.id = b.mijoz_id;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7F848E"/>
                </a:solidFill>
                <a:latin typeface="Consolas"/>
              </a:rPr>
              <a:t>-- 2. 1-buyurtma tarkibi va summasi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SELECT</a:t>
            </a:r>
            <a:r>
              <a:rPr sz="1292" b="0">
                <a:solidFill>
                  <a:srgbClr val="E6E6E6"/>
                </a:solidFill>
                <a:latin typeface="Consolas"/>
              </a:rPr>
              <a:t> p.nomi, t.soni, t.narx, t.soni * t.narx </a:t>
            </a:r>
            <a:r>
              <a:rPr sz="1292" b="0">
                <a:solidFill>
                  <a:srgbClr val="C678DD"/>
                </a:solidFill>
                <a:latin typeface="Consolas"/>
              </a:rPr>
              <a:t>AS</a:t>
            </a:r>
            <a:r>
              <a:rPr sz="1292" b="0">
                <a:solidFill>
                  <a:srgbClr val="E6E6E6"/>
                </a:solidFill>
                <a:latin typeface="Consolas"/>
              </a:rPr>
              <a:t> summa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FROM</a:t>
            </a:r>
            <a:r>
              <a:rPr sz="1292" b="0">
                <a:solidFill>
                  <a:srgbClr val="E6E6E6"/>
                </a:solidFill>
                <a:latin typeface="Consolas"/>
              </a:rPr>
              <a:t> buyurtma_tarkibi t </a:t>
            </a:r>
            <a:r>
              <a:rPr sz="1292" b="0">
                <a:solidFill>
                  <a:srgbClr val="C678DD"/>
                </a:solidFill>
                <a:latin typeface="Consolas"/>
              </a:rPr>
              <a:t>JOIN</a:t>
            </a:r>
            <a:r>
              <a:rPr sz="1292" b="0">
                <a:solidFill>
                  <a:srgbClr val="E6E6E6"/>
                </a:solidFill>
                <a:latin typeface="Consolas"/>
              </a:rPr>
              <a:t> mahsulotlar p </a:t>
            </a:r>
            <a:r>
              <a:rPr sz="1292" b="0">
                <a:solidFill>
                  <a:srgbClr val="C678DD"/>
                </a:solidFill>
                <a:latin typeface="Consolas"/>
              </a:rPr>
              <a:t>ON</a:t>
            </a:r>
            <a:r>
              <a:rPr sz="1292" b="0">
                <a:solidFill>
                  <a:srgbClr val="E6E6E6"/>
                </a:solidFill>
                <a:latin typeface="Consolas"/>
              </a:rPr>
              <a:t> p.id = t.mahsulot_id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WHERE</a:t>
            </a:r>
            <a:r>
              <a:rPr sz="1292" b="0">
                <a:solidFill>
                  <a:srgbClr val="E6E6E6"/>
                </a:solidFill>
                <a:latin typeface="Consolas"/>
              </a:rPr>
              <a:t> t.buyurtma_id = 1;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7F848E"/>
                </a:solidFill>
                <a:latin typeface="Consolas"/>
              </a:rPr>
              <a:t>-- 3. Buyurtma bermagan mijozlar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SELECT</a:t>
            </a:r>
            <a:r>
              <a:rPr sz="1292" b="0">
                <a:solidFill>
                  <a:srgbClr val="E6E6E6"/>
                </a:solidFill>
                <a:latin typeface="Consolas"/>
              </a:rPr>
              <a:t> m.ism </a:t>
            </a:r>
            <a:r>
              <a:rPr sz="1292" b="0">
                <a:solidFill>
                  <a:srgbClr val="C678DD"/>
                </a:solidFill>
                <a:latin typeface="Consolas"/>
              </a:rPr>
              <a:t>FROM</a:t>
            </a:r>
            <a:r>
              <a:rPr sz="1292" b="0">
                <a:solidFill>
                  <a:srgbClr val="E6E6E6"/>
                </a:solidFill>
                <a:latin typeface="Consolas"/>
              </a:rPr>
              <a:t> mijozlar m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LEFT</a:t>
            </a: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  <a:r>
              <a:rPr sz="1292" b="0">
                <a:solidFill>
                  <a:srgbClr val="C678DD"/>
                </a:solidFill>
                <a:latin typeface="Consolas"/>
              </a:rPr>
              <a:t>JOIN</a:t>
            </a:r>
            <a:r>
              <a:rPr sz="1292" b="0">
                <a:solidFill>
                  <a:srgbClr val="E6E6E6"/>
                </a:solidFill>
                <a:latin typeface="Consolas"/>
              </a:rPr>
              <a:t> buyurtmalar b </a:t>
            </a:r>
            <a:r>
              <a:rPr sz="1292" b="0">
                <a:solidFill>
                  <a:srgbClr val="C678DD"/>
                </a:solidFill>
                <a:latin typeface="Consolas"/>
              </a:rPr>
              <a:t>ON</a:t>
            </a:r>
            <a:r>
              <a:rPr sz="1292" b="0">
                <a:solidFill>
                  <a:srgbClr val="E6E6E6"/>
                </a:solidFill>
                <a:latin typeface="Consolas"/>
              </a:rPr>
              <a:t> b.mijoz_id = m.id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WHERE</a:t>
            </a:r>
            <a:r>
              <a:rPr sz="1292" b="0">
                <a:solidFill>
                  <a:srgbClr val="E6E6E6"/>
                </a:solidFill>
                <a:latin typeface="Consolas"/>
              </a:rPr>
              <a:t> b.id </a:t>
            </a:r>
            <a:r>
              <a:rPr sz="1292" b="0">
                <a:solidFill>
                  <a:srgbClr val="C678DD"/>
                </a:solidFill>
                <a:latin typeface="Consolas"/>
              </a:rPr>
              <a:t>IS</a:t>
            </a: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  <a:r>
              <a:rPr sz="1292" b="0">
                <a:solidFill>
                  <a:srgbClr val="C678DD"/>
                </a:solidFill>
                <a:latin typeface="Consolas"/>
              </a:rPr>
              <a:t>NULL</a:t>
            </a:r>
            <a:r>
              <a:rPr sz="1292" b="0">
                <a:solidFill>
                  <a:srgbClr val="E6E6E6"/>
                </a:solidFill>
                <a:latin typeface="Consolas"/>
              </a:rPr>
              <a:t>;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913889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94132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qachon sotilmagan mahsulotlar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590545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561797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Backup</a:t>
            </a:r>
            <a:r>
              <a:rPr sz="1900" b="0">
                <a:solidFill>
                  <a:srgbClr val="1F232B"/>
                </a:solidFill>
                <a:latin typeface="Calibri"/>
              </a:rPr>
              <a:t> → qatorni o'chiring → yangi bazaga </a:t>
            </a:r>
            <a:r>
              <a:rPr sz="1900" b="1">
                <a:solidFill>
                  <a:srgbClr val="1F232B"/>
                </a:solidFill>
                <a:latin typeface="Calibri"/>
              </a:rPr>
              <a:t>restore</a:t>
            </a:r>
            <a:r>
              <a:rPr sz="1900" b="0">
                <a:solidFill>
                  <a:srgbClr val="1F232B"/>
                </a:solidFill>
                <a:latin typeface="Calibri"/>
              </a:rPr>
              <a:t> → tekshiring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column reference "id" is ambiguous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o.id</a:t>
            </a:r>
            <a:r>
              <a:rPr sz="2800" b="0">
                <a:solidFill>
                  <a:srgbClr val="1F232B"/>
                </a:solidFill>
                <a:latin typeface="Calibri"/>
              </a:rPr>
              <a:t>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s.id</a:t>
            </a:r>
            <a:r>
              <a:rPr sz="2800" b="0">
                <a:solidFill>
                  <a:srgbClr val="1F232B"/>
                </a:solidFill>
                <a:latin typeface="Calibri"/>
              </a:rPr>
              <a:t> deb aniq yozing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ON</a:t>
            </a:r>
            <a:r>
              <a:rPr sz="2800" b="0">
                <a:solidFill>
                  <a:srgbClr val="1F232B"/>
                </a:solidFill>
                <a:latin typeface="Calibri"/>
              </a:rPr>
              <a:t> shartini unutish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o.id = s.id</a:t>
            </a:r>
            <a:r>
              <a:rPr sz="2800" b="0">
                <a:solidFill>
                  <a:srgbClr val="1F232B"/>
                </a:solidFill>
                <a:latin typeface="Calibri"/>
              </a:rPr>
              <a:t> kabi noto'g'ri bog'lash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LEFT JOIN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keyin o'ng jadval bo'yicha </a:t>
            </a:r>
            <a:r>
              <a:rPr sz="2576" b="0">
                <a:solidFill>
                  <a:srgbClr val="B02A4A"/>
                </a:solidFill>
                <a:latin typeface="Consolas"/>
              </a:rPr>
              <a:t>WHERE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INNER'ga aylanib qoladi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Zaxirani o'sha kompyuterda saqlash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Faqat ikkala jadvalda ham mos keladigan qatorlarni qaytaruvchi JOIN?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INNER JOIN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LEFT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RIGHT JOIN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FULL JOIN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Faqat ikkala jadvalda ham mos keladigan qatorlarni qaytaruvchi JOIN?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INNER JOIN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LEFT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RIGHT JOIN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FULL JOIN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Barcha o'quvchilarni (sinfi yo'qlarini ham) sinf nomi bilan chiqarish uchun?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oquvchilar INNER JOIN sinflar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sinflar INNER JOIN oquvchilar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oquvchilar LEFT JOIN sinflar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oquvchilar RIGHT JOIN sinflar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Barcha o'quvchilarni (sinfi yo'qlarini ham) sinf nomi bilan chiqarish uchun?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oquvchilar INNER JOIN sinflar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sinflar INNER JOIN oquvchilar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oquvchilar LEFT JOIN sinflar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oquvchilar RIGHT JOIN sinflar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Indeksning asosiy vazifasi?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Ma'lumotlarni shifrlash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Qidiruvni tezlashtirish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Zaxira nusxa olish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Jadvallarni bog'lash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Indeksning asosiy vazifasi?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Ma'lumotlarni shifrlash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Qidiruvni tezlashtirish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Zaxira nusxa olish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Jadvallarni bog'lash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PostgreSQL bazasining zaxira nusxasini oluvchi buyruq?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pg_backup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pg_dump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COPY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SAVE DATABASE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PostgreSQL bazasining zaxira nusxasini oluvchi buyruq?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pg_backup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pg_dump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COPY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SAVE DATABASE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9666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410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Kutubxona:</a:t>
            </a:r>
            <a:r>
              <a:rPr sz="2800" b="0">
                <a:solidFill>
                  <a:srgbClr val="1F232B"/>
                </a:solidFill>
                <a:latin typeface="Calibri"/>
              </a:rPr>
              <a:t> har bir ijara (kitob, muallif, o'quvchi); qaytarilmaganlar; hech kim olmagan kitoblar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0512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03255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Haftalik avtomatik backup nega muhim va qanday tashkil qilinadi — yozing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29-mavzu · Jadvallarni bog'lash va JOIN. Index, constraint, data integrity. Backup va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SELECT ... FROM a JOIN b ON a.fk = b.id</a:t>
            </a:r>
            <a:r>
              <a:rPr sz="2800" b="0">
                <a:solidFill>
                  <a:srgbClr val="1F232B"/>
                </a:solidFill>
                <a:latin typeface="Calibri"/>
              </a:rPr>
              <a:t>; taxalluslar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INNER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moslar; </a:t>
            </a:r>
            <a:r>
              <a:rPr sz="2800" b="1">
                <a:solidFill>
                  <a:srgbClr val="1F232B"/>
                </a:solidFill>
                <a:latin typeface="Calibri"/>
              </a:rPr>
              <a:t>LEFT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chapning hammasi; "yo'q"lar: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LEFT JOIN + IS NULL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Indeks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tez qidiruv; PK/UNIQUE'da avtomatik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Yaxlitlik: PK, FK, NOT NULL, UNIQUE, CHECK; </a:t>
            </a:r>
            <a:r>
              <a:rPr sz="2576" b="0">
                <a:solidFill>
                  <a:srgbClr val="B02A4A"/>
                </a:solidFill>
                <a:latin typeface="Consolas"/>
              </a:rPr>
              <a:t>CASCADE / RESTRICT / SET NULL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pg_dump</a:t>
            </a:r>
            <a:r>
              <a:rPr sz="2800" b="0">
                <a:solidFill>
                  <a:srgbClr val="1F232B"/>
                </a:solidFill>
                <a:latin typeface="Calibri"/>
              </a:rPr>
              <a:t> / </a:t>
            </a:r>
            <a:r>
              <a:rPr sz="2576" b="0">
                <a:solidFill>
                  <a:srgbClr val="B02A4A"/>
                </a:solidFill>
                <a:latin typeface="Consolas"/>
              </a:rPr>
              <a:t>pg_restore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tiklashni sinab ko'ring!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30. Filtrlash va shartlar. Aggregation va grouping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29-mavzu: Jadvallarni bog'lash va JOIN. Index, constraint, data integrity. Backup va restore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