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Muhokama: nega loginni toLowerCase() bilan, parolni aynan solishtiramiz?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C99400"/>
                </a:solidFill>
                <a:latin typeface="Calibri"/>
              </a:rPr>
              <a:t>16-MAVZU  ·  II BOB. JAVASCRIPT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JavaScript'da operatorlar va ifodalar. Shart operatorlari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Arifmetik, tayinlash, taqqoslash va mantiqiy operatorlar; == va === farqi; if, else if, else; ternary operator; switch; amaliy dasturlar: baho aniqlash, juft-toq, kirish tizimi.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Arifmetik amallar va </a:t>
            </a:r>
            <a:r>
              <a:rPr sz="2800" b="1">
                <a:solidFill>
                  <a:srgbClr val="1F232B"/>
                </a:solidFill>
                <a:latin typeface="Calibri"/>
              </a:rPr>
              <a:t>qoldiq</a:t>
            </a:r>
            <a:r>
              <a:rPr sz="2800" b="0">
                <a:solidFill>
                  <a:srgbClr val="1F232B"/>
                </a:solidFill>
                <a:latin typeface="Calibri"/>
              </a:rPr>
              <a:t> (</a:t>
            </a:r>
            <a:r>
              <a:rPr sz="2576" b="0">
                <a:solidFill>
                  <a:srgbClr val="B02A4A"/>
                </a:solidFill>
                <a:latin typeface="Consolas"/>
              </a:rPr>
              <a:t>%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Taqqoslash: </a:t>
            </a:r>
            <a:r>
              <a:rPr sz="2576" b="0">
                <a:solidFill>
                  <a:srgbClr val="B02A4A"/>
                </a:solidFill>
                <a:latin typeface="Consolas"/>
              </a:rPr>
              <a:t>==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===</a:t>
            </a:r>
            <a:r>
              <a:rPr sz="2800" b="0">
                <a:solidFill>
                  <a:srgbClr val="1F232B"/>
                </a:solidFill>
                <a:latin typeface="Calibri"/>
              </a:rPr>
              <a:t> farqi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Mantiqiy operatorlar: </a:t>
            </a:r>
            <a:r>
              <a:rPr sz="2800" b="1">
                <a:solidFill>
                  <a:srgbClr val="1F232B"/>
                </a:solidFill>
                <a:latin typeface="Calibri"/>
              </a:rPr>
              <a:t>VA, YOKI, EMAS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Dasturga "qaror qabul qildirish": </a:t>
            </a:r>
            <a:r>
              <a:rPr sz="2576" b="0">
                <a:solidFill>
                  <a:srgbClr val="B02A4A"/>
                </a:solidFill>
                <a:latin typeface="Consolas"/>
              </a:rPr>
              <a:t>if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else if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else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switch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Baho hisoblovchi, kirish tizimi va boshqa dasturlar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Arifmetik operatorlar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57171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222424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590" b="0">
                <a:solidFill>
                  <a:srgbClr val="C678DD"/>
                </a:solidFill>
                <a:latin typeface="Consolas"/>
              </a:rPr>
              <a:t>const</a:t>
            </a:r>
            <a:r>
              <a:rPr sz="1590" b="0">
                <a:solidFill>
                  <a:srgbClr val="E6E6E6"/>
                </a:solidFill>
                <a:latin typeface="Consolas"/>
              </a:rPr>
              <a:t> a = 17, b = 5;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a + b      // 22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a - b      // 12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a * b      // 85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a / b      // 3.4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a % b      // 2   ← QOLDIQ: 17 = 5·3 + 2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a ** 2     // 289 daraja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(a + b) * 2  // 44 — qavslar avval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1">
                <a:solidFill>
                  <a:srgbClr val="B02A4A"/>
                </a:solidFill>
                <a:latin typeface="Consolas"/>
              </a:rPr>
              <a:t>%</a:t>
            </a:r>
            <a:r>
              <a:rPr sz="2800" b="1">
                <a:solidFill>
                  <a:srgbClr val="1F232B"/>
                </a:solidFill>
                <a:latin typeface="Calibri"/>
              </a:rPr>
              <a:t> juda foydali: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2026412"/>
            <a:ext cx="4951476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son % 2 === 0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juft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2635504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son % 3 === 0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3 ga bo'linadi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279552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8836" y="3689096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1234 % 10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4 (oxirgi raqam)</a:t>
            </a:r>
          </a:p>
        </p:txBody>
      </p:sp>
      <p:sp>
        <p:nvSpPr>
          <p:cNvPr id="17" name="Oval 16"/>
          <p:cNvSpPr/>
          <p:nvPr/>
        </p:nvSpPr>
        <p:spPr>
          <a:xfrm>
            <a:off x="6387084" y="384911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8836" y="4742688"/>
            <a:ext cx="4951476" cy="1388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135 daqiqa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Math.floor(135/60)</a:t>
            </a:r>
            <a:r>
              <a:rPr sz="2800" b="0">
                <a:solidFill>
                  <a:srgbClr val="1F232B"/>
                </a:solidFill>
                <a:latin typeface="Calibri"/>
              </a:rPr>
              <a:t> soat, </a:t>
            </a:r>
            <a:r>
              <a:rPr sz="2576" b="0">
                <a:solidFill>
                  <a:srgbClr val="B02A4A"/>
                </a:solidFill>
                <a:latin typeface="Consolas"/>
              </a:rPr>
              <a:t>135 % 60</a:t>
            </a:r>
            <a:r>
              <a:rPr sz="2800" b="0">
                <a:solidFill>
                  <a:srgbClr val="1F232B"/>
                </a:solidFill>
                <a:latin typeface="Calibri"/>
              </a:rPr>
              <a:t> daqiqa</a:t>
            </a:r>
          </a:p>
        </p:txBody>
      </p:sp>
      <p:sp>
        <p:nvSpPr>
          <p:cNvPr id="19" name="Oval 18"/>
          <p:cNvSpPr/>
          <p:nvPr/>
        </p:nvSpPr>
        <p:spPr>
          <a:xfrm>
            <a:off x="6387084" y="49027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Math obyekti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22552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7741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1736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Math.round(4.6)    // 5   yaxlitlash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Math.floor(4.9)    // 4   pastga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Math.ceil(4.1)     // 5   yuqoriga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Math.max(3, 9, 2)  // 9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Math.sqrt(81)      // 9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Math.abs(-7)       // 7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Math.random()      // 0..1 tasodifiy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Math.floor(Math.random() * 6) + 1   // 🎲 1..6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Tayinlash operatorlari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78410"/>
            <a:ext cx="11091672" cy="267321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3327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7594"/>
            <a:ext cx="10725912" cy="23257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ball = 10;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ball += 5;   // 15  (ball = ball + 5)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ball -= 3;   // 12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ball *= 2;   // 24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ball /= 4;   // 6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ball++;      // 7   (+1)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ball--;      // 6   (-1)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Taqqoslash operatorlari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6016"/>
          <a:ext cx="11091672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81584"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&gt;</a:t>
                      </a:r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&lt;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katta / kichik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10 &gt; 7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&gt;=</a:t>
                      </a:r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&lt;=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katta-teng / kichik-teng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18 &gt;= 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===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qat'iy teng (qiymat </a:t>
                      </a:r>
                      <a:r>
                        <a:rPr sz="1760" b="1">
                          <a:solidFill>
                            <a:srgbClr val="1F232B"/>
                          </a:solidFill>
                          <a:latin typeface="Calibri"/>
                        </a:rPr>
                        <a:t>va tur</a:t>
                      </a:r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5 === 5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!==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qat'iy teng emas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5 !== 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093392"/>
            <a:ext cx="11091672" cy="94049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4825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22576"/>
            <a:ext cx="10725912" cy="59301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5 == </a:t>
            </a:r>
            <a:r>
              <a:rPr sz="1496" b="0">
                <a:solidFill>
                  <a:srgbClr val="98C379"/>
                </a:solidFill>
                <a:latin typeface="Consolas"/>
              </a:rPr>
              <a:t>"5"</a:t>
            </a:r>
            <a:r>
              <a:rPr sz="1496" b="0">
                <a:solidFill>
                  <a:srgbClr val="E6E6E6"/>
                </a:solidFill>
                <a:latin typeface="Consolas"/>
              </a:rPr>
              <a:t>    // </a:t>
            </a:r>
            <a:r>
              <a:rPr sz="1496" b="0">
                <a:solidFill>
                  <a:srgbClr val="C678DD"/>
                </a:solidFill>
                <a:latin typeface="Consolas"/>
              </a:rPr>
              <a:t>true</a:t>
            </a:r>
            <a:r>
              <a:rPr sz="1496" b="0">
                <a:solidFill>
                  <a:srgbClr val="E6E6E6"/>
                </a:solidFill>
                <a:latin typeface="Consolas"/>
              </a:rPr>
              <a:t>  😱 turni o</a:t>
            </a:r>
            <a:r>
              <a:rPr sz="1496" b="0">
                <a:solidFill>
                  <a:srgbClr val="98C379"/>
                </a:solidFill>
                <a:latin typeface="Consolas"/>
              </a:rPr>
              <a:t>'zicha o'</a:t>
            </a:r>
            <a:r>
              <a:rPr sz="1496" b="0">
                <a:solidFill>
                  <a:srgbClr val="E6E6E6"/>
                </a:solidFill>
                <a:latin typeface="Consolas"/>
              </a:rPr>
              <a:t>zgartiradi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5 === </a:t>
            </a:r>
            <a:r>
              <a:rPr sz="1496" b="0">
                <a:solidFill>
                  <a:srgbClr val="98C379"/>
                </a:solidFill>
                <a:latin typeface="Consolas"/>
              </a:rPr>
              <a:t>"5"</a:t>
            </a:r>
            <a:r>
              <a:rPr sz="1496" b="0">
                <a:solidFill>
                  <a:srgbClr val="E6E6E6"/>
                </a:solidFill>
                <a:latin typeface="Consolas"/>
              </a:rPr>
              <a:t>   // </a:t>
            </a:r>
            <a:r>
              <a:rPr sz="1496" b="0">
                <a:solidFill>
                  <a:srgbClr val="C678DD"/>
                </a:solidFill>
                <a:latin typeface="Consolas"/>
              </a:rPr>
              <a:t>false</a:t>
            </a:r>
            <a:r>
              <a:rPr sz="1496" b="0">
                <a:solidFill>
                  <a:srgbClr val="E6E6E6"/>
                </a:solidFill>
                <a:latin typeface="Consolas"/>
              </a:rPr>
              <a:t>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53339"/>
            <a:ext cx="11091672" cy="7807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190" b="1">
                <a:solidFill>
                  <a:srgbClr val="C99400"/>
                </a:solidFill>
                <a:latin typeface="Calibri"/>
              </a:rPr>
              <a:t>Doim === ishlating! Va: = tayinlash, === taqqoslash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Mantiqiy operatorlar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36954"/>
          <a:ext cx="11091672" cy="2007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Qachon true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&amp;&amp;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VA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Ikkalasi ham rost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||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YOKI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Kamida bittasi rost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!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EMAS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Teskarisiga aylantiradi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664026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64026"/>
            <a:ext cx="82296" cy="11005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55466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VA:</a:t>
            </a:r>
            <a:r>
              <a:rPr sz="2660" b="0">
                <a:solidFill>
                  <a:srgbClr val="1F232B"/>
                </a:solidFill>
                <a:latin typeface="Calibri"/>
              </a:rPr>
              <a:t> "Kinoga borasan — vazifa bajarilgan </a:t>
            </a:r>
            <a:r>
              <a:rPr sz="2660" b="1">
                <a:solidFill>
                  <a:srgbClr val="1F232B"/>
                </a:solidFill>
                <a:latin typeface="Calibri"/>
              </a:rPr>
              <a:t>va</a:t>
            </a:r>
            <a:r>
              <a:rPr sz="2660" b="0">
                <a:solidFill>
                  <a:srgbClr val="1F232B"/>
                </a:solidFill>
                <a:latin typeface="Calibri"/>
              </a:rPr>
              <a:t> xona yig'ilgan bo'lsa". </a:t>
            </a:r>
            <a:r>
              <a:rPr sz="2660" b="1">
                <a:solidFill>
                  <a:srgbClr val="1F232B"/>
                </a:solidFill>
                <a:latin typeface="Calibri"/>
              </a:rPr>
              <a:t>YOKI:</a:t>
            </a:r>
            <a:r>
              <a:rPr sz="2660" b="0">
                <a:solidFill>
                  <a:srgbClr val="1F232B"/>
                </a:solidFill>
                <a:latin typeface="Calibri"/>
              </a:rPr>
              <a:t> "Muzqaymoq — a'lo baho </a:t>
            </a:r>
            <a:r>
              <a:rPr sz="2660" b="1">
                <a:solidFill>
                  <a:srgbClr val="1F232B"/>
                </a:solidFill>
                <a:latin typeface="Calibri"/>
              </a:rPr>
              <a:t>yoki</a:t>
            </a:r>
            <a:r>
              <a:rPr sz="2660" b="0">
                <a:solidFill>
                  <a:srgbClr val="1F232B"/>
                </a:solidFill>
                <a:latin typeface="Calibri"/>
              </a:rPr>
              <a:t> tug'ilgan kun".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4064"/>
            <a:ext cx="11091672" cy="10772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3892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13248"/>
            <a:ext cx="10725912" cy="7298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son = 15;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son &gt;= 10 &amp;&amp; son &lt;= 20   // </a:t>
            </a:r>
            <a:r>
              <a:rPr sz="1904" b="0">
                <a:solidFill>
                  <a:srgbClr val="C678DD"/>
                </a:solidFill>
                <a:latin typeface="Consolas"/>
              </a:rPr>
              <a:t>true</a:t>
            </a:r>
            <a:r>
              <a:rPr sz="1904" b="0">
                <a:solidFill>
                  <a:srgbClr val="E6E6E6"/>
                </a:solidFill>
                <a:latin typeface="Consolas"/>
              </a:rPr>
              <a:t> — oraliqda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if / else — dastur qaror qabul qiladi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71819"/>
            <a:ext cx="11091672" cy="267321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2668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01003"/>
            <a:ext cx="10725912" cy="23257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harorat = 28;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(harorat &gt; 25)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</a:t>
            </a:r>
            <a:r>
              <a:rPr sz="1904" b="0">
                <a:solidFill>
                  <a:srgbClr val="98C379"/>
                </a:solidFill>
                <a:latin typeface="Consolas"/>
              </a:rPr>
              <a:t>"Issiq! Kepka kiying 🧢"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 </a:t>
            </a:r>
            <a:r>
              <a:rPr sz="1904" b="0">
                <a:solidFill>
                  <a:srgbClr val="C678DD"/>
                </a:solidFill>
                <a:latin typeface="Consolas"/>
              </a:rPr>
              <a:t>else</a:t>
            </a:r>
            <a:r>
              <a:rPr sz="1904" b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</a:t>
            </a:r>
            <a:r>
              <a:rPr sz="1904" b="0">
                <a:solidFill>
                  <a:srgbClr val="98C379"/>
                </a:solidFill>
                <a:latin typeface="Consolas"/>
              </a:rPr>
              <a:t>"Havo salqin 🧥"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6449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Shart </a:t>
            </a:r>
            <a:r>
              <a:rPr sz="2576" b="0">
                <a:solidFill>
                  <a:srgbClr val="B02A4A"/>
                </a:solidFill>
                <a:latin typeface="Consolas"/>
              </a:rPr>
              <a:t>true</a:t>
            </a:r>
            <a:r>
              <a:rPr sz="2800" b="0">
                <a:solidFill>
                  <a:srgbClr val="1F232B"/>
                </a:solidFill>
                <a:latin typeface="Calibri"/>
              </a:rPr>
              <a:t> bo'lsa — birinchi blok, </a:t>
            </a:r>
            <a:r>
              <a:rPr sz="2576" b="0">
                <a:solidFill>
                  <a:srgbClr val="B02A4A"/>
                </a:solidFill>
                <a:latin typeface="Consolas"/>
              </a:rPr>
              <a:t>false</a:t>
            </a:r>
            <a:r>
              <a:rPr sz="2800" b="0">
                <a:solidFill>
                  <a:srgbClr val="1F232B"/>
                </a:solidFill>
                <a:latin typeface="Calibri"/>
              </a:rPr>
              <a:t> bo'lsa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else</a:t>
            </a:r>
            <a:r>
              <a:rPr sz="2800" b="0">
                <a:solidFill>
                  <a:srgbClr val="1F232B"/>
                </a:solidFill>
                <a:latin typeface="Calibri"/>
              </a:rPr>
              <a:t> bloki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72451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else if — bir nechta variant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394996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3602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ball = 78;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baho;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(ball &gt;= 86)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baho = 5;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 </a:t>
            </a:r>
            <a:r>
              <a:rPr sz="1904" b="0">
                <a:solidFill>
                  <a:srgbClr val="C678DD"/>
                </a:solidFill>
                <a:latin typeface="Consolas"/>
              </a:rPr>
              <a:t>else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(ball &gt;= 71)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baho = 4;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 </a:t>
            </a:r>
            <a:r>
              <a:rPr sz="1904" b="0">
                <a:solidFill>
                  <a:srgbClr val="C678DD"/>
                </a:solidFill>
                <a:latin typeface="Consolas"/>
              </a:rPr>
              <a:t>else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(ball &gt;= 56)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baho = 3;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 </a:t>
            </a:r>
            <a:r>
              <a:rPr sz="1904" b="0">
                <a:solidFill>
                  <a:srgbClr val="C678DD"/>
                </a:solidFill>
                <a:latin typeface="Consolas"/>
              </a:rPr>
              <a:t>else</a:t>
            </a:r>
            <a:r>
              <a:rPr sz="1904" b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baho = 2;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Yuqoridan pastga tekshiriladi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2026412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Birinchi rost</a:t>
            </a:r>
            <a:r>
              <a:rPr sz="2800" b="0">
                <a:solidFill>
                  <a:srgbClr val="1F232B"/>
                </a:solidFill>
                <a:latin typeface="Calibri"/>
              </a:rPr>
              <a:t> shart bajariladi — qolganlari tekshirilmaydi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3080004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78 ≥ 86? yo'q → 78 ≥ 71? </a:t>
            </a:r>
            <a:r>
              <a:rPr sz="2800" b="1">
                <a:solidFill>
                  <a:srgbClr val="1F232B"/>
                </a:solidFill>
                <a:latin typeface="Calibri"/>
              </a:rPr>
              <a:t>HA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baho = 4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324002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7356" y="4133595"/>
            <a:ext cx="5362956" cy="1522857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7356" y="4133595"/>
            <a:ext cx="82296" cy="152285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5956" y="4225035"/>
            <a:ext cx="4997196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Tartib muhim! </a:t>
            </a:r>
            <a:r>
              <a:rPr sz="2447" b="0">
                <a:solidFill>
                  <a:srgbClr val="B02A4A"/>
                </a:solidFill>
                <a:latin typeface="Consolas"/>
              </a:rPr>
              <a:t>&gt;= 56</a:t>
            </a:r>
            <a:r>
              <a:rPr sz="2660" b="0">
                <a:solidFill>
                  <a:srgbClr val="1F232B"/>
                </a:solidFill>
                <a:latin typeface="Calibri"/>
              </a:rPr>
              <a:t> birinchi yozilsa, 95 ball ham "3" bo'ladi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Ichma-ich shart va ternary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8388"/>
            <a:ext cx="11091672" cy="394996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325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7572"/>
            <a:ext cx="10725912" cy="3602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(login === </a:t>
            </a:r>
            <a:r>
              <a:rPr sz="1904" b="0">
                <a:solidFill>
                  <a:srgbClr val="98C379"/>
                </a:solidFill>
                <a:latin typeface="Consolas"/>
              </a:rPr>
              <a:t>"admin"</a:t>
            </a:r>
            <a:r>
              <a:rPr sz="1904" b="0">
                <a:solidFill>
                  <a:srgbClr val="E6E6E6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(parol === </a:t>
            </a:r>
            <a:r>
              <a:rPr sz="1904" b="0">
                <a:solidFill>
                  <a:srgbClr val="98C379"/>
                </a:solidFill>
                <a:latin typeface="Consolas"/>
              </a:rPr>
              <a:t>"12345"</a:t>
            </a:r>
            <a:r>
              <a:rPr sz="1904" b="0">
                <a:solidFill>
                  <a:srgbClr val="E6E6E6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</a:t>
            </a:r>
            <a:r>
              <a:rPr sz="1904" b="0">
                <a:solidFill>
                  <a:srgbClr val="98C379"/>
                </a:solidFill>
                <a:latin typeface="Consolas"/>
              </a:rPr>
              <a:t>"✅ Xush kelibsiz!"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} </a:t>
            </a:r>
            <a:r>
              <a:rPr sz="1904" b="0">
                <a:solidFill>
                  <a:srgbClr val="C678DD"/>
                </a:solidFill>
                <a:latin typeface="Consolas"/>
              </a:rPr>
              <a:t>else</a:t>
            </a:r>
            <a:r>
              <a:rPr sz="1904" b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</a:t>
            </a:r>
            <a:r>
              <a:rPr sz="1904" b="0">
                <a:solidFill>
                  <a:srgbClr val="98C379"/>
                </a:solidFill>
                <a:latin typeface="Consolas"/>
              </a:rPr>
              <a:t>"❌ Parol noto'g'ri"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// Ternary: shart ? rost : yolg'on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holat = yosh &gt;= 18 ? </a:t>
            </a:r>
            <a:r>
              <a:rPr sz="1904" b="0">
                <a:solidFill>
                  <a:srgbClr val="98C379"/>
                </a:solidFill>
                <a:latin typeface="Consolas"/>
              </a:rPr>
              <a:t>"katta"</a:t>
            </a:r>
            <a:r>
              <a:rPr sz="1904" b="0">
                <a:solidFill>
                  <a:srgbClr val="E6E6E6"/>
                </a:solidFill>
                <a:latin typeface="Consolas"/>
              </a:rPr>
              <a:t> : </a:t>
            </a:r>
            <a:r>
              <a:rPr sz="1904" b="0">
                <a:solidFill>
                  <a:srgbClr val="98C379"/>
                </a:solidFill>
                <a:latin typeface="Consolas"/>
              </a:rPr>
              <a:t>"voyaga yetmagan"</a:t>
            </a:r>
            <a:r>
              <a:rPr sz="1904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.log(`${son} — ${son % 2 === 0 ? </a:t>
            </a:r>
            <a:r>
              <a:rPr sz="1904" b="0">
                <a:solidFill>
                  <a:srgbClr val="98C379"/>
                </a:solidFill>
                <a:latin typeface="Consolas"/>
              </a:rPr>
              <a:t>"juft"</a:t>
            </a:r>
            <a:r>
              <a:rPr sz="1904" b="0">
                <a:solidFill>
                  <a:srgbClr val="E6E6E6"/>
                </a:solidFill>
                <a:latin typeface="Consolas"/>
              </a:rPr>
              <a:t> : </a:t>
            </a:r>
            <a:r>
              <a:rPr sz="1904" b="0">
                <a:solidFill>
                  <a:srgbClr val="98C379"/>
                </a:solidFill>
                <a:latin typeface="Consolas"/>
              </a:rPr>
              <a:t>"toq"</a:t>
            </a:r>
            <a:r>
              <a:rPr sz="1904" b="0">
                <a:solidFill>
                  <a:srgbClr val="E6E6E6"/>
                </a:solidFill>
                <a:latin typeface="Consolas"/>
              </a:rPr>
              <a:t>}`);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1780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Ternary — oddiy ikki variantli tanlov uchun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77782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switch — ko'p aniq variant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458833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424086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switch (kun)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case 1: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kunNomi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"Dushanba"</a:t>
            </a:r>
            <a:r>
              <a:rPr sz="176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break;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case 2: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kunNomi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"Seshanba"</a:t>
            </a:r>
            <a:r>
              <a:rPr sz="176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break;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case 6: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case 7: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kunNomi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"Dam olish kuni 🎉"</a:t>
            </a:r>
            <a:r>
              <a:rPr sz="176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break;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default: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kunNomi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"Noto'g'ri kun"</a:t>
            </a:r>
            <a:r>
              <a:rPr sz="176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Bitta qiymatni ko'p aniq variant bilan solishtirish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6591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2407412"/>
            <a:ext cx="4951476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Qat'iy taqqoslash (</a:t>
            </a:r>
            <a:r>
              <a:rPr sz="2392" b="0">
                <a:solidFill>
                  <a:srgbClr val="B02A4A"/>
                </a:solidFill>
                <a:latin typeface="Consolas"/>
              </a:rPr>
              <a:t>===</a:t>
            </a:r>
            <a:r>
              <a:rPr sz="26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55600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2984754"/>
            <a:ext cx="4951476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default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hech biri mos kelmasa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313334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7356" y="3974846"/>
            <a:ext cx="5362956" cy="1040256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7356" y="3974846"/>
            <a:ext cx="82296" cy="10402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5956" y="4066285"/>
            <a:ext cx="4997196" cy="8756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272" b="0">
                <a:solidFill>
                  <a:srgbClr val="B02A4A"/>
                </a:solidFill>
                <a:latin typeface="Consolas"/>
              </a:rPr>
              <a:t>break</a:t>
            </a:r>
            <a:r>
              <a:rPr sz="2470" b="0">
                <a:solidFill>
                  <a:srgbClr val="1F232B"/>
                </a:solidFill>
                <a:latin typeface="Calibri"/>
              </a:rPr>
              <a:t> unutilsa — keyingi </a:t>
            </a:r>
            <a:r>
              <a:rPr sz="2272" b="0">
                <a:solidFill>
                  <a:srgbClr val="B02A4A"/>
                </a:solidFill>
                <a:latin typeface="Consolas"/>
              </a:rPr>
              <a:t>case</a:t>
            </a:r>
            <a:r>
              <a:rPr sz="2470" b="0">
                <a:solidFill>
                  <a:srgbClr val="1F232B"/>
                </a:solidFill>
                <a:latin typeface="Calibri"/>
              </a:rPr>
              <a:t> lar ham bajariladi!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kirish tizimi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3264"/>
            <a:ext cx="11091672" cy="458833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812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2448"/>
            <a:ext cx="10725912" cy="424086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TOGRI_LOGIN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"malika"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TOGRI_PAROL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"qwerty123"</a:t>
            </a:r>
            <a:r>
              <a:rPr sz="176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login = prompt(</a:t>
            </a:r>
            <a:r>
              <a:rPr sz="1768" b="0">
                <a:solidFill>
                  <a:srgbClr val="98C379"/>
                </a:solidFill>
                <a:latin typeface="Consolas"/>
              </a:rPr>
              <a:t>"Login:"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parol = prompt(</a:t>
            </a:r>
            <a:r>
              <a:rPr sz="1768" b="0">
                <a:solidFill>
                  <a:srgbClr val="98C379"/>
                </a:solidFill>
                <a:latin typeface="Consolas"/>
              </a:rPr>
              <a:t>"Parol:"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if</a:t>
            </a:r>
            <a:r>
              <a:rPr sz="1768" b="0">
                <a:solidFill>
                  <a:srgbClr val="E6E6E6"/>
                </a:solidFill>
                <a:latin typeface="Consolas"/>
              </a:rPr>
              <a:t> (login === </a:t>
            </a:r>
            <a:r>
              <a:rPr sz="1768" b="0">
                <a:solidFill>
                  <a:srgbClr val="C678DD"/>
                </a:solidFill>
                <a:latin typeface="Consolas"/>
              </a:rPr>
              <a:t>null</a:t>
            </a:r>
            <a:r>
              <a:rPr sz="1768" b="0">
                <a:solidFill>
                  <a:srgbClr val="E6E6E6"/>
                </a:solidFill>
                <a:latin typeface="Consolas"/>
              </a:rPr>
              <a:t> || parol === </a:t>
            </a:r>
            <a:r>
              <a:rPr sz="1768" b="0">
                <a:solidFill>
                  <a:srgbClr val="C678DD"/>
                </a:solidFill>
                <a:latin typeface="Consolas"/>
              </a:rPr>
              <a:t>null</a:t>
            </a:r>
            <a:r>
              <a:rPr sz="1768" b="0">
                <a:solidFill>
                  <a:srgbClr val="E6E6E6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alert(</a:t>
            </a:r>
            <a:r>
              <a:rPr sz="1768" b="0">
                <a:solidFill>
                  <a:srgbClr val="98C379"/>
                </a:solidFill>
                <a:latin typeface="Consolas"/>
              </a:rPr>
              <a:t>"Kirish bekor qilindi"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} </a:t>
            </a:r>
            <a:r>
              <a:rPr sz="1768" b="0">
                <a:solidFill>
                  <a:srgbClr val="C678DD"/>
                </a:solidFill>
                <a:latin typeface="Consolas"/>
              </a:rPr>
              <a:t>else</a:t>
            </a: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  <a:r>
              <a:rPr sz="1768" b="0">
                <a:solidFill>
                  <a:srgbClr val="C678DD"/>
                </a:solidFill>
                <a:latin typeface="Consolas"/>
              </a:rPr>
              <a:t>if</a:t>
            </a:r>
            <a:r>
              <a:rPr sz="1768" b="0">
                <a:solidFill>
                  <a:srgbClr val="E6E6E6"/>
                </a:solidFill>
                <a:latin typeface="Consolas"/>
              </a:rPr>
              <a:t> (login === </a:t>
            </a:r>
            <a:r>
              <a:rPr sz="1768" b="0">
                <a:solidFill>
                  <a:srgbClr val="98C379"/>
                </a:solidFill>
                <a:latin typeface="Consolas"/>
              </a:rPr>
              <a:t>""</a:t>
            </a:r>
            <a:r>
              <a:rPr sz="1768" b="0">
                <a:solidFill>
                  <a:srgbClr val="E6E6E6"/>
                </a:solidFill>
                <a:latin typeface="Consolas"/>
              </a:rPr>
              <a:t> || parol === </a:t>
            </a:r>
            <a:r>
              <a:rPr sz="1768" b="0">
                <a:solidFill>
                  <a:srgbClr val="98C379"/>
                </a:solidFill>
                <a:latin typeface="Consolas"/>
              </a:rPr>
              <a:t>""</a:t>
            </a:r>
            <a:r>
              <a:rPr sz="1768" b="0">
                <a:solidFill>
                  <a:srgbClr val="E6E6E6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alert(</a:t>
            </a:r>
            <a:r>
              <a:rPr sz="1768" b="0">
                <a:solidFill>
                  <a:srgbClr val="98C379"/>
                </a:solidFill>
                <a:latin typeface="Consolas"/>
              </a:rPr>
              <a:t>"⚠️ Bo'sh bo'lmasin"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} </a:t>
            </a:r>
            <a:r>
              <a:rPr sz="1768" b="0">
                <a:solidFill>
                  <a:srgbClr val="C678DD"/>
                </a:solidFill>
                <a:latin typeface="Consolas"/>
              </a:rPr>
              <a:t>else</a:t>
            </a: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  <a:r>
              <a:rPr sz="1768" b="0">
                <a:solidFill>
                  <a:srgbClr val="C678DD"/>
                </a:solidFill>
                <a:latin typeface="Consolas"/>
              </a:rPr>
              <a:t>if</a:t>
            </a:r>
            <a:r>
              <a:rPr sz="1768" b="0">
                <a:solidFill>
                  <a:srgbClr val="E6E6E6"/>
                </a:solidFill>
                <a:latin typeface="Consolas"/>
              </a:rPr>
              <a:t> (login.toLowerCase() === TOGRI_LOGIN &amp;&amp; parol === TOGRI_PAROL)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alert(`✅ Xush kelibsiz, ${login}!`);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} </a:t>
            </a:r>
            <a:r>
              <a:rPr sz="1768" b="0">
                <a:solidFill>
                  <a:srgbClr val="C678DD"/>
                </a:solidFill>
                <a:latin typeface="Consolas"/>
              </a:rPr>
              <a:t>else</a:t>
            </a:r>
            <a:r>
              <a:rPr sz="1768" b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alert(</a:t>
            </a:r>
            <a:r>
              <a:rPr sz="1768" b="0">
                <a:solidFill>
                  <a:srgbClr val="98C379"/>
                </a:solidFill>
                <a:latin typeface="Consolas"/>
              </a:rPr>
              <a:t>"❌ Login yoki parol noto'g'ri"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topshiriqlar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Juft yoki toq:</a:t>
            </a:r>
            <a:r>
              <a:rPr sz="2800" b="0">
                <a:solidFill>
                  <a:srgbClr val="1F232B"/>
                </a:solidFill>
                <a:latin typeface="Calibri"/>
              </a:rPr>
              <a:t> juft/toq, musbat/manfiy/nol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Baho aniqlovchi:</a:t>
            </a:r>
            <a:r>
              <a:rPr sz="2800" b="0">
                <a:solidFill>
                  <a:srgbClr val="1F232B"/>
                </a:solidFill>
                <a:latin typeface="Calibri"/>
              </a:rPr>
              <a:t> 0–100 tekshiruvi + baho va izoh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Kabisa yili:</a:t>
            </a:r>
            <a:r>
              <a:rPr sz="2800" b="0">
                <a:solidFill>
                  <a:srgbClr val="1F232B"/>
                </a:solidFill>
                <a:latin typeface="Calibri"/>
              </a:rPr>
              <a:t> 4 ga bo'linsa va 100 ga bo'linmasa, yoki 400 ga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Chipta narxi:</a:t>
            </a:r>
            <a:r>
              <a:rPr sz="2800" b="0">
                <a:solidFill>
                  <a:srgbClr val="1F232B"/>
                </a:solidFill>
                <a:latin typeface="Calibri"/>
              </a:rPr>
              <a:t> yoshga qarab + seshanba 50% chegirma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Oy nomi (switch):</a:t>
            </a:r>
            <a:r>
              <a:rPr sz="2800" b="0">
                <a:solidFill>
                  <a:srgbClr val="1F232B"/>
                </a:solidFill>
                <a:latin typeface="Calibri"/>
              </a:rPr>
              <a:t> 1–12 → oy nomi va fasl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if (ball = 100)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tayinlash! To'g'risi </a:t>
            </a:r>
            <a:r>
              <a:rPr sz="2576" b="0">
                <a:solidFill>
                  <a:srgbClr val="B02A4A"/>
                </a:solidFill>
                <a:latin typeface="Consolas"/>
              </a:rPr>
              <a:t>===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if (10 &lt; son &lt; 20)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son &gt; 10 &amp;&amp; son &lt; 20</a:t>
            </a:r>
            <a:r>
              <a:rPr sz="2800" b="0">
                <a:solidFill>
                  <a:srgbClr val="1F232B"/>
                </a:solidFill>
                <a:latin typeface="Calibri"/>
              </a:rPr>
              <a:t> bo'lishi kerak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"9" &gt; "10"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true — matnlar alifbo bo'yicha; </a:t>
            </a:r>
            <a:r>
              <a:rPr sz="2576" b="0">
                <a:solidFill>
                  <a:srgbClr val="B02A4A"/>
                </a:solidFill>
                <a:latin typeface="Consolas"/>
              </a:rPr>
              <a:t>Number()</a:t>
            </a:r>
            <a:r>
              <a:rPr sz="2800" b="0">
                <a:solidFill>
                  <a:srgbClr val="1F232B"/>
                </a:solidFill>
                <a:latin typeface="Calibri"/>
              </a:rPr>
              <a:t>!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switch</a:t>
            </a:r>
            <a:r>
              <a:rPr sz="2800" b="0">
                <a:solidFill>
                  <a:srgbClr val="1F232B"/>
                </a:solidFill>
                <a:latin typeface="Calibri"/>
              </a:rPr>
              <a:t> da </a:t>
            </a:r>
            <a:r>
              <a:rPr sz="2576" b="0">
                <a:solidFill>
                  <a:srgbClr val="B02A4A"/>
                </a:solidFill>
                <a:latin typeface="Consolas"/>
              </a:rPr>
              <a:t>break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{ }</a:t>
            </a:r>
            <a:r>
              <a:rPr sz="2800" b="0">
                <a:solidFill>
                  <a:srgbClr val="1F232B"/>
                </a:solidFill>
                <a:latin typeface="Calibri"/>
              </a:rPr>
              <a:t> qavslar yopilmagan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17 % 5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17 % 5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5 === "5"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undefined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5 === "5"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undefined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let x = 10; x += 5; x *= 2;</a:t>
            </a:r>
            <a:r>
              <a:rPr sz="2400" b="1">
                <a:solidFill>
                  <a:srgbClr val="1F232B"/>
                </a:solidFill>
                <a:latin typeface="Calibri"/>
              </a:rPr>
              <a:t> dan keyin </a:t>
            </a:r>
            <a:r>
              <a:rPr sz="2208" b="1">
                <a:solidFill>
                  <a:srgbClr val="B02A4A"/>
                </a:solidFill>
                <a:latin typeface="Consolas"/>
              </a:rPr>
              <a:t>x</a:t>
            </a:r>
            <a:r>
              <a:rPr sz="2400" b="1">
                <a:solidFill>
                  <a:srgbClr val="1F232B"/>
                </a:solidFill>
                <a:latin typeface="Calibri"/>
              </a:rPr>
              <a:t> nechaga teng?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let x = 10; x += 5; x *= 2;</a:t>
            </a:r>
            <a:r>
              <a:rPr sz="2400" b="1">
                <a:solidFill>
                  <a:srgbClr val="1F232B"/>
                </a:solidFill>
                <a:latin typeface="Calibri"/>
              </a:rPr>
              <a:t> dan keyin </a:t>
            </a:r>
            <a:r>
              <a:rPr sz="2208" b="1">
                <a:solidFill>
                  <a:srgbClr val="B02A4A"/>
                </a:solidFill>
                <a:latin typeface="Consolas"/>
              </a:rPr>
              <a:t>x</a:t>
            </a:r>
            <a:r>
              <a:rPr sz="2400" b="1">
                <a:solidFill>
                  <a:srgbClr val="1F232B"/>
                </a:solidFill>
                <a:latin typeface="Calibri"/>
              </a:rPr>
              <a:t> nechaga teng?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Ball 92. </a:t>
            </a:r>
            <a:r>
              <a:rPr sz="2208" b="1">
                <a:solidFill>
                  <a:srgbClr val="B02A4A"/>
                </a:solidFill>
                <a:latin typeface="Consolas"/>
              </a:rPr>
              <a:t>if (ball &gt;= 56) log("3"); else if (ball &gt;= 86) log("5");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 chiqaradi?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Ikkalasi ham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narsa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Ball 92. </a:t>
            </a:r>
            <a:r>
              <a:rPr sz="2208" b="1">
                <a:solidFill>
                  <a:srgbClr val="B02A4A"/>
                </a:solidFill>
                <a:latin typeface="Consolas"/>
              </a:rPr>
              <a:t>if (ball &gt;= 56) log("3"); else if (ball &gt;= 86) log("5");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 chiqaradi?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Ikkalasi ham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narsa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29384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56815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BMI:</a:t>
            </a:r>
            <a:r>
              <a:rPr sz="2800" b="0">
                <a:solidFill>
                  <a:srgbClr val="1F232B"/>
                </a:solidFill>
                <a:latin typeface="Calibri"/>
              </a:rPr>
              <a:t> vazn / bo'y² va izoh (kam, me'yorda, ortiqcha)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06039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63347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Uchburchak:</a:t>
            </a:r>
            <a:r>
              <a:rPr sz="2800" b="0">
                <a:solidFill>
                  <a:srgbClr val="1F232B"/>
                </a:solidFill>
                <a:latin typeface="Calibri"/>
              </a:rPr>
              <a:t> mavjudmi va qanday turda?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310127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Tosh-qaychi-qog'oz:</a:t>
            </a:r>
            <a:r>
              <a:rPr sz="2800" b="0">
                <a:solidFill>
                  <a:srgbClr val="1F232B"/>
                </a:solidFill>
                <a:latin typeface="Calibri"/>
              </a:rPr>
              <a:t> kompyuter </a:t>
            </a:r>
            <a:r>
              <a:rPr sz="2576" b="0">
                <a:solidFill>
                  <a:srgbClr val="B02A4A"/>
                </a:solidFill>
                <a:latin typeface="Consolas"/>
              </a:rPr>
              <a:t>Math.random()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tanlaydi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16-mavzu · JavaScript'da operatorlar va ifodalar. Shart operatorlari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Arifmetika: </a:t>
            </a:r>
            <a:r>
              <a:rPr sz="2576" b="0">
                <a:solidFill>
                  <a:srgbClr val="B02A4A"/>
                </a:solidFill>
                <a:latin typeface="Consolas"/>
              </a:rPr>
              <a:t>+ - * / % **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%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qoldiq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Taqqoslash: </a:t>
            </a:r>
            <a:r>
              <a:rPr sz="2576" b="0">
                <a:solidFill>
                  <a:srgbClr val="B02A4A"/>
                </a:solidFill>
                <a:latin typeface="Consolas"/>
              </a:rPr>
              <a:t>&gt; &lt; &gt;= &lt;= === !==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doim </a:t>
            </a:r>
            <a:r>
              <a:rPr sz="2576" b="0">
                <a:solidFill>
                  <a:srgbClr val="B02A4A"/>
                </a:solidFill>
                <a:latin typeface="Consolas"/>
              </a:rPr>
              <a:t>===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Mantiq: </a:t>
            </a:r>
            <a:r>
              <a:rPr sz="2576" b="0">
                <a:solidFill>
                  <a:srgbClr val="B02A4A"/>
                </a:solidFill>
                <a:latin typeface="Consolas"/>
              </a:rPr>
              <a:t>&amp;&amp;</a:t>
            </a:r>
            <a:r>
              <a:rPr sz="2800" b="0">
                <a:solidFill>
                  <a:srgbClr val="1F232B"/>
                </a:solidFill>
                <a:latin typeface="Calibri"/>
              </a:rPr>
              <a:t> ikkalasi, </a:t>
            </a:r>
            <a:r>
              <a:rPr sz="2576" b="0">
                <a:solidFill>
                  <a:srgbClr val="B02A4A"/>
                </a:solidFill>
                <a:latin typeface="Consolas"/>
              </a:rPr>
              <a:t>||</a:t>
            </a:r>
            <a:r>
              <a:rPr sz="2800" b="0">
                <a:solidFill>
                  <a:srgbClr val="1F232B"/>
                </a:solidFill>
                <a:latin typeface="Calibri"/>
              </a:rPr>
              <a:t> bittasi, </a:t>
            </a:r>
            <a:r>
              <a:rPr sz="2576" b="0">
                <a:solidFill>
                  <a:srgbClr val="B02A4A"/>
                </a:solidFill>
                <a:latin typeface="Consolas"/>
              </a:rPr>
              <a:t>!</a:t>
            </a:r>
            <a:r>
              <a:rPr sz="2800" b="0">
                <a:solidFill>
                  <a:srgbClr val="1F232B"/>
                </a:solidFill>
                <a:latin typeface="Calibri"/>
              </a:rPr>
              <a:t> teskari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if / else if / else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birinchi rost shart; tartibga e'tibor!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Ternary </a:t>
            </a:r>
            <a:r>
              <a:rPr sz="2576" b="0">
                <a:solidFill>
                  <a:srgbClr val="B02A4A"/>
                </a:solidFill>
                <a:latin typeface="Consolas"/>
              </a:rPr>
              <a:t>shart ? a : b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switch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break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17. JavaScript'da takrorlanish operatorlari va funksiyalar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16-mavzu: JavaScript'da operatorlar va ifodalar. Shart operatorlari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