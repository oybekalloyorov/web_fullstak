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Maslahat: sayyorani o'zidan katta shaffof doira ichiga qo'ying va doirani aylantiring.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transform: scale(1.2).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Elementning oddiy holatiga.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infinite.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transform va opacity.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E2552B"/>
                </a:solidFill>
                <a:latin typeface="Calibri"/>
              </a:rPr>
              <a:t>12-MAVZU  ·  I BOB. HTML VA 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1F232B"/>
                </a:solidFill>
                <a:latin typeface="Calibri"/>
              </a:rPr>
              <a:t>CSS animatsiyalar va transformatsiyalar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transform (translate, scale, rotate, skew), transition bilan silliq o'tishlar, @keyframes va animation xossalari; interaktiv tugmalar, yuklanish belgisi, kartalar effektlari.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12-mavzu · CSS animatsiyalar va transformatsiyalar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Siljitish, kattalashtirish, burish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transform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Holat o'zgarganda silliq o'tish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transition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O'zi harakatlanuvchi animatsiya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@keyframes + animation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Effektlar: "tirik" tugmalar, yuklanish belgisi, paydo bo'luvchi kartalar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Transform — shaklni o'zgartirish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12-mavzu · CSS animatsiyalar va transformatsiyalar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56987"/>
            <a:ext cx="11091672" cy="180685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1851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6171"/>
            <a:ext cx="10725912" cy="145938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.t1 { transform: translateX(30px); }           /* o'ngga */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.t2 { transform: translateY(-20px); }          /* tepaga */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.t3 { transform: scale(1.3); }                 /* kattalashtirish */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.t5 { transform: rotate(45deg); }              /* burish */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.t6 { transform: skew(15deg); }                /* qiyshaytirish */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.t7 { transform: rotate(-10deg) scale(1.1); }  /* birga */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483297"/>
          <a:ext cx="11091672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40030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Funksiya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Vazifasi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translate(x, y)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Siljitish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scale(n)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1 = asl o'lcham, 1.1 = 10% katta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rotate(deg)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Burish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skew(deg)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Qiyshaytirish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60120" y="5704273"/>
            <a:ext cx="10680192" cy="372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00" b="0">
                <a:solidFill>
                  <a:srgbClr val="1F232B"/>
                </a:solidFill>
                <a:latin typeface="Calibri"/>
              </a:rPr>
              <a:t>Boshqa elementlarga </a:t>
            </a:r>
            <a:r>
              <a:rPr sz="2000" b="1">
                <a:solidFill>
                  <a:srgbClr val="1F232B"/>
                </a:solidFill>
                <a:latin typeface="Calibri"/>
              </a:rPr>
              <a:t>ta'sir qilmaydi</a:t>
            </a:r>
            <a:r>
              <a:rPr sz="2000" b="0">
                <a:solidFill>
                  <a:srgbClr val="1F232B"/>
                </a:solidFill>
                <a:latin typeface="Calibri"/>
              </a:rPr>
              <a:t>; </a:t>
            </a:r>
            <a:r>
              <a:rPr sz="1840" b="0">
                <a:solidFill>
                  <a:srgbClr val="B02A4A"/>
                </a:solidFill>
                <a:latin typeface="Consolas"/>
              </a:rPr>
              <a:t>transform-origin</a:t>
            </a:r>
            <a:r>
              <a:rPr sz="2000" b="0">
                <a:solidFill>
                  <a:srgbClr val="1F232B"/>
                </a:solidFill>
                <a:latin typeface="Calibri"/>
              </a:rPr>
              <a:t> — qaysi nuqtadan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581857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Transition — silliq o'tish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12-mavzu · CSS animatsiyalar va transformatsiyalar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648"/>
            <a:ext cx="11091672" cy="1522857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648"/>
            <a:ext cx="82296" cy="152285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9088"/>
            <a:ext cx="10725912" cy="135826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Chiroq:</a:t>
            </a:r>
            <a:r>
              <a:rPr sz="2660" b="0">
                <a:solidFill>
                  <a:srgbClr val="1F232B"/>
                </a:solidFill>
                <a:latin typeface="Calibri"/>
              </a:rPr>
              <a:t> oddiy chiroq bir zumda yonadi; kinoteatr chiroqlari asta-sekin. Siz boshlang'ich va oxirgi holatni berasiz — oradagi "kadrlar"ni brauzer chizadi.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59961"/>
            <a:ext cx="11091672" cy="299240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1482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89145"/>
            <a:ext cx="10725912" cy="26449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.tugma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background: #4f46e5;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transition: background-color 0.3s ease, transform 0.3s ease;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.tugma:hover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background: #db2777;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transform: scale(1.1);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transition sintaksisi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12-mavzu · CSS animatsiyalar va transformatsiyalar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15310"/>
            <a:ext cx="11091672" cy="157886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017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44494"/>
            <a:ext cx="10725912" cy="12313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transition: background-color 0.3s ease 0s;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7F848E"/>
                </a:solidFill>
                <a:latin typeface="Consolas"/>
              </a:rPr>
              <a:t>/*          │                │    │    └ kechikish (delay)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    │                │    └ tezlik egri chizig'i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    │                └ davomiylik (s, ms)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    └ qaysi xossa (all — hammasi)          */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313630"/>
          <a:ext cx="11091672" cy="1601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40030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Egri chiziq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Xatti-harakat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linear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Bir tekis (robotdek)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ease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Sekin → tez → sekin (standart, tabiiy)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ease-in</a:t>
                      </a:r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ease-out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Sekin boshlanadi / sekin tugaydi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5134302"/>
            <a:ext cx="11091672" cy="557657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134302"/>
            <a:ext cx="82296" cy="55765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225742"/>
            <a:ext cx="10725912" cy="39306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⚠️ </a:t>
            </a:r>
            <a:r>
              <a:rPr sz="1748" b="0">
                <a:solidFill>
                  <a:srgbClr val="B02A4A"/>
                </a:solidFill>
                <a:latin typeface="Consolas"/>
              </a:rPr>
              <a:t>transition</a:t>
            </a:r>
            <a:r>
              <a:rPr sz="1900" b="0">
                <a:solidFill>
                  <a:srgbClr val="1F232B"/>
                </a:solidFill>
                <a:latin typeface="Calibri"/>
              </a:rPr>
              <a:t> ni </a:t>
            </a:r>
            <a:r>
              <a:rPr sz="1900" b="1">
                <a:solidFill>
                  <a:srgbClr val="1F232B"/>
                </a:solidFill>
                <a:latin typeface="Calibri"/>
              </a:rPr>
              <a:t>oddiy holatga</a:t>
            </a:r>
            <a:r>
              <a:rPr sz="1900" b="0">
                <a:solidFill>
                  <a:srgbClr val="1F232B"/>
                </a:solidFill>
                <a:latin typeface="Calibri"/>
              </a:rPr>
              <a:t> yozing, </a:t>
            </a:r>
            <a:r>
              <a:rPr sz="1748" b="0">
                <a:solidFill>
                  <a:srgbClr val="B02A4A"/>
                </a:solidFill>
                <a:latin typeface="Consolas"/>
              </a:rPr>
              <a:t>:hover</a:t>
            </a:r>
            <a:r>
              <a:rPr sz="1900" b="0">
                <a:solidFill>
                  <a:srgbClr val="1F232B"/>
                </a:solidFill>
                <a:latin typeface="Calibri"/>
              </a:rPr>
              <a:t> ga emas — aks holda qaytishi keskin bo'ladi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Animation: 1-qadam — @keyframes "ssenariy"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12-mavzu · CSS animatsiyalar va transformatsiyalar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6799"/>
            <a:ext cx="11091672" cy="319759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61663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35983"/>
            <a:ext cx="10725912" cy="285012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@keyframes sakrash {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0%   { transform: translateY(0); 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50%  { transform: translateY(-40px); 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100% { transform: translateY(0); 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7F848E"/>
                </a:solidFill>
                <a:latin typeface="Consolas"/>
              </a:rPr>
              <a:t>/* Ikki bosqich bo'lsa: */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@keyframes paydo {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from { opacity: 0; 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to   { opacity: 1; 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23851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24" b="0">
                <a:solidFill>
                  <a:srgbClr val="B02A4A"/>
                </a:solidFill>
                <a:latin typeface="Consolas"/>
              </a:rPr>
              <a:t>transition</a:t>
            </a:r>
            <a:r>
              <a:rPr sz="2200" b="0">
                <a:solidFill>
                  <a:srgbClr val="1F232B"/>
                </a:solidFill>
                <a:latin typeface="Calibri"/>
              </a:rPr>
              <a:t> — faqat holat o'zgarganda, A → B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049581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437693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24" b="0">
                <a:solidFill>
                  <a:srgbClr val="B02A4A"/>
                </a:solidFill>
                <a:latin typeface="Consolas"/>
              </a:rPr>
              <a:t>animation</a:t>
            </a:r>
            <a:r>
              <a:rPr sz="2200" b="0">
                <a:solidFill>
                  <a:srgbClr val="1F232B"/>
                </a:solidFill>
                <a:latin typeface="Calibri"/>
              </a:rPr>
              <a:t> — </a:t>
            </a:r>
            <a:r>
              <a:rPr sz="2200" b="1">
                <a:solidFill>
                  <a:srgbClr val="1F232B"/>
                </a:solidFill>
                <a:latin typeface="Calibri"/>
              </a:rPr>
              <a:t>o'zi boshlanadi</a:t>
            </a:r>
            <a:r>
              <a:rPr sz="2200" b="0">
                <a:solidFill>
                  <a:srgbClr val="1F232B"/>
                </a:solidFill>
                <a:latin typeface="Calibri"/>
              </a:rPr>
              <a:t>, ko'p bosqichli, cheksiz takrorlanishi mumkin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56342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Animation: 2-qadam — elementga qo'llash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12-mavzu · CSS animatsiyalar va transformatsiyalar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92294"/>
            <a:ext cx="11091672" cy="107728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4715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1478"/>
            <a:ext cx="10725912" cy="72981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.top { animation: sakrash 1s ease-in-out infinite; 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7F848E"/>
                </a:solidFill>
                <a:latin typeface="Consolas"/>
              </a:rPr>
              <a:t>/* nomi | davomiylik | tezlik | takror */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789035"/>
          <a:ext cx="11091672" cy="3011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019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Xossa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Qiymatlar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animation-duration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2s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500ms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animation-iteration-count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1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3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infinite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animation-direction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normal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reverse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alternate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animation-delay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0.5s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animation-fill-mode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forwards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— oxirgi holatda qolish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Misol: yuklanish belgisi (spinner)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12-mavzu · CSS animatsiyalar va transformatsiyalar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10837"/>
            <a:ext cx="11091672" cy="363077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65701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40021"/>
            <a:ext cx="10725912" cy="328330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.spinner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width: 50px; height: 50px;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border: 5px solid #e0e7ff;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border-top-color: #4f46e5;   /* faqat tepa qismi rangli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border-radius: 50%;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animation: aylan 0.8s linear infinite;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@keyframes aylan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to { transform: rotate(360deg); 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Misol: paydo bo'luvchi kartalar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12-mavzu · CSS animatsiyalar va transformatsiyalar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3264"/>
            <a:ext cx="11091672" cy="458833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812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2448"/>
            <a:ext cx="10725912" cy="424086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@keyframes paydo {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from { opacity: 0; transform: translateY(30px); }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to   { opacity: 1; transform: translateY(0); }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.karta {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animation: paydo 0.6s ease both;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transition: transform .25s, box-shadow .25s;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.karta:nth-child(2) { animation-delay: 0.15s; }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.karta:nth-child(3) { animation-delay: 0.3s; }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.karta:hover {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transform: translateY(-8px);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box-shadow: 0 16px 30px rgba(79,70,229,.25);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Misol: porlovchi tugma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12-mavzu · CSS animatsiyalar va transformatsiyalar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10837"/>
            <a:ext cx="11091672" cy="363077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65701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40021"/>
            <a:ext cx="10725912" cy="328330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.porla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background: linear-gradient(90deg, #4f46e5, #db2777, #4f46e5);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background-size: 200% 100%;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border-radius: 999px;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animation: oqim 3s linear infinite;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transition: transform .2s;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.porla:hover  { transform: scale(1.06); 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.porla:active { transform: scale(.96); 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@keyframes oqim { to { background-position: -200% 0; } 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Unumdorlik va foydalanuvchilar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12-mavzu · CSS animatsiyalar va transformatsiyalar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Eng tez xossalar: </a:t>
            </a:r>
            <a:r>
              <a:rPr sz="2576" b="1">
                <a:solidFill>
                  <a:srgbClr val="B02A4A"/>
                </a:solidFill>
                <a:latin typeface="Consolas"/>
              </a:rPr>
              <a:t>transform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576" b="1">
                <a:solidFill>
                  <a:srgbClr val="B02A4A"/>
                </a:solidFill>
                <a:latin typeface="Consolas"/>
              </a:rPr>
              <a:t>opacity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width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top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margin</a:t>
            </a:r>
            <a:r>
              <a:rPr sz="2800" b="0">
                <a:solidFill>
                  <a:srgbClr val="1F232B"/>
                </a:solidFill>
                <a:latin typeface="Calibri"/>
              </a:rPr>
              <a:t> animatsiyasi sahifani sekinlashtiradi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Me'yorni</a:t>
            </a:r>
            <a:r>
              <a:rPr sz="2800" b="0">
                <a:solidFill>
                  <a:srgbClr val="1F232B"/>
                </a:solidFill>
                <a:latin typeface="Calibri"/>
              </a:rPr>
              <a:t> saqlang — hamma narsa sakrasa, ko'z charchaydi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244596"/>
            <a:ext cx="11091672" cy="139647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99460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73780"/>
            <a:ext cx="10725912" cy="10489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@media (prefers-reduced-motion: reduce)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* { animation: none !important; transition: none !important; 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60523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Ba'zi odamlarda harakatdan bosh aylanadi — ularni hurmat qiling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502054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portfolio jonlanadi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12-mavzu · CSS animatsiyalar va transformatsiyalar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24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Barcha tugma va havolalarga silliq </a:t>
            </a:r>
            <a:r>
              <a:rPr sz="2576" b="0">
                <a:solidFill>
                  <a:srgbClr val="B02A4A"/>
                </a:solidFill>
                <a:latin typeface="Consolas"/>
              </a:rPr>
              <a:t>:hover</a:t>
            </a:r>
            <a:r>
              <a:rPr sz="2800" b="0">
                <a:solidFill>
                  <a:srgbClr val="1F232B"/>
                </a:solidFill>
                <a:latin typeface="Calibri"/>
              </a:rPr>
              <a:t> (</a:t>
            </a:r>
            <a:r>
              <a:rPr sz="2576" b="0">
                <a:solidFill>
                  <a:srgbClr val="B02A4A"/>
                </a:solidFill>
                <a:latin typeface="Consolas"/>
              </a:rPr>
              <a:t>transition</a:t>
            </a:r>
            <a:r>
              <a:rPr sz="2800" b="0">
                <a:solidFill>
                  <a:srgbClr val="1F232B"/>
                </a:solidFill>
                <a:latin typeface="Calibri"/>
              </a:rPr>
              <a:t>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Loyiha kartalari hover'da </a:t>
            </a:r>
            <a:r>
              <a:rPr sz="2800" b="1">
                <a:solidFill>
                  <a:srgbClr val="1F232B"/>
                </a:solidFill>
                <a:latin typeface="Calibri"/>
              </a:rPr>
              <a:t>8px ko'tarilsin</a:t>
            </a:r>
            <a:r>
              <a:rPr sz="2800" b="0">
                <a:solidFill>
                  <a:srgbClr val="1F232B"/>
                </a:solidFill>
                <a:latin typeface="Calibri"/>
              </a:rPr>
              <a:t>, soya kuchaysin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Hero sarlavha va tugma pastdan </a:t>
            </a:r>
            <a:r>
              <a:rPr sz="2800" b="1">
                <a:solidFill>
                  <a:srgbClr val="1F232B"/>
                </a:solidFill>
                <a:latin typeface="Calibri"/>
              </a:rPr>
              <a:t>"paydo"</a:t>
            </a:r>
            <a:r>
              <a:rPr sz="2800" b="0">
                <a:solidFill>
                  <a:srgbClr val="1F232B"/>
                </a:solidFill>
                <a:latin typeface="Calibri"/>
              </a:rPr>
              <a:t> bo'lsin (kechikish bilan)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879088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906520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Profil rasmiga </a:t>
            </a:r>
            <a:r>
              <a:rPr sz="2800" b="1">
                <a:solidFill>
                  <a:srgbClr val="1F232B"/>
                </a:solidFill>
                <a:latin typeface="Calibri"/>
              </a:rPr>
              <a:t>"nafas olish"</a:t>
            </a:r>
            <a:r>
              <a:rPr sz="2800" b="0">
                <a:solidFill>
                  <a:srgbClr val="1F232B"/>
                </a:solidFill>
                <a:latin typeface="Calibri"/>
              </a:rPr>
              <a:t>: </a:t>
            </a:r>
            <a:r>
              <a:rPr sz="2576" b="0">
                <a:solidFill>
                  <a:srgbClr val="B02A4A"/>
                </a:solidFill>
                <a:latin typeface="Consolas"/>
              </a:rPr>
              <a:t>scale(1) → 1.03 → 1</a:t>
            </a:r>
            <a:r>
              <a:rPr sz="2800" b="0">
                <a:solidFill>
                  <a:srgbClr val="1F232B"/>
                </a:solidFill>
                <a:latin typeface="Calibri"/>
              </a:rPr>
              <a:t>, 4s, cheksiz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98754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5014976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☀️ Ijodiy: faqat CSS bilan </a:t>
            </a:r>
            <a:r>
              <a:rPr sz="2800" b="1">
                <a:solidFill>
                  <a:srgbClr val="1F232B"/>
                </a:solidFill>
                <a:latin typeface="Calibri"/>
              </a:rPr>
              <a:t>"Quyosh tizimi"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2 sayyora turli tezlikda aylanadi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12-mavzu · CSS animatsiyalar va transformatsiyalar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Ikkita </a:t>
            </a:r>
            <a:r>
              <a:rPr sz="2576" b="0">
                <a:solidFill>
                  <a:srgbClr val="B02A4A"/>
                </a:solidFill>
                <a:latin typeface="Consolas"/>
              </a:rPr>
              <a:t>transform</a:t>
            </a:r>
            <a:r>
              <a:rPr sz="2800" b="0">
                <a:solidFill>
                  <a:srgbClr val="1F232B"/>
                </a:solidFill>
                <a:latin typeface="Calibri"/>
              </a:rPr>
              <a:t> qatori — ikkinchisi birinchisini o'chiradi; bittada yozing: </a:t>
            </a:r>
            <a:r>
              <a:rPr sz="2576" b="0">
                <a:solidFill>
                  <a:srgbClr val="B02A4A"/>
                </a:solidFill>
                <a:latin typeface="Consolas"/>
              </a:rPr>
              <a:t>rotate(10deg) scale(1.2)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transition: all</a:t>
            </a:r>
            <a:r>
              <a:rPr sz="2800" b="0">
                <a:solidFill>
                  <a:srgbClr val="1F232B"/>
                </a:solidFill>
                <a:latin typeface="Calibri"/>
              </a:rPr>
              <a:t> hamma joyda — kutilmagan xossalar ham animatsiya bo'ladi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24503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@keyframes aylanish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animation: aylanis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nomlar mos emas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68452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578095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display: none</a:t>
            </a:r>
            <a:r>
              <a:rPr sz="2800" b="0">
                <a:solidFill>
                  <a:srgbClr val="1F232B"/>
                </a:solidFill>
                <a:latin typeface="Calibri"/>
              </a:rPr>
              <a:t> ni animatsiya qilish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opacity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visibility</a:t>
            </a:r>
            <a:r>
              <a:rPr sz="2800" b="0">
                <a:solidFill>
                  <a:srgbClr val="1F232B"/>
                </a:solidFill>
                <a:latin typeface="Calibri"/>
              </a:rPr>
              <a:t> ishlating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738115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12-mavzu · CSS animatsiyalar va transformatsiyalar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Elementni 1.2 barobar kattalashtiruvchi kod?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transform: size(1.2)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zoom: 120px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transform: scale(1.2)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transform: grow(20%)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12-mavzu · CSS animatsiyalar va transformatsiyalar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Elementni 1.2 barobar kattalashtiruvchi kod?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transform: size(1.2)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zoom: 120px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transform: scale(1.2)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transform: grow(20%)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12-mavzu · CSS animatsiyalar va transformatsiyalar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Hover effekti silliq bo'lishi uchun </a:t>
            </a:r>
            <a:r>
              <a:rPr sz="2208" b="1">
                <a:solidFill>
                  <a:srgbClr val="B02A4A"/>
                </a:solidFill>
                <a:latin typeface="Consolas"/>
              </a:rPr>
              <a:t>transition</a:t>
            </a:r>
            <a:r>
              <a:rPr sz="2400" b="1">
                <a:solidFill>
                  <a:srgbClr val="1F232B"/>
                </a:solidFill>
                <a:latin typeface="Calibri"/>
              </a:rPr>
              <a:t> qayerga yoziladi?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Elementning oddiy holatiga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Faqat </a:t>
            </a:r>
            <a:r>
              <a:rPr sz="1748" b="0">
                <a:solidFill>
                  <a:srgbClr val="B02A4A"/>
                </a:solidFill>
                <a:latin typeface="Consolas"/>
              </a:rPr>
              <a:t>:hover</a:t>
            </a:r>
            <a:r>
              <a:rPr sz="1900" b="0">
                <a:solidFill>
                  <a:srgbClr val="1F232B"/>
                </a:solidFill>
                <a:latin typeface="Calibri"/>
              </a:rPr>
              <a:t> ga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@keyframes</a:t>
            </a:r>
            <a:r>
              <a:rPr sz="1900" b="0">
                <a:solidFill>
                  <a:srgbClr val="1F232B"/>
                </a:solidFill>
                <a:latin typeface="Calibri"/>
              </a:rPr>
              <a:t> ichiga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body</a:t>
            </a:r>
            <a:r>
              <a:rPr sz="1900" b="0">
                <a:solidFill>
                  <a:srgbClr val="1F232B"/>
                </a:solidFill>
                <a:latin typeface="Calibri"/>
              </a:rPr>
              <a:t> ga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12-mavzu · CSS animatsiyalar va transformatsiyalar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Hover effekti silliq bo'lishi uchun </a:t>
            </a:r>
            <a:r>
              <a:rPr sz="2208" b="1">
                <a:solidFill>
                  <a:srgbClr val="B02A4A"/>
                </a:solidFill>
                <a:latin typeface="Consolas"/>
              </a:rPr>
              <a:t>transition</a:t>
            </a:r>
            <a:r>
              <a:rPr sz="2400" b="1">
                <a:solidFill>
                  <a:srgbClr val="1F232B"/>
                </a:solidFill>
                <a:latin typeface="Calibri"/>
              </a:rPr>
              <a:t> qayerga yoziladi?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Elementning oddiy holatiga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Faqat </a:t>
            </a:r>
            <a:r>
              <a:rPr sz="1748" b="0">
                <a:solidFill>
                  <a:srgbClr val="B02A4A"/>
                </a:solidFill>
                <a:latin typeface="Consolas"/>
              </a:rPr>
              <a:t>:hover</a:t>
            </a:r>
            <a:r>
              <a:rPr sz="1900" b="0">
                <a:solidFill>
                  <a:srgbClr val="1F232B"/>
                </a:solidFill>
                <a:latin typeface="Calibri"/>
              </a:rPr>
              <a:t> ga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@keyframes</a:t>
            </a:r>
            <a:r>
              <a:rPr sz="1900" b="0">
                <a:solidFill>
                  <a:srgbClr val="1F232B"/>
                </a:solidFill>
                <a:latin typeface="Calibri"/>
              </a:rPr>
              <a:t> ichiga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body</a:t>
            </a:r>
            <a:r>
              <a:rPr sz="1900" b="0">
                <a:solidFill>
                  <a:srgbClr val="1F232B"/>
                </a:solidFill>
                <a:latin typeface="Calibri"/>
              </a:rPr>
              <a:t> ga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12-mavzu · CSS animatsiyalar va transformatsiyalar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Animatsiyani cheksiz takrorlash uchun qaysi qiymat?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repeat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forever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infinite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12-mavzu · CSS animatsiyalar va transformatsiyalar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Animatsiyani cheksiz takrorlash uchun qaysi qiymat?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repeat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forever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infinite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12-mavzu · CSS animatsiyalar va transformatsiyalar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Qaysi xossalarni animatsiya qilish eng tez (unumdor)?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width</a:t>
            </a:r>
            <a:r>
              <a:rPr sz="1900" b="0">
                <a:solidFill>
                  <a:srgbClr val="1F232B"/>
                </a:solidFill>
                <a:latin typeface="Calibri"/>
              </a:rPr>
              <a:t> va </a:t>
            </a:r>
            <a:r>
              <a:rPr sz="1748" b="0">
                <a:solidFill>
                  <a:srgbClr val="B02A4A"/>
                </a:solidFill>
                <a:latin typeface="Consolas"/>
              </a:rPr>
              <a:t>height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transform</a:t>
            </a:r>
            <a:r>
              <a:rPr sz="1900" b="0">
                <a:solidFill>
                  <a:srgbClr val="1F232B"/>
                </a:solidFill>
                <a:latin typeface="Calibri"/>
              </a:rPr>
              <a:t> va </a:t>
            </a:r>
            <a:r>
              <a:rPr sz="1748" b="0">
                <a:solidFill>
                  <a:srgbClr val="B02A4A"/>
                </a:solidFill>
                <a:latin typeface="Consolas"/>
              </a:rPr>
              <a:t>opacity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margin</a:t>
            </a:r>
            <a:r>
              <a:rPr sz="1900" b="0">
                <a:solidFill>
                  <a:srgbClr val="1F232B"/>
                </a:solidFill>
                <a:latin typeface="Calibri"/>
              </a:rPr>
              <a:t> va </a:t>
            </a:r>
            <a:r>
              <a:rPr sz="1748" b="0">
                <a:solidFill>
                  <a:srgbClr val="B02A4A"/>
                </a:solidFill>
                <a:latin typeface="Consolas"/>
              </a:rPr>
              <a:t>padding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top</a:t>
            </a:r>
            <a:r>
              <a:rPr sz="1900" b="0">
                <a:solidFill>
                  <a:srgbClr val="1F232B"/>
                </a:solidFill>
                <a:latin typeface="Calibri"/>
              </a:rPr>
              <a:t> va </a:t>
            </a:r>
            <a:r>
              <a:rPr sz="1748" b="0">
                <a:solidFill>
                  <a:srgbClr val="B02A4A"/>
                </a:solidFill>
                <a:latin typeface="Consolas"/>
              </a:rPr>
              <a:t>left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12-mavzu · CSS animatsiyalar va transformatsiyalar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Qaysi xossalarni animatsiya qilish eng tez (unumdor)?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width</a:t>
            </a:r>
            <a:r>
              <a:rPr sz="1900" b="0">
                <a:solidFill>
                  <a:srgbClr val="1F232B"/>
                </a:solidFill>
                <a:latin typeface="Calibri"/>
              </a:rPr>
              <a:t> va </a:t>
            </a:r>
            <a:r>
              <a:rPr sz="1748" b="0">
                <a:solidFill>
                  <a:srgbClr val="B02A4A"/>
                </a:solidFill>
                <a:latin typeface="Consolas"/>
              </a:rPr>
              <a:t>height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transform</a:t>
            </a:r>
            <a:r>
              <a:rPr sz="1900" b="1">
                <a:solidFill>
                  <a:srgbClr val="1F232B"/>
                </a:solidFill>
                <a:latin typeface="Calibri"/>
              </a:rPr>
              <a:t> va </a:t>
            </a:r>
            <a:r>
              <a:rPr sz="1748" b="1">
                <a:solidFill>
                  <a:srgbClr val="B02A4A"/>
                </a:solidFill>
                <a:latin typeface="Consolas"/>
              </a:rPr>
              <a:t>opacity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margin</a:t>
            </a:r>
            <a:r>
              <a:rPr sz="1900" b="0">
                <a:solidFill>
                  <a:srgbClr val="1F232B"/>
                </a:solidFill>
                <a:latin typeface="Calibri"/>
              </a:rPr>
              <a:t> va </a:t>
            </a:r>
            <a:r>
              <a:rPr sz="1748" b="0">
                <a:solidFill>
                  <a:srgbClr val="B02A4A"/>
                </a:solidFill>
                <a:latin typeface="Consolas"/>
              </a:rPr>
              <a:t>padding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top</a:t>
            </a:r>
            <a:r>
              <a:rPr sz="1900" b="0">
                <a:solidFill>
                  <a:srgbClr val="1F232B"/>
                </a:solidFill>
                <a:latin typeface="Calibri"/>
              </a:rPr>
              <a:t> va </a:t>
            </a:r>
            <a:r>
              <a:rPr sz="1748" b="0">
                <a:solidFill>
                  <a:srgbClr val="B02A4A"/>
                </a:solidFill>
                <a:latin typeface="Consolas"/>
              </a:rPr>
              <a:t>left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12-mavzu · CSS animatsiyalar va transformatsiyalar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24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7825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80568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"Quyosh tizimi"ni yakunlang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5491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482342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3 xil spinner: aylanuvchi doira, sakrovchi 3 nuqta, to'lib boruvchi chiziq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56336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590797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Flip card</a:t>
            </a:r>
            <a:r>
              <a:rPr sz="2800" b="0">
                <a:solidFill>
                  <a:srgbClr val="1F232B"/>
                </a:solidFill>
                <a:latin typeface="Calibri"/>
              </a:rPr>
              <a:t>: kartani 180° aylantirib orqa tomonini ko'rsatish (</a:t>
            </a:r>
            <a:r>
              <a:rPr sz="2576" b="0">
                <a:solidFill>
                  <a:srgbClr val="B02A4A"/>
                </a:solidFill>
                <a:latin typeface="Consolas"/>
              </a:rPr>
              <a:t>rotateY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backface-visibility</a:t>
            </a:r>
            <a:r>
              <a:rPr sz="2800" b="0">
                <a:solidFill>
                  <a:srgbClr val="1F232B"/>
                </a:solidFill>
                <a:latin typeface="Calibri"/>
              </a:rPr>
              <a:t>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12-mavzu · CSS animatsiyalar va transformatsiyalar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transform</a:t>
            </a:r>
            <a:r>
              <a:rPr sz="2800" b="0">
                <a:solidFill>
                  <a:srgbClr val="1F232B"/>
                </a:solidFill>
                <a:latin typeface="Calibri"/>
              </a:rPr>
              <a:t>: translate, scale, rotate, skew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transition: xossa vaqt tezlik;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oddiy holatga yoziladi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@keyframes nom { 0% {} 100% {} }</a:t>
            </a:r>
            <a:r>
              <a:rPr sz="2800" b="0">
                <a:solidFill>
                  <a:srgbClr val="1F232B"/>
                </a:solidFill>
                <a:latin typeface="Calibri"/>
              </a:rPr>
              <a:t> + </a:t>
            </a:r>
            <a:r>
              <a:rPr sz="2576" b="0">
                <a:solidFill>
                  <a:srgbClr val="B02A4A"/>
                </a:solidFill>
                <a:latin typeface="Consolas"/>
              </a:rPr>
              <a:t>animation: nom 2s infinite;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Unumdorlik: </a:t>
            </a:r>
            <a:r>
              <a:rPr sz="2576" b="0">
                <a:solidFill>
                  <a:srgbClr val="B02A4A"/>
                </a:solidFill>
                <a:latin typeface="Consolas"/>
              </a:rPr>
              <a:t>transform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opacity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81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Me'yorni saqlang, </a:t>
            </a:r>
            <a:r>
              <a:rPr sz="2576" b="0">
                <a:solidFill>
                  <a:srgbClr val="B02A4A"/>
                </a:solidFill>
                <a:latin typeface="Consolas"/>
              </a:rPr>
              <a:t>prefers-reduced-motion</a:t>
            </a:r>
            <a:r>
              <a:rPr sz="2800" b="0">
                <a:solidFill>
                  <a:srgbClr val="1F232B"/>
                </a:solidFill>
                <a:latin typeface="Calibri"/>
              </a:rPr>
              <a:t> ni hurmat qiling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5820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13. Jamoa bilan ishlash va loyiha qilish. Netlify va Vercel'ga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12-mavzu: CSS animatsiyalar va transformatsiyalar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