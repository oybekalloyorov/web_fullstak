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[1, 2, 3].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JSON.stringify().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[1, 2, 3, 4].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NUMERIC(12,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LEFT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HAVING.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Baholash: elementlarni topish — 1; hodisa — 1; bo'sh tekshiruvi (trim) — 1; textContent — 1; ranglar —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Baholash: jadval va turlar — 1; cheklovlar — 1; INSERT (apostrof) — 1; SELECT — 1; UPDATE + WHERE —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2F6FAD"/>
                </a:solidFill>
                <a:latin typeface="Calibri"/>
              </a:rPr>
              <a:t>31-MAVZU  ·  III BOB. PYTHON VA MA'LUMOTLAR BAZASI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Yakuniy nazorat ishi — II–III boblar (JavaScript, Python, SQL)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JavaScript, Python va ma'lumotlar bazasi bo'yicha nazorat: 25 ta yopiq test (3 balldan) va 5 ta ochiq savol/amaliy topshiriq (5 balldan) — jami 100 ball. Takrorlash rejasi, javoblar va baholash mezoni.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Nazorat ishi qanday o'tadi?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86052"/>
          <a:ext cx="11091672" cy="2718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797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Qism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Ball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6797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1-qism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25 ta test × 3 ball (JS — 8, Python — 9, SQL — 8)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6797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2-qism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5 ta ochiq savol / amaliy topshiriq × 5 ball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97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Jami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Vaqt: 80 daqiqa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452432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Bugun: takrorlash → namunaviy testlar → amaliy topshiriqlar → baholash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468434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C0D3E6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Takrorlash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DFE9F2"/>
                </a:solidFill>
                <a:latin typeface="Calibri"/>
              </a:rPr>
              <a:t>II va III boblarning eng muhim tushunchalari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C0D3E6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JavaScript: 15–20-mavzular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95907"/>
          <a:ext cx="11091672" cy="428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8575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Mavzu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Bilishingiz kerak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8575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JS asoslari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let/const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turlar,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typeof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===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if/else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switch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ternary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8575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Sikl, funksiya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for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while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break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function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return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arrow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575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Massiv, obyekt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push/pop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map/filter/reduce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obj.kalit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8575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DOM, hodisalar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querySelector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textContent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classList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addEventListener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preventDefault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localStorage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Python va SQL: 21–30-mavzular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8137"/>
          <a:ext cx="1109167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78638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Mavzu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Bilishingiz kerak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Python asoslari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print/input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//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%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f-satr,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if/elif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for + range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try/except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fayllar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Tuzilmalar, OOP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list/tuple/set/dict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slicing,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def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modullar,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json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;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class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__init__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self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meros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Ma'lumotlar bazasi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PK/FK, bog'lanishlar, turlar,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CREATE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CRUD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SQL chuqur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JOIN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indeks,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GROUP BY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HAVING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C0D3E6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Namunaviy testlar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DFE9F2"/>
                </a:solidFill>
                <a:latin typeface="Calibri"/>
              </a:rPr>
              <a:t>Avval o'ylang — keyin javobni ko'ring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C0D3E6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"3" === 3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"33"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"3" === 3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"33"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false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[5, 10, 15].map(x =&gt; x / 5)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[5, 10, 15]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[1, 2, 3]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[5, 10, 15].map(x =&gt; x / 5)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[5, 10, 15]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[1, 2, 3]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Massivni localStorage'ga saqlashdan oldin nima qilinadi?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Number()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toString()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Hech narsa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JSON.stringify()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Massivni localStorage'ga saqlashdan oldin nima qilinadi?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Number()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toString()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Hech narsa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JSON.stringify()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list(range(1, 5))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[1, 2, 3, 4, 5]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[0, 1, 2, 3, 4]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[1, 5]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[1, 2, 3, 4]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list(range(1, 5))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[1, 2, 3, 4, 5]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[0, 1, 2, 3, 4]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[1, 5]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[1, 2, 3, 4]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d = {"a": 1}; print(d.get("b", 0))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KeyError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d = {"a": 1}; print(d.get("b", 0))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KeyError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Pul summasi uchun eng mos tur?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NUMERIC(12, 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VARCHAR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INTEGER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Pul summasi uchun eng mos tur?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NUMERIC(12, 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VARCHAR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INTEGER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Chap jadvalning barcha qatorlarini qaytaruvchi JOIN?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INNER JOIN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RIGHT JOIN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LEFT JOIN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CROSS JOIN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Chap jadvalning barcha qatorlarini qaytaruvchi JOIN?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INNER JOIN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RIGHT JOIN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LEFT JOIN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CROSS JOIN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Guruhlangan natijani shart bo'yicha filtrlash?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WHERE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HAVING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FILTER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Guruhlangan natijani shart bo'yicha filtrlash?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WHERE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HAVING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FILTER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C0D3E6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qism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DFE9F2"/>
                </a:solidFill>
                <a:latin typeface="Calibri"/>
              </a:rPr>
              <a:t>5 ta topshiriq × 5 ball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C0D3E6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1-topshiriq: JavaScript DOM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25601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Tugma bosilganda: maydon bo'sh — "Ismingizni kiriting!" (qizil), aks holda — "Salom, [ism]!" (yashil)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4191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415693"/>
            <a:ext cx="11091672" cy="369917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7055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4877"/>
            <a:ext cx="10725912" cy="335170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768" b="0">
                <a:solidFill>
                  <a:srgbClr val="E6E6E6"/>
                </a:solidFill>
                <a:latin typeface="Consolas"/>
              </a:rPr>
              <a:t>.querySelector(</a:t>
            </a:r>
            <a:r>
              <a:rPr sz="1768" b="0">
                <a:solidFill>
                  <a:srgbClr val="98C379"/>
                </a:solidFill>
                <a:latin typeface="Consolas"/>
              </a:rPr>
              <a:t>"#btn"</a:t>
            </a:r>
            <a:r>
              <a:rPr sz="1768" b="0">
                <a:solidFill>
                  <a:srgbClr val="E6E6E6"/>
                </a:solidFill>
                <a:latin typeface="Consolas"/>
              </a:rPr>
              <a:t>).addEventListener(</a:t>
            </a:r>
            <a:r>
              <a:rPr sz="1768" b="0">
                <a:solidFill>
                  <a:srgbClr val="98C379"/>
                </a:solidFill>
                <a:latin typeface="Consolas"/>
              </a:rPr>
              <a:t>"click"</a:t>
            </a:r>
            <a:r>
              <a:rPr sz="1768" b="0">
                <a:solidFill>
                  <a:srgbClr val="E6E6E6"/>
                </a:solidFill>
                <a:latin typeface="Consolas"/>
              </a:rPr>
              <a:t>, () =&gt; {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</a:t>
            </a: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ism = </a:t>
            </a:r>
            <a:r>
              <a:rPr sz="1768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768" b="0">
                <a:solidFill>
                  <a:srgbClr val="E6E6E6"/>
                </a:solidFill>
                <a:latin typeface="Consolas"/>
              </a:rPr>
              <a:t>.querySelector(</a:t>
            </a:r>
            <a:r>
              <a:rPr sz="1768" b="0">
                <a:solidFill>
                  <a:srgbClr val="98C379"/>
                </a:solidFill>
                <a:latin typeface="Consolas"/>
              </a:rPr>
              <a:t>"#ism"</a:t>
            </a:r>
            <a:r>
              <a:rPr sz="1768" b="0">
                <a:solidFill>
                  <a:srgbClr val="E6E6E6"/>
                </a:solidFill>
                <a:latin typeface="Consolas"/>
              </a:rPr>
              <a:t>).value.trim();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</a:t>
            </a: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javob = </a:t>
            </a:r>
            <a:r>
              <a:rPr sz="1768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768" b="0">
                <a:solidFill>
                  <a:srgbClr val="E6E6E6"/>
                </a:solidFill>
                <a:latin typeface="Consolas"/>
              </a:rPr>
              <a:t>.querySelector(</a:t>
            </a:r>
            <a:r>
              <a:rPr sz="1768" b="0">
                <a:solidFill>
                  <a:srgbClr val="98C379"/>
                </a:solidFill>
                <a:latin typeface="Consolas"/>
              </a:rPr>
              <a:t>"#javob"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</a:t>
            </a:r>
            <a:r>
              <a:rPr sz="1768" b="0">
                <a:solidFill>
                  <a:srgbClr val="C678DD"/>
                </a:solidFill>
                <a:latin typeface="Consolas"/>
              </a:rPr>
              <a:t>if</a:t>
            </a:r>
            <a:r>
              <a:rPr sz="1768" b="0">
                <a:solidFill>
                  <a:srgbClr val="E6E6E6"/>
                </a:solidFill>
                <a:latin typeface="Consolas"/>
              </a:rPr>
              <a:t> (ism === </a:t>
            </a:r>
            <a:r>
              <a:rPr sz="1768" b="0">
                <a:solidFill>
                  <a:srgbClr val="98C379"/>
                </a:solidFill>
                <a:latin typeface="Consolas"/>
              </a:rPr>
              <a:t>""</a:t>
            </a:r>
            <a:r>
              <a:rPr sz="1768" b="0">
                <a:solidFill>
                  <a:srgbClr val="E6E6E6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javob.textContent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"Ismingizni kiriting!"</a:t>
            </a:r>
            <a:r>
              <a:rPr sz="1768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javob.style.color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"red"</a:t>
            </a:r>
            <a:r>
              <a:rPr sz="1768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} </a:t>
            </a:r>
            <a:r>
              <a:rPr sz="1768" b="0">
                <a:solidFill>
                  <a:srgbClr val="C678DD"/>
                </a:solidFill>
                <a:latin typeface="Consolas"/>
              </a:rPr>
              <a:t>else</a:t>
            </a:r>
            <a:r>
              <a:rPr sz="1768" b="0">
                <a:solidFill>
                  <a:srgbClr val="E6E6E6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javob.textContent = `Salom, ${ism}!`;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javob.style.color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"green"</a:t>
            </a:r>
            <a:r>
              <a:rPr sz="1768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2–3-topshiriqlar: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245059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2: statistika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C678DD"/>
                </a:solidFill>
                <a:latin typeface="Consolas"/>
              </a:rPr>
              <a:t>def</a:t>
            </a:r>
            <a:r>
              <a:rPr sz="1200" b="0">
                <a:solidFill>
                  <a:srgbClr val="E6E6E6"/>
                </a:solidFill>
                <a:latin typeface="Consolas"/>
              </a:rPr>
              <a:t> statistika(ballar):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</a:t>
            </a:r>
            <a:r>
              <a:rPr sz="1200" b="0">
                <a:solidFill>
                  <a:srgbClr val="C678DD"/>
                </a:solidFill>
                <a:latin typeface="Consolas"/>
              </a:rPr>
              <a:t>if</a:t>
            </a: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  <a:r>
              <a:rPr sz="1200" b="0">
                <a:solidFill>
                  <a:srgbClr val="C678DD"/>
                </a:solidFill>
                <a:latin typeface="Consolas"/>
              </a:rPr>
              <a:t>not</a:t>
            </a:r>
            <a:r>
              <a:rPr sz="1200" b="0">
                <a:solidFill>
                  <a:srgbClr val="E6E6E6"/>
                </a:solidFill>
                <a:latin typeface="Consolas"/>
              </a:rPr>
              <a:t> ballar: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  <a:r>
              <a:rPr sz="1200" b="0">
                <a:solidFill>
                  <a:srgbClr val="C678DD"/>
                </a:solidFill>
                <a:latin typeface="Consolas"/>
              </a:rPr>
              <a:t>None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</a:t>
            </a:r>
            <a:r>
              <a:rPr sz="1200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00" b="0">
                <a:solidFill>
                  <a:srgbClr val="E6E6E6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 b="0">
                <a:solidFill>
                  <a:srgbClr val="98C379"/>
                </a:solidFill>
                <a:latin typeface="Consolas"/>
              </a:rPr>
              <a:t>"ortacha"</a:t>
            </a:r>
            <a:r>
              <a:rPr sz="1200" b="0">
                <a:solidFill>
                  <a:srgbClr val="E6E6E6"/>
                </a:solidFill>
                <a:latin typeface="Consolas"/>
              </a:rPr>
              <a:t>: round(sum(ballar) / len(ballar), 2),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 b="0">
                <a:solidFill>
                  <a:srgbClr val="98C379"/>
                </a:solidFill>
                <a:latin typeface="Consolas"/>
              </a:rPr>
              <a:t>"eng_yuqori"</a:t>
            </a:r>
            <a:r>
              <a:rPr sz="1200" b="0">
                <a:solidFill>
                  <a:srgbClr val="E6E6E6"/>
                </a:solidFill>
                <a:latin typeface="Consolas"/>
              </a:rPr>
              <a:t>: max(ballar),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 b="0">
                <a:solidFill>
                  <a:srgbClr val="98C379"/>
                </a:solidFill>
                <a:latin typeface="Consolas"/>
              </a:rPr>
              <a:t>"eng_past"</a:t>
            </a:r>
            <a:r>
              <a:rPr sz="1200" b="0">
                <a:solidFill>
                  <a:srgbClr val="E6E6E6"/>
                </a:solidFill>
                <a:latin typeface="Consolas"/>
              </a:rPr>
              <a:t>: min(ballar),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 b="0">
                <a:solidFill>
                  <a:srgbClr val="98C379"/>
                </a:solidFill>
                <a:latin typeface="Consolas"/>
              </a:rPr>
              <a:t>"alo"</a:t>
            </a:r>
            <a:r>
              <a:rPr sz="1200" b="0">
                <a:solidFill>
                  <a:srgbClr val="E6E6E6"/>
                </a:solidFill>
                <a:latin typeface="Consolas"/>
              </a:rPr>
              <a:t>: len([b </a:t>
            </a:r>
            <a:r>
              <a:rPr sz="1200" b="0">
                <a:solidFill>
                  <a:srgbClr val="C678DD"/>
                </a:solidFill>
                <a:latin typeface="Consolas"/>
              </a:rPr>
              <a:t>for</a:t>
            </a:r>
            <a:r>
              <a:rPr sz="1200" b="0">
                <a:solidFill>
                  <a:srgbClr val="E6E6E6"/>
                </a:solidFill>
                <a:latin typeface="Consolas"/>
              </a:rPr>
              <a:t> b </a:t>
            </a:r>
            <a:r>
              <a:rPr sz="1200" b="0">
                <a:solidFill>
                  <a:srgbClr val="C678DD"/>
                </a:solidFill>
                <a:latin typeface="Consolas"/>
              </a:rPr>
              <a:t>in</a:t>
            </a:r>
            <a:r>
              <a:rPr sz="1200" b="0">
                <a:solidFill>
                  <a:srgbClr val="E6E6E6"/>
                </a:solidFill>
                <a:latin typeface="Consolas"/>
              </a:rPr>
              <a:t> ballar </a:t>
            </a:r>
            <a:r>
              <a:rPr sz="1200" b="0">
                <a:solidFill>
                  <a:srgbClr val="C678DD"/>
                </a:solidFill>
                <a:latin typeface="Consolas"/>
              </a:rPr>
              <a:t>if</a:t>
            </a:r>
            <a:r>
              <a:rPr sz="1200" b="0">
                <a:solidFill>
                  <a:srgbClr val="E6E6E6"/>
                </a:solidFill>
                <a:latin typeface="Consolas"/>
              </a:rPr>
              <a:t> b &gt; 86]),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7356" y="1417320"/>
            <a:ext cx="5362956" cy="330999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0236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3: 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0236" y="1746504"/>
            <a:ext cx="4997196" cy="296252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23" b="0">
                <a:solidFill>
                  <a:srgbClr val="C678DD"/>
                </a:solidFill>
                <a:latin typeface="Consolas"/>
              </a:rPr>
              <a:t>class</a:t>
            </a:r>
            <a:r>
              <a:rPr sz="1223" b="0">
                <a:solidFill>
                  <a:srgbClr val="E6E6E6"/>
                </a:solidFill>
                <a:latin typeface="Consolas"/>
              </a:rPr>
              <a:t> Tortburchak:</a:t>
            </a:r>
          </a:p>
          <a:p>
            <a:pPr>
              <a:lnSpc>
                <a:spcPct val="100000"/>
              </a:lnSpc>
            </a:pPr>
            <a:r>
              <a:rPr sz="1223" b="0">
                <a:solidFill>
                  <a:srgbClr val="E6E6E6"/>
                </a:solidFill>
                <a:latin typeface="Consolas"/>
              </a:rPr>
              <a:t>    </a:t>
            </a:r>
            <a:r>
              <a:rPr sz="1223" b="0">
                <a:solidFill>
                  <a:srgbClr val="C678DD"/>
                </a:solidFill>
                <a:latin typeface="Consolas"/>
              </a:rPr>
              <a:t>def</a:t>
            </a:r>
            <a:r>
              <a:rPr sz="1223" b="0">
                <a:solidFill>
                  <a:srgbClr val="E6E6E6"/>
                </a:solidFill>
                <a:latin typeface="Consolas"/>
              </a:rPr>
              <a:t> __init__(</a:t>
            </a:r>
            <a:r>
              <a:rPr sz="1223" b="0">
                <a:solidFill>
                  <a:srgbClr val="C678DD"/>
                </a:solidFill>
                <a:latin typeface="Consolas"/>
              </a:rPr>
              <a:t>self</a:t>
            </a:r>
            <a:r>
              <a:rPr sz="1223" b="0">
                <a:solidFill>
                  <a:srgbClr val="E6E6E6"/>
                </a:solidFill>
                <a:latin typeface="Consolas"/>
              </a:rPr>
              <a:t>, eni, boyi):</a:t>
            </a:r>
          </a:p>
          <a:p>
            <a:pPr>
              <a:lnSpc>
                <a:spcPct val="100000"/>
              </a:lnSpc>
            </a:pPr>
            <a:r>
              <a:rPr sz="1223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3" b="0">
                <a:solidFill>
                  <a:srgbClr val="C678DD"/>
                </a:solidFill>
                <a:latin typeface="Consolas"/>
              </a:rPr>
              <a:t>self</a:t>
            </a:r>
            <a:r>
              <a:rPr sz="1223" b="0">
                <a:solidFill>
                  <a:srgbClr val="E6E6E6"/>
                </a:solidFill>
                <a:latin typeface="Consolas"/>
              </a:rPr>
              <a:t>.eni = eni</a:t>
            </a:r>
          </a:p>
          <a:p>
            <a:pPr>
              <a:lnSpc>
                <a:spcPct val="100000"/>
              </a:lnSpc>
            </a:pPr>
            <a:r>
              <a:rPr sz="1223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3" b="0">
                <a:solidFill>
                  <a:srgbClr val="C678DD"/>
                </a:solidFill>
                <a:latin typeface="Consolas"/>
              </a:rPr>
              <a:t>self</a:t>
            </a:r>
            <a:r>
              <a:rPr sz="1223" b="0">
                <a:solidFill>
                  <a:srgbClr val="E6E6E6"/>
                </a:solidFill>
                <a:latin typeface="Consolas"/>
              </a:rPr>
              <a:t>.boyi = boyi</a:t>
            </a:r>
          </a:p>
          <a:p>
            <a:pPr>
              <a:lnSpc>
                <a:spcPct val="100000"/>
              </a:lnSpc>
            </a:pPr>
            <a:r>
              <a:rPr sz="1223" b="0">
                <a:solidFill>
                  <a:srgbClr val="E6E6E6"/>
                </a:solidFill>
                <a:latin typeface="Consolas"/>
              </a:rPr>
              <a:t>    </a:t>
            </a:r>
            <a:r>
              <a:rPr sz="1223" b="0">
                <a:solidFill>
                  <a:srgbClr val="C678DD"/>
                </a:solidFill>
                <a:latin typeface="Consolas"/>
              </a:rPr>
              <a:t>def</a:t>
            </a:r>
            <a:r>
              <a:rPr sz="1223" b="0">
                <a:solidFill>
                  <a:srgbClr val="E6E6E6"/>
                </a:solidFill>
                <a:latin typeface="Consolas"/>
              </a:rPr>
              <a:t> yuza(</a:t>
            </a:r>
            <a:r>
              <a:rPr sz="1223" b="0">
                <a:solidFill>
                  <a:srgbClr val="C678DD"/>
                </a:solidFill>
                <a:latin typeface="Consolas"/>
              </a:rPr>
              <a:t>self</a:t>
            </a:r>
            <a:r>
              <a:rPr sz="1223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223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3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23" b="0">
                <a:solidFill>
                  <a:srgbClr val="E6E6E6"/>
                </a:solidFill>
                <a:latin typeface="Consolas"/>
              </a:rPr>
              <a:t> </a:t>
            </a:r>
            <a:r>
              <a:rPr sz="1223" b="0">
                <a:solidFill>
                  <a:srgbClr val="C678DD"/>
                </a:solidFill>
                <a:latin typeface="Consolas"/>
              </a:rPr>
              <a:t>self</a:t>
            </a:r>
            <a:r>
              <a:rPr sz="1223" b="0">
                <a:solidFill>
                  <a:srgbClr val="E6E6E6"/>
                </a:solidFill>
                <a:latin typeface="Consolas"/>
              </a:rPr>
              <a:t>.eni * </a:t>
            </a:r>
            <a:r>
              <a:rPr sz="1223" b="0">
                <a:solidFill>
                  <a:srgbClr val="C678DD"/>
                </a:solidFill>
                <a:latin typeface="Consolas"/>
              </a:rPr>
              <a:t>self</a:t>
            </a:r>
            <a:r>
              <a:rPr sz="1223" b="0">
                <a:solidFill>
                  <a:srgbClr val="E6E6E6"/>
                </a:solidFill>
                <a:latin typeface="Consolas"/>
              </a:rPr>
              <a:t>.boyi</a:t>
            </a:r>
          </a:p>
          <a:p>
            <a:pPr>
              <a:lnSpc>
                <a:spcPct val="100000"/>
              </a:lnSpc>
            </a:pPr>
            <a:r>
              <a:rPr sz="1223" b="0">
                <a:solidFill>
                  <a:srgbClr val="E6E6E6"/>
                </a:solidFill>
                <a:latin typeface="Consolas"/>
              </a:rPr>
              <a:t>    </a:t>
            </a:r>
            <a:r>
              <a:rPr sz="1223" b="0">
                <a:solidFill>
                  <a:srgbClr val="C678DD"/>
                </a:solidFill>
                <a:latin typeface="Consolas"/>
              </a:rPr>
              <a:t>def</a:t>
            </a:r>
            <a:r>
              <a:rPr sz="1223" b="0">
                <a:solidFill>
                  <a:srgbClr val="E6E6E6"/>
                </a:solidFill>
                <a:latin typeface="Consolas"/>
              </a:rPr>
              <a:t> perimetr(</a:t>
            </a:r>
            <a:r>
              <a:rPr sz="1223" b="0">
                <a:solidFill>
                  <a:srgbClr val="C678DD"/>
                </a:solidFill>
                <a:latin typeface="Consolas"/>
              </a:rPr>
              <a:t>self</a:t>
            </a:r>
            <a:r>
              <a:rPr sz="1223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223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3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23" b="0">
                <a:solidFill>
                  <a:srgbClr val="E6E6E6"/>
                </a:solidFill>
                <a:latin typeface="Consolas"/>
              </a:rPr>
              <a:t> 2 * (</a:t>
            </a:r>
            <a:r>
              <a:rPr sz="1223" b="0">
                <a:solidFill>
                  <a:srgbClr val="C678DD"/>
                </a:solidFill>
                <a:latin typeface="Consolas"/>
              </a:rPr>
              <a:t>self</a:t>
            </a:r>
            <a:r>
              <a:rPr sz="1223" b="0">
                <a:solidFill>
                  <a:srgbClr val="E6E6E6"/>
                </a:solidFill>
                <a:latin typeface="Consolas"/>
              </a:rPr>
              <a:t>.eni + </a:t>
            </a:r>
            <a:r>
              <a:rPr sz="1223" b="0">
                <a:solidFill>
                  <a:srgbClr val="C678DD"/>
                </a:solidFill>
                <a:latin typeface="Consolas"/>
              </a:rPr>
              <a:t>self</a:t>
            </a:r>
            <a:r>
              <a:rPr sz="1223" b="0">
                <a:solidFill>
                  <a:srgbClr val="E6E6E6"/>
                </a:solidFill>
                <a:latin typeface="Consolas"/>
              </a:rPr>
              <a:t>.boyi)</a:t>
            </a:r>
          </a:p>
          <a:p>
            <a:pPr>
              <a:lnSpc>
                <a:spcPct val="100000"/>
              </a:lnSpc>
            </a:pPr>
            <a:r>
              <a:rPr sz="1223" b="0">
                <a:solidFill>
                  <a:srgbClr val="E6E6E6"/>
                </a:solidFill>
                <a:latin typeface="Consolas"/>
              </a:rPr>
              <a:t>    </a:t>
            </a:r>
            <a:r>
              <a:rPr sz="1223" b="0">
                <a:solidFill>
                  <a:srgbClr val="C678DD"/>
                </a:solidFill>
                <a:latin typeface="Consolas"/>
              </a:rPr>
              <a:t>def</a:t>
            </a:r>
            <a:r>
              <a:rPr sz="1223" b="0">
                <a:solidFill>
                  <a:srgbClr val="E6E6E6"/>
                </a:solidFill>
                <a:latin typeface="Consolas"/>
              </a:rPr>
              <a:t> __str__(</a:t>
            </a:r>
            <a:r>
              <a:rPr sz="1223" b="0">
                <a:solidFill>
                  <a:srgbClr val="C678DD"/>
                </a:solidFill>
                <a:latin typeface="Consolas"/>
              </a:rPr>
              <a:t>self</a:t>
            </a:r>
            <a:r>
              <a:rPr sz="1223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223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3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23" b="0">
                <a:solidFill>
                  <a:srgbClr val="E6E6E6"/>
                </a:solidFill>
                <a:latin typeface="Consolas"/>
              </a:rPr>
              <a:t> f</a:t>
            </a:r>
            <a:r>
              <a:rPr sz="1223" b="0">
                <a:solidFill>
                  <a:srgbClr val="98C379"/>
                </a:solidFill>
                <a:latin typeface="Consolas"/>
              </a:rPr>
              <a:t>"Tortburchak {self.eni}×{self.boyi}"</a:t>
            </a:r>
          </a:p>
          <a:p>
            <a:pPr>
              <a:lnSpc>
                <a:spcPct val="100000"/>
              </a:lnSpc>
            </a:pPr>
            <a:r>
              <a:rPr sz="1223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23" b="0">
                <a:solidFill>
                  <a:srgbClr val="C678DD"/>
                </a:solidFill>
                <a:latin typeface="Consolas"/>
              </a:rPr>
              <a:t>class</a:t>
            </a:r>
            <a:r>
              <a:rPr sz="1223" b="0">
                <a:solidFill>
                  <a:srgbClr val="E6E6E6"/>
                </a:solidFill>
                <a:latin typeface="Consolas"/>
              </a:rPr>
              <a:t> Kvadrat(Tortburchak):</a:t>
            </a:r>
          </a:p>
          <a:p>
            <a:pPr>
              <a:lnSpc>
                <a:spcPct val="100000"/>
              </a:lnSpc>
            </a:pPr>
            <a:r>
              <a:rPr sz="1223" b="0">
                <a:solidFill>
                  <a:srgbClr val="E6E6E6"/>
                </a:solidFill>
                <a:latin typeface="Consolas"/>
              </a:rPr>
              <a:t>    </a:t>
            </a:r>
            <a:r>
              <a:rPr sz="1223" b="0">
                <a:solidFill>
                  <a:srgbClr val="C678DD"/>
                </a:solidFill>
                <a:latin typeface="Consolas"/>
              </a:rPr>
              <a:t>def</a:t>
            </a:r>
            <a:r>
              <a:rPr sz="1223" b="0">
                <a:solidFill>
                  <a:srgbClr val="E6E6E6"/>
                </a:solidFill>
                <a:latin typeface="Consolas"/>
              </a:rPr>
              <a:t> __init__(</a:t>
            </a:r>
            <a:r>
              <a:rPr sz="1223" b="0">
                <a:solidFill>
                  <a:srgbClr val="C678DD"/>
                </a:solidFill>
                <a:latin typeface="Consolas"/>
              </a:rPr>
              <a:t>self</a:t>
            </a:r>
            <a:r>
              <a:rPr sz="1223" b="0">
                <a:solidFill>
                  <a:srgbClr val="E6E6E6"/>
                </a:solidFill>
                <a:latin typeface="Consolas"/>
              </a:rPr>
              <a:t>, tomon):</a:t>
            </a:r>
          </a:p>
          <a:p>
            <a:pPr>
              <a:lnSpc>
                <a:spcPct val="100000"/>
              </a:lnSpc>
            </a:pPr>
            <a:r>
              <a:rPr sz="1223" b="0">
                <a:solidFill>
                  <a:srgbClr val="E6E6E6"/>
                </a:solidFill>
                <a:latin typeface="Consolas"/>
              </a:rPr>
              <a:t>        super().__init__(tomon, tomon)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4-topshiriq: SQL jadval va CRUD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26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6089"/>
            <a:ext cx="11091672" cy="451505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095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5273"/>
            <a:ext cx="10725912" cy="41675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870" b="0">
                <a:solidFill>
                  <a:srgbClr val="C678DD"/>
                </a:solidFill>
                <a:latin typeface="Consolas"/>
              </a:rPr>
              <a:t>CREATE</a:t>
            </a:r>
            <a:r>
              <a:rPr sz="1870" b="0">
                <a:solidFill>
                  <a:srgbClr val="E6E6E6"/>
                </a:solidFill>
                <a:latin typeface="Consolas"/>
              </a:rPr>
              <a:t> </a:t>
            </a:r>
            <a:r>
              <a:rPr sz="1870" b="0">
                <a:solidFill>
                  <a:srgbClr val="C678DD"/>
                </a:solidFill>
                <a:latin typeface="Consolas"/>
              </a:rPr>
              <a:t>TABLE</a:t>
            </a:r>
            <a:r>
              <a:rPr sz="1870" b="0">
                <a:solidFill>
                  <a:srgbClr val="E6E6E6"/>
                </a:solidFill>
                <a:latin typeface="Consolas"/>
              </a:rPr>
              <a:t> kitoblar (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    id      </a:t>
            </a:r>
            <a:r>
              <a:rPr sz="1870" b="0">
                <a:solidFill>
                  <a:srgbClr val="C678DD"/>
                </a:solidFill>
                <a:latin typeface="Consolas"/>
              </a:rPr>
              <a:t>SERIAL</a:t>
            </a:r>
            <a:r>
              <a:rPr sz="1870" b="0">
                <a:solidFill>
                  <a:srgbClr val="E6E6E6"/>
                </a:solidFill>
                <a:latin typeface="Consolas"/>
              </a:rPr>
              <a:t> </a:t>
            </a:r>
            <a:r>
              <a:rPr sz="1870" b="0">
                <a:solidFill>
                  <a:srgbClr val="C678DD"/>
                </a:solidFill>
                <a:latin typeface="Consolas"/>
              </a:rPr>
              <a:t>PRIMARY</a:t>
            </a:r>
            <a:r>
              <a:rPr sz="1870" b="0">
                <a:solidFill>
                  <a:srgbClr val="E6E6E6"/>
                </a:solidFill>
                <a:latin typeface="Consolas"/>
              </a:rPr>
              <a:t> </a:t>
            </a:r>
            <a:r>
              <a:rPr sz="1870" b="0">
                <a:solidFill>
                  <a:srgbClr val="C678DD"/>
                </a:solidFill>
                <a:latin typeface="Consolas"/>
              </a:rPr>
              <a:t>KEY</a:t>
            </a:r>
            <a:r>
              <a:rPr sz="1870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    nomi    </a:t>
            </a:r>
            <a:r>
              <a:rPr sz="1870" b="0">
                <a:solidFill>
                  <a:srgbClr val="C678DD"/>
                </a:solidFill>
                <a:latin typeface="Consolas"/>
              </a:rPr>
              <a:t>VARCHAR</a:t>
            </a:r>
            <a:r>
              <a:rPr sz="1870" b="0">
                <a:solidFill>
                  <a:srgbClr val="E6E6E6"/>
                </a:solidFill>
                <a:latin typeface="Consolas"/>
              </a:rPr>
              <a:t>(200) </a:t>
            </a:r>
            <a:r>
              <a:rPr sz="1870" b="0">
                <a:solidFill>
                  <a:srgbClr val="C678DD"/>
                </a:solidFill>
                <a:latin typeface="Consolas"/>
              </a:rPr>
              <a:t>NOT</a:t>
            </a:r>
            <a:r>
              <a:rPr sz="1870" b="0">
                <a:solidFill>
                  <a:srgbClr val="E6E6E6"/>
                </a:solidFill>
                <a:latin typeface="Consolas"/>
              </a:rPr>
              <a:t> </a:t>
            </a:r>
            <a:r>
              <a:rPr sz="1870" b="0">
                <a:solidFill>
                  <a:srgbClr val="C678DD"/>
                </a:solidFill>
                <a:latin typeface="Consolas"/>
              </a:rPr>
              <a:t>NULL</a:t>
            </a:r>
            <a:r>
              <a:rPr sz="1870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    muallif </a:t>
            </a:r>
            <a:r>
              <a:rPr sz="1870" b="0">
                <a:solidFill>
                  <a:srgbClr val="C678DD"/>
                </a:solidFill>
                <a:latin typeface="Consolas"/>
              </a:rPr>
              <a:t>VARCHAR</a:t>
            </a:r>
            <a:r>
              <a:rPr sz="1870" b="0">
                <a:solidFill>
                  <a:srgbClr val="E6E6E6"/>
                </a:solidFill>
                <a:latin typeface="Consolas"/>
              </a:rPr>
              <a:t>(100),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    yil     </a:t>
            </a:r>
            <a:r>
              <a:rPr sz="1870" b="0">
                <a:solidFill>
                  <a:srgbClr val="C678DD"/>
                </a:solidFill>
                <a:latin typeface="Consolas"/>
              </a:rPr>
              <a:t>INTEGER</a:t>
            </a:r>
            <a:r>
              <a:rPr sz="1870" b="0">
                <a:solidFill>
                  <a:srgbClr val="E6E6E6"/>
                </a:solidFill>
                <a:latin typeface="Consolas"/>
              </a:rPr>
              <a:t> </a:t>
            </a:r>
            <a:r>
              <a:rPr sz="1870" b="0">
                <a:solidFill>
                  <a:srgbClr val="C678DD"/>
                </a:solidFill>
                <a:latin typeface="Consolas"/>
              </a:rPr>
              <a:t>CHECK</a:t>
            </a:r>
            <a:r>
              <a:rPr sz="1870" b="0">
                <a:solidFill>
                  <a:srgbClr val="E6E6E6"/>
                </a:solidFill>
                <a:latin typeface="Consolas"/>
              </a:rPr>
              <a:t> (yil &gt; 1450),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    narx    </a:t>
            </a:r>
            <a:r>
              <a:rPr sz="1870" b="0">
                <a:solidFill>
                  <a:srgbClr val="C678DD"/>
                </a:solidFill>
                <a:latin typeface="Consolas"/>
              </a:rPr>
              <a:t>NUMERIC</a:t>
            </a:r>
            <a:r>
              <a:rPr sz="1870" b="0">
                <a:solidFill>
                  <a:srgbClr val="E6E6E6"/>
                </a:solidFill>
                <a:latin typeface="Consolas"/>
              </a:rPr>
              <a:t>(10, 2),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    mavjud  </a:t>
            </a:r>
            <a:r>
              <a:rPr sz="1870" b="0">
                <a:solidFill>
                  <a:srgbClr val="C678DD"/>
                </a:solidFill>
                <a:latin typeface="Consolas"/>
              </a:rPr>
              <a:t>BOOLEAN</a:t>
            </a:r>
            <a:r>
              <a:rPr sz="1870" b="0">
                <a:solidFill>
                  <a:srgbClr val="E6E6E6"/>
                </a:solidFill>
                <a:latin typeface="Consolas"/>
              </a:rPr>
              <a:t> </a:t>
            </a:r>
            <a:r>
              <a:rPr sz="1870" b="0">
                <a:solidFill>
                  <a:srgbClr val="C678DD"/>
                </a:solidFill>
                <a:latin typeface="Consolas"/>
              </a:rPr>
              <a:t>DEFAULT</a:t>
            </a:r>
            <a:r>
              <a:rPr sz="1870" b="0">
                <a:solidFill>
                  <a:srgbClr val="E6E6E6"/>
                </a:solidFill>
                <a:latin typeface="Consolas"/>
              </a:rPr>
              <a:t> TRUE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C678DD"/>
                </a:solidFill>
                <a:latin typeface="Consolas"/>
              </a:rPr>
              <a:t>INSERT</a:t>
            </a:r>
            <a:r>
              <a:rPr sz="1870" b="0">
                <a:solidFill>
                  <a:srgbClr val="E6E6E6"/>
                </a:solidFill>
                <a:latin typeface="Consolas"/>
              </a:rPr>
              <a:t> </a:t>
            </a:r>
            <a:r>
              <a:rPr sz="1870" b="0">
                <a:solidFill>
                  <a:srgbClr val="C678DD"/>
                </a:solidFill>
                <a:latin typeface="Consolas"/>
              </a:rPr>
              <a:t>INTO</a:t>
            </a:r>
            <a:r>
              <a:rPr sz="1870" b="0">
                <a:solidFill>
                  <a:srgbClr val="E6E6E6"/>
                </a:solidFill>
                <a:latin typeface="Consolas"/>
              </a:rPr>
              <a:t> kitoblar (nomi, muallif, yil, narx) </a:t>
            </a:r>
            <a:r>
              <a:rPr sz="1870" b="0">
                <a:solidFill>
                  <a:srgbClr val="C678DD"/>
                </a:solidFill>
                <a:latin typeface="Consolas"/>
              </a:rPr>
              <a:t>VALUES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    (</a:t>
            </a:r>
            <a:r>
              <a:rPr sz="1870" b="0">
                <a:solidFill>
                  <a:srgbClr val="98C379"/>
                </a:solidFill>
                <a:latin typeface="Consolas"/>
              </a:rPr>
              <a:t>'O'</a:t>
            </a:r>
            <a:r>
              <a:rPr sz="1870" b="0">
                <a:solidFill>
                  <a:srgbClr val="98C379"/>
                </a:solidFill>
                <a:latin typeface="Consolas"/>
              </a:rPr>
              <a:t>'tkan kunlar'</a:t>
            </a:r>
            <a:r>
              <a:rPr sz="1870" b="0">
                <a:solidFill>
                  <a:srgbClr val="E6E6E6"/>
                </a:solidFill>
                <a:latin typeface="Consolas"/>
              </a:rPr>
              <a:t>, </a:t>
            </a:r>
            <a:r>
              <a:rPr sz="1870" b="0">
                <a:solidFill>
                  <a:srgbClr val="98C379"/>
                </a:solidFill>
                <a:latin typeface="Consolas"/>
              </a:rPr>
              <a:t>'Abdulla Qodiriy'</a:t>
            </a:r>
            <a:r>
              <a:rPr sz="1870" b="0">
                <a:solidFill>
                  <a:srgbClr val="E6E6E6"/>
                </a:solidFill>
                <a:latin typeface="Consolas"/>
              </a:rPr>
              <a:t>, 1926, 65000),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    (</a:t>
            </a:r>
            <a:r>
              <a:rPr sz="1870" b="0">
                <a:solidFill>
                  <a:srgbClr val="98C379"/>
                </a:solidFill>
                <a:latin typeface="Consolas"/>
              </a:rPr>
              <a:t>'Ufq'</a:t>
            </a:r>
            <a:r>
              <a:rPr sz="1870" b="0">
                <a:solidFill>
                  <a:srgbClr val="E6E6E6"/>
                </a:solidFill>
                <a:latin typeface="Consolas"/>
              </a:rPr>
              <a:t>, </a:t>
            </a:r>
            <a:r>
              <a:rPr sz="1870" b="0">
                <a:solidFill>
                  <a:srgbClr val="98C379"/>
                </a:solidFill>
                <a:latin typeface="Consolas"/>
              </a:rPr>
              <a:t>'Said Ahmad'</a:t>
            </a:r>
            <a:r>
              <a:rPr sz="1870" b="0">
                <a:solidFill>
                  <a:srgbClr val="E6E6E6"/>
                </a:solidFill>
                <a:latin typeface="Consolas"/>
              </a:rPr>
              <a:t>, 1976, 48000);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C678DD"/>
                </a:solidFill>
                <a:latin typeface="Consolas"/>
              </a:rPr>
              <a:t>SELECT</a:t>
            </a:r>
            <a:r>
              <a:rPr sz="1870" b="0">
                <a:solidFill>
                  <a:srgbClr val="E6E6E6"/>
                </a:solidFill>
                <a:latin typeface="Consolas"/>
              </a:rPr>
              <a:t> nomi, yil, narx </a:t>
            </a:r>
            <a:r>
              <a:rPr sz="1870" b="0">
                <a:solidFill>
                  <a:srgbClr val="C678DD"/>
                </a:solidFill>
                <a:latin typeface="Consolas"/>
              </a:rPr>
              <a:t>FROM</a:t>
            </a:r>
            <a:r>
              <a:rPr sz="1870" b="0">
                <a:solidFill>
                  <a:srgbClr val="E6E6E6"/>
                </a:solidFill>
                <a:latin typeface="Consolas"/>
              </a:rPr>
              <a:t> kitoblar </a:t>
            </a:r>
            <a:r>
              <a:rPr sz="1870" b="0">
                <a:solidFill>
                  <a:srgbClr val="C678DD"/>
                </a:solidFill>
                <a:latin typeface="Consolas"/>
              </a:rPr>
              <a:t>WHERE</a:t>
            </a:r>
            <a:r>
              <a:rPr sz="1870" b="0">
                <a:solidFill>
                  <a:srgbClr val="E6E6E6"/>
                </a:solidFill>
                <a:latin typeface="Consolas"/>
              </a:rPr>
              <a:t> yil &gt; 2000 </a:t>
            </a:r>
            <a:r>
              <a:rPr sz="1870" b="0">
                <a:solidFill>
                  <a:srgbClr val="C678DD"/>
                </a:solidFill>
                <a:latin typeface="Consolas"/>
              </a:rPr>
              <a:t>ORDER</a:t>
            </a:r>
            <a:r>
              <a:rPr sz="1870" b="0">
                <a:solidFill>
                  <a:srgbClr val="E6E6E6"/>
                </a:solidFill>
                <a:latin typeface="Consolas"/>
              </a:rPr>
              <a:t> </a:t>
            </a:r>
            <a:r>
              <a:rPr sz="1870" b="0">
                <a:solidFill>
                  <a:srgbClr val="C678DD"/>
                </a:solidFill>
                <a:latin typeface="Consolas"/>
              </a:rPr>
              <a:t>BY</a:t>
            </a:r>
            <a:r>
              <a:rPr sz="1870" b="0">
                <a:solidFill>
                  <a:srgbClr val="E6E6E6"/>
                </a:solidFill>
                <a:latin typeface="Consolas"/>
              </a:rPr>
              <a:t> narx </a:t>
            </a:r>
            <a:r>
              <a:rPr sz="1870" b="0">
                <a:solidFill>
                  <a:srgbClr val="C678DD"/>
                </a:solidFill>
                <a:latin typeface="Consolas"/>
              </a:rPr>
              <a:t>DESC</a:t>
            </a:r>
            <a:r>
              <a:rPr sz="1870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C678DD"/>
                </a:solidFill>
                <a:latin typeface="Consolas"/>
              </a:rPr>
              <a:t>UPDATE</a:t>
            </a:r>
            <a:r>
              <a:rPr sz="1870" b="0">
                <a:solidFill>
                  <a:srgbClr val="E6E6E6"/>
                </a:solidFill>
                <a:latin typeface="Consolas"/>
              </a:rPr>
              <a:t> kitoblar </a:t>
            </a:r>
            <a:r>
              <a:rPr sz="1870" b="0">
                <a:solidFill>
                  <a:srgbClr val="C678DD"/>
                </a:solidFill>
                <a:latin typeface="Consolas"/>
              </a:rPr>
              <a:t>SET</a:t>
            </a:r>
            <a:r>
              <a:rPr sz="1870" b="0">
                <a:solidFill>
                  <a:srgbClr val="E6E6E6"/>
                </a:solidFill>
                <a:latin typeface="Consolas"/>
              </a:rPr>
              <a:t> narx = narx * 1.1 </a:t>
            </a:r>
            <a:r>
              <a:rPr sz="1870" b="0">
                <a:solidFill>
                  <a:srgbClr val="C678DD"/>
                </a:solidFill>
                <a:latin typeface="Consolas"/>
              </a:rPr>
              <a:t>WHERE</a:t>
            </a:r>
            <a:r>
              <a:rPr sz="1870" b="0">
                <a:solidFill>
                  <a:srgbClr val="E6E6E6"/>
                </a:solidFill>
                <a:latin typeface="Consolas"/>
              </a:rPr>
              <a:t> id = 1;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5-topshiriq: JOIN va GROUP BY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27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33457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Har sinf: nomi, o'quvchilar soni, o'rtacha baho; faqat o'rtachasi 4 dan yuqorilar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659187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47299"/>
            <a:ext cx="11091672" cy="269601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216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6483"/>
            <a:ext cx="10725912" cy="23485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SELECT</a:t>
            </a:r>
            <a:r>
              <a:rPr sz="1496" b="0">
                <a:solidFill>
                  <a:srgbClr val="E6E6E6"/>
                </a:solidFill>
                <a:latin typeface="Consolas"/>
              </a:rPr>
              <a:t> s.nomi,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COUNT</a:t>
            </a:r>
            <a:r>
              <a:rPr sz="1496" b="0">
                <a:solidFill>
                  <a:srgbClr val="E6E6E6"/>
                </a:solidFill>
                <a:latin typeface="Consolas"/>
              </a:rPr>
              <a:t>(</a:t>
            </a:r>
            <a:r>
              <a:rPr sz="1496" b="0">
                <a:solidFill>
                  <a:srgbClr val="C678DD"/>
                </a:solidFill>
                <a:latin typeface="Consolas"/>
              </a:rPr>
              <a:t>DISTINCT</a:t>
            </a:r>
            <a:r>
              <a:rPr sz="1496" b="0">
                <a:solidFill>
                  <a:srgbClr val="E6E6E6"/>
                </a:solidFill>
                <a:latin typeface="Consolas"/>
              </a:rPr>
              <a:t> o.id) </a:t>
            </a:r>
            <a:r>
              <a:rPr sz="1496" b="0">
                <a:solidFill>
                  <a:srgbClr val="C678DD"/>
                </a:solidFill>
                <a:latin typeface="Consolas"/>
              </a:rPr>
              <a:t>AS</a:t>
            </a:r>
            <a:r>
              <a:rPr sz="1496" b="0">
                <a:solidFill>
                  <a:srgbClr val="E6E6E6"/>
                </a:solidFill>
                <a:latin typeface="Consolas"/>
              </a:rPr>
              <a:t> oquvchilar,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ROUND(</a:t>
            </a:r>
            <a:r>
              <a:rPr sz="1496" b="0">
                <a:solidFill>
                  <a:srgbClr val="C678DD"/>
                </a:solidFill>
                <a:latin typeface="Consolas"/>
              </a:rPr>
              <a:t>AVG</a:t>
            </a:r>
            <a:r>
              <a:rPr sz="1496" b="0">
                <a:solidFill>
                  <a:srgbClr val="E6E6E6"/>
                </a:solidFill>
                <a:latin typeface="Consolas"/>
              </a:rPr>
              <a:t>(b.baho), 2) </a:t>
            </a:r>
            <a:r>
              <a:rPr sz="1496" b="0">
                <a:solidFill>
                  <a:srgbClr val="C678DD"/>
                </a:solidFill>
                <a:latin typeface="Consolas"/>
              </a:rPr>
              <a:t>AS</a:t>
            </a:r>
            <a:r>
              <a:rPr sz="1496" b="0">
                <a:solidFill>
                  <a:srgbClr val="E6E6E6"/>
                </a:solidFill>
                <a:latin typeface="Consolas"/>
              </a:rPr>
              <a:t> ortacha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sinflar s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JOIN</a:t>
            </a:r>
            <a:r>
              <a:rPr sz="1496" b="0">
                <a:solidFill>
                  <a:srgbClr val="E6E6E6"/>
                </a:solidFill>
                <a:latin typeface="Consolas"/>
              </a:rPr>
              <a:t> oquvchilar o </a:t>
            </a:r>
            <a:r>
              <a:rPr sz="1496" b="0">
                <a:solidFill>
                  <a:srgbClr val="C678DD"/>
                </a:solidFill>
                <a:latin typeface="Consolas"/>
              </a:rPr>
              <a:t>ON</a:t>
            </a:r>
            <a:r>
              <a:rPr sz="1496" b="0">
                <a:solidFill>
                  <a:srgbClr val="E6E6E6"/>
                </a:solidFill>
                <a:latin typeface="Consolas"/>
              </a:rPr>
              <a:t> o.sinf_id = s.id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JOIN</a:t>
            </a:r>
            <a:r>
              <a:rPr sz="1496" b="0">
                <a:solidFill>
                  <a:srgbClr val="E6E6E6"/>
                </a:solidFill>
                <a:latin typeface="Consolas"/>
              </a:rPr>
              <a:t> baholar b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ON</a:t>
            </a:r>
            <a:r>
              <a:rPr sz="1496" b="0">
                <a:solidFill>
                  <a:srgbClr val="E6E6E6"/>
                </a:solidFill>
                <a:latin typeface="Consolas"/>
              </a:rPr>
              <a:t> b.oquvchi_id = o.id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GROUP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BY</a:t>
            </a:r>
            <a:r>
              <a:rPr sz="1496" b="0">
                <a:solidFill>
                  <a:srgbClr val="E6E6E6"/>
                </a:solidFill>
                <a:latin typeface="Consolas"/>
              </a:rPr>
              <a:t> s.nomi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HAVING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AVG</a:t>
            </a:r>
            <a:r>
              <a:rPr sz="1496" b="0">
                <a:solidFill>
                  <a:srgbClr val="E6E6E6"/>
                </a:solidFill>
                <a:latin typeface="Consolas"/>
              </a:rPr>
              <a:t>(b.baho) &gt; 4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ORDER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BY</a:t>
            </a:r>
            <a:r>
              <a:rPr sz="1496" b="0">
                <a:solidFill>
                  <a:srgbClr val="E6E6E6"/>
                </a:solidFill>
                <a:latin typeface="Consolas"/>
              </a:rPr>
              <a:t> ortacha </a:t>
            </a:r>
            <a:r>
              <a:rPr sz="1496" b="0">
                <a:solidFill>
                  <a:srgbClr val="C678DD"/>
                </a:solidFill>
                <a:latin typeface="Consolas"/>
              </a:rPr>
              <a:t>DESC</a:t>
            </a:r>
            <a:r>
              <a:rPr sz="1496" b="0">
                <a:solidFill>
                  <a:srgbClr val="E6E6E6"/>
                </a:solidFill>
                <a:latin typeface="Consolas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62772"/>
            <a:ext cx="10680192" cy="753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Nega </a:t>
            </a:r>
            <a:r>
              <a:rPr sz="2024" b="0">
                <a:solidFill>
                  <a:srgbClr val="B02A4A"/>
                </a:solidFill>
                <a:latin typeface="Consolas"/>
              </a:rPr>
              <a:t>COUNT(DISTINCT o.id)</a:t>
            </a:r>
            <a:r>
              <a:rPr sz="2200" b="0">
                <a:solidFill>
                  <a:srgbClr val="1F232B"/>
                </a:solidFill>
                <a:latin typeface="Calibri"/>
              </a:rPr>
              <a:t>? JOIN'dan keyin o'quvchi har bahosi uchun takrorlanadi!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08850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Baholash shkalasi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28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8137"/>
          <a:ext cx="1109167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78638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Ball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Tavsiya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86–100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A'lo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IV bob — Django'ga tayyorsiz!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71–85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Yaxshi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Xato qilgan mavzular amaliyotini takrorlang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60–70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Qoniqarli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OOP (25) va JOIN/GROUP BY (29–30) ni qayta ishlang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0–59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Qoniqarsiz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Mentor bilan qo'shimcha mashg'ulot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🎉 III bob yakunlandi!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31-mavzu · Yakuniy nazorat ishi — II–III boblar (JavaScript, Python, 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29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Ikki dasturlash tili: </a:t>
            </a:r>
            <a:r>
              <a:rPr sz="2800" b="1">
                <a:solidFill>
                  <a:srgbClr val="1F232B"/>
                </a:solidFill>
                <a:latin typeface="Calibri"/>
              </a:rPr>
              <a:t>JavaScript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Python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OOP</a:t>
            </a:r>
            <a:r>
              <a:rPr sz="2800" b="0">
                <a:solidFill>
                  <a:srgbClr val="1F232B"/>
                </a:solidFill>
                <a:latin typeface="Calibri"/>
              </a:rPr>
              <a:t> tamoyillari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Ma'lumotlar bazasini loyihalash va </a:t>
            </a:r>
            <a:r>
              <a:rPr sz="2800" b="1">
                <a:solidFill>
                  <a:srgbClr val="1F232B"/>
                </a:solidFill>
                <a:latin typeface="Calibri"/>
              </a:rPr>
              <a:t>SQL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boshqarish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44596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2F6FAD"/>
                </a:solidFill>
                <a:latin typeface="Calibri"/>
              </a:rPr>
              <a:t>Keyingi bob: Python + PostgreSQL + Django = haqiqiy veb-ilova!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32. Python dasturlash tilini PostgreSQL ma'lumotlar bazasiga bog'lash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31-mavzu: Yakuniy nazorat ishi — II–III boblar (JavaScript, Python, SQL)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