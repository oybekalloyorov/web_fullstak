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&lt;ol&gt;.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colspan="2".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radio.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3-MAVZU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1F232B"/>
                </a:solidFill>
                <a:latin typeface="Calibri"/>
              </a:rPr>
              <a:t>Jadval, ro'yxat va forma elementlari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Tartibli va tartibsiz ro'yxatlar, jadvallar (thead, tbody, colspan, rowspan), forma va uning elementlari: input turlari, label, select, textarea, tugmalar.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Ro'yxatlar: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tartibli va tartibsiz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Jadvallar: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dars jadvali, kataklarni birlashtirish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Formalar: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matn, parol, email, tanlash, belgilash, tugmalar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Forma ma'lumoti </a:t>
            </a:r>
            <a:r>
              <a:rPr sz="2800" b="1">
                <a:solidFill>
                  <a:srgbClr val="1F232B"/>
                </a:solidFill>
                <a:latin typeface="Calibri"/>
              </a:rPr>
              <a:t>qayerga va qanday</a:t>
            </a:r>
            <a:r>
              <a:rPr sz="2800" b="0">
                <a:solidFill>
                  <a:srgbClr val="1F232B"/>
                </a:solidFill>
                <a:latin typeface="Calibri"/>
              </a:rPr>
              <a:t> yuboriladi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Ro'yxatlar: ul va 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39499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3602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&lt;h3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Bozorlik ro'yxati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&lt;/h3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&lt;ul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Non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Sut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&lt;/ul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&lt;h3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Choy damlash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&lt;/h3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&lt;ol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Suvni qaynating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Choy soling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&lt;/ol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ul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tartibsiz</a:t>
            </a:r>
            <a:r>
              <a:rPr sz="2800" b="0">
                <a:solidFill>
                  <a:srgbClr val="1F232B"/>
                </a:solidFill>
                <a:latin typeface="Calibri"/>
              </a:rPr>
              <a:t> (unordered): tartib muhim emas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470911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ol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tartibli</a:t>
            </a:r>
            <a:r>
              <a:rPr sz="2800" b="0">
                <a:solidFill>
                  <a:srgbClr val="1F232B"/>
                </a:solidFill>
                <a:latin typeface="Calibri"/>
              </a:rPr>
              <a:t> (ordered): qadamlar, reyting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524503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band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&lt;li&gt;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(list item)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6845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4578095"/>
            <a:ext cx="4951476" cy="1388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ol</a:t>
            </a:r>
            <a:r>
              <a:rPr sz="2800" b="0">
                <a:solidFill>
                  <a:srgbClr val="1F232B"/>
                </a:solidFill>
                <a:latin typeface="Calibri"/>
              </a:rPr>
              <a:t> atributlari: </a:t>
            </a:r>
            <a:r>
              <a:rPr sz="2576" b="0">
                <a:solidFill>
                  <a:srgbClr val="B02A4A"/>
                </a:solidFill>
                <a:latin typeface="Consolas"/>
              </a:rPr>
              <a:t>type="A"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type="I"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start="5"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reversed</a:t>
            </a:r>
          </a:p>
        </p:txBody>
      </p:sp>
      <p:sp>
        <p:nvSpPr>
          <p:cNvPr id="17" name="Oval 16"/>
          <p:cNvSpPr/>
          <p:nvPr/>
        </p:nvSpPr>
        <p:spPr>
          <a:xfrm>
            <a:off x="6387084" y="47381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Ichma-ich ro'yxat va ta'riflar ro'yxati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&lt;ul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Aniq fanlar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&lt;ul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Matematika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Informatika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&lt;/ul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&lt;/ul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417320"/>
            <a:ext cx="5362956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6" y="1746504"/>
            <a:ext cx="4997196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&lt;dl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&lt;dt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HTML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&lt;/dt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&lt;dd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Sahifa tuzilishi tili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&lt;/dd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&lt;dt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CSS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&lt;/dt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&lt;dd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Sahifa dizayni tili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&lt;/dd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&lt;/dl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8836" y="3990807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Ichki ro'yxat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&lt;li&gt;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800" b="1">
                <a:solidFill>
                  <a:srgbClr val="1F232B"/>
                </a:solidFill>
                <a:latin typeface="Calibri"/>
              </a:rPr>
              <a:t>ichiga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yoziladi</a:t>
            </a:r>
          </a:p>
        </p:txBody>
      </p:sp>
      <p:sp>
        <p:nvSpPr>
          <p:cNvPr id="14" name="Oval 13"/>
          <p:cNvSpPr/>
          <p:nvPr/>
        </p:nvSpPr>
        <p:spPr>
          <a:xfrm>
            <a:off x="6387084" y="415082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8836" y="5044399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dl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lug'at: </a:t>
            </a:r>
            <a:r>
              <a:rPr sz="2576" b="0">
                <a:solidFill>
                  <a:srgbClr val="B02A4A"/>
                </a:solidFill>
                <a:latin typeface="Consolas"/>
              </a:rPr>
              <a:t>dt</a:t>
            </a:r>
            <a:r>
              <a:rPr sz="2800" b="0">
                <a:solidFill>
                  <a:srgbClr val="1F232B"/>
                </a:solidFill>
                <a:latin typeface="Calibri"/>
              </a:rPr>
              <a:t> atama, </a:t>
            </a:r>
            <a:r>
              <a:rPr sz="2576" b="0">
                <a:solidFill>
                  <a:srgbClr val="B02A4A"/>
                </a:solidFill>
                <a:latin typeface="Consolas"/>
              </a:rPr>
              <a:t>dd</a:t>
            </a:r>
            <a:r>
              <a:rPr sz="2800" b="0">
                <a:solidFill>
                  <a:srgbClr val="1F232B"/>
                </a:solidFill>
                <a:latin typeface="Calibri"/>
              </a:rPr>
              <a:t> izoh</a:t>
            </a:r>
          </a:p>
        </p:txBody>
      </p:sp>
      <p:sp>
        <p:nvSpPr>
          <p:cNvPr id="16" name="Oval 15"/>
          <p:cNvSpPr/>
          <p:nvPr/>
        </p:nvSpPr>
        <p:spPr>
          <a:xfrm>
            <a:off x="6387084" y="5204419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Jadval teglari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2056"/>
          <a:ext cx="11091672" cy="3335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76503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Teg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&lt;table&gt;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Butun jadval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&lt;tr&gt;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t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able </a:t>
                      </a:r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r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ow — qator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&lt;td&gt;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t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able </a:t>
                      </a:r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d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ata — oddiy katak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&lt;th&gt;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Sarlavha katagi (qalin, markazda)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&lt;caption&gt;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Jadval nomi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76509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&lt;thead&gt;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&lt;tbody&gt;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&lt;tfoot&gt;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Bosh, asosiy, pastki qism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997040"/>
            <a:ext cx="11091672" cy="1040256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997040"/>
            <a:ext cx="82296" cy="104025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88480"/>
            <a:ext cx="10725912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💡 </a:t>
            </a:r>
            <a:r>
              <a:rPr sz="2470" b="0">
                <a:solidFill>
                  <a:srgbClr val="1F232B"/>
                </a:solidFill>
                <a:latin typeface="Calibri"/>
              </a:rPr>
              <a:t>Jadval </a:t>
            </a:r>
            <a:r>
              <a:rPr sz="2470" b="1">
                <a:solidFill>
                  <a:srgbClr val="1F232B"/>
                </a:solidFill>
                <a:latin typeface="Calibri"/>
              </a:rPr>
              <a:t>qatorma-qator</a:t>
            </a:r>
            <a:r>
              <a:rPr sz="2470" b="0">
                <a:solidFill>
                  <a:srgbClr val="1F232B"/>
                </a:solidFill>
                <a:latin typeface="Calibri"/>
              </a:rPr>
              <a:t> yoziladi: avval </a:t>
            </a:r>
            <a:r>
              <a:rPr sz="2272" b="0">
                <a:solidFill>
                  <a:srgbClr val="B02A4A"/>
                </a:solidFill>
                <a:latin typeface="Consolas"/>
              </a:rPr>
              <a:t>&lt;tr&gt;</a:t>
            </a:r>
            <a:r>
              <a:rPr sz="2470" b="0">
                <a:solidFill>
                  <a:srgbClr val="1F232B"/>
                </a:solidFill>
                <a:latin typeface="Calibri"/>
              </a:rPr>
              <a:t>, ichiga chapdan o'ngga kataklar. "Ustun" degan teg yo'q!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Jadval misoli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6458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2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&lt;table</a:t>
            </a:r>
            <a:r>
              <a:rPr sz="1904" b="0">
                <a:solidFill>
                  <a:srgbClr val="E6E6E6"/>
                </a:solidFill>
                <a:latin typeface="Consolas"/>
              </a:rPr>
              <a:t> border=</a:t>
            </a:r>
            <a:r>
              <a:rPr sz="1904" b="0">
                <a:solidFill>
                  <a:srgbClr val="98C379"/>
                </a:solidFill>
                <a:latin typeface="Consolas"/>
              </a:rPr>
              <a:t>"1"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&lt;caption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8-</a:t>
            </a:r>
            <a:r>
              <a:rPr sz="1904" b="0">
                <a:solidFill>
                  <a:srgbClr val="98C379"/>
                </a:solidFill>
                <a:latin typeface="Consolas"/>
              </a:rPr>
              <a:t>"A"</a:t>
            </a:r>
            <a:r>
              <a:rPr sz="1904" b="0">
                <a:solidFill>
                  <a:srgbClr val="E6E6E6"/>
                </a:solidFill>
                <a:latin typeface="Consolas"/>
              </a:rPr>
              <a:t> sinf baholari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&lt;/caption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&lt;thead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O'quvchi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Matematika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Informatika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&lt;/thead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&lt;tbody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Ali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5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5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Malika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4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5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&lt;/tbody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&lt;/table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7669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border="1"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hozircha chegarani ko'rish uchun; 7-mavzudan CSS bilan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3671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Kataklarni birlashtirish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Vaqt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Dushanba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Seshanba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&lt;/th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08:30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Matematika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6E6E6"/>
                </a:solidFill>
                <a:latin typeface="Consolas"/>
              </a:rPr>
              <a:t> rowspan=</a:t>
            </a:r>
            <a:r>
              <a:rPr sz="1904" b="0">
                <a:solidFill>
                  <a:srgbClr val="98C379"/>
                </a:solidFill>
                <a:latin typeface="Consolas"/>
              </a:rPr>
              <a:t>"2"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Informatika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&lt;br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(juft dars)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09:20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Ona tili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10:10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&lt;td</a:t>
            </a:r>
            <a:r>
              <a:rPr sz="1904" b="0">
                <a:solidFill>
                  <a:srgbClr val="E6E6E6"/>
                </a:solidFill>
                <a:latin typeface="Consolas"/>
              </a:rPr>
              <a:t> colspan=</a:t>
            </a:r>
            <a:r>
              <a:rPr sz="1904" b="0">
                <a:solidFill>
                  <a:srgbClr val="98C379"/>
                </a:solidFill>
                <a:latin typeface="Consolas"/>
              </a:rPr>
              <a:t>"2"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🍎 Katta tanaffus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&lt;/tr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716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colspan="2"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gorizontal</a:t>
            </a:r>
            <a:r>
              <a:rPr sz="2800" b="0">
                <a:solidFill>
                  <a:srgbClr val="1F232B"/>
                </a:solidFill>
                <a:latin typeface="Calibri"/>
              </a:rPr>
              <a:t>: 2 ustunni egallaydi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316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807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rowspan="2"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vertikal</a:t>
            </a:r>
            <a:r>
              <a:rPr sz="2800" b="0">
                <a:solidFill>
                  <a:srgbClr val="1F232B"/>
                </a:solidFill>
                <a:latin typeface="Calibri"/>
              </a:rPr>
              <a:t>: 2 qatorni egallaydi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407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889804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89804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81244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Birlashgan katak egallagan joyga keyingi qatorda katak yozilmaydi — aks holda jadval "siljiydi".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Formalar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Foydalanuvchidan ma'lumot olish — front-end va back-end o'rtasidagi ko'prik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Forma tuzilishi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86078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5133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13" b="0">
                <a:solidFill>
                  <a:srgbClr val="E06C75"/>
                </a:solidFill>
                <a:latin typeface="Consolas"/>
              </a:rPr>
              <a:t>&lt;form</a:t>
            </a:r>
            <a:r>
              <a:rPr sz="1413" b="0">
                <a:solidFill>
                  <a:srgbClr val="E6E6E6"/>
                </a:solidFill>
                <a:latin typeface="Consolas"/>
              </a:rPr>
              <a:t> action=</a:t>
            </a:r>
            <a:r>
              <a:rPr sz="1413" b="0">
                <a:solidFill>
                  <a:srgbClr val="98C379"/>
                </a:solidFill>
                <a:latin typeface="Consolas"/>
              </a:rPr>
              <a:t>"/royxat"</a:t>
            </a:r>
            <a:r>
              <a:rPr sz="1413" b="0">
                <a:solidFill>
                  <a:srgbClr val="E6E6E6"/>
                </a:solidFill>
                <a:latin typeface="Consolas"/>
              </a:rPr>
              <a:t> method=</a:t>
            </a:r>
            <a:r>
              <a:rPr sz="1413" b="0">
                <a:solidFill>
                  <a:srgbClr val="98C379"/>
                </a:solidFill>
                <a:latin typeface="Consolas"/>
              </a:rPr>
              <a:t>"POST"</a:t>
            </a:r>
            <a:r>
              <a:rPr sz="141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413" b="0">
                <a:solidFill>
                  <a:srgbClr val="E6E6E6"/>
                </a:solidFill>
                <a:latin typeface="Consolas"/>
              </a:rPr>
              <a:t>  </a:t>
            </a:r>
            <a:r>
              <a:rPr sz="1413" b="0">
                <a:solidFill>
                  <a:srgbClr val="E06C75"/>
                </a:solidFill>
                <a:latin typeface="Consolas"/>
              </a:rPr>
              <a:t>&lt;label</a:t>
            </a:r>
            <a:r>
              <a:rPr sz="1413" b="0">
                <a:solidFill>
                  <a:srgbClr val="E6E6E6"/>
                </a:solidFill>
                <a:latin typeface="Consolas"/>
              </a:rPr>
              <a:t> for=</a:t>
            </a:r>
            <a:r>
              <a:rPr sz="1413" b="0">
                <a:solidFill>
                  <a:srgbClr val="98C379"/>
                </a:solidFill>
                <a:latin typeface="Consolas"/>
              </a:rPr>
              <a:t>"ism"</a:t>
            </a:r>
            <a:r>
              <a:rPr sz="1413" b="0">
                <a:solidFill>
                  <a:srgbClr val="E06C75"/>
                </a:solidFill>
                <a:latin typeface="Consolas"/>
              </a:rPr>
              <a:t>&gt;</a:t>
            </a:r>
            <a:r>
              <a:rPr sz="1413" b="0">
                <a:solidFill>
                  <a:srgbClr val="E6E6E6"/>
                </a:solidFill>
                <a:latin typeface="Consolas"/>
              </a:rPr>
              <a:t>Ismingiz:</a:t>
            </a:r>
            <a:r>
              <a:rPr sz="1413" b="0">
                <a:solidFill>
                  <a:srgbClr val="E06C75"/>
                </a:solidFill>
                <a:latin typeface="Consolas"/>
              </a:rPr>
              <a:t>&lt;/label</a:t>
            </a:r>
            <a:r>
              <a:rPr sz="141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413" b="0">
                <a:solidFill>
                  <a:srgbClr val="E6E6E6"/>
                </a:solidFill>
                <a:latin typeface="Consolas"/>
              </a:rPr>
              <a:t>  </a:t>
            </a:r>
            <a:r>
              <a:rPr sz="1413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413" b="0">
                <a:solidFill>
                  <a:srgbClr val="E6E6E6"/>
                </a:solidFill>
                <a:latin typeface="Consolas"/>
              </a:rPr>
              <a:t> type=</a:t>
            </a:r>
            <a:r>
              <a:rPr sz="1413" b="0">
                <a:solidFill>
                  <a:srgbClr val="98C379"/>
                </a:solidFill>
                <a:latin typeface="Consolas"/>
              </a:rPr>
              <a:t>"text"</a:t>
            </a:r>
            <a:r>
              <a:rPr sz="1413" b="0">
                <a:solidFill>
                  <a:srgbClr val="E6E6E6"/>
                </a:solidFill>
                <a:latin typeface="Consolas"/>
              </a:rPr>
              <a:t> id=</a:t>
            </a:r>
            <a:r>
              <a:rPr sz="1413" b="0">
                <a:solidFill>
                  <a:srgbClr val="98C379"/>
                </a:solidFill>
                <a:latin typeface="Consolas"/>
              </a:rPr>
              <a:t>"ism"</a:t>
            </a:r>
            <a:r>
              <a:rPr sz="1413" b="0">
                <a:solidFill>
                  <a:srgbClr val="E6E6E6"/>
                </a:solidFill>
                <a:latin typeface="Consolas"/>
              </a:rPr>
              <a:t> name=</a:t>
            </a:r>
            <a:r>
              <a:rPr sz="1413" b="0">
                <a:solidFill>
                  <a:srgbClr val="98C379"/>
                </a:solidFill>
                <a:latin typeface="Consolas"/>
              </a:rPr>
              <a:t>"ism"</a:t>
            </a:r>
          </a:p>
          <a:p>
            <a:pPr>
              <a:lnSpc>
                <a:spcPct val="100000"/>
              </a:lnSpc>
            </a:pPr>
            <a:r>
              <a:rPr sz="1413" b="0">
                <a:solidFill>
                  <a:srgbClr val="E6E6E6"/>
                </a:solidFill>
                <a:latin typeface="Consolas"/>
              </a:rPr>
              <a:t>         placeholder=</a:t>
            </a:r>
            <a:r>
              <a:rPr sz="1413" b="0">
                <a:solidFill>
                  <a:srgbClr val="98C379"/>
                </a:solidFill>
                <a:latin typeface="Consolas"/>
              </a:rPr>
              <a:t>"Masalan: Ali"</a:t>
            </a:r>
            <a:r>
              <a:rPr sz="1413" b="0">
                <a:solidFill>
                  <a:srgbClr val="E6E6E6"/>
                </a:solidFill>
                <a:latin typeface="Consolas"/>
              </a:rPr>
              <a:t> required</a:t>
            </a:r>
            <a:r>
              <a:rPr sz="141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413" b="0">
                <a:solidFill>
                  <a:srgbClr val="E6E6E6"/>
                </a:solidFill>
                <a:latin typeface="Consolas"/>
              </a:rPr>
              <a:t>  </a:t>
            </a:r>
            <a:r>
              <a:rPr sz="1413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413" b="0">
                <a:solidFill>
                  <a:srgbClr val="E6E6E6"/>
                </a:solidFill>
                <a:latin typeface="Consolas"/>
              </a:rPr>
              <a:t> type=</a:t>
            </a:r>
            <a:r>
              <a:rPr sz="1413" b="0">
                <a:solidFill>
                  <a:srgbClr val="98C379"/>
                </a:solidFill>
                <a:latin typeface="Consolas"/>
              </a:rPr>
              <a:t>"submit"</a:t>
            </a:r>
            <a:r>
              <a:rPr sz="1413" b="0">
                <a:solidFill>
                  <a:srgbClr val="E06C75"/>
                </a:solidFill>
                <a:latin typeface="Consolas"/>
              </a:rPr>
              <a:t>&gt;</a:t>
            </a:r>
            <a:r>
              <a:rPr sz="1413" b="0">
                <a:solidFill>
                  <a:srgbClr val="E6E6E6"/>
                </a:solidFill>
                <a:latin typeface="Consolas"/>
              </a:rPr>
              <a:t>Yuborish</a:t>
            </a:r>
            <a:r>
              <a:rPr sz="1413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41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413" b="0">
                <a:solidFill>
                  <a:srgbClr val="E06C75"/>
                </a:solidFill>
                <a:latin typeface="Consolas"/>
              </a:rPr>
              <a:t>&lt;/form</a:t>
            </a:r>
            <a:r>
              <a:rPr sz="1413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action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qayerga</a:t>
            </a:r>
            <a:r>
              <a:rPr sz="2800" b="0">
                <a:solidFill>
                  <a:srgbClr val="1F232B"/>
                </a:solidFill>
                <a:latin typeface="Calibri"/>
              </a:rPr>
              <a:t> yuboriladi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026412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method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GET</a:t>
            </a:r>
            <a:r>
              <a:rPr sz="2800" b="0">
                <a:solidFill>
                  <a:srgbClr val="1F232B"/>
                </a:solidFill>
                <a:latin typeface="Calibri"/>
              </a:rPr>
              <a:t> (manzilda ochiq) yoki </a:t>
            </a:r>
            <a:r>
              <a:rPr sz="2800" b="1">
                <a:solidFill>
                  <a:srgbClr val="1F232B"/>
                </a:solidFill>
                <a:latin typeface="Calibri"/>
              </a:rPr>
              <a:t>POST</a:t>
            </a:r>
            <a:r>
              <a:rPr sz="2800" b="0">
                <a:solidFill>
                  <a:srgbClr val="1F232B"/>
                </a:solidFill>
                <a:latin typeface="Calibri"/>
              </a:rPr>
              <a:t> (yashirin)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080004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label for</a:t>
            </a:r>
            <a:r>
              <a:rPr sz="2800" b="0">
                <a:solidFill>
                  <a:srgbClr val="1F232B"/>
                </a:solidFill>
                <a:latin typeface="Calibri"/>
              </a:rPr>
              <a:t> = input </a:t>
            </a:r>
            <a:r>
              <a:rPr sz="2576" b="0">
                <a:solidFill>
                  <a:srgbClr val="B02A4A"/>
                </a:solidFill>
                <a:latin typeface="Consolas"/>
              </a:rPr>
              <a:t>id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yozuv bosilsa maydon faollashadi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4133595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name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eng muhim!</a:t>
            </a:r>
            <a:r>
              <a:rPr sz="2800" b="0">
                <a:solidFill>
                  <a:srgbClr val="1F232B"/>
                </a:solidFill>
                <a:latin typeface="Calibri"/>
              </a:rPr>
              <a:t> Serverga </a:t>
            </a:r>
            <a:r>
              <a:rPr sz="2576" b="0">
                <a:solidFill>
                  <a:srgbClr val="B02A4A"/>
                </a:solidFill>
                <a:latin typeface="Consolas"/>
              </a:rPr>
              <a:t>name=qiymat</a:t>
            </a:r>
            <a:r>
              <a:rPr sz="2800" b="0">
                <a:solidFill>
                  <a:srgbClr val="1F232B"/>
                </a:solidFill>
                <a:latin typeface="Calibri"/>
              </a:rPr>
              <a:t> boradi</a:t>
            </a:r>
          </a:p>
        </p:txBody>
      </p:sp>
      <p:sp>
        <p:nvSpPr>
          <p:cNvPr id="17" name="Oval 16"/>
          <p:cNvSpPr/>
          <p:nvPr/>
        </p:nvSpPr>
        <p:spPr>
          <a:xfrm>
            <a:off x="6387084" y="42936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8836" y="5187187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required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majburiy maydon</a:t>
            </a:r>
          </a:p>
        </p:txBody>
      </p:sp>
      <p:sp>
        <p:nvSpPr>
          <p:cNvPr id="19" name="Oval 18"/>
          <p:cNvSpPr/>
          <p:nvPr/>
        </p:nvSpPr>
        <p:spPr>
          <a:xfrm>
            <a:off x="6387084" y="534720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Input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92294"/>
          <a:ext cx="11091672" cy="30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060" b="1">
                          <a:solidFill>
                            <a:srgbClr val="B02A4A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text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password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email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Matn / yashirin parol / @ tekshiruvi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number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Faqat son: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min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max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radio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Bittasini tanlash —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name bir xil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!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checkbox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Bir nechtasini belgilash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date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time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color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range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Sana, vaqt, rang, slayder, fayl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723174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7803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52358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904" b="0">
                <a:solidFill>
                  <a:srgbClr val="E6E6E6"/>
                </a:solidFill>
                <a:latin typeface="Consolas"/>
              </a:rPr>
              <a:t> type=</a:t>
            </a:r>
            <a:r>
              <a:rPr sz="1904" b="0">
                <a:solidFill>
                  <a:srgbClr val="98C379"/>
                </a:solidFill>
                <a:latin typeface="Consolas"/>
              </a:rPr>
              <a:t>"radio"</a:t>
            </a:r>
            <a:r>
              <a:rPr sz="1904" b="0">
                <a:solidFill>
                  <a:srgbClr val="E6E6E6"/>
                </a:solidFill>
                <a:latin typeface="Consolas"/>
              </a:rPr>
              <a:t> name=</a:t>
            </a:r>
            <a:r>
              <a:rPr sz="1904" b="0">
                <a:solidFill>
                  <a:srgbClr val="98C379"/>
                </a:solidFill>
                <a:latin typeface="Consolas"/>
              </a:rPr>
              <a:t>"jins"</a:t>
            </a:r>
            <a:r>
              <a:rPr sz="1904" b="0">
                <a:solidFill>
                  <a:srgbClr val="E6E6E6"/>
                </a:solidFill>
                <a:latin typeface="Consolas"/>
              </a:rPr>
              <a:t> value=</a:t>
            </a:r>
            <a:r>
              <a:rPr sz="1904" b="0">
                <a:solidFill>
                  <a:srgbClr val="98C379"/>
                </a:solidFill>
                <a:latin typeface="Consolas"/>
              </a:rPr>
              <a:t>"o"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 O'g'il bola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904" b="0">
                <a:solidFill>
                  <a:srgbClr val="E6E6E6"/>
                </a:solidFill>
                <a:latin typeface="Consolas"/>
              </a:rPr>
              <a:t> type=</a:t>
            </a:r>
            <a:r>
              <a:rPr sz="1904" b="0">
                <a:solidFill>
                  <a:srgbClr val="98C379"/>
                </a:solidFill>
                <a:latin typeface="Consolas"/>
              </a:rPr>
              <a:t>"radio"</a:t>
            </a:r>
            <a:r>
              <a:rPr sz="1904" b="0">
                <a:solidFill>
                  <a:srgbClr val="E6E6E6"/>
                </a:solidFill>
                <a:latin typeface="Consolas"/>
              </a:rPr>
              <a:t> name=</a:t>
            </a:r>
            <a:r>
              <a:rPr sz="1904" b="0">
                <a:solidFill>
                  <a:srgbClr val="98C379"/>
                </a:solidFill>
                <a:latin typeface="Consolas"/>
              </a:rPr>
              <a:t>"jins"</a:t>
            </a:r>
            <a:r>
              <a:rPr sz="1904" b="0">
                <a:solidFill>
                  <a:srgbClr val="E6E6E6"/>
                </a:solidFill>
                <a:latin typeface="Consolas"/>
              </a:rPr>
              <a:t> value=</a:t>
            </a:r>
            <a:r>
              <a:rPr sz="1904" b="0">
                <a:solidFill>
                  <a:srgbClr val="98C379"/>
                </a:solidFill>
                <a:latin typeface="Consolas"/>
              </a:rPr>
              <a:t>"q"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 Qiz bola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select, textarea va tugmalar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8666"/>
            <a:ext cx="11091672" cy="340278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353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7850"/>
            <a:ext cx="10725912" cy="30553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&lt;label</a:t>
            </a:r>
            <a:r>
              <a:rPr sz="1768" b="0">
                <a:solidFill>
                  <a:srgbClr val="E6E6E6"/>
                </a:solidFill>
                <a:latin typeface="Consolas"/>
              </a:rPr>
              <a:t> for=</a:t>
            </a:r>
            <a:r>
              <a:rPr sz="1768" b="0">
                <a:solidFill>
                  <a:srgbClr val="98C379"/>
                </a:solidFill>
                <a:latin typeface="Consolas"/>
              </a:rPr>
              <a:t>"viloyat"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6E6E6"/>
                </a:solidFill>
                <a:latin typeface="Consolas"/>
              </a:rPr>
              <a:t>Viloyat: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&lt;/label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&lt;select</a:t>
            </a:r>
            <a:r>
              <a:rPr sz="1768" b="0">
                <a:solidFill>
                  <a:srgbClr val="E6E6E6"/>
                </a:solidFill>
                <a:latin typeface="Consolas"/>
              </a:rPr>
              <a:t> id=</a:t>
            </a:r>
            <a:r>
              <a:rPr sz="1768" b="0">
                <a:solidFill>
                  <a:srgbClr val="98C379"/>
                </a:solidFill>
                <a:latin typeface="Consolas"/>
              </a:rPr>
              <a:t>"viloyat"</a:t>
            </a:r>
            <a:r>
              <a:rPr sz="1768" b="0">
                <a:solidFill>
                  <a:srgbClr val="E6E6E6"/>
                </a:solidFill>
                <a:latin typeface="Consolas"/>
              </a:rPr>
              <a:t> name=</a:t>
            </a:r>
            <a:r>
              <a:rPr sz="1768" b="0">
                <a:solidFill>
                  <a:srgbClr val="98C379"/>
                </a:solidFill>
                <a:latin typeface="Consolas"/>
              </a:rPr>
              <a:t>"viloyat"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&lt;option</a:t>
            </a:r>
            <a:r>
              <a:rPr sz="1768" b="0">
                <a:solidFill>
                  <a:srgbClr val="E6E6E6"/>
                </a:solidFill>
                <a:latin typeface="Consolas"/>
              </a:rPr>
              <a:t> value=</a:t>
            </a:r>
            <a:r>
              <a:rPr sz="1768" b="0">
                <a:solidFill>
                  <a:srgbClr val="98C379"/>
                </a:solidFill>
                <a:latin typeface="Consolas"/>
              </a:rPr>
              <a:t>""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6E6E6"/>
                </a:solidFill>
                <a:latin typeface="Consolas"/>
              </a:rPr>
              <a:t>— Tanlang —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&lt;/option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&lt;option</a:t>
            </a:r>
            <a:r>
              <a:rPr sz="1768" b="0">
                <a:solidFill>
                  <a:srgbClr val="E6E6E6"/>
                </a:solidFill>
                <a:latin typeface="Consolas"/>
              </a:rPr>
              <a:t> value=</a:t>
            </a:r>
            <a:r>
              <a:rPr sz="1768" b="0">
                <a:solidFill>
                  <a:srgbClr val="98C379"/>
                </a:solidFill>
                <a:latin typeface="Consolas"/>
              </a:rPr>
              <a:t>"tosh"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6E6E6"/>
                </a:solidFill>
                <a:latin typeface="Consolas"/>
              </a:rPr>
              <a:t>Toshkent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&lt;/option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&lt;option</a:t>
            </a:r>
            <a:r>
              <a:rPr sz="1768" b="0">
                <a:solidFill>
                  <a:srgbClr val="E6E6E6"/>
                </a:solidFill>
                <a:latin typeface="Consolas"/>
              </a:rPr>
              <a:t> value=</a:t>
            </a:r>
            <a:r>
              <a:rPr sz="1768" b="0">
                <a:solidFill>
                  <a:srgbClr val="98C379"/>
                </a:solidFill>
                <a:latin typeface="Consolas"/>
              </a:rPr>
              <a:t>"sam"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6E6E6"/>
                </a:solidFill>
                <a:latin typeface="Consolas"/>
              </a:rPr>
              <a:t>Samarqand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&lt;/option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&lt;/select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&lt;textarea</a:t>
            </a:r>
            <a:r>
              <a:rPr sz="1768" b="0">
                <a:solidFill>
                  <a:srgbClr val="E6E6E6"/>
                </a:solidFill>
                <a:latin typeface="Consolas"/>
              </a:rPr>
              <a:t> name=</a:t>
            </a:r>
            <a:r>
              <a:rPr sz="1768" b="0">
                <a:solidFill>
                  <a:srgbClr val="98C379"/>
                </a:solidFill>
                <a:latin typeface="Consolas"/>
              </a:rPr>
              <a:t>"fikr"</a:t>
            </a:r>
            <a:r>
              <a:rPr sz="1768" b="0">
                <a:solidFill>
                  <a:srgbClr val="E6E6E6"/>
                </a:solidFill>
                <a:latin typeface="Consolas"/>
              </a:rPr>
              <a:t> rows=</a:t>
            </a:r>
            <a:r>
              <a:rPr sz="1768" b="0">
                <a:solidFill>
                  <a:srgbClr val="98C379"/>
                </a:solidFill>
                <a:latin typeface="Consolas"/>
              </a:rPr>
              <a:t>"4"</a:t>
            </a:r>
            <a:r>
              <a:rPr sz="1768" b="0">
                <a:solidFill>
                  <a:srgbClr val="E6E6E6"/>
                </a:solidFill>
                <a:latin typeface="Consolas"/>
              </a:rPr>
              <a:t> cols=</a:t>
            </a:r>
            <a:r>
              <a:rPr sz="1768" b="0">
                <a:solidFill>
                  <a:srgbClr val="98C379"/>
                </a:solidFill>
                <a:latin typeface="Consolas"/>
              </a:rPr>
              <a:t>"40"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&lt;/textarea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768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68" b="0">
                <a:solidFill>
                  <a:srgbClr val="98C379"/>
                </a:solidFill>
                <a:latin typeface="Consolas"/>
              </a:rPr>
              <a:t>"submit"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6E6E6"/>
                </a:solidFill>
                <a:latin typeface="Consolas"/>
              </a:rPr>
              <a:t>Yuborish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768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68" b="0">
                <a:solidFill>
                  <a:srgbClr val="98C379"/>
                </a:solidFill>
                <a:latin typeface="Consolas"/>
              </a:rPr>
              <a:t>"reset"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6E6E6"/>
                </a:solidFill>
                <a:latin typeface="Consolas"/>
              </a:rPr>
              <a:t>Tozalash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70909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select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ochiladigan ro'yxat; serverga </a:t>
            </a:r>
            <a:r>
              <a:rPr sz="2392" b="0">
                <a:solidFill>
                  <a:srgbClr val="B02A4A"/>
                </a:solidFill>
                <a:latin typeface="Consolas"/>
              </a:rPr>
              <a:t>value</a:t>
            </a:r>
            <a:r>
              <a:rPr sz="2600" b="0">
                <a:solidFill>
                  <a:srgbClr val="1F232B"/>
                </a:solidFill>
                <a:latin typeface="Calibri"/>
              </a:rPr>
              <a:t> boradi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219499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48251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textarea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ko'p qatorli matn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79684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Brauzer tekshiruvi (validatsiya)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required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bo'sh bo'lmasin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minlength="8"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maxlength="20"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matn uzunligi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max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son yoki sana chegarasi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type="email"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email formati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53688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53688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45128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Bu faqat qulaylik uchun — ayyor foydalanuvchi chetlab o'tadi. Ma'lumot </a:t>
            </a:r>
            <a:r>
              <a:rPr sz="2660" b="1">
                <a:solidFill>
                  <a:srgbClr val="1F232B"/>
                </a:solidFill>
                <a:latin typeface="Calibri"/>
              </a:rPr>
              <a:t>serverda ham</a:t>
            </a:r>
            <a:r>
              <a:rPr sz="2660" b="0">
                <a:solidFill>
                  <a:srgbClr val="1F232B"/>
                </a:solidFill>
                <a:latin typeface="Calibri"/>
              </a:rPr>
              <a:t> tekshiriladi (37-mavzu).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"To'garakka yozilish" sahifasi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togarak.html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skelet, </a:t>
            </a:r>
            <a:r>
              <a:rPr sz="2024" b="0">
                <a:solidFill>
                  <a:srgbClr val="B02A4A"/>
                </a:solidFill>
                <a:latin typeface="Consolas"/>
              </a:rPr>
              <a:t>&lt;h1&gt;</a:t>
            </a:r>
            <a:r>
              <a:rPr sz="2200" b="0">
                <a:solidFill>
                  <a:srgbClr val="1F232B"/>
                </a:solidFill>
                <a:latin typeface="Calibri"/>
              </a:rPr>
              <a:t> va kirish paragrafi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To'garaklar </a:t>
            </a:r>
            <a:r>
              <a:rPr sz="2200" b="1">
                <a:solidFill>
                  <a:srgbClr val="1F232B"/>
                </a:solidFill>
                <a:latin typeface="Calibri"/>
              </a:rPr>
              <a:t>jadvali</a:t>
            </a:r>
            <a:r>
              <a:rPr sz="2200" b="0">
                <a:solidFill>
                  <a:srgbClr val="1F232B"/>
                </a:solidFill>
                <a:latin typeface="Calibri"/>
              </a:rPr>
              <a:t>: nom, kunlar, vaqt, joylar (</a:t>
            </a:r>
            <a:r>
              <a:rPr sz="2024" b="0">
                <a:solidFill>
                  <a:srgbClr val="B02A4A"/>
                </a:solidFill>
                <a:latin typeface="Consolas"/>
              </a:rPr>
              <a:t>rowspan</a:t>
            </a:r>
            <a:r>
              <a:rPr sz="2200" b="0">
                <a:solidFill>
                  <a:srgbClr val="1F232B"/>
                </a:solidFill>
                <a:latin typeface="Calibri"/>
              </a:rPr>
              <a:t> bilan)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"Nima uchun yozilish kerak?" — </a:t>
            </a:r>
            <a:r>
              <a:rPr sz="2024" b="0">
                <a:solidFill>
                  <a:srgbClr val="B02A4A"/>
                </a:solidFill>
                <a:latin typeface="Consolas"/>
              </a:rPr>
              <a:t>&lt;ul&gt;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"Qanday yozilish mumkin?" — </a:t>
            </a:r>
            <a:r>
              <a:rPr sz="2024" b="0">
                <a:solidFill>
                  <a:srgbClr val="B02A4A"/>
                </a:solidFill>
                <a:latin typeface="Consolas"/>
              </a:rPr>
              <a:t>&lt;ol&gt;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Forma: ism, sinf (</a:t>
            </a:r>
            <a:r>
              <a:rPr sz="2024" b="0">
                <a:solidFill>
                  <a:srgbClr val="B02A4A"/>
                </a:solidFill>
                <a:latin typeface="Consolas"/>
              </a:rPr>
              <a:t>select</a:t>
            </a:r>
            <a:r>
              <a:rPr sz="2200" b="0">
                <a:solidFill>
                  <a:srgbClr val="1F232B"/>
                </a:solidFill>
                <a:latin typeface="Calibri"/>
              </a:rPr>
              <a:t>), telefon (</a:t>
            </a:r>
            <a:r>
              <a:rPr sz="2024" b="0">
                <a:solidFill>
                  <a:srgbClr val="B02A4A"/>
                </a:solidFill>
                <a:latin typeface="Consolas"/>
              </a:rPr>
              <a:t>tel</a:t>
            </a:r>
            <a:r>
              <a:rPr sz="2200" b="0">
                <a:solidFill>
                  <a:srgbClr val="1F232B"/>
                </a:solidFill>
                <a:latin typeface="Calibri"/>
              </a:rPr>
              <a:t>), to'garaklar (</a:t>
            </a:r>
            <a:r>
              <a:rPr sz="2024" b="0">
                <a:solidFill>
                  <a:srgbClr val="B02A4A"/>
                </a:solidFill>
                <a:latin typeface="Consolas"/>
              </a:rPr>
              <a:t>checkbox</a:t>
            </a:r>
            <a:r>
              <a:rPr sz="2200" b="0">
                <a:solidFill>
                  <a:srgbClr val="1F232B"/>
                </a:solidFill>
                <a:latin typeface="Calibri"/>
              </a:rPr>
              <a:t>), izoh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82803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Bo'sh formani yuborib, validatsiyani sinang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47725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550468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POST</a:t>
            </a:r>
            <a:r>
              <a:rPr sz="2200" b="0">
                <a:solidFill>
                  <a:srgbClr val="1F232B"/>
                </a:solidFill>
                <a:latin typeface="Calibri"/>
              </a:rPr>
              <a:t> → </a:t>
            </a:r>
            <a:r>
              <a:rPr sz="2024" b="0">
                <a:solidFill>
                  <a:srgbClr val="B02A4A"/>
                </a:solidFill>
                <a:latin typeface="Consolas"/>
              </a:rPr>
              <a:t>GET</a:t>
            </a:r>
            <a:r>
              <a:rPr sz="2200" b="0">
                <a:solidFill>
                  <a:srgbClr val="1F232B"/>
                </a:solidFill>
                <a:latin typeface="Calibri"/>
              </a:rPr>
              <a:t> qiling: ma'lumot manzil satrida ko'rinadi!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&lt;li&gt;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ni </a:t>
            </a:r>
            <a:r>
              <a:rPr sz="2576" b="0">
                <a:solidFill>
                  <a:srgbClr val="B02A4A"/>
                </a:solidFill>
                <a:latin typeface="Consolas"/>
              </a:rPr>
              <a:t>ul/ol</a:t>
            </a:r>
            <a:r>
              <a:rPr sz="2800" b="0">
                <a:solidFill>
                  <a:srgbClr val="1F232B"/>
                </a:solidFill>
                <a:latin typeface="Calibri"/>
              </a:rPr>
              <a:t> siz yozish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Radio tugmalarga </a:t>
            </a:r>
            <a:r>
              <a:rPr sz="2800" b="1">
                <a:solidFill>
                  <a:srgbClr val="1F232B"/>
                </a:solidFill>
                <a:latin typeface="Calibri"/>
              </a:rPr>
              <a:t>turli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name</a:t>
            </a:r>
            <a:r>
              <a:rPr sz="2800" b="0">
                <a:solidFill>
                  <a:srgbClr val="1F232B"/>
                </a:solidFill>
                <a:latin typeface="Calibri"/>
              </a:rPr>
              <a:t> berish — hammasi belgilanib qoladi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label for</a:t>
            </a:r>
            <a:r>
              <a:rPr sz="2800" b="0">
                <a:solidFill>
                  <a:srgbClr val="1F232B"/>
                </a:solidFill>
                <a:latin typeface="Calibri"/>
              </a:rPr>
              <a:t> qiymati input </a:t>
            </a:r>
            <a:r>
              <a:rPr sz="2576" b="0">
                <a:solidFill>
                  <a:srgbClr val="B02A4A"/>
                </a:solidFill>
                <a:latin typeface="Consolas"/>
              </a:rPr>
              <a:t>id</a:t>
            </a:r>
            <a:r>
              <a:rPr sz="2800" b="0">
                <a:solidFill>
                  <a:srgbClr val="1F232B"/>
                </a:solidFill>
                <a:latin typeface="Calibri"/>
              </a:rPr>
              <a:t> siga mos emas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Input'da </a:t>
            </a:r>
            <a:r>
              <a:rPr sz="2576" b="0">
                <a:solidFill>
                  <a:srgbClr val="B02A4A"/>
                </a:solidFill>
                <a:latin typeface="Consolas"/>
              </a:rPr>
              <a:t>name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 — ma'lumot serverga bormaydi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&lt;td&gt;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ni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&lt;tr&gt;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siz to'g'ridan-to'g'ri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&lt;table&gt;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ga yozish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Retsept qadamlari uchun qaysi ro'yxat mos?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&lt;ul&gt;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&lt;ol&gt;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&lt;dl&gt;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&lt;table&gt;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Retsept qadamlari uchun qaysi ro'yxat mos?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&lt;ul&gt;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&lt;ol&gt;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&lt;dl&gt;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&lt;table&gt;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Katakni ikki ustun kengligida birlashtirish uchun qaysi atribut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colspan="2"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rowspan="2"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span="2"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width="2"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Katakni ikki ustun kengligida birlashtirish uchun qaysi atribut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colspan="2"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rowspan="2"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span="2"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width="2"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"Jinsingiz" savoliga faqat bitta javob tanlash uchun qaysi input turi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checkbox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select multiple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radio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"Jinsingiz" savoliga faqat bitta javob tanlash uchun qaysi input turi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checkbox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select multiple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radio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Parol yuboradigan forma uchun qaysi method to'g'ri?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Parol yuboradigan forma uchun qaysi method to'g'ri?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7825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0568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Sinfingizning </a:t>
            </a:r>
            <a:r>
              <a:rPr sz="2800" b="1">
                <a:solidFill>
                  <a:srgbClr val="1F232B"/>
                </a:solidFill>
                <a:latin typeface="Calibri"/>
              </a:rPr>
              <a:t>haftalik dars jadvali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caption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thead</a:t>
            </a:r>
            <a:r>
              <a:rPr sz="2800" b="0">
                <a:solidFill>
                  <a:srgbClr val="1F232B"/>
                </a:solidFill>
                <a:latin typeface="Calibri"/>
              </a:rPr>
              <a:t>, tanaffuslar uchun </a:t>
            </a:r>
            <a:r>
              <a:rPr sz="2576" b="0">
                <a:solidFill>
                  <a:srgbClr val="B02A4A"/>
                </a:solidFill>
                <a:latin typeface="Consolas"/>
              </a:rPr>
              <a:t>colspan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8670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1414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Retsept sahifasi: masalliqlar </a:t>
            </a:r>
            <a:r>
              <a:rPr sz="2576" b="0">
                <a:solidFill>
                  <a:srgbClr val="B02A4A"/>
                </a:solidFill>
                <a:latin typeface="Consolas"/>
              </a:rPr>
              <a:t>ul</a:t>
            </a:r>
            <a:r>
              <a:rPr sz="2800" b="0">
                <a:solidFill>
                  <a:srgbClr val="1F232B"/>
                </a:solidFill>
                <a:latin typeface="Calibri"/>
              </a:rPr>
              <a:t>, tayyorlash </a:t>
            </a:r>
            <a:r>
              <a:rPr sz="2576" b="0">
                <a:solidFill>
                  <a:srgbClr val="B02A4A"/>
                </a:solidFill>
                <a:latin typeface="Consolas"/>
              </a:rPr>
              <a:t>ol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336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90797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"Kutubxonaga a'zo bo'lish" formasi: ism, sana, email, janr (</a:t>
            </a:r>
            <a:r>
              <a:rPr sz="2576" b="0">
                <a:solidFill>
                  <a:srgbClr val="B02A4A"/>
                </a:solidFill>
                <a:latin typeface="Consolas"/>
              </a:rPr>
              <a:t>select</a:t>
            </a:r>
            <a:r>
              <a:rPr sz="2800" b="0">
                <a:solidFill>
                  <a:srgbClr val="1F232B"/>
                </a:solidFill>
                <a:latin typeface="Calibri"/>
              </a:rPr>
              <a:t>), tillar (</a:t>
            </a:r>
            <a:r>
              <a:rPr sz="2576" b="0">
                <a:solidFill>
                  <a:srgbClr val="B02A4A"/>
                </a:solidFill>
                <a:latin typeface="Consolas"/>
              </a:rPr>
              <a:t>checkbox</a:t>
            </a:r>
            <a:r>
              <a:rPr sz="2800" b="0">
                <a:solidFill>
                  <a:srgbClr val="1F232B"/>
                </a:solidFill>
                <a:latin typeface="Calibri"/>
              </a:rPr>
              <a:t>), izoh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3-mavzu · Jadval, ro'yxat va forma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ul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tartibsiz, </a:t>
            </a:r>
            <a:r>
              <a:rPr sz="2576" b="0">
                <a:solidFill>
                  <a:srgbClr val="B02A4A"/>
                </a:solidFill>
                <a:latin typeface="Consolas"/>
              </a:rPr>
              <a:t>ol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tartibli; bandlar </a:t>
            </a:r>
            <a:r>
              <a:rPr sz="2576" b="0">
                <a:solidFill>
                  <a:srgbClr val="B02A4A"/>
                </a:solidFill>
                <a:latin typeface="Consolas"/>
              </a:rPr>
              <a:t>li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Jadval: </a:t>
            </a:r>
            <a:r>
              <a:rPr sz="2576" b="0">
                <a:solidFill>
                  <a:srgbClr val="B02A4A"/>
                </a:solidFill>
                <a:latin typeface="Consolas"/>
              </a:rPr>
              <a:t>table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tr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td</a:t>
            </a:r>
            <a:r>
              <a:rPr sz="2800" b="0">
                <a:solidFill>
                  <a:srgbClr val="1F232B"/>
                </a:solidFill>
                <a:latin typeface="Calibri"/>
              </a:rPr>
              <a:t>/</a:t>
            </a:r>
            <a:r>
              <a:rPr sz="2576" b="0">
                <a:solidFill>
                  <a:srgbClr val="B02A4A"/>
                </a:solidFill>
                <a:latin typeface="Consolas"/>
              </a:rPr>
              <a:t>th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colspan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gorizontal, </a:t>
            </a:r>
            <a:r>
              <a:rPr sz="2576" b="0">
                <a:solidFill>
                  <a:srgbClr val="B02A4A"/>
                </a:solidFill>
                <a:latin typeface="Consolas"/>
              </a:rPr>
              <a:t>rowspan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vertikal birlashtirish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Forma: </a:t>
            </a:r>
            <a:r>
              <a:rPr sz="2576" b="0">
                <a:solidFill>
                  <a:srgbClr val="B02A4A"/>
                </a:solidFill>
                <a:latin typeface="Consolas"/>
              </a:rPr>
              <a:t>action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method</a:t>
            </a:r>
            <a:r>
              <a:rPr sz="2800" b="0">
                <a:solidFill>
                  <a:srgbClr val="1F232B"/>
                </a:solidFill>
                <a:latin typeface="Calibri"/>
              </a:rPr>
              <a:t> (GET/POST), har maydonda </a:t>
            </a:r>
            <a:r>
              <a:rPr sz="2576" b="0">
                <a:solidFill>
                  <a:srgbClr val="B02A4A"/>
                </a:solidFill>
                <a:latin typeface="Consolas"/>
              </a:rPr>
              <a:t>name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label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radio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bitta, </a:t>
            </a:r>
            <a:r>
              <a:rPr sz="2576" b="0">
                <a:solidFill>
                  <a:srgbClr val="B02A4A"/>
                </a:solidFill>
                <a:latin typeface="Consolas"/>
              </a:rPr>
              <a:t>checkbox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bir nechta,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select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ro'yxat, </a:t>
            </a:r>
            <a:r>
              <a:rPr sz="2576" b="0">
                <a:solidFill>
                  <a:srgbClr val="B02A4A"/>
                </a:solidFill>
                <a:latin typeface="Consolas"/>
              </a:rPr>
              <a:t>textarea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ko'p qator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4. Havolalar va navigatsiya. Rasmlar va media elementlari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3-mavzu: Jadval, ro'yxat va forma elementlari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