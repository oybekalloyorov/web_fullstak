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notesMaster" Target="notesMasters/notesMaster1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B) 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C) [2, 4].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D) [10, 20, 30].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C) reduce.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94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11091672" cy="5760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64592" cy="5760720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005840"/>
            <a:ext cx="1005840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5400" b="0">
                <a:solidFill>
                  <a:srgbClr val="1F232B"/>
                </a:solidFill>
                <a:latin typeface="Segoe UI Emoji"/>
              </a:rPr>
              <a:t>🗂️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10312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500" b="1">
                <a:solidFill>
                  <a:srgbClr val="C99400"/>
                </a:solidFill>
                <a:latin typeface="Calibri"/>
              </a:rPr>
              <a:t>18-MAVZU  ·  II BOB. JAVASCRIPT ASOSLARI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606040"/>
            <a:ext cx="100584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3600" b="1">
                <a:solidFill>
                  <a:srgbClr val="1F232B"/>
                </a:solidFill>
                <a:latin typeface="Calibri"/>
              </a:rPr>
              <a:t>Arraylar (massivlar) va obyektlar bilan ishlash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343400"/>
            <a:ext cx="987552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800" b="0">
                <a:solidFill>
                  <a:srgbClr val="5B6370"/>
                </a:solidFill>
                <a:latin typeface="Calibri"/>
              </a:rPr>
              <a:t>Massiv yaratish, indekslar, length, push/pop/shift/unshift, includes/indexOf, for...of; forEach, map, filter, find, reduce; obyektlar, xossalar, metodlar, obyektlar massivi; o'quvchilar bahosini hisoblovchi dastur.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5669280"/>
            <a:ext cx="10058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400" b="1">
                <a:solidFill>
                  <a:srgbClr val="5B6370"/>
                </a:solidFill>
                <a:latin typeface="Calibri"/>
              </a:rPr>
              <a:t>8-sinf · Web Full-stack dasturlash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Bugun nimani o'rganamiz?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18-mavzu · Arraylar (massivlar) va obyektlar bilan ishlash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Massiv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ko'p qiymat bitta o'zgaruvchida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26412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Qo'shish, o'chirish, qidirish, aylanib chiqish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186432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635504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Kuchli metodlar: </a:t>
            </a:r>
            <a:r>
              <a:rPr sz="2576" b="0">
                <a:solidFill>
                  <a:srgbClr val="B02A4A"/>
                </a:solidFill>
                <a:latin typeface="Consolas"/>
              </a:rPr>
              <a:t>map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filter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find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reduce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2795524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244596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Obyekt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bitta narsaning xususiyatlari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404616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853688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Obyektlar massivi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real ma'lumotlar (14-loyiha)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4013708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Massiv nima?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18-mavzu · Arraylar (massivlar) va obyektlar bilan ishlash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3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91546"/>
            <a:ext cx="11091672" cy="1100581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91546"/>
            <a:ext cx="82296" cy="1100581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82986"/>
            <a:ext cx="10725912" cy="935989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60" b="0">
                <a:solidFill>
                  <a:srgbClr val="1F232B"/>
                </a:solidFill>
                <a:latin typeface="Calibri"/>
              </a:rPr>
              <a:t>💡 </a:t>
            </a:r>
            <a:r>
              <a:rPr sz="2660" b="1">
                <a:solidFill>
                  <a:srgbClr val="1F232B"/>
                </a:solidFill>
                <a:latin typeface="Calibri"/>
              </a:rPr>
              <a:t>Poyezd vagonlari:</a:t>
            </a:r>
            <a:r>
              <a:rPr sz="2660" b="0">
                <a:solidFill>
                  <a:srgbClr val="1F232B"/>
                </a:solidFill>
                <a:latin typeface="Calibri"/>
              </a:rPr>
              <a:t> har vagonda bitta qiymat. Raqamlash </a:t>
            </a:r>
            <a:r>
              <a:rPr sz="2660" b="1">
                <a:solidFill>
                  <a:srgbClr val="1F232B"/>
                </a:solidFill>
                <a:latin typeface="Calibri"/>
              </a:rPr>
              <a:t>0 dan</a:t>
            </a:r>
            <a:r>
              <a:rPr sz="2660" b="0">
                <a:solidFill>
                  <a:srgbClr val="1F232B"/>
                </a:solidFill>
                <a:latin typeface="Calibri"/>
              </a:rPr>
              <a:t> boshlanadi — bu </a:t>
            </a:r>
            <a:r>
              <a:rPr sz="2660" b="1">
                <a:solidFill>
                  <a:srgbClr val="1F232B"/>
                </a:solidFill>
                <a:latin typeface="Calibri"/>
              </a:rPr>
              <a:t>indeks</a:t>
            </a:r>
            <a:r>
              <a:rPr sz="2660" b="0">
                <a:solidFill>
                  <a:srgbClr val="1F232B"/>
                </a:solidFill>
                <a:latin typeface="Calibri"/>
              </a:rPr>
              <a:t>. Vagonlar soni — </a:t>
            </a:r>
            <a:r>
              <a:rPr sz="2447" b="0">
                <a:solidFill>
                  <a:srgbClr val="B02A4A"/>
                </a:solidFill>
                <a:latin typeface="Consolas"/>
              </a:rPr>
              <a:t>length</a:t>
            </a:r>
            <a:r>
              <a:rPr sz="2660" b="0">
                <a:solidFill>
                  <a:srgbClr val="1F232B"/>
                </a:solidFill>
                <a:latin typeface="Calibri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11584"/>
            <a:ext cx="11091672" cy="2992404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866448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JavaScript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140768"/>
            <a:ext cx="10725912" cy="26449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const</a:t>
            </a:r>
            <a:r>
              <a:rPr sz="1904" b="0">
                <a:solidFill>
                  <a:srgbClr val="E6E6E6"/>
                </a:solidFill>
                <a:latin typeface="Consolas"/>
              </a:rPr>
              <a:t> mevalar = [</a:t>
            </a:r>
            <a:r>
              <a:rPr sz="1904" b="0">
                <a:solidFill>
                  <a:srgbClr val="98C379"/>
                </a:solidFill>
                <a:latin typeface="Consolas"/>
              </a:rPr>
              <a:t>"olma"</a:t>
            </a:r>
            <a:r>
              <a:rPr sz="1904" b="0">
                <a:solidFill>
                  <a:srgbClr val="E6E6E6"/>
                </a:solidFill>
                <a:latin typeface="Consolas"/>
              </a:rPr>
              <a:t>, </a:t>
            </a:r>
            <a:r>
              <a:rPr sz="1904" b="0">
                <a:solidFill>
                  <a:srgbClr val="98C379"/>
                </a:solidFill>
                <a:latin typeface="Consolas"/>
              </a:rPr>
              <a:t>"nok"</a:t>
            </a:r>
            <a:r>
              <a:rPr sz="1904" b="0">
                <a:solidFill>
                  <a:srgbClr val="E6E6E6"/>
                </a:solidFill>
                <a:latin typeface="Consolas"/>
              </a:rPr>
              <a:t>, </a:t>
            </a:r>
            <a:r>
              <a:rPr sz="1904" b="0">
                <a:solidFill>
                  <a:srgbClr val="98C379"/>
                </a:solidFill>
                <a:latin typeface="Consolas"/>
              </a:rPr>
              <a:t>"uzum"</a:t>
            </a:r>
            <a:r>
              <a:rPr sz="1904" b="0">
                <a:solidFill>
                  <a:srgbClr val="E6E6E6"/>
                </a:solidFill>
                <a:latin typeface="Consolas"/>
              </a:rPr>
              <a:t>, </a:t>
            </a:r>
            <a:r>
              <a:rPr sz="1904" b="0">
                <a:solidFill>
                  <a:srgbClr val="98C379"/>
                </a:solidFill>
                <a:latin typeface="Consolas"/>
              </a:rPr>
              <a:t>"anor"</a:t>
            </a:r>
            <a:r>
              <a:rPr sz="1904" b="0">
                <a:solidFill>
                  <a:srgbClr val="E6E6E6"/>
                </a:solidFill>
                <a:latin typeface="Consolas"/>
              </a:rPr>
              <a:t>];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7F848E"/>
                </a:solidFill>
                <a:latin typeface="Consolas"/>
              </a:rPr>
              <a:t>//                 0       1       2       3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mevalar[0]                    // </a:t>
            </a:r>
            <a:r>
              <a:rPr sz="1904" b="0">
                <a:solidFill>
                  <a:srgbClr val="98C379"/>
                </a:solidFill>
                <a:latin typeface="Consolas"/>
              </a:rPr>
              <a:t>"olma"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mevalar.length                // 4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mevalar[mevalar.length - 1]   // </a:t>
            </a:r>
            <a:r>
              <a:rPr sz="1904" b="0">
                <a:solidFill>
                  <a:srgbClr val="98C379"/>
                </a:solidFill>
                <a:latin typeface="Consolas"/>
              </a:rPr>
              <a:t>"anor"</a:t>
            </a:r>
            <a:r>
              <a:rPr sz="1904" b="0">
                <a:solidFill>
                  <a:srgbClr val="E6E6E6"/>
                </a:solidFill>
                <a:latin typeface="Consolas"/>
              </a:rPr>
              <a:t> — OXIRGI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mevalar[10]                   // </a:t>
            </a:r>
            <a:r>
              <a:rPr sz="1904" b="0">
                <a:solidFill>
                  <a:srgbClr val="C678DD"/>
                </a:solidFill>
                <a:latin typeface="Consolas"/>
              </a:rPr>
              <a:t>undefined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mevalar[1] = </a:t>
            </a:r>
            <a:r>
              <a:rPr sz="1904" b="0">
                <a:solidFill>
                  <a:srgbClr val="98C379"/>
                </a:solidFill>
                <a:latin typeface="Consolas"/>
              </a:rPr>
              <a:t>"shaftoli"</a:t>
            </a:r>
            <a:r>
              <a:rPr sz="1904" b="0">
                <a:solidFill>
                  <a:srgbClr val="E6E6E6"/>
                </a:solidFill>
                <a:latin typeface="Consolas"/>
              </a:rPr>
              <a:t>;      // o'zgartirish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Qo'shish va o'chirish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18-mavzu · Arraylar (massivlar) va obyektlar bilan ishlash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4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362956" cy="2377824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72184"/>
            <a:ext cx="4997196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JavaScript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46504"/>
            <a:ext cx="4997196" cy="203035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445" b="0">
                <a:solidFill>
                  <a:srgbClr val="C678DD"/>
                </a:solidFill>
                <a:latin typeface="Consolas"/>
              </a:rPr>
              <a:t>const</a:t>
            </a:r>
            <a:r>
              <a:rPr sz="1445" b="0">
                <a:solidFill>
                  <a:srgbClr val="E6E6E6"/>
                </a:solidFill>
                <a:latin typeface="Consolas"/>
              </a:rPr>
              <a:t> navbat = [</a:t>
            </a:r>
            <a:r>
              <a:rPr sz="1445" b="0">
                <a:solidFill>
                  <a:srgbClr val="98C379"/>
                </a:solidFill>
                <a:latin typeface="Consolas"/>
              </a:rPr>
              <a:t>"Ali"</a:t>
            </a:r>
            <a:r>
              <a:rPr sz="1445" b="0">
                <a:solidFill>
                  <a:srgbClr val="E6E6E6"/>
                </a:solidFill>
                <a:latin typeface="Consolas"/>
              </a:rPr>
              <a:t>, </a:t>
            </a:r>
            <a:r>
              <a:rPr sz="1445" b="0">
                <a:solidFill>
                  <a:srgbClr val="98C379"/>
                </a:solidFill>
                <a:latin typeface="Consolas"/>
              </a:rPr>
              <a:t>"Vali"</a:t>
            </a:r>
            <a:r>
              <a:rPr sz="1445" b="0">
                <a:solidFill>
                  <a:srgbClr val="E6E6E6"/>
                </a:solidFill>
                <a:latin typeface="Consolas"/>
              </a:rPr>
              <a:t>];</a:t>
            </a:r>
          </a:p>
          <a:p>
            <a:pPr>
              <a:lnSpc>
                <a:spcPct val="100000"/>
              </a:lnSpc>
            </a:pPr>
            <a:r>
              <a:rPr sz="1445" b="0">
                <a:solidFill>
                  <a:srgbClr val="E6E6E6"/>
                </a:solidFill>
                <a:latin typeface="Consolas"/>
              </a:rPr>
              <a:t>navbat.push(</a:t>
            </a:r>
            <a:r>
              <a:rPr sz="1445" b="0">
                <a:solidFill>
                  <a:srgbClr val="98C379"/>
                </a:solidFill>
                <a:latin typeface="Consolas"/>
              </a:rPr>
              <a:t>"Gani"</a:t>
            </a:r>
            <a:r>
              <a:rPr sz="1445" b="0">
                <a:solidFill>
                  <a:srgbClr val="E6E6E6"/>
                </a:solidFill>
                <a:latin typeface="Consolas"/>
              </a:rPr>
              <a:t>);       // oxiriga</a:t>
            </a:r>
          </a:p>
          <a:p>
            <a:pPr>
              <a:lnSpc>
                <a:spcPct val="100000"/>
              </a:lnSpc>
            </a:pPr>
            <a:r>
              <a:rPr sz="1445" b="0">
                <a:solidFill>
                  <a:srgbClr val="E6E6E6"/>
                </a:solidFill>
                <a:latin typeface="Consolas"/>
              </a:rPr>
              <a:t>navbat.unshift(</a:t>
            </a:r>
            <a:r>
              <a:rPr sz="1445" b="0">
                <a:solidFill>
                  <a:srgbClr val="98C379"/>
                </a:solidFill>
                <a:latin typeface="Consolas"/>
              </a:rPr>
              <a:t>"Sobir"</a:t>
            </a:r>
            <a:r>
              <a:rPr sz="1445" b="0">
                <a:solidFill>
                  <a:srgbClr val="E6E6E6"/>
                </a:solidFill>
                <a:latin typeface="Consolas"/>
              </a:rPr>
              <a:t>);   // boshiga</a:t>
            </a:r>
          </a:p>
          <a:p>
            <a:pPr>
              <a:lnSpc>
                <a:spcPct val="100000"/>
              </a:lnSpc>
            </a:pPr>
            <a:r>
              <a:rPr sz="1445" b="0">
                <a:solidFill>
                  <a:srgbClr val="E6E6E6"/>
                </a:solidFill>
                <a:latin typeface="Consolas"/>
              </a:rPr>
              <a:t>navbat.pop();              // oxiridan olish</a:t>
            </a:r>
          </a:p>
          <a:p>
            <a:pPr>
              <a:lnSpc>
                <a:spcPct val="100000"/>
              </a:lnSpc>
            </a:pPr>
            <a:r>
              <a:rPr sz="1445" b="0">
                <a:solidFill>
                  <a:srgbClr val="E6E6E6"/>
                </a:solidFill>
                <a:latin typeface="Consolas"/>
              </a:rPr>
              <a:t>navbat.shift();            // boshidan olish</a:t>
            </a:r>
          </a:p>
          <a:p>
            <a:pPr>
              <a:lnSpc>
                <a:spcPct val="100000"/>
              </a:lnSpc>
            </a:pPr>
            <a:r>
              <a:rPr sz="1445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445" b="0">
                <a:solidFill>
                  <a:srgbClr val="C678DD"/>
                </a:solidFill>
                <a:latin typeface="Consolas"/>
              </a:rPr>
              <a:t>const</a:t>
            </a:r>
            <a:r>
              <a:rPr sz="1445" b="0">
                <a:solidFill>
                  <a:srgbClr val="E6E6E6"/>
                </a:solidFill>
                <a:latin typeface="Consolas"/>
              </a:rPr>
              <a:t> s = [10, 20, 30, 40, 50];</a:t>
            </a:r>
          </a:p>
          <a:p>
            <a:pPr>
              <a:lnSpc>
                <a:spcPct val="100000"/>
              </a:lnSpc>
            </a:pPr>
            <a:r>
              <a:rPr sz="1445" b="0">
                <a:solidFill>
                  <a:srgbClr val="E6E6E6"/>
                </a:solidFill>
                <a:latin typeface="Consolas"/>
              </a:rPr>
              <a:t>s.splice(1, 2);            // [10, 40, 50]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77356" y="1417320"/>
          <a:ext cx="5362956" cy="37226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1478"/>
                <a:gridCol w="2681478"/>
              </a:tblGrid>
              <a:tr h="620437"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Metod</a:t>
                      </a:r>
                    </a:p>
                  </a:txBody>
                  <a:tcPr marL="73152" marR="73152" marT="36576" marB="36576">
                    <a:solidFill>
                      <a:srgbClr val="C994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Eslab qolish</a:t>
                      </a:r>
                    </a:p>
                  </a:txBody>
                  <a:tcPr marL="73152" marR="73152" marT="36576" marB="36576">
                    <a:solidFill>
                      <a:srgbClr val="C99400"/>
                    </a:solidFill>
                  </a:tcPr>
                </a:tc>
              </a:tr>
              <a:tr h="620437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push(x)</a:t>
                      </a:r>
                    </a:p>
                  </a:txBody>
                  <a:tcPr marL="73152" marR="73152" marT="36576" marB="36576">
                    <a:solidFill>
                      <a:srgbClr val="FAF6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Navbat oxiriga turdi</a:t>
                      </a:r>
                    </a:p>
                  </a:txBody>
                  <a:tcPr marL="73152" marR="73152" marT="36576" marB="36576">
                    <a:solidFill>
                      <a:srgbClr val="FAF6EA"/>
                    </a:solidFill>
                  </a:tcPr>
                </a:tc>
              </a:tr>
              <a:tr h="620437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pop()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Oxirgisi chiqib ketdi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20437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unshift(x)</a:t>
                      </a:r>
                    </a:p>
                  </a:txBody>
                  <a:tcPr marL="73152" marR="73152" marT="36576" marB="36576">
                    <a:solidFill>
                      <a:srgbClr val="FAF6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Oldinga o'tdi</a:t>
                      </a:r>
                    </a:p>
                  </a:txBody>
                  <a:tcPr marL="73152" marR="73152" marT="36576" marB="36576">
                    <a:solidFill>
                      <a:srgbClr val="FAF6EA"/>
                    </a:solidFill>
                  </a:tcPr>
                </a:tc>
              </a:tr>
              <a:tr h="620437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shift()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Birinchisi kirdi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20439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splice(i, n)</a:t>
                      </a:r>
                    </a:p>
                  </a:txBody>
                  <a:tcPr marL="73152" marR="73152" marT="36576" marB="36576">
                    <a:solidFill>
                      <a:srgbClr val="FAF6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Kesib olish</a:t>
                      </a:r>
                    </a:p>
                  </a:txBody>
                  <a:tcPr marL="73152" marR="73152" marT="36576" marB="36576">
                    <a:solidFill>
                      <a:srgbClr val="FAF6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Qidirish va boshqa metodlar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18-mavzu · Arraylar (massivlar) va obyektlar bilan ishlash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5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30286"/>
            <a:ext cx="11091672" cy="3402787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85150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JavaScript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59470"/>
            <a:ext cx="10725912" cy="3055315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768" b="0">
                <a:solidFill>
                  <a:srgbClr val="C678DD"/>
                </a:solidFill>
                <a:latin typeface="Consolas"/>
              </a:rPr>
              <a:t>const</a:t>
            </a:r>
            <a:r>
              <a:rPr sz="1768" b="0">
                <a:solidFill>
                  <a:srgbClr val="E6E6E6"/>
                </a:solidFill>
                <a:latin typeface="Consolas"/>
              </a:rPr>
              <a:t> fanlar = [</a:t>
            </a:r>
            <a:r>
              <a:rPr sz="1768" b="0">
                <a:solidFill>
                  <a:srgbClr val="98C379"/>
                </a:solidFill>
                <a:latin typeface="Consolas"/>
              </a:rPr>
              <a:t>"matematika"</a:t>
            </a:r>
            <a:r>
              <a:rPr sz="1768" b="0">
                <a:solidFill>
                  <a:srgbClr val="E6E6E6"/>
                </a:solidFill>
                <a:latin typeface="Consolas"/>
              </a:rPr>
              <a:t>, </a:t>
            </a:r>
            <a:r>
              <a:rPr sz="1768" b="0">
                <a:solidFill>
                  <a:srgbClr val="98C379"/>
                </a:solidFill>
                <a:latin typeface="Consolas"/>
              </a:rPr>
              <a:t>"fizika"</a:t>
            </a:r>
            <a:r>
              <a:rPr sz="1768" b="0">
                <a:solidFill>
                  <a:srgbClr val="E6E6E6"/>
                </a:solidFill>
                <a:latin typeface="Consolas"/>
              </a:rPr>
              <a:t>, </a:t>
            </a:r>
            <a:r>
              <a:rPr sz="1768" b="0">
                <a:solidFill>
                  <a:srgbClr val="98C379"/>
                </a:solidFill>
                <a:latin typeface="Consolas"/>
              </a:rPr>
              <a:t>"informatika"</a:t>
            </a:r>
            <a:r>
              <a:rPr sz="1768" b="0">
                <a:solidFill>
                  <a:srgbClr val="E6E6E6"/>
                </a:solidFill>
                <a:latin typeface="Consolas"/>
              </a:rPr>
              <a:t>, </a:t>
            </a:r>
            <a:r>
              <a:rPr sz="1768" b="0">
                <a:solidFill>
                  <a:srgbClr val="98C379"/>
                </a:solidFill>
                <a:latin typeface="Consolas"/>
              </a:rPr>
              <a:t>"tarix"</a:t>
            </a:r>
            <a:r>
              <a:rPr sz="1768" b="0">
                <a:solidFill>
                  <a:srgbClr val="E6E6E6"/>
                </a:solidFill>
                <a:latin typeface="Consolas"/>
              </a:rPr>
              <a:t>];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fanlar.includes(</a:t>
            </a:r>
            <a:r>
              <a:rPr sz="1768" b="0">
                <a:solidFill>
                  <a:srgbClr val="98C379"/>
                </a:solidFill>
                <a:latin typeface="Consolas"/>
              </a:rPr>
              <a:t>"fizika"</a:t>
            </a:r>
            <a:r>
              <a:rPr sz="1768" b="0">
                <a:solidFill>
                  <a:srgbClr val="E6E6E6"/>
                </a:solidFill>
                <a:latin typeface="Consolas"/>
              </a:rPr>
              <a:t>)       // </a:t>
            </a:r>
            <a:r>
              <a:rPr sz="1768" b="0">
                <a:solidFill>
                  <a:srgbClr val="C678DD"/>
                </a:solidFill>
                <a:latin typeface="Consolas"/>
              </a:rPr>
              <a:t>true</a:t>
            </a:r>
            <a:r>
              <a:rPr sz="1768" b="0">
                <a:solidFill>
                  <a:srgbClr val="E6E6E6"/>
                </a:solidFill>
                <a:latin typeface="Consolas"/>
              </a:rPr>
              <a:t> — bormi?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fanlar.indexOf(</a:t>
            </a:r>
            <a:r>
              <a:rPr sz="1768" b="0">
                <a:solidFill>
                  <a:srgbClr val="98C379"/>
                </a:solidFill>
                <a:latin typeface="Consolas"/>
              </a:rPr>
              <a:t>"informatika"</a:t>
            </a:r>
            <a:r>
              <a:rPr sz="1768" b="0">
                <a:solidFill>
                  <a:srgbClr val="E6E6E6"/>
                </a:solidFill>
                <a:latin typeface="Consolas"/>
              </a:rPr>
              <a:t>)   // 2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fanlar.indexOf(</a:t>
            </a:r>
            <a:r>
              <a:rPr sz="1768" b="0">
                <a:solidFill>
                  <a:srgbClr val="98C379"/>
                </a:solidFill>
                <a:latin typeface="Consolas"/>
              </a:rPr>
              <a:t>"kimyo"</a:t>
            </a:r>
            <a:r>
              <a:rPr sz="1768" b="0">
                <a:solidFill>
                  <a:srgbClr val="E6E6E6"/>
                </a:solidFill>
                <a:latin typeface="Consolas"/>
              </a:rPr>
              <a:t>)         // -1 — topilmadi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fanlar.join(</a:t>
            </a:r>
            <a:r>
              <a:rPr sz="1768" b="0">
                <a:solidFill>
                  <a:srgbClr val="98C379"/>
                </a:solidFill>
                <a:latin typeface="Consolas"/>
              </a:rPr>
              <a:t>", "</a:t>
            </a:r>
            <a:r>
              <a:rPr sz="1768" b="0">
                <a:solidFill>
                  <a:srgbClr val="E6E6E6"/>
                </a:solidFill>
                <a:latin typeface="Consolas"/>
              </a:rPr>
              <a:t>)               // matnga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98C379"/>
                </a:solidFill>
                <a:latin typeface="Consolas"/>
              </a:rPr>
              <a:t>"a,b,c"</a:t>
            </a:r>
            <a:r>
              <a:rPr sz="1768" b="0">
                <a:solidFill>
                  <a:srgbClr val="E6E6E6"/>
                </a:solidFill>
                <a:latin typeface="Consolas"/>
              </a:rPr>
              <a:t>.split(</a:t>
            </a:r>
            <a:r>
              <a:rPr sz="1768" b="0">
                <a:solidFill>
                  <a:srgbClr val="98C379"/>
                </a:solidFill>
                <a:latin typeface="Consolas"/>
              </a:rPr>
              <a:t>","</a:t>
            </a:r>
            <a:r>
              <a:rPr sz="1768" b="0">
                <a:solidFill>
                  <a:srgbClr val="E6E6E6"/>
                </a:solidFill>
                <a:latin typeface="Consolas"/>
              </a:rPr>
              <a:t>)              // matndan massivga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fanlar.slice(1, 3)              // [</a:t>
            </a:r>
            <a:r>
              <a:rPr sz="1768" b="0">
                <a:solidFill>
                  <a:srgbClr val="98C379"/>
                </a:solidFill>
                <a:latin typeface="Consolas"/>
              </a:rPr>
              <a:t>"fizika"</a:t>
            </a:r>
            <a:r>
              <a:rPr sz="1768" b="0">
                <a:solidFill>
                  <a:srgbClr val="E6E6E6"/>
                </a:solidFill>
                <a:latin typeface="Consolas"/>
              </a:rPr>
              <a:t>, </a:t>
            </a:r>
            <a:r>
              <a:rPr sz="1768" b="0">
                <a:solidFill>
                  <a:srgbClr val="98C379"/>
                </a:solidFill>
                <a:latin typeface="Consolas"/>
              </a:rPr>
              <a:t>"informatika"</a:t>
            </a:r>
            <a:r>
              <a:rPr sz="1768" b="0">
                <a:solidFill>
                  <a:srgbClr val="E6E6E6"/>
                </a:solidFill>
                <a:latin typeface="Consolas"/>
              </a:rPr>
              <a:t>]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C678DD"/>
                </a:solidFill>
                <a:latin typeface="Consolas"/>
              </a:rPr>
              <a:t>const</a:t>
            </a:r>
            <a:r>
              <a:rPr sz="1768" b="0">
                <a:solidFill>
                  <a:srgbClr val="E6E6E6"/>
                </a:solidFill>
                <a:latin typeface="Consolas"/>
              </a:rPr>
              <a:t> sonlar = [5, 1, 10, 3];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sonlar.sort((a, b) =&gt; a - b);   // [1, 3, 5, 10]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052529"/>
            <a:ext cx="11091672" cy="1040256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5052529"/>
            <a:ext cx="82296" cy="104025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143969"/>
            <a:ext cx="10725912" cy="87566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470" b="0">
                <a:solidFill>
                  <a:srgbClr val="1F232B"/>
                </a:solidFill>
                <a:latin typeface="Calibri"/>
              </a:rPr>
              <a:t>⚠️ </a:t>
            </a:r>
            <a:r>
              <a:rPr sz="2272" b="0">
                <a:solidFill>
                  <a:srgbClr val="B02A4A"/>
                </a:solidFill>
                <a:latin typeface="Consolas"/>
              </a:rPr>
              <a:t>[5, 1, 10, 3].sort()</a:t>
            </a:r>
            <a:r>
              <a:rPr sz="2470" b="0">
                <a:solidFill>
                  <a:srgbClr val="1F232B"/>
                </a:solidFill>
                <a:latin typeface="Calibri"/>
              </a:rPr>
              <a:t> → </a:t>
            </a:r>
            <a:r>
              <a:rPr sz="2272" b="0">
                <a:solidFill>
                  <a:srgbClr val="B02A4A"/>
                </a:solidFill>
                <a:latin typeface="Consolas"/>
              </a:rPr>
              <a:t>[1, 10, 3, 5]</a:t>
            </a:r>
            <a:r>
              <a:rPr sz="2470" b="0">
                <a:solidFill>
                  <a:srgbClr val="1F232B"/>
                </a:solidFill>
                <a:latin typeface="Calibri"/>
              </a:rPr>
              <a:t> 😱 — sonlar uchun doim </a:t>
            </a:r>
            <a:r>
              <a:rPr sz="2272" b="0">
                <a:solidFill>
                  <a:srgbClr val="B02A4A"/>
                </a:solidFill>
                <a:latin typeface="Consolas"/>
              </a:rPr>
              <a:t>(a, b) =&gt; a - 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Massivni aylanib chiqish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18-mavzu · Arraylar (massivlar) va obyektlar bilan ishlash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6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43264"/>
            <a:ext cx="11091672" cy="4588337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98128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JavaScript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72448"/>
            <a:ext cx="10725912" cy="4240865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const</a:t>
            </a:r>
            <a:r>
              <a:rPr sz="1904" b="0">
                <a:solidFill>
                  <a:srgbClr val="E6E6E6"/>
                </a:solidFill>
                <a:latin typeface="Consolas"/>
              </a:rPr>
              <a:t> ballar = [85, 92, 78, 95, 60];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for</a:t>
            </a:r>
            <a:r>
              <a:rPr sz="1904" b="0">
                <a:solidFill>
                  <a:srgbClr val="E6E6E6"/>
                </a:solidFill>
                <a:latin typeface="Consolas"/>
              </a:rPr>
              <a:t> (</a:t>
            </a:r>
            <a:r>
              <a:rPr sz="1904" b="0">
                <a:solidFill>
                  <a:srgbClr val="C678DD"/>
                </a:solidFill>
                <a:latin typeface="Consolas"/>
              </a:rPr>
              <a:t>let</a:t>
            </a:r>
            <a:r>
              <a:rPr sz="1904" b="0">
                <a:solidFill>
                  <a:srgbClr val="E6E6E6"/>
                </a:solidFill>
                <a:latin typeface="Consolas"/>
              </a:rPr>
              <a:t> i = 0; i &lt; ballar.length; i++) {   // indeks kerak bo'lsa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</a:t>
            </a:r>
            <a:r>
              <a:rPr sz="1904" b="0">
                <a:solidFill>
                  <a:srgbClr val="C678DD"/>
                </a:solidFill>
                <a:latin typeface="Consolas"/>
              </a:rPr>
              <a:t>console</a:t>
            </a:r>
            <a:r>
              <a:rPr sz="1904" b="0">
                <a:solidFill>
                  <a:srgbClr val="E6E6E6"/>
                </a:solidFill>
                <a:latin typeface="Consolas"/>
              </a:rPr>
              <a:t>.log(i, ballar[i]);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for</a:t>
            </a:r>
            <a:r>
              <a:rPr sz="1904" b="0">
                <a:solidFill>
                  <a:srgbClr val="E6E6E6"/>
                </a:solidFill>
                <a:latin typeface="Consolas"/>
              </a:rPr>
              <a:t> (</a:t>
            </a:r>
            <a:r>
              <a:rPr sz="1904" b="0">
                <a:solidFill>
                  <a:srgbClr val="C678DD"/>
                </a:solidFill>
                <a:latin typeface="Consolas"/>
              </a:rPr>
              <a:t>const</a:t>
            </a:r>
            <a:r>
              <a:rPr sz="1904" b="0">
                <a:solidFill>
                  <a:srgbClr val="E6E6E6"/>
                </a:solidFill>
                <a:latin typeface="Consolas"/>
              </a:rPr>
              <a:t> ball </a:t>
            </a:r>
            <a:r>
              <a:rPr sz="1904" b="0">
                <a:solidFill>
                  <a:srgbClr val="C678DD"/>
                </a:solidFill>
                <a:latin typeface="Consolas"/>
              </a:rPr>
              <a:t>of</a:t>
            </a:r>
            <a:r>
              <a:rPr sz="1904" b="0">
                <a:solidFill>
                  <a:srgbClr val="E6E6E6"/>
                </a:solidFill>
                <a:latin typeface="Consolas"/>
              </a:rPr>
              <a:t> ballar) {                // eng qulayi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</a:t>
            </a:r>
            <a:r>
              <a:rPr sz="1904" b="0">
                <a:solidFill>
                  <a:srgbClr val="C678DD"/>
                </a:solidFill>
                <a:latin typeface="Consolas"/>
              </a:rPr>
              <a:t>console</a:t>
            </a:r>
            <a:r>
              <a:rPr sz="1904" b="0">
                <a:solidFill>
                  <a:srgbClr val="E6E6E6"/>
                </a:solidFill>
                <a:latin typeface="Consolas"/>
              </a:rPr>
              <a:t>.log(ball);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ballar.forEach((ball, index) =&gt; {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</a:t>
            </a:r>
            <a:r>
              <a:rPr sz="1904" b="0">
                <a:solidFill>
                  <a:srgbClr val="C678DD"/>
                </a:solidFill>
                <a:latin typeface="Consolas"/>
              </a:rPr>
              <a:t>console</a:t>
            </a:r>
            <a:r>
              <a:rPr sz="1904" b="0">
                <a:solidFill>
                  <a:srgbClr val="E6E6E6"/>
                </a:solidFill>
                <a:latin typeface="Consolas"/>
              </a:rPr>
              <a:t>.log(`#${index}: ${ball}`);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});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Masala: yig'indi, o'rtacha, eng katta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18-mavzu · Arraylar (massivlar) va obyektlar bilan ishlash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7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99122"/>
            <a:ext cx="11091672" cy="4269150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53986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JavaScript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28306"/>
            <a:ext cx="10725912" cy="392167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const</a:t>
            </a:r>
            <a:r>
              <a:rPr sz="1904" b="0">
                <a:solidFill>
                  <a:srgbClr val="E6E6E6"/>
                </a:solidFill>
                <a:latin typeface="Consolas"/>
              </a:rPr>
              <a:t> ballar = [85, 92, 78, 95, 60];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let</a:t>
            </a:r>
            <a:r>
              <a:rPr sz="1904" b="0">
                <a:solidFill>
                  <a:srgbClr val="E6E6E6"/>
                </a:solidFill>
                <a:latin typeface="Consolas"/>
              </a:rPr>
              <a:t> yigindi = 0;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let</a:t>
            </a:r>
            <a:r>
              <a:rPr sz="1904" b="0">
                <a:solidFill>
                  <a:srgbClr val="E6E6E6"/>
                </a:solidFill>
                <a:latin typeface="Consolas"/>
              </a:rPr>
              <a:t> eng = ballar[0];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for</a:t>
            </a:r>
            <a:r>
              <a:rPr sz="1904" b="0">
                <a:solidFill>
                  <a:srgbClr val="E6E6E6"/>
                </a:solidFill>
                <a:latin typeface="Consolas"/>
              </a:rPr>
              <a:t> (</a:t>
            </a:r>
            <a:r>
              <a:rPr sz="1904" b="0">
                <a:solidFill>
                  <a:srgbClr val="C678DD"/>
                </a:solidFill>
                <a:latin typeface="Consolas"/>
              </a:rPr>
              <a:t>const</a:t>
            </a:r>
            <a:r>
              <a:rPr sz="1904" b="0">
                <a:solidFill>
                  <a:srgbClr val="E6E6E6"/>
                </a:solidFill>
                <a:latin typeface="Consolas"/>
              </a:rPr>
              <a:t> b </a:t>
            </a:r>
            <a:r>
              <a:rPr sz="1904" b="0">
                <a:solidFill>
                  <a:srgbClr val="C678DD"/>
                </a:solidFill>
                <a:latin typeface="Consolas"/>
              </a:rPr>
              <a:t>of</a:t>
            </a:r>
            <a:r>
              <a:rPr sz="1904" b="0">
                <a:solidFill>
                  <a:srgbClr val="E6E6E6"/>
                </a:solidFill>
                <a:latin typeface="Consolas"/>
              </a:rPr>
              <a:t> ballar) {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yigindi += b;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</a:t>
            </a:r>
            <a:r>
              <a:rPr sz="1904" b="0">
                <a:solidFill>
                  <a:srgbClr val="C678DD"/>
                </a:solidFill>
                <a:latin typeface="Consolas"/>
              </a:rPr>
              <a:t>if</a:t>
            </a:r>
            <a:r>
              <a:rPr sz="1904" b="0">
                <a:solidFill>
                  <a:srgbClr val="E6E6E6"/>
                </a:solidFill>
                <a:latin typeface="Consolas"/>
              </a:rPr>
              <a:t> (b &gt; eng) eng = b;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const</a:t>
            </a:r>
            <a:r>
              <a:rPr sz="1904" b="0">
                <a:solidFill>
                  <a:srgbClr val="E6E6E6"/>
                </a:solidFill>
                <a:latin typeface="Consolas"/>
              </a:rPr>
              <a:t> ortacha = yigindi / ballar.length;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console</a:t>
            </a:r>
            <a:r>
              <a:rPr sz="1904" b="0">
                <a:solidFill>
                  <a:srgbClr val="E6E6E6"/>
                </a:solidFill>
                <a:latin typeface="Consolas"/>
              </a:rPr>
              <a:t>.log(`O'rtacha: ${ortacha.toFixed(1)}`);   // 82.0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console</a:t>
            </a:r>
            <a:r>
              <a:rPr sz="1904" b="0">
                <a:solidFill>
                  <a:srgbClr val="E6E6E6"/>
                </a:solidFill>
                <a:latin typeface="Consolas"/>
              </a:rPr>
              <a:t>.log(`Eng yuqori: ${eng}`);                 // 95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console</a:t>
            </a:r>
            <a:r>
              <a:rPr sz="1904" b="0">
                <a:solidFill>
                  <a:srgbClr val="E6E6E6"/>
                </a:solidFill>
                <a:latin typeface="Consolas"/>
              </a:rPr>
              <a:t>.log(Math.max(...ballar));                  // ... — yoyish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Kuchli massiv metodlari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18-mavzu · Arraylar (massivlar) va obyektlar bilan ishlash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8 / 25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562671"/>
          <a:ext cx="11091672" cy="27066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451104">
                <a:tc>
                  <a:txBody>
                    <a:bodyPr/>
                    <a:lstStyle/>
                    <a:p>
                      <a:r>
                        <a:rPr sz="1920" b="1">
                          <a:solidFill>
                            <a:srgbClr val="FFFFFF"/>
                          </a:solidFill>
                          <a:latin typeface="Calibri"/>
                        </a:rPr>
                        <a:t>Metod</a:t>
                      </a:r>
                    </a:p>
                  </a:txBody>
                  <a:tcPr marL="73152" marR="73152" marT="36576" marB="36576">
                    <a:solidFill>
                      <a:srgbClr val="C994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20" b="1">
                          <a:solidFill>
                            <a:srgbClr val="FFFFFF"/>
                          </a:solidFill>
                          <a:latin typeface="Calibri"/>
                        </a:rPr>
                        <a:t>Savol</a:t>
                      </a:r>
                    </a:p>
                  </a:txBody>
                  <a:tcPr marL="73152" marR="73152" marT="36576" marB="36576">
                    <a:solidFill>
                      <a:srgbClr val="C994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20" b="1">
                          <a:solidFill>
                            <a:srgbClr val="FFFFFF"/>
                          </a:solidFill>
                          <a:latin typeface="Calibri"/>
                        </a:rPr>
                        <a:t>Natija</a:t>
                      </a:r>
                    </a:p>
                  </a:txBody>
                  <a:tcPr marL="73152" marR="73152" marT="36576" marB="36576">
                    <a:solidFill>
                      <a:srgbClr val="C99400"/>
                    </a:solidFill>
                  </a:tcPr>
                </a:tc>
              </a:tr>
              <a:tr h="451104">
                <a:tc>
                  <a:txBody>
                    <a:bodyPr/>
                    <a:lstStyle/>
                    <a:p>
                      <a:r>
                        <a:rPr sz="1766" b="0">
                          <a:solidFill>
                            <a:srgbClr val="B02A4A"/>
                          </a:solidFill>
                          <a:latin typeface="Consolas"/>
                        </a:rPr>
                        <a:t>map</a:t>
                      </a:r>
                    </a:p>
                  </a:txBody>
                  <a:tcPr marL="73152" marR="73152" marT="36576" marB="36576">
                    <a:solidFill>
                      <a:srgbClr val="FAF6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Har birini qanday o'zgartiray?</a:t>
                      </a:r>
                    </a:p>
                  </a:txBody>
                  <a:tcPr marL="73152" marR="73152" marT="36576" marB="36576">
                    <a:solidFill>
                      <a:srgbClr val="FAF6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Shuncha elementli yangi massiv</a:t>
                      </a:r>
                    </a:p>
                  </a:txBody>
                  <a:tcPr marL="73152" marR="73152" marT="36576" marB="36576">
                    <a:solidFill>
                      <a:srgbClr val="FAF6EA"/>
                    </a:solidFill>
                  </a:tcPr>
                </a:tc>
              </a:tr>
              <a:tr h="451104">
                <a:tc>
                  <a:txBody>
                    <a:bodyPr/>
                    <a:lstStyle/>
                    <a:p>
                      <a:r>
                        <a:rPr sz="1766" b="0">
                          <a:solidFill>
                            <a:srgbClr val="B02A4A"/>
                          </a:solidFill>
                          <a:latin typeface="Consolas"/>
                        </a:rPr>
                        <a:t>filter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Qaysilari shartga mos?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Mos kelganlar massivi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1104">
                <a:tc>
                  <a:txBody>
                    <a:bodyPr/>
                    <a:lstStyle/>
                    <a:p>
                      <a:r>
                        <a:rPr sz="1766" b="0">
                          <a:solidFill>
                            <a:srgbClr val="B02A4A"/>
                          </a:solidFill>
                          <a:latin typeface="Consolas"/>
                        </a:rPr>
                        <a:t>find</a:t>
                      </a:r>
                    </a:p>
                  </a:txBody>
                  <a:tcPr marL="73152" marR="73152" marT="36576" marB="36576">
                    <a:solidFill>
                      <a:srgbClr val="FAF6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Mos </a:t>
                      </a:r>
                      <a:r>
                        <a:rPr sz="1920" b="1">
                          <a:solidFill>
                            <a:srgbClr val="1F232B"/>
                          </a:solidFill>
                          <a:latin typeface="Calibri"/>
                        </a:rPr>
                        <a:t>birinchisi</a:t>
                      </a:r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?</a:t>
                      </a:r>
                    </a:p>
                  </a:txBody>
                  <a:tcPr marL="73152" marR="73152" marT="36576" marB="36576">
                    <a:solidFill>
                      <a:srgbClr val="FAF6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Bitta element / </a:t>
                      </a:r>
                      <a:r>
                        <a:rPr sz="1766" b="0">
                          <a:solidFill>
                            <a:srgbClr val="B02A4A"/>
                          </a:solidFill>
                          <a:latin typeface="Consolas"/>
                        </a:rPr>
                        <a:t>undefined</a:t>
                      </a:r>
                    </a:p>
                  </a:txBody>
                  <a:tcPr marL="73152" marR="73152" marT="36576" marB="36576">
                    <a:solidFill>
                      <a:srgbClr val="FAF6EA"/>
                    </a:solidFill>
                  </a:tcPr>
                </a:tc>
              </a:tr>
              <a:tr h="451104">
                <a:tc>
                  <a:txBody>
                    <a:bodyPr/>
                    <a:lstStyle/>
                    <a:p>
                      <a:r>
                        <a:rPr sz="1766" b="0">
                          <a:solidFill>
                            <a:srgbClr val="B02A4A"/>
                          </a:solidFill>
                          <a:latin typeface="Consolas"/>
                        </a:rPr>
                        <a:t>some</a:t>
                      </a:r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 / </a:t>
                      </a:r>
                      <a:r>
                        <a:rPr sz="1766" b="0">
                          <a:solidFill>
                            <a:srgbClr val="B02A4A"/>
                          </a:solidFill>
                          <a:latin typeface="Consolas"/>
                        </a:rPr>
                        <a:t>every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Bittasi / hammasi mosmi?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6" b="0">
                          <a:solidFill>
                            <a:srgbClr val="B02A4A"/>
                          </a:solidFill>
                          <a:latin typeface="Consolas"/>
                        </a:rPr>
                        <a:t>true</a:t>
                      </a:r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 / </a:t>
                      </a:r>
                      <a:r>
                        <a:rPr sz="1766" b="0">
                          <a:solidFill>
                            <a:srgbClr val="B02A4A"/>
                          </a:solidFill>
                          <a:latin typeface="Consolas"/>
                        </a:rPr>
                        <a:t>false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1104">
                <a:tc>
                  <a:txBody>
                    <a:bodyPr/>
                    <a:lstStyle/>
                    <a:p>
                      <a:r>
                        <a:rPr sz="1766" b="0">
                          <a:solidFill>
                            <a:srgbClr val="B02A4A"/>
                          </a:solidFill>
                          <a:latin typeface="Consolas"/>
                        </a:rPr>
                        <a:t>reduce</a:t>
                      </a:r>
                    </a:p>
                  </a:txBody>
                  <a:tcPr marL="73152" marR="73152" marT="36576" marB="36576">
                    <a:solidFill>
                      <a:srgbClr val="FAF6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Bitta qiymatga yig'ish</a:t>
                      </a:r>
                    </a:p>
                  </a:txBody>
                  <a:tcPr marL="73152" marR="73152" marT="36576" marB="36576">
                    <a:solidFill>
                      <a:srgbClr val="FAF6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Yig'indi va h.k.</a:t>
                      </a:r>
                    </a:p>
                  </a:txBody>
                  <a:tcPr marL="73152" marR="73152" marT="36576" marB="36576">
                    <a:solidFill>
                      <a:srgbClr val="FAF6E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4488751"/>
            <a:ext cx="11091672" cy="979931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4488751"/>
            <a:ext cx="82296" cy="979931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580191"/>
            <a:ext cx="10725912" cy="815339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279" b="0">
                <a:solidFill>
                  <a:srgbClr val="1F232B"/>
                </a:solidFill>
                <a:latin typeface="Calibri"/>
              </a:rPr>
              <a:t>💡 </a:t>
            </a:r>
            <a:r>
              <a:rPr sz="2279" b="1">
                <a:solidFill>
                  <a:srgbClr val="1F232B"/>
                </a:solidFill>
                <a:latin typeface="Calibri"/>
              </a:rPr>
              <a:t>Mevalar savati:</a:t>
            </a:r>
            <a:r>
              <a:rPr sz="2279" b="0">
                <a:solidFill>
                  <a:srgbClr val="1F232B"/>
                </a:solidFill>
                <a:latin typeface="Calibri"/>
              </a:rPr>
              <a:t> </a:t>
            </a:r>
            <a:r>
              <a:rPr sz="2097" b="0">
                <a:solidFill>
                  <a:srgbClr val="B02A4A"/>
                </a:solidFill>
                <a:latin typeface="Consolas"/>
              </a:rPr>
              <a:t>map</a:t>
            </a:r>
            <a:r>
              <a:rPr sz="2279" b="0">
                <a:solidFill>
                  <a:srgbClr val="1F232B"/>
                </a:solidFill>
                <a:latin typeface="Calibri"/>
              </a:rPr>
              <a:t> — har birini to'g'rash, </a:t>
            </a:r>
            <a:r>
              <a:rPr sz="2097" b="0">
                <a:solidFill>
                  <a:srgbClr val="B02A4A"/>
                </a:solidFill>
                <a:latin typeface="Consolas"/>
              </a:rPr>
              <a:t>filter</a:t>
            </a:r>
            <a:r>
              <a:rPr sz="2279" b="0">
                <a:solidFill>
                  <a:srgbClr val="1F232B"/>
                </a:solidFill>
                <a:latin typeface="Calibri"/>
              </a:rPr>
              <a:t> — pishganlarini tanlash, </a:t>
            </a:r>
            <a:r>
              <a:rPr sz="2097" b="0">
                <a:solidFill>
                  <a:srgbClr val="B02A4A"/>
                </a:solidFill>
                <a:latin typeface="Consolas"/>
              </a:rPr>
              <a:t>find</a:t>
            </a:r>
            <a:r>
              <a:rPr sz="2279" b="0">
                <a:solidFill>
                  <a:srgbClr val="1F232B"/>
                </a:solidFill>
                <a:latin typeface="Calibri"/>
              </a:rPr>
              <a:t> — birinchi olmani olish, </a:t>
            </a:r>
            <a:r>
              <a:rPr sz="2097" b="0">
                <a:solidFill>
                  <a:srgbClr val="B02A4A"/>
                </a:solidFill>
                <a:latin typeface="Consolas"/>
              </a:rPr>
              <a:t>reduce</a:t>
            </a:r>
            <a:r>
              <a:rPr sz="2279" b="0">
                <a:solidFill>
                  <a:srgbClr val="1F232B"/>
                </a:solidFill>
                <a:latin typeface="Calibri"/>
              </a:rPr>
              <a:t> — hammasidan bitta sharbat.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map, filter, find, reduce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18-mavzu · Arraylar (massivlar) va obyektlar bilan ishlash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9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15961"/>
            <a:ext cx="11091672" cy="2992404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70825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JavaScript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45145"/>
            <a:ext cx="10725912" cy="26449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const</a:t>
            </a:r>
            <a:r>
              <a:rPr sz="1904" b="0">
                <a:solidFill>
                  <a:srgbClr val="E6E6E6"/>
                </a:solidFill>
                <a:latin typeface="Consolas"/>
              </a:rPr>
              <a:t> narxlar = [12000, 45000, 8000, 30000];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narxlar.map(n =&gt; n * 0.9)              // [10800, 40500, 7200, 27000]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narxlar.filter(n =&gt; n &lt; 20000)         // [12000, 8000]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narxlar.find(n =&gt; n &gt; 25000)           // 45000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narxlar.some(n =&gt; n &gt; 40000)           // </a:t>
            </a:r>
            <a:r>
              <a:rPr sz="1904" b="0">
                <a:solidFill>
                  <a:srgbClr val="C678DD"/>
                </a:solidFill>
                <a:latin typeface="Consolas"/>
              </a:rPr>
              <a:t>true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narxlar.every(n =&gt; n &gt; 5000)           // </a:t>
            </a:r>
            <a:r>
              <a:rPr sz="1904" b="0">
                <a:solidFill>
                  <a:srgbClr val="C678DD"/>
                </a:solidFill>
                <a:latin typeface="Consolas"/>
              </a:rPr>
              <a:t>true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narxlar.reduce((yig, n) =&gt; yig + n, 0) // 95000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827822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Asl massivni </a:t>
            </a:r>
            <a:r>
              <a:rPr sz="2800" b="1">
                <a:solidFill>
                  <a:srgbClr val="1F232B"/>
                </a:solidFill>
                <a:latin typeface="Calibri"/>
              </a:rPr>
              <a:t>o'zgartirmaydi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yangi natija qaytaradi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4987842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Obyektlar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18-mavzu · Arraylar (massivlar) va obyektlar bilan ishlash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10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32863"/>
            <a:ext cx="11091672" cy="979931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32863"/>
            <a:ext cx="82296" cy="979931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24303"/>
            <a:ext cx="10725912" cy="815339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279" b="0">
                <a:solidFill>
                  <a:srgbClr val="1F232B"/>
                </a:solidFill>
                <a:latin typeface="Calibri"/>
              </a:rPr>
              <a:t>💡 </a:t>
            </a:r>
            <a:r>
              <a:rPr sz="2279" b="1">
                <a:solidFill>
                  <a:srgbClr val="1F232B"/>
                </a:solidFill>
                <a:latin typeface="Calibri"/>
              </a:rPr>
              <a:t>O'quvchi anketasi:</a:t>
            </a:r>
            <a:r>
              <a:rPr sz="2279" b="0">
                <a:solidFill>
                  <a:srgbClr val="1F232B"/>
                </a:solidFill>
                <a:latin typeface="Calibri"/>
              </a:rPr>
              <a:t> "Ism: Dilnoza", "Yosh: 14", "Sinf: 8-A" — har bir qator </a:t>
            </a:r>
            <a:r>
              <a:rPr sz="2279" b="1">
                <a:solidFill>
                  <a:srgbClr val="1F232B"/>
                </a:solidFill>
                <a:latin typeface="Calibri"/>
              </a:rPr>
              <a:t>kalit: qiymat</a:t>
            </a:r>
            <a:r>
              <a:rPr sz="2279" b="0">
                <a:solidFill>
                  <a:srgbClr val="1F232B"/>
                </a:solidFill>
                <a:latin typeface="Calibri"/>
              </a:rPr>
              <a:t> jufti.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32251"/>
            <a:ext cx="11091672" cy="3448385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687115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JavaScript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61435"/>
            <a:ext cx="10725912" cy="310091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632" b="0">
                <a:solidFill>
                  <a:srgbClr val="C678DD"/>
                </a:solidFill>
                <a:latin typeface="Consolas"/>
              </a:rPr>
              <a:t>const</a:t>
            </a:r>
            <a:r>
              <a:rPr sz="1632" b="0">
                <a:solidFill>
                  <a:srgbClr val="E6E6E6"/>
                </a:solidFill>
                <a:latin typeface="Consolas"/>
              </a:rPr>
              <a:t> oquvchi = {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E6E6E6"/>
                </a:solidFill>
                <a:latin typeface="Consolas"/>
              </a:rPr>
              <a:t>  ism: </a:t>
            </a:r>
            <a:r>
              <a:rPr sz="1632" b="0">
                <a:solidFill>
                  <a:srgbClr val="98C379"/>
                </a:solidFill>
                <a:latin typeface="Consolas"/>
              </a:rPr>
              <a:t>"Dilnoza"</a:t>
            </a:r>
            <a:r>
              <a:rPr sz="1632" b="0">
                <a:solidFill>
                  <a:srgbClr val="E6E6E6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E6E6E6"/>
                </a:solidFill>
                <a:latin typeface="Consolas"/>
              </a:rPr>
              <a:t>  yosh: 14,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E6E6E6"/>
                </a:solidFill>
                <a:latin typeface="Consolas"/>
              </a:rPr>
              <a:t>  sinf: </a:t>
            </a:r>
            <a:r>
              <a:rPr sz="1632" b="0">
                <a:solidFill>
                  <a:srgbClr val="98C379"/>
                </a:solidFill>
                <a:latin typeface="Consolas"/>
              </a:rPr>
              <a:t>"8-A"</a:t>
            </a:r>
            <a:r>
              <a:rPr sz="1632" b="0">
                <a:solidFill>
                  <a:srgbClr val="E6E6E6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E6E6E6"/>
                </a:solidFill>
                <a:latin typeface="Consolas"/>
              </a:rPr>
              <a:t>  fanlar: [</a:t>
            </a:r>
            <a:r>
              <a:rPr sz="1632" b="0">
                <a:solidFill>
                  <a:srgbClr val="98C379"/>
                </a:solidFill>
                <a:latin typeface="Consolas"/>
              </a:rPr>
              <a:t>"matematika"</a:t>
            </a:r>
            <a:r>
              <a:rPr sz="1632" b="0">
                <a:solidFill>
                  <a:srgbClr val="E6E6E6"/>
                </a:solidFill>
                <a:latin typeface="Consolas"/>
              </a:rPr>
              <a:t>, </a:t>
            </a:r>
            <a:r>
              <a:rPr sz="1632" b="0">
                <a:solidFill>
                  <a:srgbClr val="98C379"/>
                </a:solidFill>
                <a:latin typeface="Consolas"/>
              </a:rPr>
              <a:t>"ingliz tili"</a:t>
            </a:r>
            <a:r>
              <a:rPr sz="1632" b="0">
                <a:solidFill>
                  <a:srgbClr val="E6E6E6"/>
                </a:solidFill>
                <a:latin typeface="Consolas"/>
              </a:rPr>
              <a:t>],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E6E6E6"/>
                </a:solidFill>
                <a:latin typeface="Consolas"/>
              </a:rPr>
              <a:t>};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E6E6E6"/>
                </a:solidFill>
                <a:latin typeface="Consolas"/>
              </a:rPr>
              <a:t>oquvchi.ism            // nuqta orqali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E6E6E6"/>
                </a:solidFill>
                <a:latin typeface="Consolas"/>
              </a:rPr>
              <a:t>oquvchi[</a:t>
            </a:r>
            <a:r>
              <a:rPr sz="1632" b="0">
                <a:solidFill>
                  <a:srgbClr val="98C379"/>
                </a:solidFill>
                <a:latin typeface="Consolas"/>
              </a:rPr>
              <a:t>"sinf"</a:t>
            </a:r>
            <a:r>
              <a:rPr sz="1632" b="0">
                <a:solidFill>
                  <a:srgbClr val="E6E6E6"/>
                </a:solidFill>
                <a:latin typeface="Consolas"/>
              </a:rPr>
              <a:t>]        // kvadrat qavs orqali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E6E6E6"/>
                </a:solidFill>
                <a:latin typeface="Consolas"/>
              </a:rPr>
              <a:t>oquvchi.yosh = 15;     // o'zgartirish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E6E6E6"/>
                </a:solidFill>
                <a:latin typeface="Consolas"/>
              </a:rPr>
              <a:t>oquvchi.shahar = </a:t>
            </a:r>
            <a:r>
              <a:rPr sz="1632" b="0">
                <a:solidFill>
                  <a:srgbClr val="98C379"/>
                </a:solidFill>
                <a:latin typeface="Consolas"/>
              </a:rPr>
              <a:t>"Namangan"</a:t>
            </a:r>
            <a:r>
              <a:rPr sz="1632" b="0">
                <a:solidFill>
                  <a:srgbClr val="E6E6E6"/>
                </a:solidFill>
                <a:latin typeface="Consolas"/>
              </a:rPr>
              <a:t>;   // qo'shish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E6E6E6"/>
                </a:solidFill>
                <a:latin typeface="Consolas"/>
              </a:rPr>
              <a:t>delete oquvchi.fanlar;         // o'chirish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Metodlar va this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18-mavzu · Arraylar (massivlar) va obyektlar bilan ishlash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11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7203"/>
            <a:ext cx="11091672" cy="4451543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22067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JavaScript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96387"/>
            <a:ext cx="10725912" cy="4104071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496" b="0">
                <a:solidFill>
                  <a:srgbClr val="C678DD"/>
                </a:solidFill>
                <a:latin typeface="Consolas"/>
              </a:rPr>
              <a:t>const</a:t>
            </a:r>
            <a:r>
              <a:rPr sz="1496" b="0">
                <a:solidFill>
                  <a:srgbClr val="E6E6E6"/>
                </a:solidFill>
                <a:latin typeface="Consolas"/>
              </a:rPr>
              <a:t> hisob = {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egasi: </a:t>
            </a:r>
            <a:r>
              <a:rPr sz="1496" b="0">
                <a:solidFill>
                  <a:srgbClr val="98C379"/>
                </a:solidFill>
                <a:latin typeface="Consolas"/>
              </a:rPr>
              <a:t>"Jasur"</a:t>
            </a:r>
            <a:r>
              <a:rPr sz="1496" b="0">
                <a:solidFill>
                  <a:srgbClr val="E6E6E6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balans: 50000,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toldirish(summa) {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  </a:t>
            </a:r>
            <a:r>
              <a:rPr sz="1496" b="0">
                <a:solidFill>
                  <a:srgbClr val="C678DD"/>
                </a:solidFill>
                <a:latin typeface="Consolas"/>
              </a:rPr>
              <a:t>this</a:t>
            </a:r>
            <a:r>
              <a:rPr sz="1496" b="0">
                <a:solidFill>
                  <a:srgbClr val="E6E6E6"/>
                </a:solidFill>
                <a:latin typeface="Consolas"/>
              </a:rPr>
              <a:t>.balans += summa;        // </a:t>
            </a:r>
            <a:r>
              <a:rPr sz="1496" b="0">
                <a:solidFill>
                  <a:srgbClr val="C678DD"/>
                </a:solidFill>
                <a:latin typeface="Consolas"/>
              </a:rPr>
              <a:t>this</a:t>
            </a:r>
            <a:r>
              <a:rPr sz="1496" b="0">
                <a:solidFill>
                  <a:srgbClr val="E6E6E6"/>
                </a:solidFill>
                <a:latin typeface="Consolas"/>
              </a:rPr>
              <a:t> — </a:t>
            </a:r>
            <a:r>
              <a:rPr sz="1496" b="0">
                <a:solidFill>
                  <a:srgbClr val="98C379"/>
                </a:solidFill>
                <a:latin typeface="Consolas"/>
              </a:rPr>
              <a:t>"shu obyekt"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},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yechish(summa) {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  </a:t>
            </a:r>
            <a:r>
              <a:rPr sz="1496" b="0">
                <a:solidFill>
                  <a:srgbClr val="C678DD"/>
                </a:solidFill>
                <a:latin typeface="Consolas"/>
              </a:rPr>
              <a:t>if</a:t>
            </a:r>
            <a:r>
              <a:rPr sz="1496" b="0">
                <a:solidFill>
                  <a:srgbClr val="E6E6E6"/>
                </a:solidFill>
                <a:latin typeface="Consolas"/>
              </a:rPr>
              <a:t> (summa &gt; </a:t>
            </a:r>
            <a:r>
              <a:rPr sz="1496" b="0">
                <a:solidFill>
                  <a:srgbClr val="C678DD"/>
                </a:solidFill>
                <a:latin typeface="Consolas"/>
              </a:rPr>
              <a:t>this</a:t>
            </a:r>
            <a:r>
              <a:rPr sz="1496" b="0">
                <a:solidFill>
                  <a:srgbClr val="E6E6E6"/>
                </a:solidFill>
                <a:latin typeface="Consolas"/>
              </a:rPr>
              <a:t>.balans) {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    </a:t>
            </a:r>
            <a:r>
              <a:rPr sz="1496" b="0">
                <a:solidFill>
                  <a:srgbClr val="C678DD"/>
                </a:solidFill>
                <a:latin typeface="Consolas"/>
              </a:rPr>
              <a:t>console</a:t>
            </a:r>
            <a:r>
              <a:rPr sz="1496" b="0">
                <a:solidFill>
                  <a:srgbClr val="E6E6E6"/>
                </a:solidFill>
                <a:latin typeface="Consolas"/>
              </a:rPr>
              <a:t>.log(</a:t>
            </a:r>
            <a:r>
              <a:rPr sz="1496" b="0">
                <a:solidFill>
                  <a:srgbClr val="98C379"/>
                </a:solidFill>
                <a:latin typeface="Consolas"/>
              </a:rPr>
              <a:t>"❌ Mablag' yetarli emas"</a:t>
            </a:r>
            <a:r>
              <a:rPr sz="1496" b="0">
                <a:solidFill>
                  <a:srgbClr val="E6E6E6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    </a:t>
            </a:r>
            <a:r>
              <a:rPr sz="1496" b="0">
                <a:solidFill>
                  <a:srgbClr val="C678DD"/>
                </a:solidFill>
                <a:latin typeface="Consolas"/>
              </a:rPr>
              <a:t>return</a:t>
            </a:r>
            <a:r>
              <a:rPr sz="1496" b="0">
                <a:solidFill>
                  <a:srgbClr val="E6E6E6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  }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  </a:t>
            </a:r>
            <a:r>
              <a:rPr sz="1496" b="0">
                <a:solidFill>
                  <a:srgbClr val="C678DD"/>
                </a:solidFill>
                <a:latin typeface="Consolas"/>
              </a:rPr>
              <a:t>this</a:t>
            </a:r>
            <a:r>
              <a:rPr sz="1496" b="0">
                <a:solidFill>
                  <a:srgbClr val="E6E6E6"/>
                </a:solidFill>
                <a:latin typeface="Consolas"/>
              </a:rPr>
              <a:t>.balans -= summa;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},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};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hisob.toldirish(20000);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hisob.yechish(100000);   // ❌ Mablag' yetarli emas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Obyektlar massivi — real ma'lumotlar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18-mavzu · Arraylar (massivlar) va obyektlar bilan ishlash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12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82316"/>
            <a:ext cx="11091672" cy="3311591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37180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JavaScript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11500"/>
            <a:ext cx="10725912" cy="296411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const</a:t>
            </a:r>
            <a:r>
              <a:rPr sz="1904" b="0">
                <a:solidFill>
                  <a:srgbClr val="E6E6E6"/>
                </a:solidFill>
                <a:latin typeface="Consolas"/>
              </a:rPr>
              <a:t> mahsulotlar = [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{ nomi: </a:t>
            </a:r>
            <a:r>
              <a:rPr sz="1904" b="0">
                <a:solidFill>
                  <a:srgbClr val="98C379"/>
                </a:solidFill>
                <a:latin typeface="Consolas"/>
              </a:rPr>
              <a:t>"Daftar"</a:t>
            </a:r>
            <a:r>
              <a:rPr sz="1904" b="0">
                <a:solidFill>
                  <a:srgbClr val="E6E6E6"/>
                </a:solidFill>
                <a:latin typeface="Consolas"/>
              </a:rPr>
              <a:t>,  narx: 5000,   soni: 120 },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{ nomi: </a:t>
            </a:r>
            <a:r>
              <a:rPr sz="1904" b="0">
                <a:solidFill>
                  <a:srgbClr val="98C379"/>
                </a:solidFill>
                <a:latin typeface="Consolas"/>
              </a:rPr>
              <a:t>"Ruchka"</a:t>
            </a:r>
            <a:r>
              <a:rPr sz="1904" b="0">
                <a:solidFill>
                  <a:srgbClr val="E6E6E6"/>
                </a:solidFill>
                <a:latin typeface="Consolas"/>
              </a:rPr>
              <a:t>,  narx: 3000,   soni: 0 },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{ nomi: </a:t>
            </a:r>
            <a:r>
              <a:rPr sz="1904" b="0">
                <a:solidFill>
                  <a:srgbClr val="98C379"/>
                </a:solidFill>
                <a:latin typeface="Consolas"/>
              </a:rPr>
              <a:t>"Ryukzak"</a:t>
            </a:r>
            <a:r>
              <a:rPr sz="1904" b="0">
                <a:solidFill>
                  <a:srgbClr val="E6E6E6"/>
                </a:solidFill>
                <a:latin typeface="Consolas"/>
              </a:rPr>
              <a:t>, narx: 180000, soni: 7 },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];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const</a:t>
            </a:r>
            <a:r>
              <a:rPr sz="1904" b="0">
                <a:solidFill>
                  <a:srgbClr val="E6E6E6"/>
                </a:solidFill>
                <a:latin typeface="Consolas"/>
              </a:rPr>
              <a:t> mavjud = mahsulotlar.filter(m =&gt; m.soni &gt; 0).map(m =&gt; m.nomi);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const</a:t>
            </a:r>
            <a:r>
              <a:rPr sz="1904" b="0">
                <a:solidFill>
                  <a:srgbClr val="E6E6E6"/>
                </a:solidFill>
                <a:latin typeface="Consolas"/>
              </a:rPr>
              <a:t> topilgan = mahsulotlar.find(m =&gt; m.nomi === </a:t>
            </a:r>
            <a:r>
              <a:rPr sz="1904" b="0">
                <a:solidFill>
                  <a:srgbClr val="98C379"/>
                </a:solidFill>
                <a:latin typeface="Consolas"/>
              </a:rPr>
              <a:t>"Ryukzak"</a:t>
            </a:r>
            <a:r>
              <a:rPr sz="1904" b="0">
                <a:solidFill>
                  <a:srgbClr val="E6E6E6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const</a:t>
            </a:r>
            <a:r>
              <a:rPr sz="1904" b="0">
                <a:solidFill>
                  <a:srgbClr val="E6E6E6"/>
                </a:solidFill>
                <a:latin typeface="Consolas"/>
              </a:rPr>
              <a:t> qiymat = mahsulotlar.reduce((s, m) =&gt; s + m.narx * m.soni, 0);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5013363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Mahsulotlar, o'quvchilar, xabarlar — hammasi shunday; serverdan keladigan </a:t>
            </a:r>
            <a:r>
              <a:rPr sz="2800" b="1">
                <a:solidFill>
                  <a:srgbClr val="1F232B"/>
                </a:solidFill>
                <a:latin typeface="Calibri"/>
              </a:rPr>
              <a:t>JSON</a:t>
            </a:r>
            <a:r>
              <a:rPr sz="2800" b="0">
                <a:solidFill>
                  <a:srgbClr val="1F232B"/>
                </a:solidFill>
                <a:latin typeface="Calibri"/>
              </a:rPr>
              <a:t> ham (39-mavzu)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5173383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Amaliyot: baholar dasturi (14-loyiha)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18-mavzu · Arraylar (massivlar) va obyektlar bilan ishlash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13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39840"/>
            <a:ext cx="11091672" cy="3254593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94704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JavaScript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69024"/>
            <a:ext cx="10725912" cy="2907121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292" b="0">
                <a:solidFill>
                  <a:srgbClr val="C678DD"/>
                </a:solidFill>
                <a:latin typeface="Consolas"/>
              </a:rPr>
              <a:t>const</a:t>
            </a:r>
            <a:r>
              <a:rPr sz="1292" b="0">
                <a:solidFill>
                  <a:srgbClr val="E6E6E6"/>
                </a:solidFill>
                <a:latin typeface="Consolas"/>
              </a:rPr>
              <a:t> oquvchilar = [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E6E6E6"/>
                </a:solidFill>
                <a:latin typeface="Consolas"/>
              </a:rPr>
              <a:t>  { ism: </a:t>
            </a:r>
            <a:r>
              <a:rPr sz="1292" b="0">
                <a:solidFill>
                  <a:srgbClr val="98C379"/>
                </a:solidFill>
                <a:latin typeface="Consolas"/>
              </a:rPr>
              <a:t>"Akmal"</a:t>
            </a:r>
            <a:r>
              <a:rPr sz="1292" b="0">
                <a:solidFill>
                  <a:srgbClr val="E6E6E6"/>
                </a:solidFill>
                <a:latin typeface="Consolas"/>
              </a:rPr>
              <a:t>,   ballar: [92, 85, 78] },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E6E6E6"/>
                </a:solidFill>
                <a:latin typeface="Consolas"/>
              </a:rPr>
              <a:t>  { ism: </a:t>
            </a:r>
            <a:r>
              <a:rPr sz="1292" b="0">
                <a:solidFill>
                  <a:srgbClr val="98C379"/>
                </a:solidFill>
                <a:latin typeface="Consolas"/>
              </a:rPr>
              <a:t>"Barno"</a:t>
            </a:r>
            <a:r>
              <a:rPr sz="1292" b="0">
                <a:solidFill>
                  <a:srgbClr val="E6E6E6"/>
                </a:solidFill>
                <a:latin typeface="Consolas"/>
              </a:rPr>
              <a:t>,   ballar: [67, 88, 95] },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E6E6E6"/>
                </a:solidFill>
                <a:latin typeface="Consolas"/>
              </a:rPr>
              <a:t>  { ism: </a:t>
            </a:r>
            <a:r>
              <a:rPr sz="1292" b="0">
                <a:solidFill>
                  <a:srgbClr val="98C379"/>
                </a:solidFill>
                <a:latin typeface="Consolas"/>
              </a:rPr>
              <a:t>"Davron"</a:t>
            </a:r>
            <a:r>
              <a:rPr sz="1292" b="0">
                <a:solidFill>
                  <a:srgbClr val="E6E6E6"/>
                </a:solidFill>
                <a:latin typeface="Consolas"/>
              </a:rPr>
              <a:t>,  ballar: [45, 52, 60] },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E6E6E6"/>
                </a:solidFill>
                <a:latin typeface="Consolas"/>
              </a:rPr>
              <a:t>  { ism: </a:t>
            </a:r>
            <a:r>
              <a:rPr sz="1292" b="0">
                <a:solidFill>
                  <a:srgbClr val="98C379"/>
                </a:solidFill>
                <a:latin typeface="Consolas"/>
              </a:rPr>
              <a:t>"Gulnoza"</a:t>
            </a:r>
            <a:r>
              <a:rPr sz="1292" b="0">
                <a:solidFill>
                  <a:srgbClr val="E6E6E6"/>
                </a:solidFill>
                <a:latin typeface="Consolas"/>
              </a:rPr>
              <a:t>, ballar: [98, 94, 91] },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E6E6E6"/>
                </a:solidFill>
                <a:latin typeface="Consolas"/>
              </a:rPr>
              <a:t>];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C678DD"/>
                </a:solidFill>
                <a:latin typeface="Consolas"/>
              </a:rPr>
              <a:t>const</a:t>
            </a:r>
            <a:r>
              <a:rPr sz="1292" b="0">
                <a:solidFill>
                  <a:srgbClr val="E6E6E6"/>
                </a:solidFill>
                <a:latin typeface="Consolas"/>
              </a:rPr>
              <a:t> ortacha = s =&gt; s.reduce((a, b) =&gt; a + b, 0) / s.length;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C678DD"/>
                </a:solidFill>
                <a:latin typeface="Consolas"/>
              </a:rPr>
              <a:t>const</a:t>
            </a:r>
            <a:r>
              <a:rPr sz="1292" b="0">
                <a:solidFill>
                  <a:srgbClr val="E6E6E6"/>
                </a:solidFill>
                <a:latin typeface="Consolas"/>
              </a:rPr>
              <a:t> natija = oquvchilar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E6E6E6"/>
                </a:solidFill>
                <a:latin typeface="Consolas"/>
              </a:rPr>
              <a:t>  .map(o =&gt; ({ ism: o.ism, ortacha: ortacha(o.ballar) }))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E6E6E6"/>
                </a:solidFill>
                <a:latin typeface="Consolas"/>
              </a:rPr>
              <a:t>  .sort((a, b) =&gt; b.ortacha - a.ortacha);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E6E6E6"/>
                </a:solidFill>
                <a:latin typeface="Consolas"/>
              </a:rPr>
              <a:t>natija.forEach((o, i) =&gt; </a:t>
            </a:r>
            <a:r>
              <a:rPr sz="1292" b="0">
                <a:solidFill>
                  <a:srgbClr val="C678DD"/>
                </a:solidFill>
                <a:latin typeface="Consolas"/>
              </a:rPr>
              <a:t>console</a:t>
            </a:r>
            <a:r>
              <a:rPr sz="1292" b="0">
                <a:solidFill>
                  <a:srgbClr val="E6E6E6"/>
                </a:solidFill>
                <a:latin typeface="Consolas"/>
              </a:rPr>
              <a:t>.log(`${i + 1}. ${o.ism} — ${o.ortacha.toFixed(1)}`));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913889"/>
            <a:ext cx="457200" cy="457200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2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19" y="4941321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4-fan bahosini qo'shing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590545"/>
            <a:ext cx="457200" cy="457200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2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19" y="5617977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qosh(ism, ballar)</a:t>
            </a:r>
            <a:r>
              <a:rPr sz="1900" b="0">
                <a:solidFill>
                  <a:srgbClr val="1F232B"/>
                </a:solidFill>
                <a:latin typeface="Calibri"/>
              </a:rPr>
              <a:t> va </a:t>
            </a:r>
            <a:r>
              <a:rPr sz="1748" b="0">
                <a:solidFill>
                  <a:srgbClr val="B02A4A"/>
                </a:solidFill>
                <a:latin typeface="Consolas"/>
              </a:rPr>
              <a:t>izla("barno")</a:t>
            </a:r>
            <a:r>
              <a:rPr sz="1900" b="0">
                <a:solidFill>
                  <a:srgbClr val="1F232B"/>
                </a:solidFill>
                <a:latin typeface="Calibri"/>
              </a:rPr>
              <a:t> funksiyalari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Ko'p uchraydigan xatolar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18-mavzu · Arraylar (massivlar) va obyektlar bilan ishlash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14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</a:t>
            </a:r>
            <a:r>
              <a:rPr sz="2576" b="0">
                <a:solidFill>
                  <a:srgbClr val="B02A4A"/>
                </a:solidFill>
                <a:latin typeface="Consolas"/>
              </a:rPr>
              <a:t>arr[1]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bu </a:t>
            </a:r>
            <a:r>
              <a:rPr sz="2800" b="1">
                <a:solidFill>
                  <a:srgbClr val="1F232B"/>
                </a:solidFill>
                <a:latin typeface="Calibri"/>
              </a:rPr>
              <a:t>ikkinchi</a:t>
            </a:r>
            <a:r>
              <a:rPr sz="2800" b="0">
                <a:solidFill>
                  <a:srgbClr val="1F232B"/>
                </a:solidFill>
                <a:latin typeface="Calibri"/>
              </a:rPr>
              <a:t> element!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26412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Oxirgisi </a:t>
            </a:r>
            <a:r>
              <a:rPr sz="2576" b="0">
                <a:solidFill>
                  <a:srgbClr val="B02A4A"/>
                </a:solidFill>
                <a:latin typeface="Consolas"/>
              </a:rPr>
              <a:t>arr[arr.length]</a:t>
            </a:r>
            <a:r>
              <a:rPr sz="2800" b="0">
                <a:solidFill>
                  <a:srgbClr val="1F232B"/>
                </a:solidFill>
                <a:latin typeface="Calibri"/>
              </a:rPr>
              <a:t> emas, </a:t>
            </a:r>
            <a:r>
              <a:rPr sz="2576" b="0">
                <a:solidFill>
                  <a:srgbClr val="B02A4A"/>
                </a:solidFill>
                <a:latin typeface="Consolas"/>
              </a:rPr>
              <a:t>arr[arr.length - 1]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186432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635504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</a:t>
            </a:r>
            <a:r>
              <a:rPr sz="2576" b="0">
                <a:solidFill>
                  <a:srgbClr val="B02A4A"/>
                </a:solidFill>
                <a:latin typeface="Consolas"/>
              </a:rPr>
              <a:t>map</a:t>
            </a:r>
            <a:r>
              <a:rPr sz="2800" b="0">
                <a:solidFill>
                  <a:srgbClr val="1F232B"/>
                </a:solidFill>
                <a:latin typeface="Calibri"/>
              </a:rPr>
              <a:t> ichida </a:t>
            </a:r>
            <a:r>
              <a:rPr sz="2576" b="0">
                <a:solidFill>
                  <a:srgbClr val="B02A4A"/>
                </a:solidFill>
                <a:latin typeface="Consolas"/>
              </a:rPr>
              <a:t>{ }</a:t>
            </a:r>
            <a:r>
              <a:rPr sz="2800" b="0">
                <a:solidFill>
                  <a:srgbClr val="1F232B"/>
                </a:solidFill>
                <a:latin typeface="Calibri"/>
              </a:rPr>
              <a:t> bilan yozib </a:t>
            </a:r>
            <a:r>
              <a:rPr sz="2576" b="0">
                <a:solidFill>
                  <a:srgbClr val="B02A4A"/>
                </a:solidFill>
                <a:latin typeface="Consolas"/>
              </a:rPr>
              <a:t>return</a:t>
            </a:r>
            <a:r>
              <a:rPr sz="2800" b="0">
                <a:solidFill>
                  <a:srgbClr val="1F232B"/>
                </a:solidFill>
                <a:latin typeface="Calibri"/>
              </a:rPr>
              <a:t> ni unutish → </a:t>
            </a:r>
            <a:r>
              <a:rPr sz="2576" b="0">
                <a:solidFill>
                  <a:srgbClr val="B02A4A"/>
                </a:solidFill>
                <a:latin typeface="Consolas"/>
              </a:rPr>
              <a:t>[undefined, ...]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2795524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689096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</a:t>
            </a:r>
            <a:r>
              <a:rPr sz="2576" b="0">
                <a:solidFill>
                  <a:srgbClr val="B02A4A"/>
                </a:solidFill>
                <a:latin typeface="Consolas"/>
              </a:rPr>
              <a:t>oquvchi.Ism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kalit </a:t>
            </a:r>
            <a:r>
              <a:rPr sz="2576" b="0">
                <a:solidFill>
                  <a:srgbClr val="B02A4A"/>
                </a:solidFill>
                <a:latin typeface="Consolas"/>
              </a:rPr>
              <a:t>ism</a:t>
            </a:r>
            <a:r>
              <a:rPr sz="2800" b="0">
                <a:solidFill>
                  <a:srgbClr val="1F232B"/>
                </a:solidFill>
                <a:latin typeface="Calibri"/>
              </a:rPr>
              <a:t> (katta-kichik harf!)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849116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298188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</a:t>
            </a:r>
            <a:r>
              <a:rPr sz="2576" b="0">
                <a:solidFill>
                  <a:srgbClr val="B02A4A"/>
                </a:solidFill>
                <a:latin typeface="Consolas"/>
              </a:rPr>
              <a:t>reduce</a:t>
            </a:r>
            <a:r>
              <a:rPr sz="2800" b="0">
                <a:solidFill>
                  <a:srgbClr val="1F232B"/>
                </a:solidFill>
                <a:latin typeface="Calibri"/>
              </a:rPr>
              <a:t> da boshlang'ich qiymat </a:t>
            </a:r>
            <a:r>
              <a:rPr sz="2576" b="0">
                <a:solidFill>
                  <a:srgbClr val="B02A4A"/>
                </a:solidFill>
                <a:latin typeface="Consolas"/>
              </a:rPr>
              <a:t>, 0</a:t>
            </a:r>
            <a:r>
              <a:rPr sz="2800" b="0">
                <a:solidFill>
                  <a:srgbClr val="1F232B"/>
                </a:solidFill>
                <a:latin typeface="Calibri"/>
              </a:rPr>
              <a:t> unutilgan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4458208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18-mavzu · Arraylar (massivlar) va obyektlar bilan ishlash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15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1">
                <a:solidFill>
                  <a:srgbClr val="B02A4A"/>
                </a:solidFill>
                <a:latin typeface="Consolas"/>
              </a:rPr>
              <a:t>const a = [10, 20, 30];</a:t>
            </a:r>
            <a:r>
              <a:rPr sz="2400" b="1">
                <a:solidFill>
                  <a:srgbClr val="1F232B"/>
                </a:solidFill>
                <a:latin typeface="Calibri"/>
              </a:rPr>
              <a:t> — </a:t>
            </a:r>
            <a:r>
              <a:rPr sz="2208" b="1">
                <a:solidFill>
                  <a:srgbClr val="B02A4A"/>
                </a:solidFill>
                <a:latin typeface="Consolas"/>
              </a:rPr>
              <a:t>a[1]</a:t>
            </a:r>
            <a:r>
              <a:rPr sz="2400" b="1">
                <a:solidFill>
                  <a:srgbClr val="1F232B"/>
                </a:solidFill>
                <a:latin typeface="Calibri"/>
              </a:rPr>
              <a:t> nimaga teng?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20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30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undefined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18-mavzu · Arraylar (massivlar) va obyektlar bilan ishlash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16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1">
                <a:solidFill>
                  <a:srgbClr val="B02A4A"/>
                </a:solidFill>
                <a:latin typeface="Consolas"/>
              </a:rPr>
              <a:t>const a = [10, 20, 30];</a:t>
            </a:r>
            <a:r>
              <a:rPr sz="2400" b="1">
                <a:solidFill>
                  <a:srgbClr val="1F232B"/>
                </a:solidFill>
                <a:latin typeface="Calibri"/>
              </a:rPr>
              <a:t> — </a:t>
            </a:r>
            <a:r>
              <a:rPr sz="2208" b="1">
                <a:solidFill>
                  <a:srgbClr val="B02A4A"/>
                </a:solidFill>
                <a:latin typeface="Consolas"/>
              </a:rPr>
              <a:t>a[1]</a:t>
            </a:r>
            <a:r>
              <a:rPr sz="2400" b="1">
                <a:solidFill>
                  <a:srgbClr val="1F232B"/>
                </a:solidFill>
                <a:latin typeface="Calibri"/>
              </a:rPr>
              <a:t> nimaga teng?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1">
                <a:solidFill>
                  <a:srgbClr val="1F232B"/>
                </a:solidFill>
                <a:latin typeface="Calibri"/>
              </a:rPr>
              <a:t>20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30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undefined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18-mavzu · Arraylar (massivlar) va obyektlar bilan ishlash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17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1">
                <a:solidFill>
                  <a:srgbClr val="B02A4A"/>
                </a:solidFill>
                <a:latin typeface="Consolas"/>
              </a:rPr>
              <a:t>[1, 2, 3, 4].filter(x =&gt; x % 2 === 0)</a:t>
            </a:r>
            <a:r>
              <a:rPr sz="2400" b="1">
                <a:solidFill>
                  <a:srgbClr val="1F232B"/>
                </a:solidFill>
                <a:latin typeface="Calibri"/>
              </a:rPr>
              <a:t> natijasi?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[1, 3]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[2, 4, 6, 8]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[2, 4]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18-mavzu · Arraylar (massivlar) va obyektlar bilan ishlash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18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1">
                <a:solidFill>
                  <a:srgbClr val="B02A4A"/>
                </a:solidFill>
                <a:latin typeface="Consolas"/>
              </a:rPr>
              <a:t>[1, 2, 3, 4].filter(x =&gt; x % 2 === 0)</a:t>
            </a:r>
            <a:r>
              <a:rPr sz="2400" b="1">
                <a:solidFill>
                  <a:srgbClr val="1F232B"/>
                </a:solidFill>
                <a:latin typeface="Calibri"/>
              </a:rPr>
              <a:t> natijasi?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[1, 3]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[2, 4, 6, 8]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1">
                <a:solidFill>
                  <a:srgbClr val="B02A4A"/>
                </a:solidFill>
                <a:latin typeface="Consolas"/>
              </a:rPr>
              <a:t>[2, 4]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18-mavzu · Arraylar (massivlar) va obyektlar bilan ishlash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19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1">
                <a:solidFill>
                  <a:srgbClr val="B02A4A"/>
                </a:solidFill>
                <a:latin typeface="Consolas"/>
              </a:rPr>
              <a:t>[1, 2, 3].map(x =&gt; x * 10)</a:t>
            </a:r>
            <a:r>
              <a:rPr sz="2400" b="1">
                <a:solidFill>
                  <a:srgbClr val="1F232B"/>
                </a:solidFill>
                <a:latin typeface="Calibri"/>
              </a:rPr>
              <a:t> natijasi?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60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[1, 2, 3]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30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[10, 20, 30]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18-mavzu · Arraylar (massivlar) va obyektlar bilan ishlash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20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1">
                <a:solidFill>
                  <a:srgbClr val="B02A4A"/>
                </a:solidFill>
                <a:latin typeface="Consolas"/>
              </a:rPr>
              <a:t>[1, 2, 3].map(x =&gt; x * 10)</a:t>
            </a:r>
            <a:r>
              <a:rPr sz="2400" b="1">
                <a:solidFill>
                  <a:srgbClr val="1F232B"/>
                </a:solidFill>
                <a:latin typeface="Calibri"/>
              </a:rPr>
              <a:t> natijasi?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60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[1, 2, 3]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30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1">
                <a:solidFill>
                  <a:srgbClr val="B02A4A"/>
                </a:solidFill>
                <a:latin typeface="Consolas"/>
              </a:rPr>
              <a:t>[10, 20, 30]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18-mavzu · Arraylar (massivlar) va obyektlar bilan ishlash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21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Barcha sonlar yig'indisini bitta qiymatga yig'uvchi metod?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map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find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reduce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join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18-mavzu · Arraylar (massivlar) va obyektlar bilan ishlash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22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Barcha sonlar yig'indisini bitta qiymatga yig'uvchi metod?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map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find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1">
                <a:solidFill>
                  <a:srgbClr val="1F232B"/>
                </a:solidFill>
                <a:latin typeface="Calibri"/>
              </a:rPr>
              <a:t>reduce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join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🏠 Uyga vazifa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18-mavzu · Arraylar (massivlar) va obyektlar bilan ishlash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23 / 25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702689"/>
            <a:ext cx="457200" cy="457200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1730121"/>
            <a:ext cx="10451592" cy="9987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Kitoblar javoni:</a:t>
            </a:r>
            <a:r>
              <a:rPr sz="2800" b="0">
                <a:solidFill>
                  <a:srgbClr val="1F232B"/>
                </a:solidFill>
                <a:latin typeface="Calibri"/>
              </a:rPr>
              <a:t> 6 kitob — o'qilmaganlar, eng qalini, 2000-yildan keyingilar, jami sahifalar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811144"/>
            <a:ext cx="457200" cy="457200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2838576"/>
            <a:ext cx="10451592" cy="9987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Takrorlarni olib tashlash:</a:t>
            </a:r>
            <a:r>
              <a:rPr sz="2800" b="0">
                <a:solidFill>
                  <a:srgbClr val="1F232B"/>
                </a:solidFill>
                <a:latin typeface="Calibri"/>
              </a:rPr>
              <a:t> </a:t>
            </a:r>
            <a:r>
              <a:rPr sz="2576" b="0">
                <a:solidFill>
                  <a:srgbClr val="B02A4A"/>
                </a:solidFill>
                <a:latin typeface="Consolas"/>
              </a:rPr>
              <a:t>[1, 2, 2, 3, 1, 4]</a:t>
            </a:r>
            <a:r>
              <a:rPr sz="2800" b="0">
                <a:solidFill>
                  <a:srgbClr val="1F232B"/>
                </a:solidFill>
                <a:latin typeface="Calibri"/>
              </a:rPr>
              <a:t> → </a:t>
            </a:r>
            <a:r>
              <a:rPr sz="2576" b="0">
                <a:solidFill>
                  <a:srgbClr val="B02A4A"/>
                </a:solidFill>
                <a:latin typeface="Consolas"/>
              </a:rPr>
              <a:t>[1, 2, 3, 4]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919601"/>
            <a:ext cx="457200" cy="457200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3947033"/>
            <a:ext cx="10451592" cy="9987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So'zlar statistikasi:</a:t>
            </a:r>
            <a:r>
              <a:rPr sz="2800" b="0">
                <a:solidFill>
                  <a:srgbClr val="1F232B"/>
                </a:solidFill>
                <a:latin typeface="Calibri"/>
              </a:rPr>
              <a:t> </a:t>
            </a:r>
            <a:r>
              <a:rPr sz="2576" b="0">
                <a:solidFill>
                  <a:srgbClr val="B02A4A"/>
                </a:solidFill>
                <a:latin typeface="Consolas"/>
              </a:rPr>
              <a:t>split(" ")</a:t>
            </a:r>
            <a:r>
              <a:rPr sz="2800" b="0">
                <a:solidFill>
                  <a:srgbClr val="1F232B"/>
                </a:solidFill>
                <a:latin typeface="Calibri"/>
              </a:rPr>
              <a:t>, eng uzun so'z, so'zlar soni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✅ Yodda tuting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18-mavzu · Arraylar (massivlar) va obyektlar bilan ishlash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24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Massiv </a:t>
            </a:r>
            <a:r>
              <a:rPr sz="2576" b="0">
                <a:solidFill>
                  <a:srgbClr val="B02A4A"/>
                </a:solidFill>
                <a:latin typeface="Consolas"/>
              </a:rPr>
              <a:t>[a, b, c]</a:t>
            </a:r>
            <a:r>
              <a:rPr sz="2800" b="0">
                <a:solidFill>
                  <a:srgbClr val="1F232B"/>
                </a:solidFill>
                <a:latin typeface="Calibri"/>
              </a:rPr>
              <a:t>, indeks 0 dan; </a:t>
            </a:r>
            <a:r>
              <a:rPr sz="2576" b="0">
                <a:solidFill>
                  <a:srgbClr val="B02A4A"/>
                </a:solidFill>
                <a:latin typeface="Consolas"/>
              </a:rPr>
              <a:t>push/pop/shift/unshift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includes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sort((a,b)=&gt;a-b)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470911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Aylanish: </a:t>
            </a:r>
            <a:r>
              <a:rPr sz="2576" b="0">
                <a:solidFill>
                  <a:srgbClr val="B02A4A"/>
                </a:solidFill>
                <a:latin typeface="Consolas"/>
              </a:rPr>
              <a:t>for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for...of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forEach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630931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080004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map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o'zgartirish, </a:t>
            </a:r>
            <a:r>
              <a:rPr sz="2576" b="0">
                <a:solidFill>
                  <a:srgbClr val="B02A4A"/>
                </a:solidFill>
                <a:latin typeface="Consolas"/>
              </a:rPr>
              <a:t>filter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tanlash, </a:t>
            </a:r>
            <a:r>
              <a:rPr sz="2576" b="0">
                <a:solidFill>
                  <a:srgbClr val="B02A4A"/>
                </a:solidFill>
                <a:latin typeface="Consolas"/>
              </a:rPr>
              <a:t>find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birinchisi, </a:t>
            </a:r>
            <a:r>
              <a:rPr sz="2576" b="0">
                <a:solidFill>
                  <a:srgbClr val="B02A4A"/>
                </a:solidFill>
                <a:latin typeface="Consolas"/>
              </a:rPr>
              <a:t>reduce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yig'ish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3240023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133595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Obyekt </a:t>
            </a:r>
            <a:r>
              <a:rPr sz="2576" b="0">
                <a:solidFill>
                  <a:srgbClr val="B02A4A"/>
                </a:solidFill>
                <a:latin typeface="Consolas"/>
              </a:rPr>
              <a:t>{ kalit: qiymat }</a:t>
            </a:r>
            <a:r>
              <a:rPr sz="2800" b="0">
                <a:solidFill>
                  <a:srgbClr val="1F232B"/>
                </a:solidFill>
                <a:latin typeface="Calibri"/>
              </a:rPr>
              <a:t>; </a:t>
            </a:r>
            <a:r>
              <a:rPr sz="2576" b="0">
                <a:solidFill>
                  <a:srgbClr val="B02A4A"/>
                </a:solidFill>
                <a:latin typeface="Consolas"/>
              </a:rPr>
              <a:t>obj.kalit</a:t>
            </a:r>
            <a:r>
              <a:rPr sz="2800" b="0">
                <a:solidFill>
                  <a:srgbClr val="1F232B"/>
                </a:solidFill>
                <a:latin typeface="Calibri"/>
              </a:rPr>
              <a:t>; metodlarda </a:t>
            </a:r>
            <a:r>
              <a:rPr sz="2576" b="0">
                <a:solidFill>
                  <a:srgbClr val="B02A4A"/>
                </a:solidFill>
                <a:latin typeface="Consolas"/>
              </a:rPr>
              <a:t>this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4293615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742688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Obyektlar massivi — real ma'lumotlarning asosiy shakli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4902708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94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11091672" cy="5760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64592" cy="5760720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463040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6000" b="0">
                <a:solidFill>
                  <a:srgbClr val="1F232B"/>
                </a:solidFill>
                <a:latin typeface="Segoe UI Emoji"/>
              </a:rPr>
              <a:t>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651760"/>
            <a:ext cx="10058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4800" b="1">
                <a:solidFill>
                  <a:srgbClr val="1F232B"/>
                </a:solidFill>
                <a:latin typeface="Calibri"/>
              </a:rPr>
              <a:t>Savollar bormi?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749039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5B6370"/>
                </a:solidFill>
                <a:latin typeface="Calibri"/>
              </a:rPr>
              <a:t>Keyingi mavzu: </a:t>
            </a:r>
            <a:r>
              <a:rPr sz="2200" b="1">
                <a:solidFill>
                  <a:srgbClr val="5B6370"/>
                </a:solidFill>
                <a:latin typeface="Calibri"/>
              </a:rPr>
              <a:t>19. DOM va BOM bilan ishlash. JavaScript'da eventlar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669280"/>
            <a:ext cx="10058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400" b="1">
                <a:solidFill>
                  <a:srgbClr val="5B6370"/>
                </a:solidFill>
                <a:latin typeface="Calibri"/>
              </a:rPr>
              <a:t>8-sinf · Web Full-stack dasturlash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18-mavzu: Arraylar (massivlar) va obyektlar bilan ishlash</dc:title>
  <dc:subject/>
  <dc:creator>8-sinf · Web Full-stack dasturlash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