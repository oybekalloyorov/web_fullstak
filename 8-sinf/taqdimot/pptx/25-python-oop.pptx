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Klass — chizma, obyekt — undan yaratilgan nusxa.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__init__.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D) Merosxo'rlik.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__str__.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🏗️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2F6FAD"/>
                </a:solidFill>
                <a:latin typeface="Calibri"/>
              </a:rPr>
              <a:t>25-MAVZU  ·  III BOB. PYTHON VA MA'LUMOTLAR BAZASI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Obyektga yo'naltirilgan dasturlash (OOP)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Klass va obyekt, __init__ va self, atributlar va metodlar, __str__, inkapsulyatsiya, merosxo'rlik (inheritance), polimorfizm; kutubxona boshqaruv tizimi loyihasi.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Klass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obyekt</a:t>
            </a:r>
            <a:r>
              <a:rPr sz="2800" b="0">
                <a:solidFill>
                  <a:srgbClr val="1F232B"/>
                </a:solidFill>
                <a:latin typeface="Calibri"/>
              </a:rPr>
              <a:t> nima va nega kerak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__init__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self</a:t>
            </a:r>
            <a:r>
              <a:rPr sz="2800" b="0">
                <a:solidFill>
                  <a:srgbClr val="1F232B"/>
                </a:solidFill>
                <a:latin typeface="Calibri"/>
              </a:rPr>
              <a:t>, atributlar va metodlar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OOP'ning uch ustuni: </a:t>
            </a:r>
            <a:r>
              <a:rPr sz="2800" b="1">
                <a:solidFill>
                  <a:srgbClr val="1F232B"/>
                </a:solidFill>
                <a:latin typeface="Calibri"/>
              </a:rPr>
              <a:t>inkapsulyatsiya, merosxo'rlik, polimorfizm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Kutubxona boshqaruv tizimi (17-loyiha)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53688"/>
            <a:ext cx="11091672" cy="1100581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53688"/>
            <a:ext cx="82296" cy="11005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45128"/>
            <a:ext cx="10725912" cy="93598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660" b="0">
                <a:solidFill>
                  <a:srgbClr val="1F232B"/>
                </a:solidFill>
                <a:latin typeface="Calibri"/>
              </a:rPr>
              <a:t>Django uchun juda muhim: modellar, formalar, view'lar — hammasi klasslar!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Nima uchun OOP?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255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Ma'lumot (dict) va funksiyalar alohida — dastur kattalashganda chalkashadi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66257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56144"/>
            <a:ext cx="11091672" cy="156337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4060" b="1">
                <a:solidFill>
                  <a:srgbClr val="2F6FAD"/>
                </a:solidFill>
                <a:latin typeface="Calibri"/>
              </a:rPr>
              <a:t>OOP — ma'lumot va unga tegishli amallarni bitta obyektda birlashtiradi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29242"/>
            <a:ext cx="11091672" cy="1522857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229242"/>
            <a:ext cx="82296" cy="152285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320682"/>
            <a:ext cx="10725912" cy="135826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660" b="0">
                <a:solidFill>
                  <a:srgbClr val="1F232B"/>
                </a:solidFill>
                <a:latin typeface="Calibri"/>
              </a:rPr>
              <a:t>💡 </a:t>
            </a:r>
            <a:r>
              <a:rPr sz="2660" b="1">
                <a:solidFill>
                  <a:srgbClr val="1F232B"/>
                </a:solidFill>
                <a:latin typeface="Calibri"/>
              </a:rPr>
              <a:t>Avtomobil zavodi:</a:t>
            </a:r>
            <a:r>
              <a:rPr sz="2660" b="0">
                <a:solidFill>
                  <a:srgbClr val="1F232B"/>
                </a:solidFill>
                <a:latin typeface="Calibri"/>
              </a:rPr>
              <a:t> klass — chizma ("rangi bor, yura oladi"). Chizmaning o'zi yurmaydi! Obyekt — chizma asosida yasalgan haqiqiy mashina: qizil Cobalt, oq Malibu...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Asosiy tushunchalar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60448"/>
          <a:ext cx="11091672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Tushuncha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Ma'nosi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2F6FAD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Klass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Shablon, chizma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Oquvchi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Obyekt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Klassdan yaratilgan nusxa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ali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zarina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Atribut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Xususiyat (ma'lumot)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ism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sinf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baholar</a:t>
                      </a:r>
                    </a:p>
                  </a:txBody>
                  <a:tcPr marL="73152" marR="73152" marT="36576" marB="36576">
                    <a:solidFill>
                      <a:srgbClr val="EEF3F8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1F232B"/>
                          </a:solidFill>
                          <a:latin typeface="Calibri"/>
                        </a:rPr>
                        <a:t>Metod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Bajara oladigan amal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baho_qosh()</a:t>
                      </a:r>
                      <a:r>
                        <a:rPr sz="2240" b="0">
                          <a:solidFill>
                            <a:srgbClr val="1F232B"/>
                          </a:solidFill>
                          <a:latin typeface="Calibri"/>
                        </a:rPr>
                        <a:t>, </a:t>
                      </a:r>
                      <a:r>
                        <a:rPr sz="2060" b="0">
                          <a:solidFill>
                            <a:srgbClr val="B02A4A"/>
                          </a:solidFill>
                          <a:latin typeface="Consolas"/>
                        </a:rPr>
                        <a:t>ortacha()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60120" y="4645025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Siz OOP bilan allaqachon tanishsiz: </a:t>
            </a:r>
            <a:r>
              <a:rPr sz="2576" b="0">
                <a:solidFill>
                  <a:srgbClr val="B02A4A"/>
                </a:solidFill>
                <a:latin typeface="Consolas"/>
              </a:rPr>
              <a:t>"salom".upper()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royxat.append(5)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bular metodlar!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4805045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Birinchi klass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244"/>
            <a:ext cx="11091672" cy="45427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1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428"/>
            <a:ext cx="10725912" cy="41952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class</a:t>
            </a:r>
            <a:r>
              <a:rPr sz="1360" b="0">
                <a:solidFill>
                  <a:srgbClr val="E6E6E6"/>
                </a:solidFill>
                <a:latin typeface="Consolas"/>
              </a:rPr>
              <a:t> Oquvchi:                          # PascalCase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__init__(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, ism, sinf):      # konstruktor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.ism = ism                  # atributlar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.sinf = sinf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.baholar = []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baho_qosh(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, baho):          # metod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.baholar.append(baho)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ortacha(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if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not</a:t>
            </a: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.baholar: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 0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 round(sum(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.baholar) / len(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.baholar), 2)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ali = Oquvchi(</a:t>
            </a:r>
            <a:r>
              <a:rPr sz="1360" b="0">
                <a:solidFill>
                  <a:srgbClr val="98C379"/>
                </a:solidFill>
                <a:latin typeface="Consolas"/>
              </a:rPr>
              <a:t>"Ali"</a:t>
            </a:r>
            <a:r>
              <a:rPr sz="1360" b="0">
                <a:solidFill>
                  <a:srgbClr val="E6E6E6"/>
                </a:solidFill>
                <a:latin typeface="Consolas"/>
              </a:rPr>
              <a:t>, </a:t>
            </a:r>
            <a:r>
              <a:rPr sz="1360" b="0">
                <a:solidFill>
                  <a:srgbClr val="98C379"/>
                </a:solidFill>
                <a:latin typeface="Consolas"/>
              </a:rPr>
              <a:t>"8-A"</a:t>
            </a:r>
            <a:r>
              <a:rPr sz="1360" b="0">
                <a:solidFill>
                  <a:srgbClr val="E6E6E6"/>
                </a:solidFill>
                <a:latin typeface="Consolas"/>
              </a:rPr>
              <a:t>)             # obyekt yaratish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ali.baho_qosh(5)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ali.baho_qosh(4)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print</a:t>
            </a:r>
            <a:r>
              <a:rPr sz="1360" b="0">
                <a:solidFill>
                  <a:srgbClr val="E6E6E6"/>
                </a:solidFill>
                <a:latin typeface="Consolas"/>
              </a:rPr>
              <a:t>(ali.ortacha())                    # 4.5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__init__ va 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__init__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</a:t>
            </a:r>
            <a:r>
              <a:rPr sz="2600" b="1">
                <a:solidFill>
                  <a:srgbClr val="1F232B"/>
                </a:solidFill>
                <a:latin typeface="Calibri"/>
              </a:rPr>
              <a:t>konstruktor</a:t>
            </a:r>
            <a:r>
              <a:rPr sz="2600" b="0">
                <a:solidFill>
                  <a:srgbClr val="1F232B"/>
                </a:solidFill>
                <a:latin typeface="Calibri"/>
              </a:rPr>
              <a:t>: </a:t>
            </a:r>
            <a:r>
              <a:rPr sz="2392" b="0">
                <a:solidFill>
                  <a:srgbClr val="B02A4A"/>
                </a:solidFill>
                <a:latin typeface="Consolas"/>
              </a:rPr>
              <a:t>Oquvchi("Ali", "8-A")</a:t>
            </a:r>
            <a:r>
              <a:rPr sz="2600" b="0">
                <a:solidFill>
                  <a:srgbClr val="1F232B"/>
                </a:solidFill>
                <a:latin typeface="Calibri"/>
              </a:rPr>
              <a:t> yozilganda avtomatik chaqiriladi va atributlarni to'ldiradi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6591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07412"/>
            <a:ext cx="10680192" cy="880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392" b="0">
                <a:solidFill>
                  <a:srgbClr val="B02A4A"/>
                </a:solidFill>
                <a:latin typeface="Consolas"/>
              </a:rPr>
              <a:t>self</a:t>
            </a:r>
            <a:r>
              <a:rPr sz="2600" b="0">
                <a:solidFill>
                  <a:srgbClr val="1F232B"/>
                </a:solidFill>
                <a:latin typeface="Calibri"/>
              </a:rPr>
              <a:t> — </a:t>
            </a:r>
            <a:r>
              <a:rPr sz="2600" b="1">
                <a:solidFill>
                  <a:srgbClr val="1F232B"/>
                </a:solidFill>
                <a:latin typeface="Calibri"/>
              </a:rPr>
              <a:t>"shu obyektning o'zi"</a:t>
            </a:r>
            <a:r>
              <a:rPr sz="2600" b="0">
                <a:solidFill>
                  <a:srgbClr val="1F232B"/>
                </a:solidFill>
                <a:latin typeface="Calibri"/>
              </a:rPr>
              <a:t>: </a:t>
            </a:r>
            <a:r>
              <a:rPr sz="2392" b="0">
                <a:solidFill>
                  <a:srgbClr val="B02A4A"/>
                </a:solidFill>
                <a:latin typeface="Consolas"/>
              </a:rPr>
              <a:t>ali.baho_qosh(5)</a:t>
            </a:r>
            <a:r>
              <a:rPr sz="2600" b="0">
                <a:solidFill>
                  <a:srgbClr val="1F232B"/>
                </a:solidFill>
                <a:latin typeface="Calibri"/>
              </a:rPr>
              <a:t> da </a:t>
            </a:r>
            <a:r>
              <a:rPr sz="2392" b="0">
                <a:solidFill>
                  <a:srgbClr val="B02A4A"/>
                </a:solidFill>
                <a:latin typeface="Consolas"/>
              </a:rPr>
              <a:t>self</a:t>
            </a:r>
            <a:r>
              <a:rPr sz="2600" b="0">
                <a:solidFill>
                  <a:srgbClr val="1F232B"/>
                </a:solidFill>
                <a:latin typeface="Calibri"/>
              </a:rPr>
              <a:t> = </a:t>
            </a:r>
            <a:r>
              <a:rPr sz="2392" b="0">
                <a:solidFill>
                  <a:srgbClr val="B02A4A"/>
                </a:solidFill>
                <a:latin typeface="Consolas"/>
              </a:rPr>
              <a:t>ali</a:t>
            </a:r>
            <a:r>
              <a:rPr sz="2600" b="0">
                <a:solidFill>
                  <a:srgbClr val="1F232B"/>
                </a:solidFill>
                <a:latin typeface="Calibri"/>
              </a:rPr>
              <a:t>, </a:t>
            </a:r>
            <a:r>
              <a:rPr sz="2392" b="0">
                <a:solidFill>
                  <a:srgbClr val="B02A4A"/>
                </a:solidFill>
                <a:latin typeface="Consolas"/>
              </a:rPr>
              <a:t>zarina.baho_qosh(5)</a:t>
            </a:r>
            <a:r>
              <a:rPr sz="2600" b="0">
                <a:solidFill>
                  <a:srgbClr val="1F232B"/>
                </a:solidFill>
                <a:latin typeface="Calibri"/>
              </a:rPr>
              <a:t> da — </a:t>
            </a:r>
            <a:r>
              <a:rPr sz="2392" b="0">
                <a:solidFill>
                  <a:srgbClr val="B02A4A"/>
                </a:solidFill>
                <a:latin typeface="Consolas"/>
              </a:rPr>
              <a:t>zarina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55600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397504"/>
            <a:ext cx="11091672" cy="1432369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97504"/>
            <a:ext cx="82296" cy="143236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88944"/>
            <a:ext cx="10725912" cy="126777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💡 </a:t>
            </a:r>
            <a:r>
              <a:rPr sz="2470" b="1">
                <a:solidFill>
                  <a:srgbClr val="1F232B"/>
                </a:solidFill>
                <a:latin typeface="Calibri"/>
              </a:rPr>
              <a:t>self — "men":</a:t>
            </a:r>
            <a:r>
              <a:rPr sz="2470" b="0">
                <a:solidFill>
                  <a:srgbClr val="1F232B"/>
                </a:solidFill>
                <a:latin typeface="Calibri"/>
              </a:rPr>
              <a:t> har bir o'quvchi "mening ismim", "mening daftarim" deydi. So'z bir xil, lekin har biri uchun boshqa narsa. </a:t>
            </a:r>
            <a:r>
              <a:rPr sz="2272" b="0">
                <a:solidFill>
                  <a:srgbClr val="B02A4A"/>
                </a:solidFill>
                <a:latin typeface="Consolas"/>
              </a:rPr>
              <a:t>self.ism</a:t>
            </a:r>
            <a:r>
              <a:rPr sz="2470" b="0">
                <a:solidFill>
                  <a:srgbClr val="1F232B"/>
                </a:solidFill>
                <a:latin typeface="Calibri"/>
              </a:rPr>
              <a:t> — "mening ismim".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49329"/>
            <a:ext cx="11091672" cy="1040256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049329"/>
            <a:ext cx="82296" cy="10402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40769"/>
            <a:ext cx="10725912" cy="87566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470" b="0">
                <a:solidFill>
                  <a:srgbClr val="1F232B"/>
                </a:solidFill>
                <a:latin typeface="Calibri"/>
              </a:rPr>
              <a:t>⚠️ </a:t>
            </a:r>
            <a:r>
              <a:rPr sz="2470" b="0">
                <a:solidFill>
                  <a:srgbClr val="1F232B"/>
                </a:solidFill>
                <a:latin typeface="Calibri"/>
              </a:rPr>
              <a:t>Har metodning birinchi parametri — </a:t>
            </a:r>
            <a:r>
              <a:rPr sz="2272" b="0">
                <a:solidFill>
                  <a:srgbClr val="B02A4A"/>
                </a:solidFill>
                <a:latin typeface="Consolas"/>
              </a:rPr>
              <a:t>self</a:t>
            </a:r>
            <a:r>
              <a:rPr sz="2470" b="0">
                <a:solidFill>
                  <a:srgbClr val="1F232B"/>
                </a:solidFill>
                <a:latin typeface="Calibri"/>
              </a:rPr>
              <a:t>. Chaqirganda esa </a:t>
            </a:r>
            <a:r>
              <a:rPr sz="2272" b="0">
                <a:solidFill>
                  <a:srgbClr val="B02A4A"/>
                </a:solidFill>
                <a:latin typeface="Consolas"/>
              </a:rPr>
              <a:t>self</a:t>
            </a:r>
            <a:r>
              <a:rPr sz="2470" b="0">
                <a:solidFill>
                  <a:srgbClr val="1F232B"/>
                </a:solidFill>
                <a:latin typeface="Calibri"/>
              </a:rPr>
              <a:t> berilmaydi — Python o'zi qo'yadi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__str__ — obyektni chiroyli chiqarish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798"/>
            <a:ext cx="11091672" cy="344838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662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982"/>
            <a:ext cx="10725912" cy="310091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class</a:t>
            </a:r>
            <a:r>
              <a:rPr sz="1632" b="0">
                <a:solidFill>
                  <a:srgbClr val="E6E6E6"/>
                </a:solidFill>
                <a:latin typeface="Consolas"/>
              </a:rPr>
              <a:t> Kitob: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def</a:t>
            </a:r>
            <a:r>
              <a:rPr sz="1632" b="0">
                <a:solidFill>
                  <a:srgbClr val="E6E6E6"/>
                </a:solidFill>
                <a:latin typeface="Consolas"/>
              </a:rPr>
              <a:t> __init__(</a:t>
            </a:r>
            <a:r>
              <a:rPr sz="1632" b="0">
                <a:solidFill>
                  <a:srgbClr val="C678DD"/>
                </a:solidFill>
                <a:latin typeface="Consolas"/>
              </a:rPr>
              <a:t>self</a:t>
            </a:r>
            <a:r>
              <a:rPr sz="1632" b="0">
                <a:solidFill>
                  <a:srgbClr val="E6E6E6"/>
                </a:solidFill>
                <a:latin typeface="Consolas"/>
              </a:rPr>
              <a:t>, nomi, muallif, yil):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self</a:t>
            </a:r>
            <a:r>
              <a:rPr sz="1632" b="0">
                <a:solidFill>
                  <a:srgbClr val="E6E6E6"/>
                </a:solidFill>
                <a:latin typeface="Consolas"/>
              </a:rPr>
              <a:t>.nomi = nomi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self</a:t>
            </a:r>
            <a:r>
              <a:rPr sz="1632" b="0">
                <a:solidFill>
                  <a:srgbClr val="E6E6E6"/>
                </a:solidFill>
                <a:latin typeface="Consolas"/>
              </a:rPr>
              <a:t>.muallif = muallif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self</a:t>
            </a:r>
            <a:r>
              <a:rPr sz="1632" b="0">
                <a:solidFill>
                  <a:srgbClr val="E6E6E6"/>
                </a:solidFill>
                <a:latin typeface="Consolas"/>
              </a:rPr>
              <a:t>.yil = yil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def</a:t>
            </a:r>
            <a:r>
              <a:rPr sz="1632" b="0">
                <a:solidFill>
                  <a:srgbClr val="E6E6E6"/>
                </a:solidFill>
                <a:latin typeface="Consolas"/>
              </a:rPr>
              <a:t> __str__(</a:t>
            </a:r>
            <a:r>
              <a:rPr sz="1632" b="0">
                <a:solidFill>
                  <a:srgbClr val="C678DD"/>
                </a:solidFill>
                <a:latin typeface="Consolas"/>
              </a:rPr>
              <a:t>self</a:t>
            </a:r>
            <a:r>
              <a:rPr sz="1632" b="0">
                <a:solidFill>
                  <a:srgbClr val="E6E6E6"/>
                </a:solidFill>
                <a:latin typeface="Consolas"/>
              </a:rPr>
              <a:t>):                  # </a:t>
            </a:r>
            <a:r>
              <a:rPr sz="1632" b="0">
                <a:solidFill>
                  <a:srgbClr val="C678DD"/>
                </a:solidFill>
                <a:latin typeface="Consolas"/>
              </a:rPr>
              <a:t>print</a:t>
            </a:r>
            <a:r>
              <a:rPr sz="1632" b="0">
                <a:solidFill>
                  <a:srgbClr val="E6E6E6"/>
                </a:solidFill>
                <a:latin typeface="Consolas"/>
              </a:rPr>
              <a:t>(obyekt) chaqirilganda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632" b="0">
                <a:solidFill>
                  <a:srgbClr val="C678DD"/>
                </a:solidFill>
                <a:latin typeface="Consolas"/>
              </a:rPr>
              <a:t>return</a:t>
            </a:r>
            <a:r>
              <a:rPr sz="1632" b="0">
                <a:solidFill>
                  <a:srgbClr val="E6E6E6"/>
                </a:solidFill>
                <a:latin typeface="Consolas"/>
              </a:rPr>
              <a:t> f</a:t>
            </a:r>
            <a:r>
              <a:rPr sz="1632" b="0">
                <a:solidFill>
                  <a:srgbClr val="98C379"/>
                </a:solidFill>
                <a:latin typeface="Consolas"/>
              </a:rPr>
              <a:t>"«{self.nomi}» — {self.muallif} ({self.yil})"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6E6E6"/>
                </a:solidFill>
                <a:latin typeface="Consolas"/>
              </a:rPr>
              <a:t>k = Kitob(</a:t>
            </a:r>
            <a:r>
              <a:rPr sz="1632" b="0">
                <a:solidFill>
                  <a:srgbClr val="98C379"/>
                </a:solidFill>
                <a:latin typeface="Consolas"/>
              </a:rPr>
              <a:t>"O'tkan kunlar"</a:t>
            </a:r>
            <a:r>
              <a:rPr sz="1632" b="0">
                <a:solidFill>
                  <a:srgbClr val="E6E6E6"/>
                </a:solidFill>
                <a:latin typeface="Consolas"/>
              </a:rPr>
              <a:t>, </a:t>
            </a:r>
            <a:r>
              <a:rPr sz="1632" b="0">
                <a:solidFill>
                  <a:srgbClr val="98C379"/>
                </a:solidFill>
                <a:latin typeface="Consolas"/>
              </a:rPr>
              <a:t>"Abdulla Qodiriy"</a:t>
            </a:r>
            <a:r>
              <a:rPr sz="1632" b="0">
                <a:solidFill>
                  <a:srgbClr val="E6E6E6"/>
                </a:solidFill>
                <a:latin typeface="Consolas"/>
              </a:rPr>
              <a:t>, 1926)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C678DD"/>
                </a:solidFill>
                <a:latin typeface="Consolas"/>
              </a:rPr>
              <a:t>print</a:t>
            </a:r>
            <a:r>
              <a:rPr sz="1632" b="0">
                <a:solidFill>
                  <a:srgbClr val="E6E6E6"/>
                </a:solidFill>
                <a:latin typeface="Consolas"/>
              </a:rPr>
              <a:t>(k)    # «O'tkan kunlar» — Abdulla Qodiriy (1926)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119640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0">
                <a:solidFill>
                  <a:srgbClr val="B02A4A"/>
                </a:solidFill>
                <a:latin typeface="Consolas"/>
              </a:rPr>
              <a:t>__str__</a:t>
            </a:r>
            <a:r>
              <a:rPr sz="2400" b="0">
                <a:solidFill>
                  <a:srgbClr val="1F232B"/>
                </a:solidFill>
                <a:latin typeface="Calibri"/>
              </a:rPr>
              <a:t> siz: </a:t>
            </a:r>
            <a:r>
              <a:rPr sz="2208" b="0">
                <a:solidFill>
                  <a:srgbClr val="B02A4A"/>
                </a:solidFill>
                <a:latin typeface="Consolas"/>
              </a:rPr>
              <a:t>&lt;__main__.Kitob object at 0x7f...&gt;</a:t>
            </a:r>
            <a:r>
              <a:rPr sz="2400" b="0">
                <a:solidFill>
                  <a:srgbClr val="1F232B"/>
                </a:solidFill>
                <a:latin typeface="Calibri"/>
              </a:rPr>
              <a:t> 😕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25680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665232"/>
            <a:ext cx="10680192" cy="435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0">
                <a:solidFill>
                  <a:srgbClr val="1F232B"/>
                </a:solidFill>
                <a:latin typeface="Calibri"/>
              </a:rPr>
              <a:t>Django modellarida </a:t>
            </a:r>
            <a:r>
              <a:rPr sz="2208" b="0">
                <a:solidFill>
                  <a:srgbClr val="B02A4A"/>
                </a:solidFill>
                <a:latin typeface="Consolas"/>
              </a:rPr>
              <a:t>__str__</a:t>
            </a:r>
            <a:r>
              <a:rPr sz="2400" b="0">
                <a:solidFill>
                  <a:srgbClr val="1F232B"/>
                </a:solidFill>
                <a:latin typeface="Calibri"/>
              </a:rPr>
              <a:t> ni </a:t>
            </a:r>
            <a:r>
              <a:rPr sz="2400" b="1">
                <a:solidFill>
                  <a:srgbClr val="1F232B"/>
                </a:solidFill>
                <a:latin typeface="Calibri"/>
              </a:rPr>
              <a:t>albatta</a:t>
            </a:r>
            <a:r>
              <a:rPr sz="2400" b="0">
                <a:solidFill>
                  <a:srgbClr val="1F232B"/>
                </a:solidFill>
                <a:latin typeface="Calibri"/>
              </a:rPr>
              <a:t> yozamiz (36-mavzu)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80239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C0D3E6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OOP'ning uch ustuni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DFE9F2"/>
                </a:solidFill>
                <a:latin typeface="Calibri"/>
              </a:rPr>
              <a:t>Inkapsulyatsiya · Merosxo'rlik · Polimorfizm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C0D3E6"/>
                </a:solidFill>
                <a:latin typeface="Calibr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1. Inkapsulyatsiya — ichki ishlarni yashirish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3853"/>
            <a:ext cx="11091672" cy="353958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17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37"/>
            <a:ext cx="10725912" cy="319210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56" b="0">
                <a:solidFill>
                  <a:srgbClr val="C678DD"/>
                </a:solidFill>
                <a:latin typeface="Consolas"/>
              </a:rPr>
              <a:t>class</a:t>
            </a:r>
            <a:r>
              <a:rPr sz="1156" b="0">
                <a:solidFill>
                  <a:srgbClr val="E6E6E6"/>
                </a:solidFill>
                <a:latin typeface="Consolas"/>
              </a:rPr>
              <a:t> BankHisobi: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def</a:t>
            </a:r>
            <a:r>
              <a:rPr sz="1156" b="0">
                <a:solidFill>
                  <a:srgbClr val="E6E6E6"/>
                </a:solidFill>
                <a:latin typeface="Consolas"/>
              </a:rPr>
              <a:t> __init__(</a:t>
            </a:r>
            <a:r>
              <a:rPr sz="1156" b="0">
                <a:solidFill>
                  <a:srgbClr val="C678DD"/>
                </a:solidFill>
                <a:latin typeface="Consolas"/>
              </a:rPr>
              <a:t>self</a:t>
            </a:r>
            <a:r>
              <a:rPr sz="1156" b="0">
                <a:solidFill>
                  <a:srgbClr val="E6E6E6"/>
                </a:solidFill>
                <a:latin typeface="Consolas"/>
              </a:rPr>
              <a:t>, egasi, balans=0):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self</a:t>
            </a:r>
            <a:r>
              <a:rPr sz="1156" b="0">
                <a:solidFill>
                  <a:srgbClr val="E6E6E6"/>
                </a:solidFill>
                <a:latin typeface="Consolas"/>
              </a:rPr>
              <a:t>.egasi = egasi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self</a:t>
            </a:r>
            <a:r>
              <a:rPr sz="1156" b="0">
                <a:solidFill>
                  <a:srgbClr val="E6E6E6"/>
                </a:solidFill>
                <a:latin typeface="Consolas"/>
              </a:rPr>
              <a:t>._balans = balans       # _ — </a:t>
            </a:r>
            <a:r>
              <a:rPr sz="1156" b="0">
                <a:solidFill>
                  <a:srgbClr val="98C379"/>
                </a:solidFill>
                <a:latin typeface="Consolas"/>
              </a:rPr>
              <a:t>"tashqaridan tegmang"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def</a:t>
            </a:r>
            <a:r>
              <a:rPr sz="1156" b="0">
                <a:solidFill>
                  <a:srgbClr val="E6E6E6"/>
                </a:solidFill>
                <a:latin typeface="Consolas"/>
              </a:rPr>
              <a:t> toldirish(</a:t>
            </a:r>
            <a:r>
              <a:rPr sz="1156" b="0">
                <a:solidFill>
                  <a:srgbClr val="C678DD"/>
                </a:solidFill>
                <a:latin typeface="Consolas"/>
              </a:rPr>
              <a:t>self</a:t>
            </a:r>
            <a:r>
              <a:rPr sz="1156" b="0">
                <a:solidFill>
                  <a:srgbClr val="E6E6E6"/>
                </a:solidFill>
                <a:latin typeface="Consolas"/>
              </a:rPr>
              <a:t>, summa):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if</a:t>
            </a:r>
            <a:r>
              <a:rPr sz="1156" b="0">
                <a:solidFill>
                  <a:srgbClr val="E6E6E6"/>
                </a:solidFill>
                <a:latin typeface="Consolas"/>
              </a:rPr>
              <a:t> summa &lt;= 0: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print</a:t>
            </a:r>
            <a:r>
              <a:rPr sz="1156" b="0">
                <a:solidFill>
                  <a:srgbClr val="E6E6E6"/>
                </a:solidFill>
                <a:latin typeface="Consolas"/>
              </a:rPr>
              <a:t>(</a:t>
            </a:r>
            <a:r>
              <a:rPr sz="1156" b="0">
                <a:solidFill>
                  <a:srgbClr val="98C379"/>
                </a:solidFill>
                <a:latin typeface="Consolas"/>
              </a:rPr>
              <a:t>"❌ Summa musbat bo'lsin"</a:t>
            </a:r>
            <a:r>
              <a:rPr sz="115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return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self</a:t>
            </a:r>
            <a:r>
              <a:rPr sz="1156" b="0">
                <a:solidFill>
                  <a:srgbClr val="E6E6E6"/>
                </a:solidFill>
                <a:latin typeface="Consolas"/>
              </a:rPr>
              <a:t>._balans += summa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def</a:t>
            </a:r>
            <a:r>
              <a:rPr sz="1156" b="0">
                <a:solidFill>
                  <a:srgbClr val="E6E6E6"/>
                </a:solidFill>
                <a:latin typeface="Consolas"/>
              </a:rPr>
              <a:t> yechish(</a:t>
            </a:r>
            <a:r>
              <a:rPr sz="1156" b="0">
                <a:solidFill>
                  <a:srgbClr val="C678DD"/>
                </a:solidFill>
                <a:latin typeface="Consolas"/>
              </a:rPr>
              <a:t>self</a:t>
            </a:r>
            <a:r>
              <a:rPr sz="1156" b="0">
                <a:solidFill>
                  <a:srgbClr val="E6E6E6"/>
                </a:solidFill>
                <a:latin typeface="Consolas"/>
              </a:rPr>
              <a:t>, summa):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if</a:t>
            </a:r>
            <a:r>
              <a:rPr sz="1156" b="0">
                <a:solidFill>
                  <a:srgbClr val="E6E6E6"/>
                </a:solidFill>
                <a:latin typeface="Consolas"/>
              </a:rPr>
              <a:t> summa &gt; </a:t>
            </a:r>
            <a:r>
              <a:rPr sz="1156" b="0">
                <a:solidFill>
                  <a:srgbClr val="C678DD"/>
                </a:solidFill>
                <a:latin typeface="Consolas"/>
              </a:rPr>
              <a:t>self</a:t>
            </a:r>
            <a:r>
              <a:rPr sz="1156" b="0">
                <a:solidFill>
                  <a:srgbClr val="E6E6E6"/>
                </a:solidFill>
                <a:latin typeface="Consolas"/>
              </a:rPr>
              <a:t>._balans: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print</a:t>
            </a:r>
            <a:r>
              <a:rPr sz="1156" b="0">
                <a:solidFill>
                  <a:srgbClr val="E6E6E6"/>
                </a:solidFill>
                <a:latin typeface="Consolas"/>
              </a:rPr>
              <a:t>(</a:t>
            </a:r>
            <a:r>
              <a:rPr sz="1156" b="0">
                <a:solidFill>
                  <a:srgbClr val="98C379"/>
                </a:solidFill>
                <a:latin typeface="Consolas"/>
              </a:rPr>
              <a:t>"❌ Mablag' yetarli emas"</a:t>
            </a:r>
            <a:r>
              <a:rPr sz="1156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return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156" b="0">
                <a:solidFill>
                  <a:srgbClr val="C678DD"/>
                </a:solidFill>
                <a:latin typeface="Consolas"/>
              </a:rPr>
              <a:t>self</a:t>
            </a:r>
            <a:r>
              <a:rPr sz="1156" b="0">
                <a:solidFill>
                  <a:srgbClr val="E6E6E6"/>
                </a:solidFill>
                <a:latin typeface="Consolas"/>
              </a:rPr>
              <a:t>._balans -= summa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12890"/>
            <a:ext cx="11091672" cy="768794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212890"/>
            <a:ext cx="82296" cy="76879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304330"/>
            <a:ext cx="10725912" cy="60420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614" b="0">
                <a:solidFill>
                  <a:srgbClr val="1F232B"/>
                </a:solidFill>
                <a:latin typeface="Calibri"/>
              </a:rPr>
              <a:t>💡 </a:t>
            </a:r>
            <a:r>
              <a:rPr sz="1614" b="1">
                <a:solidFill>
                  <a:srgbClr val="1F232B"/>
                </a:solidFill>
                <a:latin typeface="Calibri"/>
              </a:rPr>
              <a:t>Bankomat:</a:t>
            </a:r>
            <a:r>
              <a:rPr sz="1614" b="0">
                <a:solidFill>
                  <a:srgbClr val="1F232B"/>
                </a:solidFill>
                <a:latin typeface="Calibri"/>
              </a:rPr>
              <a:t> pulni qo'lingiz bilan olmaysiz — faqat tugmalar (metodlar) orqali; bankomat qoidalarni tekshiradi.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2. Merosxo'rlik (inheritance)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6674"/>
            <a:ext cx="11091672" cy="408675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153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5858"/>
            <a:ext cx="10725912" cy="373928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class</a:t>
            </a:r>
            <a:r>
              <a:rPr sz="1360" b="0">
                <a:solidFill>
                  <a:srgbClr val="E6E6E6"/>
                </a:solidFill>
                <a:latin typeface="Consolas"/>
              </a:rPr>
              <a:t> Odam: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__init__(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, ism, yosh):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.ism = ism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.yosh = yosh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tanishtir(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 f</a:t>
            </a:r>
            <a:r>
              <a:rPr sz="1360" b="0">
                <a:solidFill>
                  <a:srgbClr val="98C379"/>
                </a:solidFill>
                <a:latin typeface="Consolas"/>
              </a:rPr>
              <a:t>"Men {self.ism}, {self.yosh} yoshdaman"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C678DD"/>
                </a:solidFill>
                <a:latin typeface="Consolas"/>
              </a:rPr>
              <a:t>class</a:t>
            </a:r>
            <a:r>
              <a:rPr sz="1360" b="0">
                <a:solidFill>
                  <a:srgbClr val="E6E6E6"/>
                </a:solidFill>
                <a:latin typeface="Consolas"/>
              </a:rPr>
              <a:t> Oquvchi(Odam):                   # Odam'dan meros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__init__(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, ism, yosh, sinf):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super().__init__(ism, yosh)    # ota konstruktori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.sinf = sinf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def</a:t>
            </a:r>
            <a:r>
              <a:rPr sz="1360" b="0">
                <a:solidFill>
                  <a:srgbClr val="E6E6E6"/>
                </a:solidFill>
                <a:latin typeface="Consolas"/>
              </a:rPr>
              <a:t> dars_qil(</a:t>
            </a:r>
            <a:r>
              <a:rPr sz="1360" b="0">
                <a:solidFill>
                  <a:srgbClr val="C678DD"/>
                </a:solidFill>
                <a:latin typeface="Consolas"/>
              </a:rPr>
              <a:t>self</a:t>
            </a:r>
            <a:r>
              <a:rPr sz="1360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360" b="0">
                <a:solidFill>
                  <a:srgbClr val="C678DD"/>
                </a:solidFill>
                <a:latin typeface="Consolas"/>
              </a:rPr>
              <a:t>return</a:t>
            </a:r>
            <a:r>
              <a:rPr sz="1360" b="0">
                <a:solidFill>
                  <a:srgbClr val="E6E6E6"/>
                </a:solidFill>
                <a:latin typeface="Consolas"/>
              </a:rPr>
              <a:t> f</a:t>
            </a:r>
            <a:r>
              <a:rPr sz="1360" b="0">
                <a:solidFill>
                  <a:srgbClr val="98C379"/>
                </a:solidFill>
                <a:latin typeface="Consolas"/>
              </a:rPr>
              <a:t>"{self.ism} uy vazifasini bajaryapti 📚"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m = Oquvchi(</a:t>
            </a:r>
            <a:r>
              <a:rPr sz="1360" b="0">
                <a:solidFill>
                  <a:srgbClr val="98C379"/>
                </a:solidFill>
                <a:latin typeface="Consolas"/>
              </a:rPr>
              <a:t>"Madina"</a:t>
            </a:r>
            <a:r>
              <a:rPr sz="1360" b="0">
                <a:solidFill>
                  <a:srgbClr val="E6E6E6"/>
                </a:solidFill>
                <a:latin typeface="Consolas"/>
              </a:rPr>
              <a:t>, 14, </a:t>
            </a:r>
            <a:r>
              <a:rPr sz="1360" b="0">
                <a:solidFill>
                  <a:srgbClr val="98C379"/>
                </a:solidFill>
                <a:latin typeface="Consolas"/>
              </a:rPr>
              <a:t>"8-A"</a:t>
            </a:r>
            <a:r>
              <a:rPr sz="1360" b="0">
                <a:solidFill>
                  <a:srgbClr val="E6E6E6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</a:pPr>
            <a:r>
              <a:rPr sz="1360" b="0">
                <a:solidFill>
                  <a:srgbClr val="E6E6E6"/>
                </a:solidFill>
                <a:latin typeface="Consolas"/>
              </a:rPr>
              <a:t>m.tanishtir()    # meros olingan metod!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752889"/>
            <a:ext cx="10680192" cy="372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00" b="0">
                <a:solidFill>
                  <a:srgbClr val="1F232B"/>
                </a:solidFill>
                <a:latin typeface="Calibri"/>
              </a:rPr>
              <a:t>Django'da: </a:t>
            </a:r>
            <a:r>
              <a:rPr sz="1840" b="0">
                <a:solidFill>
                  <a:srgbClr val="B02A4A"/>
                </a:solidFill>
                <a:latin typeface="Consolas"/>
              </a:rPr>
              <a:t>class Kitob(models.Model):</a:t>
            </a:r>
            <a:r>
              <a:rPr sz="2000" b="0">
                <a:solidFill>
                  <a:srgbClr val="1F232B"/>
                </a:solidFill>
                <a:latin typeface="Calibri"/>
              </a:rPr>
              <a:t> — yuzlab imkoniyat "tekinga"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867189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3. Polimorfizm — bir buyruq, turli xatti-harakat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5057"/>
            <a:ext cx="11091672" cy="394996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1992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94241"/>
            <a:ext cx="10725912" cy="360249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class</a:t>
            </a:r>
            <a:r>
              <a:rPr sz="1496" b="0">
                <a:solidFill>
                  <a:srgbClr val="E6E6E6"/>
                </a:solidFill>
                <a:latin typeface="Consolas"/>
              </a:rPr>
              <a:t> Hayvon: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ovoz(</a:t>
            </a:r>
            <a:r>
              <a:rPr sz="1496" b="0">
                <a:solidFill>
                  <a:srgbClr val="C678DD"/>
                </a:solidFill>
                <a:latin typeface="Consolas"/>
              </a:rPr>
              <a:t>self</a:t>
            </a:r>
            <a:r>
              <a:rPr sz="1496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98C379"/>
                </a:solidFill>
                <a:latin typeface="Consolas"/>
              </a:rPr>
              <a:t>"..."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class</a:t>
            </a:r>
            <a:r>
              <a:rPr sz="1496" b="0">
                <a:solidFill>
                  <a:srgbClr val="E6E6E6"/>
                </a:solidFill>
                <a:latin typeface="Consolas"/>
              </a:rPr>
              <a:t> Mushuk(Hayvon):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ovoz(</a:t>
            </a:r>
            <a:r>
              <a:rPr sz="1496" b="0">
                <a:solidFill>
                  <a:srgbClr val="C678DD"/>
                </a:solidFill>
                <a:latin typeface="Consolas"/>
              </a:rPr>
              <a:t>self</a:t>
            </a:r>
            <a:r>
              <a:rPr sz="1496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98C379"/>
                </a:solidFill>
                <a:latin typeface="Consolas"/>
              </a:rPr>
              <a:t>"Miyov 🐱"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class</a:t>
            </a:r>
            <a:r>
              <a:rPr sz="1496" b="0">
                <a:solidFill>
                  <a:srgbClr val="E6E6E6"/>
                </a:solidFill>
                <a:latin typeface="Consolas"/>
              </a:rPr>
              <a:t> It(Hayvon):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ovoz(</a:t>
            </a:r>
            <a:r>
              <a:rPr sz="1496" b="0">
                <a:solidFill>
                  <a:srgbClr val="C678DD"/>
                </a:solidFill>
                <a:latin typeface="Consolas"/>
              </a:rPr>
              <a:t>self</a:t>
            </a:r>
            <a:r>
              <a:rPr sz="1496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  <a:r>
              <a:rPr sz="1496" b="0">
                <a:solidFill>
                  <a:srgbClr val="98C379"/>
                </a:solidFill>
                <a:latin typeface="Consolas"/>
              </a:rPr>
              <a:t>"Vov-vov 🐶"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for</a:t>
            </a:r>
            <a:r>
              <a:rPr sz="1496" b="0">
                <a:solidFill>
                  <a:srgbClr val="E6E6E6"/>
                </a:solidFill>
                <a:latin typeface="Consolas"/>
              </a:rPr>
              <a:t> h </a:t>
            </a:r>
            <a:r>
              <a:rPr sz="1496" b="0">
                <a:solidFill>
                  <a:srgbClr val="C678DD"/>
                </a:solidFill>
                <a:latin typeface="Consolas"/>
              </a:rPr>
              <a:t>in</a:t>
            </a:r>
            <a:r>
              <a:rPr sz="1496" b="0">
                <a:solidFill>
                  <a:srgbClr val="E6E6E6"/>
                </a:solidFill>
                <a:latin typeface="Consolas"/>
              </a:rPr>
              <a:t> [Mushuk(), It()]: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print</a:t>
            </a:r>
            <a:r>
              <a:rPr sz="1496" b="0">
                <a:solidFill>
                  <a:srgbClr val="E6E6E6"/>
                </a:solidFill>
                <a:latin typeface="Consolas"/>
              </a:rPr>
              <a:t>(h.ovoz())       # har biri o'zicha javob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34477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1F232B"/>
                </a:solidFill>
                <a:latin typeface="Calibri"/>
              </a:rPr>
              <a:t>Dastur obyektning </a:t>
            </a:r>
            <a:r>
              <a:rPr sz="2200" b="1">
                <a:solidFill>
                  <a:srgbClr val="1F232B"/>
                </a:solidFill>
                <a:latin typeface="Calibri"/>
              </a:rPr>
              <a:t>aniq turini bilmasa ham</a:t>
            </a:r>
            <a:r>
              <a:rPr sz="2200" b="0">
                <a:solidFill>
                  <a:srgbClr val="1F232B"/>
                </a:solidFill>
                <a:latin typeface="Calibri"/>
              </a:rPr>
              <a:t> ishlay oladi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760207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C0D3E6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Amaliy mashg'ulot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DFE9F2"/>
                </a:solidFill>
                <a:latin typeface="Calibri"/>
              </a:rPr>
              <a:t>17-loyiha: kutubxona boshqaruv tizimi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C0D3E6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Kitob va Azo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51244"/>
            <a:ext cx="11091672" cy="454273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61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0428"/>
            <a:ext cx="10725912" cy="419526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4" b="0">
                <a:solidFill>
                  <a:srgbClr val="E6E6E6"/>
                </a:solidFill>
                <a:latin typeface="Consolas"/>
              </a:rPr>
              <a:t> Kitob: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__init__(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, isbn, nomi, muallif, nusxa=1):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.isbn,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.nomi,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.muallif = isbn, nomi, muallif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.jami =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.mavjud = nusxa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__str__(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return</a:t>
            </a:r>
            <a:r>
              <a:rPr sz="1224" b="0">
                <a:solidFill>
                  <a:srgbClr val="E6E6E6"/>
                </a:solidFill>
                <a:latin typeface="Consolas"/>
              </a:rPr>
              <a:t> f</a:t>
            </a:r>
            <a:r>
              <a:rPr sz="1224" b="0">
                <a:solidFill>
                  <a:srgbClr val="98C379"/>
                </a:solidFill>
                <a:latin typeface="Consolas"/>
              </a:rPr>
              <a:t>"[{self.isbn}] «{self.nomi}» ({self.mavjud}/{self.jami})"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4" b="0">
                <a:solidFill>
                  <a:srgbClr val="E6E6E6"/>
                </a:solidFill>
                <a:latin typeface="Consolas"/>
              </a:rPr>
              <a:t> Azo: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MAKS_KITOB = 3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__init__(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, raqam, ism):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.raqam,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.ism = raqam, ism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.qolida = []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C678DD"/>
                </a:solidFill>
                <a:latin typeface="Consolas"/>
              </a:rPr>
              <a:t>class</a:t>
            </a:r>
            <a:r>
              <a:rPr sz="1224" b="0">
                <a:solidFill>
                  <a:srgbClr val="E6E6E6"/>
                </a:solidFill>
                <a:latin typeface="Consolas"/>
              </a:rPr>
              <a:t> Kutubxona: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__init__(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, nomi):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.nomi = nomi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.kitoblar = {}           # isbn → Kitob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.azolar = {}             # raqam → Azo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ber(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, isbn, raqam): ...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C678DD"/>
                </a:solidFill>
                <a:latin typeface="Consolas"/>
              </a:rPr>
              <a:t>def</a:t>
            </a:r>
            <a:r>
              <a:rPr sz="1224" b="0">
                <a:solidFill>
                  <a:srgbClr val="E6E6E6"/>
                </a:solidFill>
                <a:latin typeface="Consolas"/>
              </a:rPr>
              <a:t> qaytar(</a:t>
            </a:r>
            <a:r>
              <a:rPr sz="1224" b="0">
                <a:solidFill>
                  <a:srgbClr val="C678DD"/>
                </a:solidFill>
                <a:latin typeface="Consolas"/>
              </a:rPr>
              <a:t>self</a:t>
            </a:r>
            <a:r>
              <a:rPr sz="1224" b="0">
                <a:solidFill>
                  <a:srgbClr val="E6E6E6"/>
                </a:solidFill>
                <a:latin typeface="Consolas"/>
              </a:rPr>
              <a:t>, isbn, raqam): ...   # kechiksa — jarima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Amaliyot: topshiriqlar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Kodni qatorma-qator o'qing — har klassning vazifasini o'z so'zlaringiz bilan yozing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25776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5532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Azo</a:t>
            </a:r>
            <a:r>
              <a:rPr sz="2800" b="0">
                <a:solidFill>
                  <a:srgbClr val="1F232B"/>
                </a:solidFill>
                <a:latin typeface="Calibri"/>
              </a:rPr>
              <a:t> dan meros olgan </a:t>
            </a:r>
            <a:r>
              <a:rPr sz="2576" b="0">
                <a:solidFill>
                  <a:srgbClr val="B02A4A"/>
                </a:solidFill>
                <a:latin typeface="Consolas"/>
              </a:rPr>
              <a:t>Oqituvchi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MAKS_KITOB = 10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202432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2298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Menyu:</a:t>
            </a:r>
            <a:r>
              <a:rPr sz="2800" b="0">
                <a:solidFill>
                  <a:srgbClr val="1F232B"/>
                </a:solidFill>
                <a:latin typeface="Calibri"/>
              </a:rPr>
              <a:t> qo'shish, qidirish, berish, qaytarish, hisobot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79088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9065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saqla()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yukla()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JSON fayl bilan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55744"/>
            <a:ext cx="11091672" cy="1396471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1060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Natija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84928"/>
            <a:ext cx="10725912" cy="1048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✅ «Sariq devni minib» Azizga berildi. Qaytarish: 15.09.2026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❌ «Sariq devni minib» hozir mavjud emas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1F232B"/>
                </a:solidFill>
                <a:latin typeface="Consolas"/>
              </a:rPr>
              <a:t>⚠️ 5 kun kechikdi. Jarima: 5,000 so'm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Metodda </a:t>
            </a:r>
            <a:r>
              <a:rPr sz="2576" b="0">
                <a:solidFill>
                  <a:srgbClr val="B02A4A"/>
                </a:solidFill>
                <a:latin typeface="Consolas"/>
              </a:rPr>
              <a:t>self</a:t>
            </a:r>
            <a:r>
              <a:rPr sz="2800" b="0">
                <a:solidFill>
                  <a:srgbClr val="1F232B"/>
                </a:solidFill>
                <a:latin typeface="Calibri"/>
              </a:rPr>
              <a:t> parametri unutilgan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Metod ichida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ism</a:t>
            </a:r>
            <a:r>
              <a:rPr sz="2800" b="0">
                <a:solidFill>
                  <a:srgbClr val="1F232B"/>
                </a:solidFill>
                <a:latin typeface="Calibri"/>
              </a:rPr>
              <a:t> (</a:t>
            </a:r>
            <a:r>
              <a:rPr sz="2576" b="0">
                <a:solidFill>
                  <a:srgbClr val="B02A4A"/>
                </a:solidFill>
                <a:latin typeface="Consolas"/>
              </a:rPr>
              <a:t>self.ism</a:t>
            </a:r>
            <a:r>
              <a:rPr sz="2800" b="0">
                <a:solidFill>
                  <a:srgbClr val="1F232B"/>
                </a:solidFill>
                <a:latin typeface="Calibri"/>
              </a:rPr>
              <a:t> o'rniga)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NameError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_init_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bitta pastki chiziq bilan; to'g'risi </a:t>
            </a:r>
            <a:r>
              <a:rPr sz="2576" b="0">
                <a:solidFill>
                  <a:srgbClr val="B02A4A"/>
                </a:solidFill>
                <a:latin typeface="Consolas"/>
              </a:rPr>
              <a:t>__init__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445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Merosxo'r klassda </a:t>
            </a:r>
            <a:r>
              <a:rPr sz="2576" b="0">
                <a:solidFill>
                  <a:srgbClr val="B02A4A"/>
                </a:solidFill>
                <a:latin typeface="Consolas"/>
              </a:rPr>
              <a:t>super().__init__(...)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4046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36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ali = Oquvchi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qavssiz: bu klassning o'zi, obyekt emas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0137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Klass va obyekt o'rtasidagi munosabat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Obyekt — chizma, klass — mahsulot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Klass — chizma, obyekt — undan yaratilgan nusxa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Ular bir xil narsa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Klass — funksiya, obyekt — o'zgaruvchi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Klass va obyekt o'rtasidagi munosabat qaysi?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Obyekt — chizma, klass — mahsulot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565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565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Klass — chizma, obyekt — undan yaratilgan nusxa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0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40492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709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Ular bir xil narsa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853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9636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85360"/>
            <a:ext cx="10222992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Klass — funksiya, obyekt — o'zgaruvchi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Obyekt yaratilganda avtomatik chaqiriladigan metod?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__str__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__main__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__init__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create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Obyekt yaratilganda avtomatik chaqiriladigan metod?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__str__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__main__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__init__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create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class It(Hayvon):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bu qaysi OOP tamoyili?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Inkapsulyatsiya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Polimorfizm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Abstraksiya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Merosxo'rlik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class It(Hayvon):</a:t>
            </a:r>
            <a:r>
              <a:rPr sz="2400" b="1">
                <a:solidFill>
                  <a:srgbClr val="1F232B"/>
                </a:solidFill>
                <a:latin typeface="Calibri"/>
              </a:rPr>
              <a:t> — bu qaysi OOP tamoyili?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Inkapsulyatsiya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Polimorfizm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Abstraksiya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1">
                <a:solidFill>
                  <a:srgbClr val="1F232B"/>
                </a:solidFill>
                <a:latin typeface="Calibri"/>
              </a:rPr>
              <a:t>Merosxo'rlik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print(obyekt)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matn chiqarishini qaysi metod belgilaydi?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__init__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__str__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__print__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show()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8" b="1">
                <a:solidFill>
                  <a:srgbClr val="B02A4A"/>
                </a:solidFill>
                <a:latin typeface="Consolas"/>
              </a:rPr>
              <a:t>print(obyekt)</a:t>
            </a:r>
            <a:r>
              <a:rPr sz="2400" b="1">
                <a:solidFill>
                  <a:srgbClr val="1F232B"/>
                </a:solidFill>
                <a:latin typeface="Calibri"/>
              </a:rPr>
              <a:t> qanday matn chiqarishini qaysi metod belgilaydi?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__init__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__str__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__print__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show()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24 / 26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02689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730121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Shakllar: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Shakl</a:t>
            </a:r>
            <a:r>
              <a:rPr sz="2800" b="0">
                <a:solidFill>
                  <a:srgbClr val="1F232B"/>
                </a:solidFill>
                <a:latin typeface="Calibri"/>
              </a:rPr>
              <a:t> → </a:t>
            </a:r>
            <a:r>
              <a:rPr sz="2576" b="0">
                <a:solidFill>
                  <a:srgbClr val="B02A4A"/>
                </a:solidFill>
                <a:latin typeface="Consolas"/>
              </a:rPr>
              <a:t>Doira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Tortburchak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Uchburchak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yuza()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perimetr()</a:t>
            </a:r>
            <a:r>
              <a:rPr sz="2800" b="0">
                <a:solidFill>
                  <a:srgbClr val="1F232B"/>
                </a:solidFill>
                <a:latin typeface="Calibri"/>
              </a:rPr>
              <a:t> (polimorfizm)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11144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8385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Savat: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Mahsulot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576" b="0">
                <a:solidFill>
                  <a:srgbClr val="B02A4A"/>
                </a:solidFill>
                <a:latin typeface="Consolas"/>
              </a:rPr>
              <a:t>Savat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qo'shish, o'chirish, jami, chegirma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19601"/>
            <a:ext cx="457200" cy="457200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947033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Sinf jurnali:</a:t>
            </a:r>
            <a:r>
              <a:rPr sz="2800" b="0">
                <a:solidFill>
                  <a:srgbClr val="1F232B"/>
                </a:solidFill>
                <a:latin typeface="Calibri"/>
              </a:rPr>
              <a:t> </a:t>
            </a:r>
            <a:r>
              <a:rPr sz="2576" b="0">
                <a:solidFill>
                  <a:srgbClr val="B02A4A"/>
                </a:solidFill>
                <a:latin typeface="Consolas"/>
              </a:rPr>
              <a:t>Sinf</a:t>
            </a:r>
            <a:r>
              <a:rPr sz="2800" b="0">
                <a:solidFill>
                  <a:srgbClr val="1F232B"/>
                </a:solidFill>
                <a:latin typeface="Calibri"/>
              </a:rPr>
              <a:t> ichida </a:t>
            </a:r>
            <a:r>
              <a:rPr sz="2576" b="0">
                <a:solidFill>
                  <a:srgbClr val="B02A4A"/>
                </a:solidFill>
                <a:latin typeface="Consolas"/>
              </a:rPr>
              <a:t>Oquvchi</a:t>
            </a:r>
            <a:r>
              <a:rPr sz="2800" b="0">
                <a:solidFill>
                  <a:srgbClr val="1F232B"/>
                </a:solidFill>
                <a:latin typeface="Calibri"/>
              </a:rPr>
              <a:t> lar; eng yaxshi o'quvchi, sinf o'rtachasi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25-mavzu · Obyektga yo'naltirilgan dasturlash (OOP)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25 /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class Nom: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chizma; </a:t>
            </a:r>
            <a:r>
              <a:rPr sz="2576" b="0">
                <a:solidFill>
                  <a:srgbClr val="B02A4A"/>
                </a:solidFill>
                <a:latin typeface="Consolas"/>
              </a:rPr>
              <a:t>obj = Nom(...)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obyekt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__init__(self, ...)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konstruktor; </a:t>
            </a:r>
            <a:r>
              <a:rPr sz="2576" b="0">
                <a:solidFill>
                  <a:srgbClr val="B02A4A"/>
                </a:solidFill>
                <a:latin typeface="Consolas"/>
              </a:rPr>
              <a:t>self.atribut</a:t>
            </a:r>
            <a:r>
              <a:rPr sz="2800" b="0">
                <a:solidFill>
                  <a:srgbClr val="1F232B"/>
                </a:solidFill>
                <a:latin typeface="Calibri"/>
              </a:rPr>
              <a:t>; metodlarda birinchi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self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__str__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matn ko'rinishi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Inkapsulyatsiya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metodlar orqali himoya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Merosxo'rlik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class B(A):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super().__init__()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90728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Polimorfizm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bir xil metod, turli xatti-harakat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5067300"/>
            <a:ext cx="118872" cy="118872"/>
          </a:xfrm>
          <a:prstGeom prst="ellipse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6FA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26. Ma'lumotlar bazasiga kirish. Relyatsion ma'lumotlar bazasi tushunchasi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25-mavzu: Obyektga yo'naltirilgan dasturlash (OOP) asoslari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