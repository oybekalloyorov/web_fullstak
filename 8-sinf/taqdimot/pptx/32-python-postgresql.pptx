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psycopg.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D) conn.commit().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A) cur.execute("... WHERE ism = %s", (ism,)).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.env faylida (GitHub'ga yuklanmaydi).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A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5400" b="0">
                <a:solidFill>
                  <a:srgbClr val="1F232B"/>
                </a:solidFill>
                <a:latin typeface="Segoe UI Emoji"/>
              </a:rPr>
              <a:t>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00" b="1">
                <a:solidFill>
                  <a:srgbClr val="1F7A4D"/>
                </a:solidFill>
                <a:latin typeface="Calibri"/>
              </a:rPr>
              <a:t>32-MAVZU  ·  IV BOB. PYTHON, POSTGRESQL VA DJANGO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100584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600" b="1">
                <a:solidFill>
                  <a:srgbClr val="1F232B"/>
                </a:solidFill>
                <a:latin typeface="Calibri"/>
              </a:rPr>
              <a:t>Python dasturlash tilini PostgreSQL ma'lumotlar bazasiga bog'lash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43400"/>
            <a:ext cx="9875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5B6370"/>
                </a:solidFill>
                <a:latin typeface="Calibri"/>
              </a:rPr>
              <a:t>Virtual muhit, psycopg kutubxonasi, ulanish, kursor, SQL so'rovlarni Python'dan bajarish, parametrli so'rovlar va SQL injection xavfi, commit va rollback, maxfiy sozlamalar; Python + PostgreSQL CRUD konsol dasturi.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Bugun nimani o'rganamiz?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32-mavzu · Python dasturlash tilini PostgreSQL ma'lumotlar bazasiga bog'lash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Python dasturi bazaga qanday </a:t>
            </a:r>
            <a:r>
              <a:rPr sz="2800" b="1">
                <a:solidFill>
                  <a:srgbClr val="1F232B"/>
                </a:solidFill>
                <a:latin typeface="Calibri"/>
              </a:rPr>
              <a:t>"gaplashadi"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Virtual muhit</a:t>
            </a:r>
            <a:r>
              <a:rPr sz="2800" b="0">
                <a:solidFill>
                  <a:srgbClr val="1F232B"/>
                </a:solidFill>
                <a:latin typeface="Calibri"/>
              </a:rPr>
              <a:t> va </a:t>
            </a:r>
            <a:r>
              <a:rPr sz="2800" b="1">
                <a:solidFill>
                  <a:srgbClr val="1F232B"/>
                </a:solidFill>
                <a:latin typeface="Calibri"/>
              </a:rPr>
              <a:t>psycopg</a:t>
            </a:r>
            <a:r>
              <a:rPr sz="2800" b="0">
                <a:solidFill>
                  <a:srgbClr val="1F232B"/>
                </a:solidFill>
                <a:latin typeface="Calibri"/>
              </a:rPr>
              <a:t> kutubxonasi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Ulanish, so'rov yuborish, natija olish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Eng xavfli zaiflik — </a:t>
            </a:r>
            <a:r>
              <a:rPr sz="2800" b="1">
                <a:solidFill>
                  <a:srgbClr val="1F232B"/>
                </a:solidFill>
                <a:latin typeface="Calibri"/>
              </a:rPr>
              <a:t>SQL injection</a:t>
            </a:r>
            <a:r>
              <a:rPr sz="2800" b="0">
                <a:solidFill>
                  <a:srgbClr val="1F232B"/>
                </a:solidFill>
                <a:latin typeface="Calibri"/>
              </a:rPr>
              <a:t> va himoya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536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Python + PostgreSQL CRUD konsol dasturi (20-loyiha)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013708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Python va baza qanday bog'lanadi?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32-mavzu · Python dasturlash tilini PostgreSQL ma'lumotlar bazasiga bog'lash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III bobda SQL'ni pgAdmin'da </a:t>
            </a:r>
            <a:r>
              <a:rPr sz="2800" b="1">
                <a:solidFill>
                  <a:srgbClr val="1F232B"/>
                </a:solidFill>
                <a:latin typeface="Calibri"/>
              </a:rPr>
              <a:t>qo'lda</a:t>
            </a:r>
            <a:r>
              <a:rPr sz="2800" b="0">
                <a:solidFill>
                  <a:srgbClr val="1F232B"/>
                </a:solidFill>
                <a:latin typeface="Calibri"/>
              </a:rPr>
              <a:t> yozdik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Haqiqiy ilovada SQL'ni </a:t>
            </a:r>
            <a:r>
              <a:rPr sz="2800" b="1">
                <a:solidFill>
                  <a:srgbClr val="1F232B"/>
                </a:solidFill>
                <a:latin typeface="Calibri"/>
              </a:rPr>
              <a:t>dastur</a:t>
            </a:r>
            <a:r>
              <a:rPr sz="2800" b="0">
                <a:solidFill>
                  <a:srgbClr val="1F232B"/>
                </a:solidFill>
                <a:latin typeface="Calibri"/>
              </a:rPr>
              <a:t> yuboradi: forma → Python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INSERT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080004"/>
            <a:ext cx="11091672" cy="102581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34868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Matn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09187"/>
            <a:ext cx="10725912" cy="6783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750" b="0">
                <a:solidFill>
                  <a:srgbClr val="E6E6E6"/>
                </a:solidFill>
                <a:latin typeface="Consolas"/>
              </a:rPr>
              <a:t>🐍 Python dasturi  ──▶  🔌 psycopg  ── SQL (port 5432) ──▶  🐘 PostgreSQL</a:t>
            </a:r>
          </a:p>
          <a:p>
            <a:pPr>
              <a:lnSpc>
                <a:spcPct val="100000"/>
              </a:lnSpc>
            </a:pPr>
            <a:r>
              <a:rPr sz="1750" b="0">
                <a:solidFill>
                  <a:srgbClr val="E6E6E6"/>
                </a:solidFill>
                <a:latin typeface="Consolas"/>
              </a:rPr>
              <a:t>  (sizning kodingiz)      (</a:t>
            </a:r>
            <a:r>
              <a:rPr sz="1750" b="0">
                <a:solidFill>
                  <a:srgbClr val="98C379"/>
                </a:solidFill>
                <a:latin typeface="Consolas"/>
              </a:rPr>
              <a:t>"tarjimon"</a:t>
            </a:r>
            <a:r>
              <a:rPr sz="1750" b="0">
                <a:solidFill>
                  <a:srgbClr val="E6E6E6"/>
                </a:solidFill>
                <a:latin typeface="Consolas"/>
              </a:rPr>
              <a:t>)                        natija qatorlari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25271"/>
            <a:ext cx="11091672" cy="1522857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325271"/>
            <a:ext cx="82296" cy="1522857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16711"/>
            <a:ext cx="10725912" cy="135826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💡 </a:t>
            </a:r>
            <a:r>
              <a:rPr sz="2660" b="1">
                <a:solidFill>
                  <a:srgbClr val="1F232B"/>
                </a:solidFill>
                <a:latin typeface="Calibri"/>
              </a:rPr>
              <a:t>Telefon qo'ng'irog'i:</a:t>
            </a:r>
            <a:r>
              <a:rPr sz="2660" b="0">
                <a:solidFill>
                  <a:srgbClr val="1F232B"/>
                </a:solidFill>
                <a:latin typeface="Calibri"/>
              </a:rPr>
              <a:t> ulanish — raqam terish; kursor — savol berib javob olish; commit — "kelishdik, yozib qo'ying"; close — go'shakni qo'yish.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Virtual muhit (venv)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32-mavzu · Python dasturlash tilini PostgreSQL ma'lumotlar bazasiga bog'lash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4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91672" cy="251362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10725912" cy="216615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mkdir maktab_app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cd maktab_app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python -m venv venv              # virtual muhit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venv\Scripts\activate            # Windows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source venv/bin/activate         # macOS / Linux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pip install </a:t>
            </a:r>
            <a:r>
              <a:rPr sz="1768" b="0">
                <a:solidFill>
                  <a:srgbClr val="98C379"/>
                </a:solidFill>
                <a:latin typeface="Consolas"/>
              </a:rPr>
              <a:t>"psycopg[binary]"</a:t>
            </a:r>
            <a:r>
              <a:rPr sz="1768" b="0">
                <a:solidFill>
                  <a:srgbClr val="E6E6E6"/>
                </a:solidFill>
                <a:latin typeface="Consolas"/>
              </a:rPr>
              <a:t>    # PostgreSQL kutubxonasi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pip freeze &gt; requirements.txt    # paketlar ro'yxati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50400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Har loyiha o'z paketlarini alohida </a:t>
            </a:r>
            <a:r>
              <a:rPr sz="2600" b="1">
                <a:solidFill>
                  <a:srgbClr val="1F232B"/>
                </a:solidFill>
                <a:latin typeface="Calibri"/>
              </a:rPr>
              <a:t>"quti"</a:t>
            </a:r>
            <a:r>
              <a:rPr sz="2600" b="0">
                <a:solidFill>
                  <a:srgbClr val="1F232B"/>
                </a:solidFill>
                <a:latin typeface="Calibri"/>
              </a:rPr>
              <a:t>da saqlaydi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298990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727742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Boshqa kompyuterda: </a:t>
            </a:r>
            <a:r>
              <a:rPr sz="2392" b="0">
                <a:solidFill>
                  <a:srgbClr val="B02A4A"/>
                </a:solidFill>
                <a:latin typeface="Consolas"/>
              </a:rPr>
              <a:t>pip install -r requirements.txt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876332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5305084"/>
            <a:ext cx="11091672" cy="648144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5305084"/>
            <a:ext cx="82296" cy="6481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396524"/>
            <a:ext cx="10725912" cy="4835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470" b="0">
                <a:solidFill>
                  <a:srgbClr val="1F232B"/>
                </a:solidFill>
                <a:latin typeface="Calibri"/>
              </a:rPr>
              <a:t>⚠️ </a:t>
            </a:r>
            <a:r>
              <a:rPr sz="2272" b="0">
                <a:solidFill>
                  <a:srgbClr val="B02A4A"/>
                </a:solidFill>
                <a:latin typeface="Consolas"/>
              </a:rPr>
              <a:t>venv</a:t>
            </a:r>
            <a:r>
              <a:rPr sz="2470" b="0">
                <a:solidFill>
                  <a:srgbClr val="1F232B"/>
                </a:solidFill>
                <a:latin typeface="Calibri"/>
              </a:rPr>
              <a:t> papkasini GitHub'ga yuklamang (</a:t>
            </a:r>
            <a:r>
              <a:rPr sz="2272" b="0">
                <a:solidFill>
                  <a:srgbClr val="B02A4A"/>
                </a:solidFill>
                <a:latin typeface="Consolas"/>
              </a:rPr>
              <a:t>.gitignore</a:t>
            </a:r>
            <a:r>
              <a:rPr sz="2470" b="0">
                <a:solidFill>
                  <a:srgbClr val="1F232B"/>
                </a:solidFill>
                <a:latin typeface="Calibri"/>
              </a:rP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Birinchi ulanish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32-mavzu · Python dasturlash tilini PostgreSQL ma'lumotlar bazasiga bog'lash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5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30574"/>
            <a:ext cx="11091672" cy="2473498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85438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59758"/>
            <a:ext cx="10725912" cy="212602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517" b="0">
                <a:solidFill>
                  <a:srgbClr val="C678DD"/>
                </a:solidFill>
                <a:latin typeface="Consolas"/>
              </a:rPr>
              <a:t>import</a:t>
            </a:r>
            <a:r>
              <a:rPr sz="1517" b="0">
                <a:solidFill>
                  <a:srgbClr val="E6E6E6"/>
                </a:solidFill>
                <a:latin typeface="Consolas"/>
              </a:rPr>
              <a:t> psycopg</a:t>
            </a:r>
          </a:p>
          <a:p>
            <a:pPr>
              <a:lnSpc>
                <a:spcPct val="100000"/>
              </a:lnSpc>
            </a:pPr>
            <a:r>
              <a:rPr sz="1517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517" b="0">
                <a:solidFill>
                  <a:srgbClr val="C678DD"/>
                </a:solidFill>
                <a:latin typeface="Consolas"/>
              </a:rPr>
              <a:t>with</a:t>
            </a:r>
            <a:r>
              <a:rPr sz="1517" b="0">
                <a:solidFill>
                  <a:srgbClr val="E6E6E6"/>
                </a:solidFill>
                <a:latin typeface="Consolas"/>
              </a:rPr>
              <a:t> psycopg.connect(</a:t>
            </a:r>
            <a:r>
              <a:rPr sz="1517" b="0">
                <a:solidFill>
                  <a:srgbClr val="98C379"/>
                </a:solidFill>
                <a:latin typeface="Consolas"/>
              </a:rPr>
              <a:t>"dbname=maktab user=postgres password=PAROL host=localhost"</a:t>
            </a:r>
            <a:r>
              <a:rPr sz="1517" b="0">
                <a:solidFill>
                  <a:srgbClr val="E6E6E6"/>
                </a:solidFill>
                <a:latin typeface="Consolas"/>
              </a:rPr>
              <a:t>) </a:t>
            </a:r>
            <a:r>
              <a:rPr sz="1517" b="0">
                <a:solidFill>
                  <a:srgbClr val="C678DD"/>
                </a:solidFill>
                <a:latin typeface="Consolas"/>
              </a:rPr>
              <a:t>as</a:t>
            </a:r>
            <a:r>
              <a:rPr sz="1517" b="0">
                <a:solidFill>
                  <a:srgbClr val="E6E6E6"/>
                </a:solidFill>
                <a:latin typeface="Consolas"/>
              </a:rPr>
              <a:t> conn:</a:t>
            </a:r>
          </a:p>
          <a:p>
            <a:pPr>
              <a:lnSpc>
                <a:spcPct val="100000"/>
              </a:lnSpc>
            </a:pPr>
            <a:r>
              <a:rPr sz="1517" b="0">
                <a:solidFill>
                  <a:srgbClr val="E6E6E6"/>
                </a:solidFill>
                <a:latin typeface="Consolas"/>
              </a:rPr>
              <a:t>    </a:t>
            </a:r>
            <a:r>
              <a:rPr sz="1517" b="0">
                <a:solidFill>
                  <a:srgbClr val="C678DD"/>
                </a:solidFill>
                <a:latin typeface="Consolas"/>
              </a:rPr>
              <a:t>with</a:t>
            </a:r>
            <a:r>
              <a:rPr sz="1517" b="0">
                <a:solidFill>
                  <a:srgbClr val="E6E6E6"/>
                </a:solidFill>
                <a:latin typeface="Consolas"/>
              </a:rPr>
              <a:t> conn.cursor() </a:t>
            </a:r>
            <a:r>
              <a:rPr sz="1517" b="0">
                <a:solidFill>
                  <a:srgbClr val="C678DD"/>
                </a:solidFill>
                <a:latin typeface="Consolas"/>
              </a:rPr>
              <a:t>as</a:t>
            </a:r>
            <a:r>
              <a:rPr sz="1517" b="0">
                <a:solidFill>
                  <a:srgbClr val="E6E6E6"/>
                </a:solidFill>
                <a:latin typeface="Consolas"/>
              </a:rPr>
              <a:t> cur:</a:t>
            </a:r>
          </a:p>
          <a:p>
            <a:pPr>
              <a:lnSpc>
                <a:spcPct val="100000"/>
              </a:lnSpc>
            </a:pPr>
            <a:r>
              <a:rPr sz="1517" b="0">
                <a:solidFill>
                  <a:srgbClr val="E6E6E6"/>
                </a:solidFill>
                <a:latin typeface="Consolas"/>
              </a:rPr>
              <a:t>        cur.execute(</a:t>
            </a:r>
            <a:r>
              <a:rPr sz="1517" b="0">
                <a:solidFill>
                  <a:srgbClr val="98C379"/>
                </a:solidFill>
                <a:latin typeface="Consolas"/>
              </a:rPr>
              <a:t>"SELECT id, ism, familiya FROM oquvchilar ORDER BY familiya"</a:t>
            </a:r>
            <a:r>
              <a:rPr sz="1517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517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517" b="0">
                <a:solidFill>
                  <a:srgbClr val="C678DD"/>
                </a:solidFill>
                <a:latin typeface="Consolas"/>
              </a:rPr>
              <a:t>for</a:t>
            </a:r>
            <a:r>
              <a:rPr sz="1517" b="0">
                <a:solidFill>
                  <a:srgbClr val="E6E6E6"/>
                </a:solidFill>
                <a:latin typeface="Consolas"/>
              </a:rPr>
              <a:t> qator </a:t>
            </a:r>
            <a:r>
              <a:rPr sz="1517" b="0">
                <a:solidFill>
                  <a:srgbClr val="C678DD"/>
                </a:solidFill>
                <a:latin typeface="Consolas"/>
              </a:rPr>
              <a:t>in</a:t>
            </a:r>
            <a:r>
              <a:rPr sz="1517" b="0">
                <a:solidFill>
                  <a:srgbClr val="E6E6E6"/>
                </a:solidFill>
                <a:latin typeface="Consolas"/>
              </a:rPr>
              <a:t> cur.fetchall():</a:t>
            </a:r>
          </a:p>
          <a:p>
            <a:pPr>
              <a:lnSpc>
                <a:spcPct val="100000"/>
              </a:lnSpc>
            </a:pPr>
            <a:r>
              <a:rPr sz="1517" b="0">
                <a:solidFill>
                  <a:srgbClr val="E6E6E6"/>
                </a:solidFill>
                <a:latin typeface="Consolas"/>
              </a:rPr>
              <a:t>            </a:t>
            </a:r>
            <a:r>
              <a:rPr sz="1517" b="0">
                <a:solidFill>
                  <a:srgbClr val="C678DD"/>
                </a:solidFill>
                <a:latin typeface="Consolas"/>
              </a:rPr>
              <a:t>print</a:t>
            </a:r>
            <a:r>
              <a:rPr sz="1517" b="0">
                <a:solidFill>
                  <a:srgbClr val="E6E6E6"/>
                </a:solidFill>
                <a:latin typeface="Consolas"/>
              </a:rPr>
              <a:t>(qator)</a:t>
            </a:r>
          </a:p>
          <a:p>
            <a:pPr>
              <a:lnSpc>
                <a:spcPct val="100000"/>
              </a:lnSpc>
            </a:pPr>
            <a:r>
              <a:rPr sz="1517" b="0">
                <a:solidFill>
                  <a:srgbClr val="7F848E"/>
                </a:solidFill>
                <a:latin typeface="Consolas"/>
              </a:rPr>
              <a:t># with tugaganda: xato yo'q — commit, xato — rollback, ulanish yopiladi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23528"/>
            <a:ext cx="11091672" cy="1396471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78392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Natija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52712"/>
            <a:ext cx="10725912" cy="104899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1F232B"/>
                </a:solidFill>
                <a:latin typeface="Consolas"/>
              </a:rPr>
              <a:t>(6, </a:t>
            </a:r>
            <a:r>
              <a:rPr sz="1904" b="0">
                <a:solidFill>
                  <a:srgbClr val="1F232B"/>
                </a:solidFill>
                <a:latin typeface="Consolas"/>
              </a:rPr>
              <a:t>'Dilnoza'</a:t>
            </a:r>
            <a:r>
              <a:rPr sz="1904" b="0">
                <a:solidFill>
                  <a:srgbClr val="1F232B"/>
                </a:solidFill>
                <a:latin typeface="Consolas"/>
              </a:rPr>
              <a:t>, </a:t>
            </a:r>
            <a:r>
              <a:rPr sz="1904" b="0">
                <a:solidFill>
                  <a:srgbClr val="1F232B"/>
                </a:solidFill>
                <a:latin typeface="Consolas"/>
              </a:rPr>
              <a:t>'Aminova'</a:t>
            </a:r>
            <a:r>
              <a:rPr sz="1904" b="0">
                <a:solidFill>
                  <a:srgbClr val="1F232B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1F232B"/>
                </a:solidFill>
                <a:latin typeface="Consolas"/>
              </a:rPr>
              <a:t>(4, </a:t>
            </a:r>
            <a:r>
              <a:rPr sz="1904" b="0">
                <a:solidFill>
                  <a:srgbClr val="1F232B"/>
                </a:solidFill>
                <a:latin typeface="Consolas"/>
              </a:rPr>
              <a:t>'Madina'</a:t>
            </a:r>
            <a:r>
              <a:rPr sz="1904" b="0">
                <a:solidFill>
                  <a:srgbClr val="1F232B"/>
                </a:solidFill>
                <a:latin typeface="Consolas"/>
              </a:rPr>
              <a:t>, </a:t>
            </a:r>
            <a:r>
              <a:rPr sz="1904" b="0">
                <a:solidFill>
                  <a:srgbClr val="1F232B"/>
                </a:solidFill>
                <a:latin typeface="Consolas"/>
              </a:rPr>
              <a:t>'Ergasheva'</a:t>
            </a:r>
            <a:r>
              <a:rPr sz="1904" b="0">
                <a:solidFill>
                  <a:srgbClr val="1F232B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1F232B"/>
                </a:solidFill>
                <a:latin typeface="Consolas"/>
              </a:rPr>
              <a:t>(2, </a:t>
            </a:r>
            <a:r>
              <a:rPr sz="1904" b="0">
                <a:solidFill>
                  <a:srgbClr val="1F232B"/>
                </a:solidFill>
                <a:latin typeface="Consolas"/>
              </a:rPr>
              <a:t>'Zarina'</a:t>
            </a:r>
            <a:r>
              <a:rPr sz="1904" b="0">
                <a:solidFill>
                  <a:srgbClr val="1F232B"/>
                </a:solidFill>
                <a:latin typeface="Consolas"/>
              </a:rPr>
              <a:t>, </a:t>
            </a:r>
            <a:r>
              <a:rPr sz="1904" b="0">
                <a:solidFill>
                  <a:srgbClr val="1F232B"/>
                </a:solidFill>
                <a:latin typeface="Consolas"/>
              </a:rPr>
              <a:t>'Karimova'</a:t>
            </a:r>
            <a:r>
              <a:rPr sz="1904" b="0">
                <a:solidFill>
                  <a:srgbClr val="1F232B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Kursor metodlari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32-mavzu · Python dasturlash tilini PostgreSQL ma'lumotlar bazasiga bog'lash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6 / 24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42056"/>
          <a:ext cx="11091672" cy="33355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476503">
                <a:tc>
                  <a:txBody>
                    <a:bodyPr/>
                    <a:lstStyle/>
                    <a:p>
                      <a:r>
                        <a:rPr sz="2080" b="1">
                          <a:solidFill>
                            <a:srgbClr val="FFFFFF"/>
                          </a:solidFill>
                          <a:latin typeface="Calibri"/>
                        </a:rPr>
                        <a:t>Metod</a:t>
                      </a:r>
                    </a:p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1">
                          <a:solidFill>
                            <a:srgbClr val="FFFFFF"/>
                          </a:solidFill>
                          <a:latin typeface="Calibri"/>
                        </a:rPr>
                        <a:t>Vazifasi</a:t>
                      </a:r>
                    </a:p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</a:tr>
              <a:tr h="476503">
                <a:tc>
                  <a:txBody>
                    <a:bodyPr/>
                    <a:lstStyle/>
                    <a:p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cur.execute(sql, params)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So'rovni bajarish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  <a:tr h="476503">
                <a:tc>
                  <a:txBody>
                    <a:bodyPr/>
                    <a:lstStyle/>
                    <a:p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cur.fetchone()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Keyingi bitta qator (yoki </a:t>
                      </a:r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None</a:t>
                      </a:r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6503">
                <a:tc>
                  <a:txBody>
                    <a:bodyPr/>
                    <a:lstStyle/>
                    <a:p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cur.fetchall()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Barcha qatorlar ro'yxati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  <a:tr h="476503">
                <a:tc>
                  <a:txBody>
                    <a:bodyPr/>
                    <a:lstStyle/>
                    <a:p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cur.fetchmany(5)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Keyingi 5 ta qator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6503">
                <a:tc>
                  <a:txBody>
                    <a:bodyPr/>
                    <a:lstStyle/>
                    <a:p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cur.rowcount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O'zgargan qatorlar soni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  <a:tr h="476509">
                <a:tc>
                  <a:txBody>
                    <a:bodyPr/>
                    <a:lstStyle/>
                    <a:p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conn.commit()</a:t>
                      </a:r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 / </a:t>
                      </a:r>
                      <a:r>
                        <a:rPr sz="1913" b="0">
                          <a:solidFill>
                            <a:srgbClr val="B02A4A"/>
                          </a:solidFill>
                          <a:latin typeface="Consolas"/>
                        </a:rPr>
                        <a:t>conn.rollback()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Saqlash / bekor qilish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997040"/>
            <a:ext cx="11091672" cy="1040256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997040"/>
            <a:ext cx="82296" cy="104025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088480"/>
            <a:ext cx="10725912" cy="87566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470" b="0">
                <a:solidFill>
                  <a:srgbClr val="1F232B"/>
                </a:solidFill>
                <a:latin typeface="Calibri"/>
              </a:rPr>
              <a:t>⚠️ </a:t>
            </a:r>
            <a:r>
              <a:rPr sz="2272" b="0">
                <a:solidFill>
                  <a:srgbClr val="B02A4A"/>
                </a:solidFill>
                <a:latin typeface="Consolas"/>
              </a:rPr>
              <a:t>INSERT/UPDATE/DELETE</a:t>
            </a:r>
            <a:r>
              <a:rPr sz="2470" b="0">
                <a:solidFill>
                  <a:srgbClr val="1F232B"/>
                </a:solidFill>
                <a:latin typeface="Calibri"/>
              </a:rPr>
              <a:t> dan keyin commit bo'lmasa — o'zgarish </a:t>
            </a:r>
            <a:r>
              <a:rPr sz="2470" b="1">
                <a:solidFill>
                  <a:srgbClr val="1F232B"/>
                </a:solidFill>
                <a:latin typeface="Calibri"/>
              </a:rPr>
              <a:t>saqlanmaydi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⚠️ SQL injection — eng xavfli xato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32-mavzu · Python dasturlash tilini PostgreSQL ma'lumotlar bazasiga bog'lash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7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91672" cy="1191280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10725912" cy="843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96" b="0">
                <a:solidFill>
                  <a:srgbClr val="7F848E"/>
                </a:solidFill>
                <a:latin typeface="Consolas"/>
              </a:rPr>
              <a:t># ❌ HECH QACHON BUNDAY QILMANG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ism = input(</a:t>
            </a:r>
            <a:r>
              <a:rPr sz="1496" b="0">
                <a:solidFill>
                  <a:srgbClr val="98C379"/>
                </a:solidFill>
                <a:latin typeface="Consolas"/>
              </a:rPr>
              <a:t>"Ism: "</a:t>
            </a:r>
            <a:r>
              <a:rPr sz="1496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cur.execute(f</a:t>
            </a:r>
            <a:r>
              <a:rPr sz="1496" b="0">
                <a:solidFill>
                  <a:srgbClr val="98C379"/>
                </a:solidFill>
                <a:latin typeface="Consolas"/>
              </a:rPr>
              <a:t>"SELECT * FROM oquvchilar WHERE ism = '{ism}'"</a:t>
            </a:r>
            <a:r>
              <a:rPr sz="1496" b="0">
                <a:solidFill>
                  <a:srgbClr val="E6E6E6"/>
                </a:solidFill>
                <a:latin typeface="Consolas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28056"/>
            <a:ext cx="10680192" cy="4041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1F232B"/>
                </a:solidFill>
                <a:latin typeface="Calibri"/>
              </a:rPr>
              <a:t>Buzg'unchi yozadi: </a:t>
            </a:r>
            <a:r>
              <a:rPr sz="2024" b="0">
                <a:solidFill>
                  <a:srgbClr val="B02A4A"/>
                </a:solidFill>
                <a:latin typeface="Consolas"/>
              </a:rPr>
              <a:t>' OR '1'='1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953786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3341898"/>
            <a:ext cx="11091672" cy="68970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396762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71082"/>
            <a:ext cx="10725912" cy="34222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SELECT</a:t>
            </a:r>
            <a:r>
              <a:rPr sz="1496" b="0">
                <a:solidFill>
                  <a:srgbClr val="E6E6E6"/>
                </a:solidFill>
                <a:latin typeface="Consolas"/>
              </a:rPr>
              <a:t> * </a:t>
            </a:r>
            <a:r>
              <a:rPr sz="1496" b="0">
                <a:solidFill>
                  <a:srgbClr val="C678DD"/>
                </a:solidFill>
                <a:latin typeface="Consolas"/>
              </a:rPr>
              <a:t>FROM</a:t>
            </a:r>
            <a:r>
              <a:rPr sz="1496" b="0">
                <a:solidFill>
                  <a:srgbClr val="E6E6E6"/>
                </a:solidFill>
                <a:latin typeface="Consolas"/>
              </a:rPr>
              <a:t> oquvchilar </a:t>
            </a:r>
            <a:r>
              <a:rPr sz="1496" b="0">
                <a:solidFill>
                  <a:srgbClr val="C678DD"/>
                </a:solidFill>
                <a:latin typeface="Consolas"/>
              </a:rPr>
              <a:t>WHERE</a:t>
            </a:r>
            <a:r>
              <a:rPr sz="1496" b="0">
                <a:solidFill>
                  <a:srgbClr val="E6E6E6"/>
                </a:solidFill>
                <a:latin typeface="Consolas"/>
              </a:rPr>
              <a:t> ism = </a:t>
            </a:r>
            <a:r>
              <a:rPr sz="1496" b="0">
                <a:solidFill>
                  <a:srgbClr val="98C379"/>
                </a:solidFill>
                <a:latin typeface="Consolas"/>
              </a:rPr>
              <a:t>''</a:t>
            </a: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  <a:r>
              <a:rPr sz="1496" b="0">
                <a:solidFill>
                  <a:srgbClr val="C678DD"/>
                </a:solidFill>
                <a:latin typeface="Consolas"/>
              </a:rPr>
              <a:t>OR</a:t>
            </a: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  <a:r>
              <a:rPr sz="1496" b="0">
                <a:solidFill>
                  <a:srgbClr val="98C379"/>
                </a:solidFill>
                <a:latin typeface="Consolas"/>
              </a:rPr>
              <a:t>'1'</a:t>
            </a:r>
            <a:r>
              <a:rPr sz="1496" b="0">
                <a:solidFill>
                  <a:srgbClr val="E6E6E6"/>
                </a:solidFill>
                <a:latin typeface="Consolas"/>
              </a:rPr>
              <a:t>=</a:t>
            </a:r>
            <a:r>
              <a:rPr sz="1496" b="0">
                <a:solidFill>
                  <a:srgbClr val="98C379"/>
                </a:solidFill>
                <a:latin typeface="Consolas"/>
              </a:rPr>
              <a:t>'1'</a:t>
            </a:r>
            <a:r>
              <a:rPr sz="1496" b="0">
                <a:solidFill>
                  <a:srgbClr val="E6E6E6"/>
                </a:solidFill>
                <a:latin typeface="Consolas"/>
              </a:rPr>
              <a:t>   -- doim rost → HAMMA ma'lumot!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251055"/>
            <a:ext cx="10680192" cy="4041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1F232B"/>
                </a:solidFill>
                <a:latin typeface="Calibri"/>
              </a:rPr>
              <a:t>Yoki: </a:t>
            </a:r>
            <a:r>
              <a:rPr sz="2024" b="0">
                <a:solidFill>
                  <a:srgbClr val="B02A4A"/>
                </a:solidFill>
                <a:latin typeface="Consolas"/>
              </a:rPr>
              <a:t>'; DROP TABLE oquvchilar; --</a:t>
            </a:r>
            <a:r>
              <a:rPr sz="2200" b="0">
                <a:solidFill>
                  <a:srgbClr val="1F232B"/>
                </a:solidFill>
                <a:latin typeface="Calibri"/>
              </a:rPr>
              <a:t> → jadval o'chadi!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376785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4764897"/>
            <a:ext cx="11091672" cy="1251394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764897"/>
            <a:ext cx="82296" cy="125139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856337"/>
            <a:ext cx="10725912" cy="108680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090" b="0">
                <a:solidFill>
                  <a:srgbClr val="1F232B"/>
                </a:solidFill>
                <a:latin typeface="Calibri"/>
              </a:rPr>
              <a:t>💡 </a:t>
            </a:r>
            <a:r>
              <a:rPr sz="2090" b="1">
                <a:solidFill>
                  <a:srgbClr val="1F232B"/>
                </a:solidFill>
                <a:latin typeface="Calibri"/>
              </a:rPr>
              <a:t>Buyruq qog'ozi:</a:t>
            </a:r>
            <a:r>
              <a:rPr sz="2090" b="0">
                <a:solidFill>
                  <a:srgbClr val="1F232B"/>
                </a:solidFill>
                <a:latin typeface="Calibri"/>
              </a:rPr>
              <a:t> "Ombordan ____ ni olib kel". Ayyor mijoz yozadi: "olma. Keyin seyfdagi pullarni ham". Parametrli so'rov bo'sh joyni faqat </a:t>
            </a:r>
            <a:r>
              <a:rPr sz="2090" b="1">
                <a:solidFill>
                  <a:srgbClr val="1F232B"/>
                </a:solidFill>
                <a:latin typeface="Calibri"/>
              </a:rPr>
              <a:t>mahsulot nomi</a:t>
            </a:r>
            <a:r>
              <a:rPr sz="2090" b="0">
                <a:solidFill>
                  <a:srgbClr val="1F232B"/>
                </a:solidFill>
                <a:latin typeface="Calibri"/>
              </a:rPr>
              <a:t> deb tushunadi.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✅ Parametrli so'rov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32-mavzu · Python dasturlash tilini PostgreSQL ma'lumotlar bazasiga bog'lash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8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91672" cy="235403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10725912" cy="20065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ism = input(</a:t>
            </a:r>
            <a:r>
              <a:rPr sz="1632" b="0">
                <a:solidFill>
                  <a:srgbClr val="98C379"/>
                </a:solidFill>
                <a:latin typeface="Consolas"/>
              </a:rPr>
              <a:t>"Ism: "</a:t>
            </a:r>
            <a:r>
              <a:rPr sz="1632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cur.execute(</a:t>
            </a:r>
            <a:r>
              <a:rPr sz="1632" b="0">
                <a:solidFill>
                  <a:srgbClr val="98C379"/>
                </a:solidFill>
                <a:latin typeface="Consolas"/>
              </a:rPr>
              <a:t>"SELECT * FROM oquvchilar WHERE ism = %s"</a:t>
            </a:r>
            <a:r>
              <a:rPr sz="1632" b="0">
                <a:solidFill>
                  <a:srgbClr val="E6E6E6"/>
                </a:solidFill>
                <a:latin typeface="Consolas"/>
              </a:rPr>
              <a:t>, (ism,))   # (ism,) — tuple!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cur.execute(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  </a:t>
            </a:r>
            <a:r>
              <a:rPr sz="1632" b="0">
                <a:solidFill>
                  <a:srgbClr val="98C379"/>
                </a:solidFill>
                <a:latin typeface="Consolas"/>
              </a:rPr>
              <a:t>"INSERT INTO oquvchilar (ism, familiya, sinf_id) VALUES (%s, %s, %s)"</a:t>
            </a:r>
            <a:r>
              <a:rPr sz="1632" b="0">
                <a:solidFill>
                  <a:srgbClr val="E6E6E6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  (</a:t>
            </a:r>
            <a:r>
              <a:rPr sz="1632" b="0">
                <a:solidFill>
                  <a:srgbClr val="98C379"/>
                </a:solidFill>
                <a:latin typeface="Consolas"/>
              </a:rPr>
              <a:t>"Jasur"</a:t>
            </a:r>
            <a:r>
              <a:rPr sz="1632" b="0">
                <a:solidFill>
                  <a:srgbClr val="E6E6E6"/>
                </a:solidFill>
                <a:latin typeface="Consolas"/>
              </a:rPr>
              <a:t>, </a:t>
            </a:r>
            <a:r>
              <a:rPr sz="1632" b="0">
                <a:solidFill>
                  <a:srgbClr val="98C379"/>
                </a:solidFill>
                <a:latin typeface="Consolas"/>
              </a:rPr>
              <a:t>"Rahimov"</a:t>
            </a:r>
            <a:r>
              <a:rPr sz="1632" b="0">
                <a:solidFill>
                  <a:srgbClr val="E6E6E6"/>
                </a:solidFill>
                <a:latin typeface="Consolas"/>
              </a:rPr>
              <a:t>, 2),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90807"/>
            <a:ext cx="11091672" cy="82676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479" b="1">
                <a:solidFill>
                  <a:srgbClr val="1F7A4D"/>
                </a:solidFill>
                <a:latin typeface="Calibri"/>
              </a:rPr>
              <a:t>SQL'ga kiradigan har qanday qiymat — faqat %s orqali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927305"/>
            <a:ext cx="10680192" cy="435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0">
                <a:solidFill>
                  <a:srgbClr val="B02A4A"/>
                </a:solidFill>
                <a:latin typeface="Consolas"/>
              </a:rPr>
              <a:t>%s</a:t>
            </a:r>
            <a:r>
              <a:rPr sz="2400" b="0">
                <a:solidFill>
                  <a:srgbClr val="1F232B"/>
                </a:solidFill>
                <a:latin typeface="Calibri"/>
              </a:rPr>
              <a:t> — barcha turlar uchun (son uchun ham), </a:t>
            </a:r>
            <a:r>
              <a:rPr sz="2400" b="1">
                <a:solidFill>
                  <a:srgbClr val="1F232B"/>
                </a:solidFill>
                <a:latin typeface="Calibri"/>
              </a:rPr>
              <a:t>qo'shtirnoqsiz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5064465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472897"/>
            <a:ext cx="10680192" cy="435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0">
                <a:solidFill>
                  <a:srgbClr val="1F232B"/>
                </a:solidFill>
                <a:latin typeface="Calibri"/>
              </a:rPr>
              <a:t>f-string, </a:t>
            </a:r>
            <a:r>
              <a:rPr sz="2208" b="0">
                <a:solidFill>
                  <a:srgbClr val="B02A4A"/>
                </a:solidFill>
                <a:latin typeface="Consolas"/>
              </a:rPr>
              <a:t>+</a:t>
            </a:r>
            <a:r>
              <a:rPr sz="2400" b="0">
                <a:solidFill>
                  <a:srgbClr val="1F232B"/>
                </a:solidFill>
                <a:latin typeface="Calibri"/>
              </a:rPr>
              <a:t>, </a:t>
            </a:r>
            <a:r>
              <a:rPr sz="2208" b="0">
                <a:solidFill>
                  <a:srgbClr val="B02A4A"/>
                </a:solidFill>
                <a:latin typeface="Consolas"/>
              </a:rPr>
              <a:t>.format()</a:t>
            </a:r>
            <a:r>
              <a:rPr sz="2400" b="0">
                <a:solidFill>
                  <a:srgbClr val="1F232B"/>
                </a:solidFill>
                <a:latin typeface="Calibri"/>
              </a:rPr>
              <a:t> bilan SQL </a:t>
            </a:r>
            <a:r>
              <a:rPr sz="2400" b="1">
                <a:solidFill>
                  <a:srgbClr val="1F232B"/>
                </a:solidFill>
                <a:latin typeface="Calibri"/>
              </a:rPr>
              <a:t>yasamang</a:t>
            </a:r>
            <a:r>
              <a:rPr sz="2400" b="0">
                <a:solidFill>
                  <a:srgbClr val="1F232B"/>
                </a:solidFill>
                <a:latin typeface="Calibri"/>
              </a:rPr>
              <a:t>!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5610057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CRUD'ni Python'dan bajarish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32-mavzu · Python dasturlash tilini PostgreSQL ma'lumotlar bazasiga bog'lash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9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79116"/>
            <a:ext cx="11091672" cy="381204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33980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08300"/>
            <a:ext cx="10725912" cy="346456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37" b="0">
                <a:solidFill>
                  <a:srgbClr val="C678DD"/>
                </a:solidFill>
                <a:latin typeface="Consolas"/>
              </a:rPr>
              <a:t>with</a:t>
            </a:r>
            <a:r>
              <a:rPr sz="1437" b="0">
                <a:solidFill>
                  <a:srgbClr val="E6E6E6"/>
                </a:solidFill>
                <a:latin typeface="Consolas"/>
              </a:rPr>
              <a:t> psycopg.connect(DSN) </a:t>
            </a:r>
            <a:r>
              <a:rPr sz="1437" b="0">
                <a:solidFill>
                  <a:srgbClr val="C678DD"/>
                </a:solidFill>
                <a:latin typeface="Consolas"/>
              </a:rPr>
              <a:t>as</a:t>
            </a:r>
            <a:r>
              <a:rPr sz="1437" b="0">
                <a:solidFill>
                  <a:srgbClr val="E6E6E6"/>
                </a:solidFill>
                <a:latin typeface="Consolas"/>
              </a:rPr>
              <a:t> conn:</a:t>
            </a:r>
          </a:p>
          <a:p>
            <a:pPr>
              <a:lnSpc>
                <a:spcPct val="100000"/>
              </a:lnSpc>
            </a:pPr>
            <a:r>
              <a:rPr sz="1437" b="0">
                <a:solidFill>
                  <a:srgbClr val="E6E6E6"/>
                </a:solidFill>
                <a:latin typeface="Consolas"/>
              </a:rPr>
              <a:t>    </a:t>
            </a:r>
            <a:r>
              <a:rPr sz="1437" b="0">
                <a:solidFill>
                  <a:srgbClr val="C678DD"/>
                </a:solidFill>
                <a:latin typeface="Consolas"/>
              </a:rPr>
              <a:t>with</a:t>
            </a:r>
            <a:r>
              <a:rPr sz="1437" b="0">
                <a:solidFill>
                  <a:srgbClr val="E6E6E6"/>
                </a:solidFill>
                <a:latin typeface="Consolas"/>
              </a:rPr>
              <a:t> conn.cursor() </a:t>
            </a:r>
            <a:r>
              <a:rPr sz="1437" b="0">
                <a:solidFill>
                  <a:srgbClr val="C678DD"/>
                </a:solidFill>
                <a:latin typeface="Consolas"/>
              </a:rPr>
              <a:t>as</a:t>
            </a:r>
            <a:r>
              <a:rPr sz="1437" b="0">
                <a:solidFill>
                  <a:srgbClr val="E6E6E6"/>
                </a:solidFill>
                <a:latin typeface="Consolas"/>
              </a:rPr>
              <a:t> cur:</a:t>
            </a:r>
          </a:p>
          <a:p>
            <a:pPr>
              <a:lnSpc>
                <a:spcPct val="100000"/>
              </a:lnSpc>
            </a:pPr>
            <a:r>
              <a:rPr sz="1437" b="0">
                <a:solidFill>
                  <a:srgbClr val="E6E6E6"/>
                </a:solidFill>
                <a:latin typeface="Consolas"/>
              </a:rPr>
              <a:t>        cur.execute(</a:t>
            </a:r>
          </a:p>
          <a:p>
            <a:pPr>
              <a:lnSpc>
                <a:spcPct val="100000"/>
              </a:lnSpc>
            </a:pPr>
            <a:r>
              <a:rPr sz="1437" b="0">
                <a:solidFill>
                  <a:srgbClr val="E6E6E6"/>
                </a:solidFill>
                <a:latin typeface="Consolas"/>
              </a:rPr>
              <a:t>            </a:t>
            </a:r>
            <a:r>
              <a:rPr sz="1437" b="0">
                <a:solidFill>
                  <a:srgbClr val="98C379"/>
                </a:solidFill>
                <a:latin typeface="Consolas"/>
              </a:rPr>
              <a:t>"INSERT INTO oquvchilar (ism, familiya, sinf_id) VALUES (%s, %s, %s) RETURNING id"</a:t>
            </a:r>
            <a:r>
              <a:rPr sz="1437" b="0">
                <a:solidFill>
                  <a:srgbClr val="E6E6E6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437" b="0">
                <a:solidFill>
                  <a:srgbClr val="E6E6E6"/>
                </a:solidFill>
                <a:latin typeface="Consolas"/>
              </a:rPr>
              <a:t>            (</a:t>
            </a:r>
            <a:r>
              <a:rPr sz="1437" b="0">
                <a:solidFill>
                  <a:srgbClr val="98C379"/>
                </a:solidFill>
                <a:latin typeface="Consolas"/>
              </a:rPr>
              <a:t>"Laylo"</a:t>
            </a:r>
            <a:r>
              <a:rPr sz="1437" b="0">
                <a:solidFill>
                  <a:srgbClr val="E6E6E6"/>
                </a:solidFill>
                <a:latin typeface="Consolas"/>
              </a:rPr>
              <a:t>, </a:t>
            </a:r>
            <a:r>
              <a:rPr sz="1437" b="0">
                <a:solidFill>
                  <a:srgbClr val="98C379"/>
                </a:solidFill>
                <a:latin typeface="Consolas"/>
              </a:rPr>
              <a:t>"Usmonova"</a:t>
            </a:r>
            <a:r>
              <a:rPr sz="1437" b="0">
                <a:solidFill>
                  <a:srgbClr val="E6E6E6"/>
                </a:solidFill>
                <a:latin typeface="Consolas"/>
              </a:rPr>
              <a:t>, 1))</a:t>
            </a:r>
          </a:p>
          <a:p>
            <a:pPr>
              <a:lnSpc>
                <a:spcPct val="100000"/>
              </a:lnSpc>
            </a:pPr>
            <a:r>
              <a:rPr sz="1437" b="0">
                <a:solidFill>
                  <a:srgbClr val="E6E6E6"/>
                </a:solidFill>
                <a:latin typeface="Consolas"/>
              </a:rPr>
              <a:t>        yangi_id = cur.fetchone()[0]                                # CREATE</a:t>
            </a:r>
          </a:p>
          <a:p>
            <a:pPr>
              <a:lnSpc>
                <a:spcPct val="100000"/>
              </a:lnSpc>
            </a:pPr>
            <a:r>
              <a:rPr sz="1437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37" b="0">
                <a:solidFill>
                  <a:srgbClr val="E6E6E6"/>
                </a:solidFill>
                <a:latin typeface="Consolas"/>
              </a:rPr>
              <a:t>        cur.execute(</a:t>
            </a:r>
            <a:r>
              <a:rPr sz="1437" b="0">
                <a:solidFill>
                  <a:srgbClr val="98C379"/>
                </a:solidFill>
                <a:latin typeface="Consolas"/>
              </a:rPr>
              <a:t>"SELECT ism, familiya FROM oquvchilar WHERE id = %s"</a:t>
            </a:r>
            <a:r>
              <a:rPr sz="1437" b="0">
                <a:solidFill>
                  <a:srgbClr val="E6E6E6"/>
                </a:solidFill>
                <a:latin typeface="Consolas"/>
              </a:rPr>
              <a:t>, (yangi_id,))</a:t>
            </a:r>
          </a:p>
          <a:p>
            <a:pPr>
              <a:lnSpc>
                <a:spcPct val="100000"/>
              </a:lnSpc>
            </a:pPr>
            <a:r>
              <a:rPr sz="1437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437" b="0">
                <a:solidFill>
                  <a:srgbClr val="C678DD"/>
                </a:solidFill>
                <a:latin typeface="Consolas"/>
              </a:rPr>
              <a:t>print</a:t>
            </a:r>
            <a:r>
              <a:rPr sz="1437" b="0">
                <a:solidFill>
                  <a:srgbClr val="E6E6E6"/>
                </a:solidFill>
                <a:latin typeface="Consolas"/>
              </a:rPr>
              <a:t>(cur.fetchone())                                       # READ</a:t>
            </a:r>
          </a:p>
          <a:p>
            <a:pPr>
              <a:lnSpc>
                <a:spcPct val="100000"/>
              </a:lnSpc>
            </a:pPr>
            <a:r>
              <a:rPr sz="1437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37" b="0">
                <a:solidFill>
                  <a:srgbClr val="E6E6E6"/>
                </a:solidFill>
                <a:latin typeface="Consolas"/>
              </a:rPr>
              <a:t>        cur.execute(</a:t>
            </a:r>
            <a:r>
              <a:rPr sz="1437" b="0">
                <a:solidFill>
                  <a:srgbClr val="98C379"/>
                </a:solidFill>
                <a:latin typeface="Consolas"/>
              </a:rPr>
              <a:t>"UPDATE oquvchilar SET sinf_id = %s WHERE id = %s"</a:t>
            </a:r>
            <a:r>
              <a:rPr sz="1437" b="0">
                <a:solidFill>
                  <a:srgbClr val="E6E6E6"/>
                </a:solidFill>
                <a:latin typeface="Consolas"/>
              </a:rPr>
              <a:t>, (2, yangi_id))</a:t>
            </a:r>
          </a:p>
          <a:p>
            <a:pPr>
              <a:lnSpc>
                <a:spcPct val="100000"/>
              </a:lnSpc>
            </a:pPr>
            <a:r>
              <a:rPr sz="1437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437" b="0">
                <a:solidFill>
                  <a:srgbClr val="C678DD"/>
                </a:solidFill>
                <a:latin typeface="Consolas"/>
              </a:rPr>
              <a:t>print</a:t>
            </a:r>
            <a:r>
              <a:rPr sz="1437" b="0">
                <a:solidFill>
                  <a:srgbClr val="E6E6E6"/>
                </a:solidFill>
                <a:latin typeface="Consolas"/>
              </a:rPr>
              <a:t>(</a:t>
            </a:r>
            <a:r>
              <a:rPr sz="1437" b="0">
                <a:solidFill>
                  <a:srgbClr val="98C379"/>
                </a:solidFill>
                <a:latin typeface="Consolas"/>
              </a:rPr>
              <a:t>"O'zgardi:"</a:t>
            </a:r>
            <a:r>
              <a:rPr sz="1437" b="0">
                <a:solidFill>
                  <a:srgbClr val="E6E6E6"/>
                </a:solidFill>
                <a:latin typeface="Consolas"/>
              </a:rPr>
              <a:t>, cur.rowcount)                            # UPDATE</a:t>
            </a:r>
          </a:p>
          <a:p>
            <a:pPr>
              <a:lnSpc>
                <a:spcPct val="100000"/>
              </a:lnSpc>
            </a:pPr>
            <a:r>
              <a:rPr sz="1437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37" b="0">
                <a:solidFill>
                  <a:srgbClr val="E6E6E6"/>
                </a:solidFill>
                <a:latin typeface="Consolas"/>
              </a:rPr>
              <a:t>        cur.execute(</a:t>
            </a:r>
            <a:r>
              <a:rPr sz="1437" b="0">
                <a:solidFill>
                  <a:srgbClr val="98C379"/>
                </a:solidFill>
                <a:latin typeface="Consolas"/>
              </a:rPr>
              <a:t>"DELETE FROM oquvchilar WHERE id = %s"</a:t>
            </a:r>
            <a:r>
              <a:rPr sz="1437" b="0">
                <a:solidFill>
                  <a:srgbClr val="E6E6E6"/>
                </a:solidFill>
                <a:latin typeface="Consolas"/>
              </a:rPr>
              <a:t>, (yangi_id,))   # DELETE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Natija dict ko'rinishida va .env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32-mavzu · Python dasturlash tilini PostgreSQL ma'lumotlar bazasiga bog'lash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10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62956" cy="1847088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4997196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4997196" cy="14996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C678DD"/>
                </a:solidFill>
                <a:latin typeface="Consolas"/>
              </a:rPr>
              <a:t>from</a:t>
            </a:r>
            <a:r>
              <a:rPr sz="1200" b="0">
                <a:solidFill>
                  <a:srgbClr val="E6E6E6"/>
                </a:solidFill>
                <a:latin typeface="Consolas"/>
              </a:rPr>
              <a:t> psycopg.rows </a:t>
            </a:r>
            <a:r>
              <a:rPr sz="1200" b="0">
                <a:solidFill>
                  <a:srgbClr val="C678DD"/>
                </a:solidFill>
                <a:latin typeface="Consolas"/>
              </a:rPr>
              <a:t>import</a:t>
            </a:r>
            <a:r>
              <a:rPr sz="1200" b="0">
                <a:solidFill>
                  <a:srgbClr val="E6E6E6"/>
                </a:solidFill>
                <a:latin typeface="Consolas"/>
              </a:rPr>
              <a:t> dict_row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C678DD"/>
                </a:solidFill>
                <a:latin typeface="Consolas"/>
              </a:rPr>
              <a:t>with</a:t>
            </a:r>
            <a:r>
              <a:rPr sz="1200" b="0">
                <a:solidFill>
                  <a:srgbClr val="E6E6E6"/>
                </a:solidFill>
                <a:latin typeface="Consolas"/>
              </a:rPr>
              <a:t> psycopg.connect(DSN, row_factory=dict_row) </a:t>
            </a:r>
            <a:r>
              <a:rPr sz="1200" b="0">
                <a:solidFill>
                  <a:srgbClr val="C678DD"/>
                </a:solidFill>
                <a:latin typeface="Consolas"/>
              </a:rPr>
              <a:t>as</a:t>
            </a:r>
            <a:r>
              <a:rPr sz="1200" b="0">
                <a:solidFill>
                  <a:srgbClr val="E6E6E6"/>
                </a:solidFill>
                <a:latin typeface="Consolas"/>
              </a:rPr>
              <a:t> conn: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    </a:t>
            </a:r>
            <a:r>
              <a:rPr sz="1200" b="0">
                <a:solidFill>
                  <a:srgbClr val="C678DD"/>
                </a:solidFill>
                <a:latin typeface="Consolas"/>
              </a:rPr>
              <a:t>for</a:t>
            </a:r>
            <a:r>
              <a:rPr sz="1200" b="0">
                <a:solidFill>
                  <a:srgbClr val="E6E6E6"/>
                </a:solidFill>
                <a:latin typeface="Consolas"/>
              </a:rPr>
              <a:t> r </a:t>
            </a:r>
            <a:r>
              <a:rPr sz="1200" b="0">
                <a:solidFill>
                  <a:srgbClr val="C678DD"/>
                </a:solidFill>
                <a:latin typeface="Consolas"/>
              </a:rPr>
              <a:t>in</a:t>
            </a:r>
            <a:r>
              <a:rPr sz="1200" b="0">
                <a:solidFill>
                  <a:srgbClr val="E6E6E6"/>
                </a:solidFill>
                <a:latin typeface="Consolas"/>
              </a:rPr>
              <a:t> conn.execute(</a:t>
            </a:r>
            <a:r>
              <a:rPr sz="1200" b="0">
                <a:solidFill>
                  <a:srgbClr val="98C379"/>
                </a:solidFill>
                <a:latin typeface="Consolas"/>
              </a:rPr>
              <a:t>"SELECT id, ism FROM oquvchilar LIMIT 2"</a:t>
            </a:r>
            <a:r>
              <a:rPr sz="1200" b="0">
                <a:solidFill>
                  <a:srgbClr val="E6E6E6"/>
                </a:solidFill>
                <a:latin typeface="Consolas"/>
              </a:rPr>
              <a:t>).fetchall():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200" b="0">
                <a:solidFill>
                  <a:srgbClr val="C678DD"/>
                </a:solidFill>
                <a:latin typeface="Consolas"/>
              </a:rPr>
              <a:t>print</a:t>
            </a:r>
            <a:r>
              <a:rPr sz="1200" b="0">
                <a:solidFill>
                  <a:srgbClr val="E6E6E6"/>
                </a:solidFill>
                <a:latin typeface="Consolas"/>
              </a:rPr>
              <a:t>(r[</a:t>
            </a:r>
            <a:r>
              <a:rPr sz="1200" b="0">
                <a:solidFill>
                  <a:srgbClr val="98C379"/>
                </a:solidFill>
                <a:latin typeface="Consolas"/>
              </a:rPr>
              <a:t>"ism"</a:t>
            </a:r>
            <a:r>
              <a:rPr sz="1200" b="0">
                <a:solidFill>
                  <a:srgbClr val="E6E6E6"/>
                </a:solidFill>
                <a:latin typeface="Consolas"/>
              </a:rPr>
              <a:t>])                 # nom bilan — o'qilishi oson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83864"/>
            <a:ext cx="5362956" cy="130527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538728"/>
            <a:ext cx="4997196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.env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13048"/>
            <a:ext cx="4997196" cy="95780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DB_NAME=maktab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DB_USER=postgres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DB_PASSWORD=SIZNING_PAROLINGIZ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DB_HOST=localhost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7356" y="1417320"/>
            <a:ext cx="5362956" cy="3254593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0236" y="1472184"/>
            <a:ext cx="4997196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db.py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0236" y="1746504"/>
            <a:ext cx="4997196" cy="2907121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292" b="0">
                <a:solidFill>
                  <a:srgbClr val="C678DD"/>
                </a:solidFill>
                <a:latin typeface="Consolas"/>
              </a:rPr>
              <a:t>import</a:t>
            </a:r>
            <a:r>
              <a:rPr sz="1292" b="0">
                <a:solidFill>
                  <a:srgbClr val="E6E6E6"/>
                </a:solidFill>
                <a:latin typeface="Consolas"/>
              </a:rPr>
              <a:t> os, psycopg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C678DD"/>
                </a:solidFill>
                <a:latin typeface="Consolas"/>
              </a:rPr>
              <a:t>from</a:t>
            </a:r>
            <a:r>
              <a:rPr sz="1292" b="0">
                <a:solidFill>
                  <a:srgbClr val="E6E6E6"/>
                </a:solidFill>
                <a:latin typeface="Consolas"/>
              </a:rPr>
              <a:t> psycopg.rows </a:t>
            </a:r>
            <a:r>
              <a:rPr sz="1292" b="0">
                <a:solidFill>
                  <a:srgbClr val="C678DD"/>
                </a:solidFill>
                <a:latin typeface="Consolas"/>
              </a:rPr>
              <a:t>import</a:t>
            </a:r>
            <a:r>
              <a:rPr sz="1292" b="0">
                <a:solidFill>
                  <a:srgbClr val="E6E6E6"/>
                </a:solidFill>
                <a:latin typeface="Consolas"/>
              </a:rPr>
              <a:t> dict_row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C678DD"/>
                </a:solidFill>
                <a:latin typeface="Consolas"/>
              </a:rPr>
              <a:t>from</a:t>
            </a:r>
            <a:r>
              <a:rPr sz="1292" b="0">
                <a:solidFill>
                  <a:srgbClr val="E6E6E6"/>
                </a:solidFill>
                <a:latin typeface="Consolas"/>
              </a:rPr>
              <a:t> dotenv </a:t>
            </a:r>
            <a:r>
              <a:rPr sz="1292" b="0">
                <a:solidFill>
                  <a:srgbClr val="C678DD"/>
                </a:solidFill>
                <a:latin typeface="Consolas"/>
              </a:rPr>
              <a:t>import</a:t>
            </a:r>
            <a:r>
              <a:rPr sz="1292" b="0">
                <a:solidFill>
                  <a:srgbClr val="E6E6E6"/>
                </a:solidFill>
                <a:latin typeface="Consolas"/>
              </a:rPr>
              <a:t> load_dotenv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load_dotenv()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C678DD"/>
                </a:solidFill>
                <a:latin typeface="Consolas"/>
              </a:rPr>
              <a:t>def</a:t>
            </a:r>
            <a:r>
              <a:rPr sz="1292" b="0">
                <a:solidFill>
                  <a:srgbClr val="E6E6E6"/>
                </a:solidFill>
                <a:latin typeface="Consolas"/>
              </a:rPr>
              <a:t> ulanish():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  </a:t>
            </a:r>
            <a:r>
              <a:rPr sz="1292" b="0">
                <a:solidFill>
                  <a:srgbClr val="C678DD"/>
                </a:solidFill>
                <a:latin typeface="Consolas"/>
              </a:rPr>
              <a:t>return</a:t>
            </a:r>
            <a:r>
              <a:rPr sz="1292" b="0">
                <a:solidFill>
                  <a:srgbClr val="E6E6E6"/>
                </a:solidFill>
                <a:latin typeface="Consolas"/>
              </a:rPr>
              <a:t> psycopg.connect(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      dbname=os.getenv(</a:t>
            </a:r>
            <a:r>
              <a:rPr sz="1292" b="0">
                <a:solidFill>
                  <a:srgbClr val="98C379"/>
                </a:solidFill>
                <a:latin typeface="Consolas"/>
              </a:rPr>
              <a:t>"DB_NAME"</a:t>
            </a:r>
            <a:r>
              <a:rPr sz="1292" b="0">
                <a:solidFill>
                  <a:srgbClr val="E6E6E6"/>
                </a:solidFill>
                <a:latin typeface="Consolas"/>
              </a:rPr>
              <a:t>),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      user=os.getenv(</a:t>
            </a:r>
            <a:r>
              <a:rPr sz="1292" b="0">
                <a:solidFill>
                  <a:srgbClr val="98C379"/>
                </a:solidFill>
                <a:latin typeface="Consolas"/>
              </a:rPr>
              <a:t>"DB_USER"</a:t>
            </a:r>
            <a:r>
              <a:rPr sz="1292" b="0">
                <a:solidFill>
                  <a:srgbClr val="E6E6E6"/>
                </a:solidFill>
                <a:latin typeface="Consolas"/>
              </a:rPr>
              <a:t>),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      password=os.getenv(</a:t>
            </a:r>
            <a:r>
              <a:rPr sz="1292" b="0">
                <a:solidFill>
                  <a:srgbClr val="98C379"/>
                </a:solidFill>
                <a:latin typeface="Consolas"/>
              </a:rPr>
              <a:t>"DB_PASSWORD"</a:t>
            </a:r>
            <a:r>
              <a:rPr sz="1292" b="0">
                <a:solidFill>
                  <a:srgbClr val="E6E6E6"/>
                </a:solidFill>
                <a:latin typeface="Consolas"/>
              </a:rPr>
              <a:t>),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      host=os.getenv(</a:t>
            </a:r>
            <a:r>
              <a:rPr sz="1292" b="0">
                <a:solidFill>
                  <a:srgbClr val="98C379"/>
                </a:solidFill>
                <a:latin typeface="Consolas"/>
              </a:rPr>
              <a:t>"DB_HOST"</a:t>
            </a:r>
            <a:r>
              <a:rPr sz="1292" b="0">
                <a:solidFill>
                  <a:srgbClr val="E6E6E6"/>
                </a:solidFill>
                <a:latin typeface="Consolas"/>
              </a:rPr>
              <a:t>),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      row_factory=dict_row,</a:t>
            </a:r>
          </a:p>
          <a:p>
            <a:pPr>
              <a:lnSpc>
                <a:spcPct val="100000"/>
              </a:lnSpc>
            </a:pPr>
            <a:r>
              <a:rPr sz="1292" b="0">
                <a:solidFill>
                  <a:srgbClr val="E6E6E6"/>
                </a:solidFill>
                <a:latin typeface="Consolas"/>
              </a:rPr>
              <a:t>    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7356" y="4891369"/>
            <a:ext cx="5362956" cy="1115663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7356" y="4891369"/>
            <a:ext cx="82296" cy="1115663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5956" y="4982809"/>
            <a:ext cx="4997196" cy="951071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805" b="0">
                <a:solidFill>
                  <a:srgbClr val="1F232B"/>
                </a:solidFill>
                <a:latin typeface="Calibri"/>
              </a:rPr>
              <a:t>⚠️ </a:t>
            </a:r>
            <a:r>
              <a:rPr sz="1805" b="0">
                <a:solidFill>
                  <a:srgbClr val="1F232B"/>
                </a:solidFill>
                <a:latin typeface="Calibri"/>
              </a:rPr>
              <a:t>Parolni kodda yozib GitHub'ga yuklasangiz — butun dunyo ko'radi! </a:t>
            </a:r>
            <a:r>
              <a:rPr sz="1660" b="0">
                <a:solidFill>
                  <a:srgbClr val="B02A4A"/>
                </a:solidFill>
                <a:latin typeface="Consolas"/>
              </a:rPr>
              <a:t>.env</a:t>
            </a:r>
            <a:r>
              <a:rPr sz="1805" b="0">
                <a:solidFill>
                  <a:srgbClr val="1F232B"/>
                </a:solidFill>
                <a:latin typeface="Calibri"/>
              </a:rPr>
              <a:t> → </a:t>
            </a:r>
            <a:r>
              <a:rPr sz="1660" b="0">
                <a:solidFill>
                  <a:srgbClr val="B02A4A"/>
                </a:solidFill>
                <a:latin typeface="Consolas"/>
              </a:rPr>
              <a:t>.gitignore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Amaliyot: CRUD dasturi (20-loyiha)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32-mavzu · Python dasturlash tilini PostgreSQL ma'lumotlar bazasiga bog'lash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11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51244"/>
            <a:ext cx="11091672" cy="4542739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6108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0428"/>
            <a:ext cx="10725912" cy="419526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224" b="0">
                <a:solidFill>
                  <a:srgbClr val="C678DD"/>
                </a:solidFill>
                <a:latin typeface="Consolas"/>
              </a:rPr>
              <a:t>from</a:t>
            </a:r>
            <a:r>
              <a:rPr sz="1224" b="0">
                <a:solidFill>
                  <a:srgbClr val="E6E6E6"/>
                </a:solidFill>
                <a:latin typeface="Consolas"/>
              </a:rPr>
              <a:t> db </a:t>
            </a:r>
            <a:r>
              <a:rPr sz="1224" b="0">
                <a:solidFill>
                  <a:srgbClr val="C678DD"/>
                </a:solidFill>
                <a:latin typeface="Consolas"/>
              </a:rPr>
              <a:t>import</a:t>
            </a:r>
            <a:r>
              <a:rPr sz="1224" b="0">
                <a:solidFill>
                  <a:srgbClr val="E6E6E6"/>
                </a:solidFill>
                <a:latin typeface="Consolas"/>
              </a:rPr>
              <a:t> ulanish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C678DD"/>
                </a:solidFill>
                <a:latin typeface="Consolas"/>
              </a:rPr>
              <a:t>def</a:t>
            </a:r>
            <a:r>
              <a:rPr sz="1224" b="0">
                <a:solidFill>
                  <a:srgbClr val="E6E6E6"/>
                </a:solidFill>
                <a:latin typeface="Consolas"/>
              </a:rPr>
              <a:t> royxat():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</a:t>
            </a:r>
            <a:r>
              <a:rPr sz="1224" b="0">
                <a:solidFill>
                  <a:srgbClr val="C678DD"/>
                </a:solidFill>
                <a:latin typeface="Consolas"/>
              </a:rPr>
              <a:t>with</a:t>
            </a:r>
            <a:r>
              <a:rPr sz="1224" b="0">
                <a:solidFill>
                  <a:srgbClr val="E6E6E6"/>
                </a:solidFill>
                <a:latin typeface="Consolas"/>
              </a:rPr>
              <a:t> ulanish() </a:t>
            </a:r>
            <a:r>
              <a:rPr sz="1224" b="0">
                <a:solidFill>
                  <a:srgbClr val="C678DD"/>
                </a:solidFill>
                <a:latin typeface="Consolas"/>
              </a:rPr>
              <a:t>as</a:t>
            </a:r>
            <a:r>
              <a:rPr sz="1224" b="0">
                <a:solidFill>
                  <a:srgbClr val="E6E6E6"/>
                </a:solidFill>
                <a:latin typeface="Consolas"/>
              </a:rPr>
              <a:t> conn: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    rows = conn.execute(</a:t>
            </a:r>
            <a:r>
              <a:rPr sz="1224" b="0">
                <a:solidFill>
                  <a:srgbClr val="98C379"/>
                </a:solidFill>
                <a:latin typeface="Consolas"/>
              </a:rPr>
              <a:t>""</a:t>
            </a:r>
            <a:r>
              <a:rPr sz="1224" b="0">
                <a:solidFill>
                  <a:srgbClr val="E6E6E6"/>
                </a:solidFill>
                <a:latin typeface="Consolas"/>
              </a:rPr>
              <a:t>"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        SELECT o.id, o.ism, o.familiya, s.nomi AS sinf,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               ROUND(AVG(b.baho), 2) AS ortacha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        FROM oquvchilar o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        LEFT JOIN sinflar s ON s.id = o.sinf_id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        LEFT JOIN baholar b ON b.oquvchi_id = o.id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        GROUP BY o.id, s.nomi ORDER BY o.familiya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224" b="0">
                <a:solidFill>
                  <a:srgbClr val="98C379"/>
                </a:solidFill>
                <a:latin typeface="Consolas"/>
              </a:rPr>
              <a:t>""</a:t>
            </a:r>
            <a:r>
              <a:rPr sz="1224" b="0">
                <a:solidFill>
                  <a:srgbClr val="E6E6E6"/>
                </a:solidFill>
                <a:latin typeface="Consolas"/>
              </a:rPr>
              <a:t>").fetchall()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</a:t>
            </a:r>
            <a:r>
              <a:rPr sz="1224" b="0">
                <a:solidFill>
                  <a:srgbClr val="C678DD"/>
                </a:solidFill>
                <a:latin typeface="Consolas"/>
              </a:rPr>
              <a:t>for</a:t>
            </a:r>
            <a:r>
              <a:rPr sz="1224" b="0">
                <a:solidFill>
                  <a:srgbClr val="E6E6E6"/>
                </a:solidFill>
                <a:latin typeface="Consolas"/>
              </a:rPr>
              <a:t> r </a:t>
            </a:r>
            <a:r>
              <a:rPr sz="1224" b="0">
                <a:solidFill>
                  <a:srgbClr val="C678DD"/>
                </a:solidFill>
                <a:latin typeface="Consolas"/>
              </a:rPr>
              <a:t>in</a:t>
            </a:r>
            <a:r>
              <a:rPr sz="1224" b="0">
                <a:solidFill>
                  <a:srgbClr val="E6E6E6"/>
                </a:solidFill>
                <a:latin typeface="Consolas"/>
              </a:rPr>
              <a:t> rows: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224" b="0">
                <a:solidFill>
                  <a:srgbClr val="C678DD"/>
                </a:solidFill>
                <a:latin typeface="Consolas"/>
              </a:rPr>
              <a:t>print</a:t>
            </a:r>
            <a:r>
              <a:rPr sz="1224" b="0">
                <a:solidFill>
                  <a:srgbClr val="E6E6E6"/>
                </a:solidFill>
                <a:latin typeface="Consolas"/>
              </a:rPr>
              <a:t>(f</a:t>
            </a:r>
            <a:r>
              <a:rPr sz="1224" b="0">
                <a:solidFill>
                  <a:srgbClr val="98C379"/>
                </a:solidFill>
                <a:latin typeface="Consolas"/>
              </a:rPr>
              <a:t>"{r['id']:&lt;4}{r['ism']:&lt;12}{r['familiya']:&lt;14}{r['sinf'] or '-':&lt;6}{r['ortacha'] or '-'}"</a:t>
            </a:r>
            <a:r>
              <a:rPr sz="1224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C678DD"/>
                </a:solidFill>
                <a:latin typeface="Consolas"/>
              </a:rPr>
              <a:t>def</a:t>
            </a:r>
            <a:r>
              <a:rPr sz="1224" b="0">
                <a:solidFill>
                  <a:srgbClr val="E6E6E6"/>
                </a:solidFill>
                <a:latin typeface="Consolas"/>
              </a:rPr>
              <a:t> qidirish(soz):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</a:t>
            </a:r>
            <a:r>
              <a:rPr sz="1224" b="0">
                <a:solidFill>
                  <a:srgbClr val="C678DD"/>
                </a:solidFill>
                <a:latin typeface="Consolas"/>
              </a:rPr>
              <a:t>with</a:t>
            </a:r>
            <a:r>
              <a:rPr sz="1224" b="0">
                <a:solidFill>
                  <a:srgbClr val="E6E6E6"/>
                </a:solidFill>
                <a:latin typeface="Consolas"/>
              </a:rPr>
              <a:t> ulanish() </a:t>
            </a:r>
            <a:r>
              <a:rPr sz="1224" b="0">
                <a:solidFill>
                  <a:srgbClr val="C678DD"/>
                </a:solidFill>
                <a:latin typeface="Consolas"/>
              </a:rPr>
              <a:t>as</a:t>
            </a:r>
            <a:r>
              <a:rPr sz="1224" b="0">
                <a:solidFill>
                  <a:srgbClr val="E6E6E6"/>
                </a:solidFill>
                <a:latin typeface="Consolas"/>
              </a:rPr>
              <a:t> conn: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224" b="0">
                <a:solidFill>
                  <a:srgbClr val="C678DD"/>
                </a:solidFill>
                <a:latin typeface="Consolas"/>
              </a:rPr>
              <a:t>return</a:t>
            </a:r>
            <a:r>
              <a:rPr sz="1224" b="0">
                <a:solidFill>
                  <a:srgbClr val="E6E6E6"/>
                </a:solidFill>
                <a:latin typeface="Consolas"/>
              </a:rPr>
              <a:t> conn.execute(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        </a:t>
            </a:r>
            <a:r>
              <a:rPr sz="1224" b="0">
                <a:solidFill>
                  <a:srgbClr val="98C379"/>
                </a:solidFill>
                <a:latin typeface="Consolas"/>
              </a:rPr>
              <a:t>"SELECT * FROM oquvchilar WHERE ism ILIKE %s OR familiya ILIKE %s"</a:t>
            </a:r>
            <a:r>
              <a:rPr sz="1224" b="0">
                <a:solidFill>
                  <a:srgbClr val="E6E6E6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        (f</a:t>
            </a:r>
            <a:r>
              <a:rPr sz="1224" b="0">
                <a:solidFill>
                  <a:srgbClr val="98C379"/>
                </a:solidFill>
                <a:latin typeface="Consolas"/>
              </a:rPr>
              <a:t>"%{soz}%"</a:t>
            </a:r>
            <a:r>
              <a:rPr sz="1224" b="0">
                <a:solidFill>
                  <a:srgbClr val="E6E6E6"/>
                </a:solidFill>
                <a:latin typeface="Consolas"/>
              </a:rPr>
              <a:t>, f</a:t>
            </a:r>
            <a:r>
              <a:rPr sz="1224" b="0">
                <a:solidFill>
                  <a:srgbClr val="98C379"/>
                </a:solidFill>
                <a:latin typeface="Consolas"/>
              </a:rPr>
              <a:t>"%{soz}%"</a:t>
            </a:r>
            <a:r>
              <a:rPr sz="1224" b="0">
                <a:solidFill>
                  <a:srgbClr val="E6E6E6"/>
                </a:solidFill>
                <a:latin typeface="Consolas"/>
              </a:rPr>
              <a:t>)).fetchall()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Amaliyot: topshiriqlar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32-mavzu · Python dasturlash tilini PostgreSQL ma'lumotlar bazasiga bog'lash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12 / 24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Dasturni ishga tushiring — pgAdmin'da o'zgarishlarni kuzating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093976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121408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"Qidirish"ga </a:t>
            </a:r>
            <a:r>
              <a:rPr sz="2576" b="0">
                <a:solidFill>
                  <a:srgbClr val="B02A4A"/>
                </a:solidFill>
                <a:latin typeface="Consolas"/>
              </a:rPr>
              <a:t>' OR '1'='1</a:t>
            </a:r>
            <a:r>
              <a:rPr sz="2800" b="0">
                <a:solidFill>
                  <a:srgbClr val="1F232B"/>
                </a:solidFill>
                <a:latin typeface="Calibri"/>
              </a:rPr>
              <a:t> yozing — </a:t>
            </a:r>
            <a:r>
              <a:rPr sz="2800" b="1">
                <a:solidFill>
                  <a:srgbClr val="1F232B"/>
                </a:solidFill>
                <a:latin typeface="Calibri"/>
              </a:rPr>
              <a:t>teshik yo'qligiga</a:t>
            </a:r>
            <a:r>
              <a:rPr sz="2800" b="0">
                <a:solidFill>
                  <a:srgbClr val="1F232B"/>
                </a:solidFill>
                <a:latin typeface="Calibri"/>
              </a:rPr>
              <a:t> ishonch hosil qiling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202432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229863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"Sinf statistikasi"</a:t>
            </a:r>
            <a:r>
              <a:rPr sz="2800" b="0">
                <a:solidFill>
                  <a:srgbClr val="1F232B"/>
                </a:solidFill>
                <a:latin typeface="Calibri"/>
              </a:rPr>
              <a:t> menyu bandi (GROUP BY)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879087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3906520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"Tahrirlash"</a:t>
            </a:r>
            <a:r>
              <a:rPr sz="2800" b="0">
                <a:solidFill>
                  <a:srgbClr val="1F232B"/>
                </a:solidFill>
                <a:latin typeface="Calibri"/>
              </a:rPr>
              <a:t> menyu bandi (UPDATE)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Ko'p uchraydigan xatolar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32-mavzu · Python dasturlash tilini PostgreSQL ma'lumotlar bazasiga bog'lash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13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No module named 'psycopg'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venv faol emas yoki paket o'rnatilmagan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connection refused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server ishlamayapti yoki host/port xato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524503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(ism)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bu tuple emas! To'g'risi </a:t>
            </a:r>
            <a:r>
              <a:rPr sz="2576" b="0">
                <a:solidFill>
                  <a:srgbClr val="B02A4A"/>
                </a:solidFill>
                <a:latin typeface="Consolas"/>
              </a:rPr>
              <a:t>(ism,)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684523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33595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'%s'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qo'shtirnoq ichida; to'g'risi </a:t>
            </a:r>
            <a:r>
              <a:rPr sz="2576" b="0">
                <a:solidFill>
                  <a:srgbClr val="B02A4A"/>
                </a:solidFill>
                <a:latin typeface="Consolas"/>
              </a:rPr>
              <a:t>%s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93615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7426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commit</a:t>
            </a:r>
            <a:r>
              <a:rPr sz="2800" b="0">
                <a:solidFill>
                  <a:srgbClr val="1F232B"/>
                </a:solidFill>
                <a:latin typeface="Calibri"/>
              </a:rPr>
              <a:t> qilinmagan — ma'lumot "yo'qoldi"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902708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32-mavzu · Python dasturlash tilini PostgreSQL ma'lumotlar bazasiga bog'lash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14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Python'dan PostgreSQL bilan ishlash uchun kutubxona?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requests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psycopg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pygame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flask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32-mavzu · Python dasturlash tilini PostgreSQL ma'lumotlar bazasiga bog'lash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15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Python'dan PostgreSQL bilan ishlash uchun kutubxona?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requests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psycopg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pygame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flask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32-mavzu · Python dasturlash tilini PostgreSQL ma'lumotlar bazasiga bog'lash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16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INSERT dan keyin o'zgarishni saqlash uchun nima chaqiriladi?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cur.save()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conn.close()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cur.fetchone()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conn.commit()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32-mavzu · Python dasturlash tilini PostgreSQL ma'lumotlar bazasiga bog'lash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17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INSERT dan keyin o'zgarishni saqlash uchun nima chaqiriladi?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cur.save()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conn.close()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cur.fetchone()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conn.commit()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32-mavzu · Python dasturlash tilini PostgreSQL ma'lumotlar bazasiga bog'lash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18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SQL injection'dan himoyalangan to'g'ri kod?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cur.execute("... WHERE ism = %s", (ism,))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cur.execute(f"... WHERE ism = '{ism}'")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cur.execute("... WHERE ism = '" + ism + "'")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cur.execute("... = {}".format(ism))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32-mavzu · Python dasturlash tilini PostgreSQL ma'lumotlar bazasiga bog'lash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19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SQL injection'dan himoyalangan to'g'ri kod?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cur.execute("... WHERE ism = %s", (ism,))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cur.execute(f"... WHERE ism = '{ism}'")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cur.execute("... WHERE ism = '" + ism + "'")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cur.execute("... = {}".format(ism))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32-mavzu · Python dasturlash tilini PostgreSQL ma'lumotlar bazasiga bog'lash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20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Parol kabi maxfiy sozlamalarni qayerda saqlash to'g'ri?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Kod ichida, izoh bilan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.env</a:t>
            </a:r>
            <a:r>
              <a:rPr sz="1900" b="0">
                <a:solidFill>
                  <a:srgbClr val="1F232B"/>
                </a:solidFill>
                <a:latin typeface="Calibri"/>
              </a:rPr>
              <a:t> faylida (GitHub'ga yuklanmaydi)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README faylida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Baza nomida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32-mavzu · Python dasturlash tilini PostgreSQL ma'lumotlar bazasiga bog'lash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21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Parol kabi maxfiy sozlamalarni qayerda saqlash to'g'ri?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Kod ichida, izoh bilan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.env</a:t>
            </a:r>
            <a:r>
              <a:rPr sz="1900" b="1">
                <a:solidFill>
                  <a:srgbClr val="1F232B"/>
                </a:solidFill>
                <a:latin typeface="Calibri"/>
              </a:rPr>
              <a:t> faylida (GitHub'ga yuklanmaydi)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README faylida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Baza nomida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🏠 Uyga vazifa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32-mavzu · Python dasturlash tilini PostgreSQL ma'lumotlar bazasiga bog'lash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22 / 24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96668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924100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Do'kon dasturi:</a:t>
            </a:r>
            <a:r>
              <a:rPr sz="2800" b="0">
                <a:solidFill>
                  <a:srgbClr val="1F232B"/>
                </a:solidFill>
                <a:latin typeface="Calibri"/>
              </a:rPr>
              <a:t> mahsulotlar ro'yxati, qo'shish, narxni o'zgartirish, tugaganlar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005124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3032556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"Buyurtma berish":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buyurtmalar</a:t>
            </a:r>
            <a:r>
              <a:rPr sz="2800" b="0">
                <a:solidFill>
                  <a:srgbClr val="1F232B"/>
                </a:solidFill>
                <a:latin typeface="Calibri"/>
              </a:rPr>
              <a:t> + </a:t>
            </a:r>
            <a:r>
              <a:rPr sz="2576" b="0">
                <a:solidFill>
                  <a:srgbClr val="B02A4A"/>
                </a:solidFill>
                <a:latin typeface="Consolas"/>
              </a:rPr>
              <a:t>buyurtma_tarkibi</a:t>
            </a:r>
            <a:r>
              <a:rPr sz="2800" b="0">
                <a:solidFill>
                  <a:srgbClr val="1F232B"/>
                </a:solidFill>
                <a:latin typeface="Calibri"/>
              </a:rPr>
              <a:t> ga yozish va ombordagi sonni kamaytirish — </a:t>
            </a:r>
            <a:r>
              <a:rPr sz="2800" b="1">
                <a:solidFill>
                  <a:srgbClr val="1F232B"/>
                </a:solidFill>
                <a:latin typeface="Calibri"/>
              </a:rPr>
              <a:t>bitta tranzaksiyada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✅ Yodda tuting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32-mavzu · Python dasturlash tilini PostgreSQL ma'lumotlar bazasiga bog'lash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23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python -m venv venv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faollashtirish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pip install "psycopg[binary]"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with psycopg.connect(...) as conn: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execute(sql, params)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fetchone/fetchall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524503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Faqat </a:t>
            </a:r>
            <a:r>
              <a:rPr sz="2800" b="1">
                <a:solidFill>
                  <a:srgbClr val="1F232B"/>
                </a:solidFill>
                <a:latin typeface="Calibri"/>
              </a:rPr>
              <a:t>parametrli</a:t>
            </a:r>
            <a:r>
              <a:rPr sz="2800" b="0">
                <a:solidFill>
                  <a:srgbClr val="1F232B"/>
                </a:solidFill>
                <a:latin typeface="Calibri"/>
              </a:rPr>
              <a:t> so'rovlar: </a:t>
            </a:r>
            <a:r>
              <a:rPr sz="2576" b="0">
                <a:solidFill>
                  <a:srgbClr val="B02A4A"/>
                </a:solidFill>
                <a:latin typeface="Consolas"/>
              </a:rPr>
              <a:t>%s</a:t>
            </a:r>
            <a:r>
              <a:rPr sz="2800" b="0">
                <a:solidFill>
                  <a:srgbClr val="1F232B"/>
                </a:solidFill>
                <a:latin typeface="Calibri"/>
              </a:rPr>
              <a:t> + tuple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684523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33595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Maxfiy sozlamalar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.env</a:t>
            </a:r>
            <a:r>
              <a:rPr sz="2800" b="0">
                <a:solidFill>
                  <a:srgbClr val="1F232B"/>
                </a:solidFill>
                <a:latin typeface="Calibri"/>
              </a:rPr>
              <a:t> da, </a:t>
            </a:r>
            <a:r>
              <a:rPr sz="2576" b="0">
                <a:solidFill>
                  <a:srgbClr val="B02A4A"/>
                </a:solidFill>
                <a:latin typeface="Consolas"/>
              </a:rPr>
              <a:t>.gitignore</a:t>
            </a:r>
            <a:r>
              <a:rPr sz="2800" b="0">
                <a:solidFill>
                  <a:srgbClr val="1F232B"/>
                </a:solidFill>
                <a:latin typeface="Calibri"/>
              </a:rPr>
              <a:t> ga qo'shilgan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93615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A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6000" b="0">
                <a:solidFill>
                  <a:srgbClr val="1F232B"/>
                </a:solidFill>
                <a:latin typeface="Segoe UI Emoji"/>
              </a:rPr>
              <a:t>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800" b="1">
                <a:solidFill>
                  <a:srgbClr val="1F232B"/>
                </a:solidFill>
                <a:latin typeface="Calibri"/>
              </a:rPr>
              <a:t>Savollar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5B6370"/>
                </a:solidFill>
                <a:latin typeface="Calibri"/>
              </a:rPr>
              <a:t>Keyingi mavzu: </a:t>
            </a:r>
            <a:r>
              <a:rPr sz="2200" b="1">
                <a:solidFill>
                  <a:srgbClr val="5B6370"/>
                </a:solidFill>
                <a:latin typeface="Calibri"/>
              </a:rPr>
              <a:t>33. Django frameworkiga kirish. Arxitektura, loyiha va ilova (App) yaratish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32-mavzu: Python dasturlash tilini PostgreSQL ma'lumotlar bazasiga bog'lash</dc:title>
  <dc:subject/>
  <dc:creator>8-sinf · Web Full-stack dasturlash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