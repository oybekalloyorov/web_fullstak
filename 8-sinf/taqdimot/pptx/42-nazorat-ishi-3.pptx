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cur.execute("... WHERE ism=%s", (ism,)).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def kitob(request, pk):.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ForeignKey(Muallif, on_delete=...).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Kitob.objects.filter(narx__lt=50000).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DELETE, 204.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CORS (django-cors-headers).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DEBUG =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Baholash: URL — 1; View — 1; Model/ORM — 1; Template/render — 1; ketma-ketlik va 404 holati —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Omad! 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8E3FBF"/>
                </a:solidFill>
                <a:latin typeface="Calibri"/>
              </a:rPr>
              <a:t>42-MAVZU  ·  V BOB. DRF VA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Yakuniy nazorat ishi — IV–V boblar (Django, DRF, Deploy) va yakuniy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Django, Django REST Framework va deploy bo'yicha nazorat: 25 ta yopiq test va 5 ta ochiq topshiriq (jami 100 ball); yakuniy loyiha talablari, g'oyalar, baholash mezoni va taqdimot rejasi.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Bugun: nazorat ishi va yakuniy loyiha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8282"/>
          <a:ext cx="11091672" cy="236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08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Ball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1-qism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25 ta yopiq test × 3 ball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2-qism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5 ta ochiq savol / amaliy topshiriq × 5 ball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Jami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23095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Keyin: </a:t>
            </a:r>
            <a:r>
              <a:rPr sz="2800" b="1">
                <a:solidFill>
                  <a:srgbClr val="1F232B"/>
                </a:solidFill>
                <a:latin typeface="Calibri"/>
              </a:rPr>
              <a:t>yakuniy loyiha</a:t>
            </a:r>
            <a:r>
              <a:rPr sz="2800" b="0">
                <a:solidFill>
                  <a:srgbClr val="1F232B"/>
                </a:solidFill>
                <a:latin typeface="Calibri"/>
              </a:rPr>
              <a:t> talablari, g'oyalar, baholash va taqdimot rejasi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39097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DDC5EB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Takrorlash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EEE2F5"/>
                </a:solidFill>
                <a:latin typeface="Calibri"/>
              </a:rPr>
              <a:t>IV–V boblar: Django, DRF,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DDC5EB"/>
                </a:solidFill>
                <a:latin typeface="Calibri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Takrorlash rejasi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50213"/>
          <a:ext cx="11091672" cy="454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68579">
                <a:tc>
                  <a:txBody>
                    <a:bodyPr/>
                    <a:lstStyle/>
                    <a:p>
                      <a:r>
                        <a:rPr sz="1520" b="1">
                          <a:solidFill>
                            <a:srgbClr val="FFFFFF"/>
                          </a:solidFill>
                          <a:latin typeface="Calibri"/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1">
                          <a:solidFill>
                            <a:srgbClr val="FFFFFF"/>
                          </a:solidFill>
                          <a:latin typeface="Calibri"/>
                        </a:rPr>
                        <a:t>Bilishingiz kerak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568579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32. Python + PostgreSQL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venv, psycopg, commit, parametrli so'rovlar, SQL injection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68579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33–34. Django, URL, 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MVT, startapp,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INSTALLED_APPS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path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include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converterlar,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Http404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redirect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8579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35. Template, static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render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{{ }}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{% %}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filtrlar,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extends/block/include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{% url %}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{% static %}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68579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36. Model, 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Maydonlar,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ForeignKey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makemigrations/migrate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filter/get/create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lookups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8579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37–38. Admin, Forms, CRUD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ModelAdmin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ModelForm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is_valid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csrf_token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login_required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instance=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Paginator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68579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39–40. DRF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REST, status kodlar, Serializer,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ViewSet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Router, permissions, CORS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8579">
                <a:tc>
                  <a:txBody>
                    <a:bodyPr/>
                    <a:lstStyle/>
                    <a:p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41. Deploy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DEBUG=False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SECRET_KEY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ALLOWED_HOSTS</a:t>
                      </a:r>
                      <a:r>
                        <a:rPr sz="1520" b="0">
                          <a:solidFill>
                            <a:srgbClr val="1F232B"/>
                          </a:solidFill>
                          <a:latin typeface="Calibri"/>
                        </a:rPr>
                        <a:t>, gunicorn, whitenoise, </a:t>
                      </a:r>
                      <a:r>
                        <a:rPr sz="1398" b="0">
                          <a:solidFill>
                            <a:srgbClr val="B02A4A"/>
                          </a:solidFill>
                          <a:latin typeface="Consolas"/>
                        </a:rPr>
                        <a:t>collectstatic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DDC5EB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Namunaviy testlar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EEE2F5"/>
                </a:solidFill>
                <a:latin typeface="Calibri"/>
              </a:rPr>
              <a:t>Avval o'ylang — keyin javobni ko'ring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DDC5EB"/>
                </a:solidFill>
                <a:latin typeface="Calibri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SQL injection'dan himoyalangan so'rov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cur.execute(f"... WHERE ism='{ism}'")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cur.execute("... WHERE ism=%s", (ism,))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cur.execute("... WHERE ism='" + ism + "'")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Hammasi xavfsiz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SQL injection'dan himoyalangan so'rov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cur.execute(f"... WHERE ism='{ism}'")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cur.execute("... WHERE ism=%s", (ism,))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cur.execute("... WHERE ism='" + ism + "'")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Hammasi xavfsiz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path("kitob/&lt;int:pk&gt;/", views.kitob)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view qanday e'lon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def kitob(request):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def kitob(pk):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def kitob(request, id):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def kitob(request, pk):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path("kitob/&lt;int:pk&gt;/", views.kitob)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view qanday e'lon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def kitob(request):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def kitob(pk):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def kitob(request, id):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def kitob(request, pk):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"Kitobning bitta muallifi, muallifning ko'p kitobi" — Kitob modelida qaysi maydon?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ManyToManyField(Muallif)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CharField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ForeignKey(Muallif, on_delete=...)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OneToOneField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"Kitobning bitta muallifi, muallifning ko'p kitobi" — Kitob modelida qaysi maydon?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ManyToManyField(Muallif)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CharField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ForeignKey(Muallif, on_delete=...)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OneToOneField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Narxi 50 000 dan kichik kitoblar?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Kitob.objects.get(narx&lt;50000)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Kitob.objects.filter(narx__lt=50000)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Kitob.objects.all(narx=50000)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Kitob.filter("narx &lt; 50000")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Narxi 50 000 dan kichik kitoblar?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Kitob.objects.get(narx&lt;50000)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Kitob.objects.filter(narx__lt=50000)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Kitob.objects.all(narx=50000)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Kitob.filter("narx &lt; 50000")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REST API'da resursni o'chirish metodi va javob kodi?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GET, 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POST, 201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DELETE, 204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PUT, 404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REST API'da resursni o'chirish metodi va javob kodi?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GET, 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POST, 201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DELETE, 204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PUT, 404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Boshqa domendagi JS sayt API'ga murojaat qilishi uchun Django'da nima sozlanadi?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CSRF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ALLOWED_HOSTS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CORS (django-cors-headers)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WhiteNoise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Boshqa domendagi JS sayt API'ga murojaat qilishi uchun Django'da nima sozlanadi?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CSRF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ALLOWED_HOSTS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CORS (django-cors-headers)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WhiteNoise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Internetdagi saytda qaysi sozlama </a:t>
            </a:r>
            <a:r>
              <a:rPr sz="2400" b="1">
                <a:solidFill>
                  <a:srgbClr val="1F232B"/>
                </a:solidFill>
                <a:latin typeface="Calibri"/>
              </a:rPr>
              <a:t>noto'g'ri</a:t>
            </a:r>
            <a:r>
              <a:rPr sz="2400" b="1">
                <a:solidFill>
                  <a:srgbClr val="1F232B"/>
                </a:solidFill>
                <a:latin typeface="Calibri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DEBUG = 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DEBUG = 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ALLOWED_HOSTS = ["sayt.onrender.com"]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SECRET_KEY</a:t>
            </a:r>
            <a:r>
              <a:rPr sz="1900" b="0">
                <a:solidFill>
                  <a:srgbClr val="1F232B"/>
                </a:solidFill>
                <a:latin typeface="Calibri"/>
              </a:rPr>
              <a:t> muhit o'zgaruvchisida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Internetdagi saytda qaysi sozlama </a:t>
            </a:r>
            <a:r>
              <a:rPr sz="2400" b="1">
                <a:solidFill>
                  <a:srgbClr val="1F232B"/>
                </a:solidFill>
                <a:latin typeface="Calibri"/>
              </a:rPr>
              <a:t>noto'g'ri</a:t>
            </a:r>
            <a:r>
              <a:rPr sz="2400" b="1">
                <a:solidFill>
                  <a:srgbClr val="1F232B"/>
                </a:solidFill>
                <a:latin typeface="Calibri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DEBUG = 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DEBUG = 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ALLOWED_HOSTS = ["sayt.onrender.com"]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SECRET_KEY</a:t>
            </a:r>
            <a:r>
              <a:rPr sz="1900" b="0">
                <a:solidFill>
                  <a:srgbClr val="1F232B"/>
                </a:solidFill>
                <a:latin typeface="Calibri"/>
              </a:rPr>
              <a:t> muhit o'zgaruvchisida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DDC5EB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qism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EEE2F5"/>
                </a:solidFill>
                <a:latin typeface="Calibri"/>
              </a:rPr>
              <a:t>5 ta topshiriq × 5 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DDC5EB"/>
                </a:solidFill>
                <a:latin typeface="Calibri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1-topshiriq: /maqola/5/ ochilganda nima bo'ladi?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33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So'rov Django'ga keladi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urls.py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maqola/&lt;int:id&gt;/</a:t>
            </a:r>
            <a:r>
              <a:rPr sz="2800" b="0">
                <a:solidFill>
                  <a:srgbClr val="1F232B"/>
                </a:solidFill>
                <a:latin typeface="Calibri"/>
              </a:rPr>
              <a:t> ni topadi → view'ni </a:t>
            </a:r>
            <a:r>
              <a:rPr sz="2576" b="0">
                <a:solidFill>
                  <a:srgbClr val="B02A4A"/>
                </a:solidFill>
                <a:latin typeface="Consolas"/>
              </a:rPr>
              <a:t>id=5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chaqiradi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3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View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800" b="1">
                <a:solidFill>
                  <a:srgbClr val="1F232B"/>
                </a:solidFill>
                <a:latin typeface="Calibri"/>
              </a:rPr>
              <a:t>Model</a:t>
            </a:r>
            <a:r>
              <a:rPr sz="2800" b="0">
                <a:solidFill>
                  <a:srgbClr val="1F232B"/>
                </a:solidFill>
                <a:latin typeface="Calibri"/>
              </a:rPr>
              <a:t> (ORM): </a:t>
            </a:r>
            <a:r>
              <a:rPr sz="2576" b="0">
                <a:solidFill>
                  <a:srgbClr val="B02A4A"/>
                </a:solidFill>
                <a:latin typeface="Consolas"/>
              </a:rPr>
              <a:t>get_object_or_404(Maqola, id=5)</a:t>
            </a:r>
            <a:r>
              <a:rPr sz="2800" b="0">
                <a:solidFill>
                  <a:srgbClr val="1F232B"/>
                </a:solidFill>
                <a:latin typeface="Calibri"/>
              </a:rPr>
              <a:t>; topilmasa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404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10888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3383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View maqolani </a:t>
            </a:r>
            <a:r>
              <a:rPr sz="2800" b="1">
                <a:solidFill>
                  <a:srgbClr val="1F232B"/>
                </a:solidFill>
                <a:latin typeface="Calibri"/>
              </a:rPr>
              <a:t>Template</a:t>
            </a:r>
            <a:r>
              <a:rPr sz="2800" b="0">
                <a:solidFill>
                  <a:srgbClr val="1F232B"/>
                </a:solidFill>
                <a:latin typeface="Calibri"/>
              </a:rPr>
              <a:t>'ga beradi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render(...)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87544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0149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Shablon to'ldiriladi → tayyor </a:t>
            </a:r>
            <a:r>
              <a:rPr sz="2800" b="1">
                <a:solidFill>
                  <a:srgbClr val="1F232B"/>
                </a:solidFill>
                <a:latin typeface="Calibri"/>
              </a:rPr>
              <a:t>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brauzerga qaytadi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2-topshiriq: model va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class</a:t>
            </a:r>
            <a:r>
              <a:rPr sz="1360" b="0">
                <a:solidFill>
                  <a:srgbClr val="E6E6E6"/>
                </a:solidFill>
                <a:latin typeface="Consolas"/>
              </a:rPr>
              <a:t> Kitob(models.Model):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JANRLAR = [(</a:t>
            </a:r>
            <a:r>
              <a:rPr sz="1360" b="0">
                <a:solidFill>
                  <a:srgbClr val="98C379"/>
                </a:solidFill>
                <a:latin typeface="Consolas"/>
              </a:rPr>
              <a:t>"roman"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"Roman"</a:t>
            </a:r>
            <a:r>
              <a:rPr sz="1360" b="0">
                <a:solidFill>
                  <a:srgbClr val="E6E6E6"/>
                </a:solidFill>
                <a:latin typeface="Consolas"/>
              </a:rPr>
              <a:t>), (</a:t>
            </a:r>
            <a:r>
              <a:rPr sz="1360" b="0">
                <a:solidFill>
                  <a:srgbClr val="98C379"/>
                </a:solidFill>
                <a:latin typeface="Consolas"/>
              </a:rPr>
              <a:t>"sheriyat"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"She'riyat"</a:t>
            </a:r>
            <a:r>
              <a:rPr sz="1360" b="0">
                <a:solidFill>
                  <a:srgbClr val="E6E6E6"/>
                </a:solidFill>
                <a:latin typeface="Consolas"/>
              </a:rPr>
              <a:t>), (</a:t>
            </a:r>
            <a:r>
              <a:rPr sz="1360" b="0">
                <a:solidFill>
                  <a:srgbClr val="98C379"/>
                </a:solidFill>
                <a:latin typeface="Consolas"/>
              </a:rPr>
              <a:t>"ilmiy"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"Ilmiy"</a:t>
            </a:r>
            <a:r>
              <a:rPr sz="1360" b="0">
                <a:solidFill>
                  <a:srgbClr val="E6E6E6"/>
                </a:solidFill>
                <a:latin typeface="Consolas"/>
              </a:rPr>
              <a:t>)]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nomi = models.CharField(max_length=200)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muallif = models.CharField(max_length=100)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janr = models.CharField(max_length=20, choices=JANRLAR)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yil = models.PositiveIntegerField()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narx = models.DecimalField(max_digits=10, decimal_places=2)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mavjud = models.BooleanField(default=</a:t>
            </a:r>
            <a:r>
              <a:rPr sz="1360" b="0">
                <a:solidFill>
                  <a:srgbClr val="C678DD"/>
                </a:solidFill>
                <a:latin typeface="Consolas"/>
              </a:rPr>
              <a:t>True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qoshilgan = models.DateTimeField(auto_now_add=</a:t>
            </a:r>
            <a:r>
              <a:rPr sz="1360" b="0">
                <a:solidFill>
                  <a:srgbClr val="C678DD"/>
                </a:solidFill>
                <a:latin typeface="Consolas"/>
              </a:rPr>
              <a:t>True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__str__(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.nomi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@admin.register(Kitob)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class</a:t>
            </a:r>
            <a:r>
              <a:rPr sz="1360" b="0">
                <a:solidFill>
                  <a:srgbClr val="E6E6E6"/>
                </a:solidFill>
                <a:latin typeface="Consolas"/>
              </a:rPr>
              <a:t> KitobAdmin(admin.ModelAdmin):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list_display = [</a:t>
            </a:r>
            <a:r>
              <a:rPr sz="1360" b="0">
                <a:solidFill>
                  <a:srgbClr val="98C379"/>
                </a:solidFill>
                <a:latin typeface="Consolas"/>
              </a:rPr>
              <a:t>"nomi"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"muallif"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"janr"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"mavjud"</a:t>
            </a:r>
            <a:r>
              <a:rPr sz="1360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list_filter = [</a:t>
            </a:r>
            <a:r>
              <a:rPr sz="1360" b="0">
                <a:solidFill>
                  <a:srgbClr val="98C379"/>
                </a:solidFill>
                <a:latin typeface="Consolas"/>
              </a:rPr>
              <a:t>"janr"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"mavjud"</a:t>
            </a:r>
            <a:r>
              <a:rPr sz="1360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search_fields = [</a:t>
            </a:r>
            <a:r>
              <a:rPr sz="1360" b="0">
                <a:solidFill>
                  <a:srgbClr val="98C379"/>
                </a:solidFill>
                <a:latin typeface="Consolas"/>
              </a:rPr>
              <a:t>"nomi"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"muallif"</a:t>
            </a:r>
            <a:r>
              <a:rPr sz="1360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3-topshiriq: view va shablon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755"/>
            <a:ext cx="11091672" cy="167006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61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939"/>
            <a:ext cx="10725912" cy="13225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kitoblar(request):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q = request.GET.get(</a:t>
            </a:r>
            <a:r>
              <a:rPr sz="1224" b="0">
                <a:solidFill>
                  <a:srgbClr val="98C379"/>
                </a:solidFill>
                <a:latin typeface="Consolas"/>
              </a:rPr>
              <a:t>"q"</a:t>
            </a:r>
            <a:r>
              <a:rPr sz="1224" b="0">
                <a:solidFill>
                  <a:srgbClr val="E6E6E6"/>
                </a:solidFill>
                <a:latin typeface="Consolas"/>
              </a:rPr>
              <a:t>, </a:t>
            </a:r>
            <a:r>
              <a:rPr sz="1224" b="0">
                <a:solidFill>
                  <a:srgbClr val="98C379"/>
                </a:solidFill>
                <a:latin typeface="Consolas"/>
              </a:rPr>
              <a:t>""</a:t>
            </a:r>
            <a:r>
              <a:rPr sz="1224" b="0">
                <a:solidFill>
                  <a:srgbClr val="E6E6E6"/>
                </a:solidFill>
                <a:latin typeface="Consolas"/>
              </a:rPr>
              <a:t>).strip()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qs = Kitob.objects.filter(mavjud=</a:t>
            </a:r>
            <a:r>
              <a:rPr sz="1224" b="0">
                <a:solidFill>
                  <a:srgbClr val="C678DD"/>
                </a:solidFill>
                <a:latin typeface="Consolas"/>
              </a:rPr>
              <a:t>True</a:t>
            </a:r>
            <a:r>
              <a:rPr sz="122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if</a:t>
            </a:r>
            <a:r>
              <a:rPr sz="1224" b="0">
                <a:solidFill>
                  <a:srgbClr val="E6E6E6"/>
                </a:solidFill>
                <a:latin typeface="Consolas"/>
              </a:rPr>
              <a:t> q: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qs = qs.filter(nomi__icontains=q)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24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224" b="0">
                <a:solidFill>
                  <a:srgbClr val="98C379"/>
                </a:solidFill>
                <a:latin typeface="Consolas"/>
              </a:rPr>
              <a:t>"kutubxona/kitoblar.html"</a:t>
            </a:r>
            <a:r>
              <a:rPr sz="1224" b="0">
                <a:solidFill>
                  <a:srgbClr val="E6E6E6"/>
                </a:solidFill>
                <a:latin typeface="Consolas"/>
              </a:rPr>
              <a:t>, {</a:t>
            </a:r>
            <a:r>
              <a:rPr sz="1224" b="0">
                <a:solidFill>
                  <a:srgbClr val="98C379"/>
                </a:solidFill>
                <a:latin typeface="Consolas"/>
              </a:rPr>
              <a:t>"kitoblar"</a:t>
            </a:r>
            <a:r>
              <a:rPr sz="1224" b="0">
                <a:solidFill>
                  <a:srgbClr val="E6E6E6"/>
                </a:solidFill>
                <a:latin typeface="Consolas"/>
              </a:rPr>
              <a:t>: qs, </a:t>
            </a:r>
            <a:r>
              <a:rPr sz="1224" b="0">
                <a:solidFill>
                  <a:srgbClr val="98C379"/>
                </a:solidFill>
                <a:latin typeface="Consolas"/>
              </a:rPr>
              <a:t>"q"</a:t>
            </a:r>
            <a:r>
              <a:rPr sz="1224" b="0">
                <a:solidFill>
                  <a:srgbClr val="E6E6E6"/>
                </a:solidFill>
                <a:latin typeface="Consolas"/>
              </a:rPr>
              <a:t>: q})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3271"/>
            <a:ext cx="11091672" cy="269601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813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Django shablon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62455"/>
            <a:ext cx="10725912" cy="23485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{% extends "kutubxona/base.html"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{% block content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&lt;form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224" b="0">
                <a:solidFill>
                  <a:srgbClr val="E6E6E6"/>
                </a:solidFill>
                <a:latin typeface="Consolas"/>
              </a:rPr>
              <a:t> name=</a:t>
            </a:r>
            <a:r>
              <a:rPr sz="1224" b="0">
                <a:solidFill>
                  <a:srgbClr val="98C379"/>
                </a:solidFill>
                <a:latin typeface="Consolas"/>
              </a:rPr>
              <a:t>"q"</a:t>
            </a:r>
            <a:r>
              <a:rPr sz="1224" b="0">
                <a:solidFill>
                  <a:srgbClr val="E6E6E6"/>
                </a:solidFill>
                <a:latin typeface="Consolas"/>
              </a:rPr>
              <a:t> value=</a:t>
            </a:r>
            <a:r>
              <a:rPr sz="1224" b="0">
                <a:solidFill>
                  <a:srgbClr val="98C379"/>
                </a:solidFill>
                <a:latin typeface="Consolas"/>
              </a:rPr>
              <a:t>"{{ q }}"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6E6E6"/>
                </a:solidFill>
                <a:latin typeface="Consolas"/>
              </a:rPr>
              <a:t>Izlash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&lt;/form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&lt;ul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{% for k in kitoblar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&lt;a</a:t>
            </a:r>
            <a:r>
              <a:rPr sz="122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224" b="0">
                <a:solidFill>
                  <a:srgbClr val="98C379"/>
                </a:solidFill>
                <a:latin typeface="Consolas"/>
              </a:rPr>
              <a:t>"{% url 'kutubxona:kitob' k.pk %}"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06C75"/>
                </a:solidFill>
                <a:latin typeface="Consolas"/>
              </a:rPr>
              <a:t>{{ k.nomi }}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6E6E6"/>
                </a:solidFill>
                <a:latin typeface="Consolas"/>
              </a:rPr>
              <a:t> — </a:t>
            </a:r>
            <a:r>
              <a:rPr sz="1224" b="0">
                <a:solidFill>
                  <a:srgbClr val="E06C75"/>
                </a:solidFill>
                <a:latin typeface="Consolas"/>
              </a:rPr>
              <a:t>{{ k.muallif }}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{% empty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6E6E6"/>
                </a:solidFill>
                <a:latin typeface="Consolas"/>
              </a:rPr>
              <a:t>Kitob topilmadi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{% endfor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&lt;/ul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{% endblock %}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4–5-topshiriqlar: API va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446227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4: DRF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C678DD"/>
                </a:solidFill>
                <a:latin typeface="Consolas"/>
              </a:rPr>
              <a:t>class</a:t>
            </a:r>
            <a:r>
              <a:rPr sz="1200" b="0">
                <a:solidFill>
                  <a:srgbClr val="E6E6E6"/>
                </a:solidFill>
                <a:latin typeface="Consolas"/>
              </a:rPr>
              <a:t> KitobSerializer(serializers.ModelSerializer):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class</a:t>
            </a:r>
            <a:r>
              <a:rPr sz="1200" b="0">
                <a:solidFill>
                  <a:srgbClr val="E6E6E6"/>
                </a:solidFill>
                <a:latin typeface="Consolas"/>
              </a:rPr>
              <a:t> Meta: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model = Kitob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fields = </a:t>
            </a:r>
            <a:r>
              <a:rPr sz="1200" b="0">
                <a:solidFill>
                  <a:srgbClr val="98C379"/>
                </a:solidFill>
                <a:latin typeface="Consolas"/>
              </a:rPr>
              <a:t>"__all__"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def</a:t>
            </a:r>
            <a:r>
              <a:rPr sz="1200" b="0">
                <a:solidFill>
                  <a:srgbClr val="E6E6E6"/>
                </a:solidFill>
                <a:latin typeface="Consolas"/>
              </a:rPr>
              <a:t> validate_narx(</a:t>
            </a:r>
            <a:r>
              <a:rPr sz="1200" b="0">
                <a:solidFill>
                  <a:srgbClr val="C678DD"/>
                </a:solidFill>
                <a:latin typeface="Consolas"/>
              </a:rPr>
              <a:t>self</a:t>
            </a:r>
            <a:r>
              <a:rPr sz="1200" b="0">
                <a:solidFill>
                  <a:srgbClr val="E6E6E6"/>
                </a:solidFill>
                <a:latin typeface="Consolas"/>
              </a:rPr>
              <a:t>, v):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if</a:t>
            </a:r>
            <a:r>
              <a:rPr sz="1200" b="0">
                <a:solidFill>
                  <a:srgbClr val="E6E6E6"/>
                </a:solidFill>
                <a:latin typeface="Consolas"/>
              </a:rPr>
              <a:t> v &lt;= 0: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    raise serializers.ValidationError(</a:t>
            </a:r>
            <a:r>
              <a:rPr sz="1200" b="0">
                <a:solidFill>
                  <a:srgbClr val="98C379"/>
                </a:solidFill>
                <a:latin typeface="Consolas"/>
              </a:rPr>
              <a:t>"Narx musbat bo'lsin"</a:t>
            </a:r>
            <a:r>
              <a:rPr sz="120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00" b="0">
                <a:solidFill>
                  <a:srgbClr val="E6E6E6"/>
                </a:solidFill>
                <a:latin typeface="Consolas"/>
              </a:rPr>
              <a:t> v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C678DD"/>
                </a:solidFill>
                <a:latin typeface="Consolas"/>
              </a:rPr>
              <a:t>class</a:t>
            </a:r>
            <a:r>
              <a:rPr sz="1200" b="0">
                <a:solidFill>
                  <a:srgbClr val="E6E6E6"/>
                </a:solidFill>
                <a:latin typeface="Consolas"/>
              </a:rPr>
              <a:t> KitobViewSet(viewsets.ModelViewSet):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queryset = Kitob.objects.all()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serializer_class = KitobSerializer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permission_classes = [permissions.IsAuthenticatedOrReadOnly]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filter_backends = [filters.SearchFilter]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search_fields = [</a:t>
            </a:r>
            <a:r>
              <a:rPr sz="1200" b="0">
                <a:solidFill>
                  <a:srgbClr val="98C379"/>
                </a:solidFill>
                <a:latin typeface="Consolas"/>
              </a:rPr>
              <a:t>"nomi"</a:t>
            </a:r>
            <a:r>
              <a:rPr sz="1200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router = DefaultRouter()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router.register(</a:t>
            </a:r>
            <a:r>
              <a:rPr sz="1200" b="0">
                <a:solidFill>
                  <a:srgbClr val="98C379"/>
                </a:solidFill>
                <a:latin typeface="Consolas"/>
              </a:rPr>
              <a:t>"kitoblar"</a:t>
            </a:r>
            <a:r>
              <a:rPr sz="1200" b="0">
                <a:solidFill>
                  <a:srgbClr val="E6E6E6"/>
                </a:solidFill>
                <a:latin typeface="Consolas"/>
              </a:rPr>
              <a:t>, KitobViewSet)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>
                <a:solidFill>
                  <a:srgbClr val="1F232B"/>
                </a:solidFill>
                <a:latin typeface="Calibri"/>
              </a:rPr>
              <a:t>5: Deploy bosqichlari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3162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77356" y="189941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7436" y="1926844"/>
            <a:ext cx="4722876" cy="744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0">
                <a:solidFill>
                  <a:srgbClr val="B02A4A"/>
                </a:solidFill>
                <a:latin typeface="Consolas"/>
              </a:rPr>
              <a:t>gunicorn</a:t>
            </a:r>
            <a:r>
              <a:rPr sz="2000" b="0">
                <a:solidFill>
                  <a:srgbClr val="1F232B"/>
                </a:solidFill>
                <a:latin typeface="Calibri"/>
              </a:rPr>
              <a:t>, </a:t>
            </a:r>
            <a:r>
              <a:rPr sz="1840" b="0">
                <a:solidFill>
                  <a:srgbClr val="B02A4A"/>
                </a:solidFill>
                <a:latin typeface="Consolas"/>
              </a:rPr>
              <a:t>whitenoise</a:t>
            </a:r>
            <a:r>
              <a:rPr sz="2000" b="0">
                <a:solidFill>
                  <a:srgbClr val="1F232B"/>
                </a:solidFill>
                <a:latin typeface="Calibri"/>
              </a:rPr>
              <a:t>, </a:t>
            </a:r>
            <a:r>
              <a:rPr sz="1840" b="0">
                <a:solidFill>
                  <a:srgbClr val="B02A4A"/>
                </a:solidFill>
                <a:latin typeface="Consolas"/>
              </a:rPr>
              <a:t>dj-database-url</a:t>
            </a:r>
            <a:r>
              <a:rPr sz="2000" b="0">
                <a:solidFill>
                  <a:srgbClr val="1F232B"/>
                </a:solidFill>
                <a:latin typeface="Calibri"/>
              </a:rPr>
              <a:t> + </a:t>
            </a:r>
            <a:r>
              <a:rPr sz="1840" b="0">
                <a:solidFill>
                  <a:srgbClr val="B02A4A"/>
                </a:solidFill>
                <a:latin typeface="Consolas"/>
              </a:rPr>
              <a:t>requirements.txt</a:t>
            </a:r>
          </a:p>
        </p:txBody>
      </p:sp>
      <p:sp>
        <p:nvSpPr>
          <p:cNvPr id="14" name="Oval 13"/>
          <p:cNvSpPr/>
          <p:nvPr/>
        </p:nvSpPr>
        <p:spPr>
          <a:xfrm>
            <a:off x="6277356" y="2753868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7436" y="2781300"/>
            <a:ext cx="4722876" cy="10622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0">
                <a:solidFill>
                  <a:srgbClr val="B02A4A"/>
                </a:solidFill>
                <a:latin typeface="Consolas"/>
              </a:rPr>
              <a:t>DEBUG=False</a:t>
            </a:r>
            <a:r>
              <a:rPr sz="2000" b="0">
                <a:solidFill>
                  <a:srgbClr val="1F232B"/>
                </a:solidFill>
                <a:latin typeface="Calibri"/>
              </a:rPr>
              <a:t>, </a:t>
            </a:r>
            <a:r>
              <a:rPr sz="1840" b="0">
                <a:solidFill>
                  <a:srgbClr val="B02A4A"/>
                </a:solidFill>
                <a:latin typeface="Consolas"/>
              </a:rPr>
              <a:t>SECRET_KEY</a:t>
            </a:r>
            <a:r>
              <a:rPr sz="2000" b="0">
                <a:solidFill>
                  <a:srgbClr val="1F232B"/>
                </a:solidFill>
                <a:latin typeface="Calibri"/>
              </a:rPr>
              <a:t> va baza — muhitdan; </a:t>
            </a:r>
            <a:r>
              <a:rPr sz="1840" b="0">
                <a:solidFill>
                  <a:srgbClr val="B02A4A"/>
                </a:solidFill>
                <a:latin typeface="Consolas"/>
              </a:rPr>
              <a:t>ALLOWED_HOSTS</a:t>
            </a:r>
            <a:r>
              <a:rPr sz="2000" b="0">
                <a:solidFill>
                  <a:srgbClr val="1F232B"/>
                </a:solidFill>
                <a:latin typeface="Calibri"/>
              </a:rPr>
              <a:t>, </a:t>
            </a:r>
            <a:r>
              <a:rPr sz="1840" b="0">
                <a:solidFill>
                  <a:srgbClr val="B02A4A"/>
                </a:solidFill>
                <a:latin typeface="Consolas"/>
              </a:rPr>
              <a:t>CSRF_TRUSTED_ORIGINS</a:t>
            </a:r>
          </a:p>
        </p:txBody>
      </p:sp>
      <p:sp>
        <p:nvSpPr>
          <p:cNvPr id="16" name="Oval 15"/>
          <p:cNvSpPr/>
          <p:nvPr/>
        </p:nvSpPr>
        <p:spPr>
          <a:xfrm>
            <a:off x="6277356" y="3925823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7436" y="3953256"/>
            <a:ext cx="4722876" cy="744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0">
                <a:solidFill>
                  <a:srgbClr val="B02A4A"/>
                </a:solidFill>
                <a:latin typeface="Consolas"/>
              </a:rPr>
              <a:t>build.sh</a:t>
            </a:r>
            <a:r>
              <a:rPr sz="2000" b="0">
                <a:solidFill>
                  <a:srgbClr val="1F232B"/>
                </a:solidFill>
                <a:latin typeface="Calibri"/>
              </a:rPr>
              <a:t>: install → collectstatic → migrate; push</a:t>
            </a:r>
          </a:p>
        </p:txBody>
      </p:sp>
      <p:sp>
        <p:nvSpPr>
          <p:cNvPr id="18" name="Oval 17"/>
          <p:cNvSpPr/>
          <p:nvPr/>
        </p:nvSpPr>
        <p:spPr>
          <a:xfrm>
            <a:off x="6277356" y="478028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7436" y="4807712"/>
            <a:ext cx="4722876" cy="744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Render: Postgres + Web Service, </a:t>
            </a:r>
            <a:r>
              <a:rPr sz="1840" b="0">
                <a:solidFill>
                  <a:srgbClr val="B02A4A"/>
                </a:solidFill>
                <a:latin typeface="Consolas"/>
              </a:rPr>
              <a:t>gunicorn config.wsgi:application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277356" y="563473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7436" y="5662168"/>
            <a:ext cx="4722876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Superuser, tekshiruv ro'yxati, Logs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Baholash shkalasi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44827"/>
          <a:ext cx="1109167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Ball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86–100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A'lo — kurs dasturini to'liq o'zlashtirgansiz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71–85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Yaxshi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60–70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Qoniqarli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0–59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Qoniqarsiz — mentor bilan takrorlash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DDC5EB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Yakuniy loyiha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EEE2F5"/>
                </a:solidFill>
                <a:latin typeface="Calibri"/>
              </a:rPr>
              <a:t>31-loyiha: kurs davomida o'rganilgan hamma narsa bitta loyihada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DDC5EB"/>
                </a:solidFill>
                <a:latin typeface="Calibri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Majburiy talablar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2525"/>
          <a:ext cx="11091672" cy="3964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9555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Talab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49555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Front-end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Semantik HTML, o'z CSS dizayni, responsiv, JS interaktivlik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9555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Ma'lumotlar bazasi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PostgreSQL; 3+ model, kamida bitta </a:t>
                      </a:r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ForeignKey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555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Back-end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Django CRUD (5 sahifa), shablon merosi, formalar, admin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9555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Foydalanuvchilar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Ro'yxatdan o'tish / kirish; "faqat muallif" ruxsati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555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Kamida bitta resurs uchun DRF API (GET + POST)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9555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Algoritmik qism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Statistika, reyting, hisob-kitob, filtrlash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555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Git va deploy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15+ mazmunli commit, README, internetga joylangan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646413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Individual yoki 2–3 kishilik jamoada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772143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Loyiha g'oyalari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28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📚 </a:t>
            </a:r>
            <a:r>
              <a:rPr sz="2600" b="1">
                <a:solidFill>
                  <a:srgbClr val="1F232B"/>
                </a:solidFill>
                <a:latin typeface="Calibri"/>
              </a:rPr>
              <a:t>Maktab kutubxonasi:</a:t>
            </a:r>
            <a:r>
              <a:rPr sz="2600" b="0">
                <a:solidFill>
                  <a:srgbClr val="1F232B"/>
                </a:solidFill>
                <a:latin typeface="Calibri"/>
              </a:rPr>
              <a:t> katalog, ijara, jarima, eng ko'p o'qilganlar reytingi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6591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0741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📝 </a:t>
            </a:r>
            <a:r>
              <a:rPr sz="2600" b="1">
                <a:solidFill>
                  <a:srgbClr val="1F232B"/>
                </a:solidFill>
                <a:latin typeface="Calibri"/>
              </a:rPr>
              <a:t>Onlayn test tizimi:</a:t>
            </a:r>
            <a:r>
              <a:rPr sz="2600" b="0">
                <a:solidFill>
                  <a:srgbClr val="1F232B"/>
                </a:solidFill>
                <a:latin typeface="Calibri"/>
              </a:rPr>
              <a:t> o'qituvchi test yaratadi, o'quvchilar yechadi, reyting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55600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97504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🏫 </a:t>
            </a:r>
            <a:r>
              <a:rPr sz="2600" b="1">
                <a:solidFill>
                  <a:srgbClr val="1F232B"/>
                </a:solidFill>
                <a:latin typeface="Calibri"/>
              </a:rPr>
              <a:t>Sinf jurnali:</a:t>
            </a:r>
            <a:r>
              <a:rPr sz="2600" b="0">
                <a:solidFill>
                  <a:srgbClr val="1F232B"/>
                </a:solidFill>
                <a:latin typeface="Calibri"/>
              </a:rPr>
              <a:t> o'quvchilar, fanlar, baholar, davomat, hisobotlar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54609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4846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🛒 </a:t>
            </a:r>
            <a:r>
              <a:rPr sz="2600" b="1">
                <a:solidFill>
                  <a:srgbClr val="1F232B"/>
                </a:solidFill>
                <a:latin typeface="Calibri"/>
              </a:rPr>
              <a:t>Maktab do'koni / yarmarka:</a:t>
            </a:r>
            <a:r>
              <a:rPr sz="2600" b="0">
                <a:solidFill>
                  <a:srgbClr val="1F232B"/>
                </a:solidFill>
                <a:latin typeface="Calibri"/>
              </a:rPr>
              <a:t> mahsulotlar, savat, buyurtmalar, ombor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123435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52188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🎯 </a:t>
            </a:r>
            <a:r>
              <a:rPr sz="2600" b="1">
                <a:solidFill>
                  <a:srgbClr val="1F232B"/>
                </a:solidFill>
                <a:latin typeface="Calibri"/>
              </a:rPr>
              <a:t>To'garaklar portali:</a:t>
            </a:r>
            <a:r>
              <a:rPr sz="2600" b="0">
                <a:solidFill>
                  <a:srgbClr val="1F232B"/>
                </a:solidFill>
                <a:latin typeface="Calibri"/>
              </a:rPr>
              <a:t> joylar soni, ro'yxatdan o'tish, jadval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70077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2953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💡 </a:t>
            </a:r>
            <a:r>
              <a:rPr sz="2600" b="1">
                <a:solidFill>
                  <a:srgbClr val="1F232B"/>
                </a:solidFill>
                <a:latin typeface="Calibri"/>
              </a:rPr>
              <a:t>O'z g'oyangiz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mentor bilan kelishib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527812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Bajarish rejasi (4 hafta)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29 / 33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1-hafta — reja:</a:t>
            </a:r>
            <a:r>
              <a:rPr sz="2800" b="0">
                <a:solidFill>
                  <a:srgbClr val="1F232B"/>
                </a:solidFill>
                <a:latin typeface="Calibri"/>
              </a:rPr>
              <a:t> funksiyalar, ER-diagramma, Figma maket, GitHub + Kanban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2-hafta — back-end:</a:t>
            </a:r>
            <a:r>
              <a:rPr sz="2800" b="0">
                <a:solidFill>
                  <a:srgbClr val="1F232B"/>
                </a:solidFill>
                <a:latin typeface="Calibri"/>
              </a:rPr>
              <a:t> modellar, migratsiyalar, admin, CRUD, formalar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423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16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3-hafta — front-end:</a:t>
            </a:r>
            <a:r>
              <a:rPr sz="2800" b="0">
                <a:solidFill>
                  <a:srgbClr val="1F232B"/>
                </a:solidFill>
                <a:latin typeface="Calibri"/>
              </a:rPr>
              <a:t> shablonlar, dizayn, responsivlik, JS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10888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3383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4-hafta — API, sinov, deploy:</a:t>
            </a:r>
            <a:r>
              <a:rPr sz="2800" b="0">
                <a:solidFill>
                  <a:srgbClr val="1F232B"/>
                </a:solidFill>
                <a:latin typeface="Calibri"/>
              </a:rPr>
              <a:t> DRF, testlar, Render, README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87544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0149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Taqdimot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Baholash mezoni (100 ball)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30 / 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4701"/>
          <a:ext cx="11091672" cy="458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543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Ball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6543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Funksionallik — barcha talablar xatosiz ishlaydi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6543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Kod sifati — nomlar, tuzilma, xavfsizlik (CSRF, ruxsatlar)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43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Dizayn va qulaylik — chiroyli, responsiv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6543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Ma'lumotlar bazasi tuzilmasi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43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Git, README va deploy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6543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Taqdimot — tushuntirish va savollarga javob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Taqdimot rejasi (5–7 daqiqa)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31 / 33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Muammo va g'oya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kimga va nima uchun kerak? (30 soniya)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Jonli namoyish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internetdagi sayt, asosiy ssenariylar (3 daqiqa)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Texnik tuzilma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modellar diagrammasi, texnologiyalar (1–2 daqiqa)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Qiyinchiliklar va xulosalar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eng qiyin muammo va yechim (1 daqiqa)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Savollarga javob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0060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Topshirish: GitHub repozitoriyasi yoki mentor tasdiqlagan platforma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919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🎓 Tabriklaymiz — kurs yakunlandi!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42-mavzu · Yakuniy nazorat ishi — IV–V boblar (Django, DRF, Deploy)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32 /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13792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79" b="1">
                <a:solidFill>
                  <a:srgbClr val="8E3FBF"/>
                </a:solidFill>
                <a:latin typeface="Calibri"/>
              </a:rPr>
              <a:t>HTML → CSS → JavaScript → Python → PostgreSQL → Django → DRF →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06268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66 soatda birinchi tegdan internetda ishlaydigan </a:t>
            </a:r>
            <a:r>
              <a:rPr sz="2400" b="1">
                <a:solidFill>
                  <a:srgbClr val="1F232B"/>
                </a:solidFill>
                <a:latin typeface="Calibri"/>
              </a:rPr>
              <a:t>full-stack ilova</a:t>
            </a:r>
            <a:r>
              <a:rPr sz="2400" b="0">
                <a:solidFill>
                  <a:srgbClr val="1F232B"/>
                </a:solidFill>
                <a:latin typeface="Calibri"/>
              </a:rPr>
              <a:t>gacha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04342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51860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Keyingi qadamlar: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8902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997452"/>
            <a:ext cx="1036015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160" b="0">
                <a:solidFill>
                  <a:srgbClr val="1F232B"/>
                </a:solidFill>
                <a:latin typeface="Calibri"/>
              </a:rPr>
              <a:t>"Full-stack qo'llanma" kursi: Node.js, Express, React</a:t>
            </a:r>
          </a:p>
        </p:txBody>
      </p:sp>
      <p:sp>
        <p:nvSpPr>
          <p:cNvPr id="13" name="Oval 12"/>
          <p:cNvSpPr/>
          <p:nvPr/>
        </p:nvSpPr>
        <p:spPr>
          <a:xfrm>
            <a:off x="978407" y="4134612"/>
            <a:ext cx="118872" cy="118872"/>
          </a:xfrm>
          <a:prstGeom prst="ellipse">
            <a:avLst/>
          </a:prstGeom>
          <a:solidFill>
            <a:srgbClr val="C0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543044"/>
            <a:ext cx="1036015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160" b="0">
                <a:solidFill>
                  <a:srgbClr val="1F232B"/>
                </a:solidFill>
                <a:latin typeface="Calibri"/>
              </a:rPr>
              <a:t>Telegram botlar (Python + Aiogram)</a:t>
            </a:r>
          </a:p>
        </p:txBody>
      </p:sp>
      <p:sp>
        <p:nvSpPr>
          <p:cNvPr id="15" name="Oval 14"/>
          <p:cNvSpPr/>
          <p:nvPr/>
        </p:nvSpPr>
        <p:spPr>
          <a:xfrm>
            <a:off x="978407" y="4680204"/>
            <a:ext cx="118872" cy="118872"/>
          </a:xfrm>
          <a:prstGeom prst="ellipse">
            <a:avLst/>
          </a:prstGeom>
          <a:solidFill>
            <a:srgbClr val="C0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88636"/>
            <a:ext cx="1036015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160" b="0">
                <a:solidFill>
                  <a:srgbClr val="1F232B"/>
                </a:solidFill>
                <a:latin typeface="Calibri"/>
              </a:rPr>
              <a:t>Yangi loyihalar — portfoliongizga yangi qadam</a:t>
            </a:r>
          </a:p>
        </p:txBody>
      </p:sp>
      <p:sp>
        <p:nvSpPr>
          <p:cNvPr id="17" name="Oval 16"/>
          <p:cNvSpPr/>
          <p:nvPr/>
        </p:nvSpPr>
        <p:spPr>
          <a:xfrm>
            <a:off x="978407" y="5225796"/>
            <a:ext cx="118872" cy="118872"/>
          </a:xfrm>
          <a:prstGeom prst="ellipse">
            <a:avLst/>
          </a:prstGeom>
          <a:solidFill>
            <a:srgbClr val="C0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34228"/>
            <a:ext cx="1036015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160" b="0">
                <a:solidFill>
                  <a:srgbClr val="1F232B"/>
                </a:solidFill>
                <a:latin typeface="Calibri"/>
              </a:rPr>
              <a:t>Olimpiadalar, xakatonlar, IT-tanlovlar</a:t>
            </a:r>
          </a:p>
        </p:txBody>
      </p:sp>
      <p:sp>
        <p:nvSpPr>
          <p:cNvPr id="19" name="Oval 18"/>
          <p:cNvSpPr/>
          <p:nvPr/>
        </p:nvSpPr>
        <p:spPr>
          <a:xfrm>
            <a:off x="978407" y="5771388"/>
            <a:ext cx="118872" cy="118872"/>
          </a:xfrm>
          <a:prstGeom prst="ellipse">
            <a:avLst/>
          </a:prstGeom>
          <a:solidFill>
            <a:srgbClr val="C0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Kurs yakunlandi — tabriklaymiz! 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42-mavzu: Yakuniy nazorat ishi — IV–V boblar (Django, DRF, Deploy) va yakuniy loyiha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