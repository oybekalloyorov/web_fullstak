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Savol: nega 7 urinish 1–100 uchun doim yetadi? Har safar o'rtadagi sonni aytsangiz oraliq 2 baravar qisqaradi — ikkilik qidiruv.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do...while.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C99400"/>
                </a:solidFill>
                <a:latin typeface="Calibri"/>
              </a:rPr>
              <a:t>17-MAVZU  ·  II BOB. JAVASCRIPT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JavaScript'da takrorlanish operatorlari va funksiyalar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for, while, do...while sikllari, break va continue, cheksiz sikl xavfi; funksiya e'lon qilish, parametrlar, return, arrow funksiyalar, ko'rinish doirasi; kalkulyator va son topish o'yini.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Bir ishni ko'p marta bajaruvchi </a:t>
            </a:r>
            <a:r>
              <a:rPr sz="2800" b="1">
                <a:solidFill>
                  <a:srgbClr val="1F232B"/>
                </a:solidFill>
                <a:latin typeface="Calibri"/>
              </a:rPr>
              <a:t>sikllar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for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while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do...while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break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continue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Funksiya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qayta ishlatiladigan kod bloki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Parametrlar,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return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800" b="1">
                <a:solidFill>
                  <a:srgbClr val="1F232B"/>
                </a:solidFill>
                <a:latin typeface="Calibri"/>
              </a:rPr>
              <a:t>arrow</a:t>
            </a:r>
            <a:r>
              <a:rPr sz="2800" b="0">
                <a:solidFill>
                  <a:srgbClr val="1F232B"/>
                </a:solidFill>
                <a:latin typeface="Calibri"/>
              </a:rPr>
              <a:t> funksiyalar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Kalkulyator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"Sonni top"</a:t>
            </a:r>
            <a:r>
              <a:rPr sz="2800" b="0">
                <a:solidFill>
                  <a:srgbClr val="1F232B"/>
                </a:solidFill>
                <a:latin typeface="Calibri"/>
              </a:rPr>
              <a:t> o'yini (9 va 10-loyihalar)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Nima uchun sikl kerak?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7645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1 dan 100 gacha sonlarni chiqarish uchun 100 qator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console.log</a:t>
            </a:r>
            <a:r>
              <a:rPr sz="2800" b="0">
                <a:solidFill>
                  <a:srgbClr val="1F232B"/>
                </a:solidFill>
                <a:latin typeface="Calibri"/>
              </a:rPr>
              <a:t> yozasizmi? 🙅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73647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30043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C99400"/>
                </a:solidFill>
                <a:latin typeface="Calibri"/>
              </a:rPr>
              <a:t>Sikl — kodni shart bajarilguncha qayta-qayta bajaradi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03141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303141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94580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Sport mashg'uloti:</a:t>
            </a:r>
            <a:r>
              <a:rPr sz="2660" b="0">
                <a:solidFill>
                  <a:srgbClr val="1F232B"/>
                </a:solidFill>
                <a:latin typeface="Calibri"/>
              </a:rPr>
              <a:t> "20 marta o'tirib-tur!" — 1 dan boshlaysiz, 20 gacha sanaysiz, har safar +1. Bu — </a:t>
            </a:r>
            <a:r>
              <a:rPr sz="2447" b="0">
                <a:solidFill>
                  <a:srgbClr val="B02A4A"/>
                </a:solidFill>
                <a:latin typeface="Consolas"/>
              </a:rPr>
              <a:t>for</a:t>
            </a:r>
            <a:r>
              <a:rPr sz="2660" b="0">
                <a:solidFill>
                  <a:srgbClr val="1F232B"/>
                </a:solidFill>
                <a:latin typeface="Calibri"/>
              </a:rPr>
              <a:t> sikli.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for sikli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282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14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466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1; i &lt;= 5; i++)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.log(`${i}-qadam`);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059210"/>
          <a:ext cx="11091672" cy="236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08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Kod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Boshlanish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let i = 1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Hisoblagich (bir marta)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Shart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 &lt;= 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 qadam oldidan; false → tugaydi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Qadam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i++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 aylanishdan keyin +1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60120" y="564188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i=1 → 1≤5? ha → ... → i=6 → 6≤5? </a:t>
            </a:r>
            <a:r>
              <a:rPr sz="2800" b="1">
                <a:solidFill>
                  <a:srgbClr val="1F232B"/>
                </a:solidFill>
                <a:latin typeface="Calibri"/>
              </a:rPr>
              <a:t>yo'q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tugadi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80190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Turli sikllar va yig'uvchi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4246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911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3430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10; i &gt;= 1; i--)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.log(i);   // teskari sanash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"🚀 Start!"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2; i &lt;= 20; i += 2)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.log(i); // faqat juftlar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yigindi = 0;                 // akkumulyator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1; i &lt;= 100; i++)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yigindi += i;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.log(yigindi);            // 5050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544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Yig'uvchi namuna:</a:t>
            </a:r>
            <a:r>
              <a:rPr sz="2800" b="0">
                <a:solidFill>
                  <a:srgbClr val="1F232B"/>
                </a:solidFill>
                <a:latin typeface="Calibri"/>
              </a:rPr>
              <a:t> sikldan oldin </a:t>
            </a:r>
            <a:r>
              <a:rPr sz="2576" b="0">
                <a:solidFill>
                  <a:srgbClr val="B02A4A"/>
                </a:solidFill>
                <a:latin typeface="Consolas"/>
              </a:rPr>
              <a:t>0</a:t>
            </a:r>
            <a:r>
              <a:rPr sz="2800" b="0">
                <a:solidFill>
                  <a:srgbClr val="1F232B"/>
                </a:solidFill>
                <a:latin typeface="Calibri"/>
              </a:rPr>
              <a:t>, ichida qo'shib borish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51450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Sikl ichida sikl: ko'paytirish jadvali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65228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00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94412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1; i &lt;= 9; i++)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qator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""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j = 1; j &lt;= 9; j++)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qator += `${i * j}\t`;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.log(qator);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790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Tashqi sikl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qatorlar</a:t>
            </a:r>
            <a:r>
              <a:rPr sz="2800" b="0">
                <a:solidFill>
                  <a:srgbClr val="1F232B"/>
                </a:solidFill>
                <a:latin typeface="Calibri"/>
              </a:rPr>
              <a:t>, ichki sikl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ustunlar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61792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6699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Ichki sikl tashqi siklning </a:t>
            </a:r>
            <a:r>
              <a:rPr sz="2800" b="1">
                <a:solidFill>
                  <a:srgbClr val="1F232B"/>
                </a:solidFill>
                <a:latin typeface="Calibri"/>
              </a:rPr>
              <a:t>har bir</a:t>
            </a:r>
            <a:r>
              <a:rPr sz="2800" b="0">
                <a:solidFill>
                  <a:srgbClr val="1F232B"/>
                </a:solidFill>
                <a:latin typeface="Calibri"/>
              </a:rPr>
              <a:t> qadamida to'liq bajariladi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22701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while va do...while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70273"/>
            <a:ext cx="11091672" cy="317479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513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9457"/>
            <a:ext cx="10725912" cy="28273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7F848E"/>
                </a:solidFill>
                <a:latin typeface="Consolas"/>
              </a:rPr>
              <a:t>// Velosipedga pul yig'ish: oyiga 50 000, kerak 400 000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let</a:t>
            </a:r>
            <a:r>
              <a:rPr sz="1360" b="0">
                <a:solidFill>
                  <a:srgbClr val="E6E6E6"/>
                </a:solidFill>
                <a:latin typeface="Consolas"/>
              </a:rPr>
              <a:t> jamgarma = 0, oy = 0;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while</a:t>
            </a:r>
            <a:r>
              <a:rPr sz="1360" b="0">
                <a:solidFill>
                  <a:srgbClr val="E6E6E6"/>
                </a:solidFill>
                <a:latin typeface="Consolas"/>
              </a:rPr>
              <a:t> (jamgarma &lt; 400000) {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jamgarma += 50000;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oy++;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360" b="0">
                <a:solidFill>
                  <a:srgbClr val="E6E6E6"/>
                </a:solidFill>
                <a:latin typeface="Consolas"/>
              </a:rPr>
              <a:t>.log(`${oy} oyda yig'iladi`);   // 8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let</a:t>
            </a:r>
            <a:r>
              <a:rPr sz="1360" b="0">
                <a:solidFill>
                  <a:srgbClr val="E6E6E6"/>
                </a:solidFill>
                <a:latin typeface="Consolas"/>
              </a:rPr>
              <a:t> javob;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do {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javob = prompt(</a:t>
            </a:r>
            <a:r>
              <a:rPr sz="1360" b="0">
                <a:solidFill>
                  <a:srgbClr val="98C379"/>
                </a:solidFill>
                <a:latin typeface="Consolas"/>
              </a:rPr>
              <a:t>"Parolni kiriting:"</a:t>
            </a:r>
            <a:r>
              <a:rPr sz="1360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} </a:t>
            </a:r>
            <a:r>
              <a:rPr sz="1360" b="0">
                <a:solidFill>
                  <a:srgbClr val="C678DD"/>
                </a:solidFill>
                <a:latin typeface="Consolas"/>
              </a:rPr>
              <a:t>while</a:t>
            </a:r>
            <a:r>
              <a:rPr sz="1360" b="0">
                <a:solidFill>
                  <a:srgbClr val="E6E6E6"/>
                </a:solidFill>
                <a:latin typeface="Consolas"/>
              </a:rPr>
              <a:t> (javob !== </a:t>
            </a:r>
            <a:r>
              <a:rPr sz="1360" b="0">
                <a:solidFill>
                  <a:srgbClr val="98C379"/>
                </a:solidFill>
                <a:latin typeface="Consolas"/>
              </a:rPr>
              <a:t>"1234"</a:t>
            </a:r>
            <a:r>
              <a:rPr sz="1360" b="0">
                <a:solidFill>
                  <a:srgbClr val="E6E6E6"/>
                </a:solidFill>
                <a:latin typeface="Consolas"/>
              </a:rPr>
              <a:t>);             // kamida BIR marta bajariladi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64526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0">
                <a:solidFill>
                  <a:srgbClr val="B02A4A"/>
                </a:solidFill>
                <a:latin typeface="Consolas"/>
              </a:rPr>
              <a:t>while</a:t>
            </a:r>
            <a:r>
              <a:rPr sz="2000" b="0">
                <a:solidFill>
                  <a:srgbClr val="1F232B"/>
                </a:solidFill>
                <a:latin typeface="Calibri"/>
              </a:rPr>
              <a:t> — necha qadam bo'lishi </a:t>
            </a:r>
            <a:r>
              <a:rPr sz="2000" b="1">
                <a:solidFill>
                  <a:srgbClr val="1F232B"/>
                </a:solidFill>
                <a:latin typeface="Calibri"/>
              </a:rPr>
              <a:t>noma'lum</a:t>
            </a:r>
            <a:r>
              <a:rPr sz="2000" b="0">
                <a:solidFill>
                  <a:srgbClr val="1F232B"/>
                </a:solidFill>
                <a:latin typeface="Calibri"/>
              </a:rPr>
              <a:t> bo'lganda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7882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5346618"/>
            <a:ext cx="11091672" cy="55765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346618"/>
            <a:ext cx="82296" cy="55765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38058"/>
            <a:ext cx="10725912" cy="3930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900" b="1">
                <a:solidFill>
                  <a:srgbClr val="1F232B"/>
                </a:solidFill>
                <a:latin typeface="Calibri"/>
              </a:rPr>
              <a:t>Cheksiz sikl:</a:t>
            </a:r>
            <a:r>
              <a:rPr sz="1900" b="0">
                <a:solidFill>
                  <a:srgbClr val="1F232B"/>
                </a:solidFill>
                <a:latin typeface="Calibri"/>
              </a:rPr>
              <a:t> shart hech qachon false bo'lmasa (</a:t>
            </a:r>
            <a:r>
              <a:rPr sz="1748" b="0">
                <a:solidFill>
                  <a:srgbClr val="B02A4A"/>
                </a:solidFill>
                <a:latin typeface="Consolas"/>
              </a:rPr>
              <a:t>i++</a:t>
            </a:r>
            <a:r>
              <a:rPr sz="1900" b="0">
                <a:solidFill>
                  <a:srgbClr val="1F232B"/>
                </a:solidFill>
                <a:latin typeface="Calibri"/>
              </a:rPr>
              <a:t> unutilgan) — brauzer qotadi!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break va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6695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155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5879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1; i &lt;= 10; i++)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(i === 5) break;      // siklni darhol TO'XTATISH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.log(i);          // 1 2 3 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1; i &lt;= 10; i++)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(i % 3 === 0) continue;   // shu qadamni O'TKAZIB yuborish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.log(i);              // 1 2 4 5 7 8 10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EEDEB2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Funksiyalar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6EED8"/>
                </a:solidFill>
                <a:latin typeface="Calibri"/>
              </a:rPr>
              <a:t>Bir marta yozasiz — xohlagancha chaqirasiz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EEDEB2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Funksiya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648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648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9088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Blender:</a:t>
            </a:r>
            <a:r>
              <a:rPr sz="2660" b="0">
                <a:solidFill>
                  <a:srgbClr val="1F232B"/>
                </a:solidFill>
                <a:latin typeface="Calibri"/>
              </a:rPr>
              <a:t> meva solasiz (parametr), tugmani bosasiz (chaqirish), ichida maydalanadi (tana), sharbat qaytaradi (</a:t>
            </a:r>
            <a:r>
              <a:rPr sz="2447" b="0">
                <a:solidFill>
                  <a:srgbClr val="B02A4A"/>
                </a:solidFill>
                <a:latin typeface="Consolas"/>
              </a:rPr>
              <a:t>return</a:t>
            </a:r>
            <a:r>
              <a:rPr sz="2660" b="0">
                <a:solidFill>
                  <a:srgbClr val="1F232B"/>
                </a:solidFill>
                <a:latin typeface="Calibri"/>
              </a:rPr>
              <a:t>). Har safar yangi blender yasamaysiz!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9961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482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89145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// 1. E'lon qilish — hali bajarilmaydi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904" b="0">
                <a:solidFill>
                  <a:srgbClr val="E6E6E6"/>
                </a:solidFill>
                <a:latin typeface="Consolas"/>
              </a:rPr>
              <a:t> salomlash()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</a:t>
            </a:r>
            <a:r>
              <a:rPr sz="1904" b="0">
                <a:solidFill>
                  <a:srgbClr val="98C379"/>
                </a:solidFill>
                <a:latin typeface="Consolas"/>
              </a:rPr>
              <a:t>"Assalomu alaykum!"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// 2. Chaqirish — endi bajariladi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salomlash();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salomlash();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Parametrlar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979"/>
            <a:ext cx="11091672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84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84163"/>
            <a:ext cx="10725912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904" b="0">
                <a:solidFill>
                  <a:srgbClr val="E6E6E6"/>
                </a:solidFill>
                <a:latin typeface="Consolas"/>
              </a:rPr>
              <a:t> salomlash(ism, sinf) {       // parametrlar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.log(`Salom, ${ism}! Siz ${sinf}-sinfdasiz.`);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salomlash(</a:t>
            </a:r>
            <a:r>
              <a:rPr sz="1904" b="0">
                <a:solidFill>
                  <a:srgbClr val="98C379"/>
                </a:solidFill>
                <a:latin typeface="Consolas"/>
              </a:rPr>
              <a:t>"Aziza"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8);                // argumentlar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salomlash(</a:t>
            </a:r>
            <a:r>
              <a:rPr sz="1904" b="0">
                <a:solidFill>
                  <a:srgbClr val="98C379"/>
                </a:solidFill>
                <a:latin typeface="Consolas"/>
              </a:rPr>
              <a:t>"Bobur"</a:t>
            </a:r>
            <a:r>
              <a:rPr sz="1904" b="0">
                <a:solidFill>
                  <a:srgbClr val="E6E6E6"/>
                </a:solidFill>
                <a:latin typeface="Consolas"/>
              </a:rPr>
              <a:t>, 9);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904" b="0">
                <a:solidFill>
                  <a:srgbClr val="E6E6E6"/>
                </a:solidFill>
                <a:latin typeface="Consolas"/>
              </a:rPr>
              <a:t> xabar(matn, belgi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"❗"</a:t>
            </a:r>
            <a:r>
              <a:rPr sz="1904" b="0">
                <a:solidFill>
                  <a:srgbClr val="E6E6E6"/>
                </a:solidFill>
                <a:latin typeface="Consolas"/>
              </a:rPr>
              <a:t>) {   // standart qiymat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.log(belgi + </a:t>
            </a:r>
            <a:r>
              <a:rPr sz="1904" b="0">
                <a:solidFill>
                  <a:srgbClr val="98C379"/>
                </a:solidFill>
                <a:latin typeface="Consolas"/>
              </a:rPr>
              <a:t>" "</a:t>
            </a:r>
            <a:r>
              <a:rPr sz="1904" b="0">
                <a:solidFill>
                  <a:srgbClr val="E6E6E6"/>
                </a:solidFill>
                <a:latin typeface="Consolas"/>
              </a:rPr>
              <a:t> + matn);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xabar(</a:t>
            </a:r>
            <a:r>
              <a:rPr sz="1904" b="0">
                <a:solidFill>
                  <a:srgbClr val="98C379"/>
                </a:solidFill>
                <a:latin typeface="Consolas"/>
              </a:rPr>
              <a:t>"Ertaga nazorat ishi"</a:t>
            </a:r>
            <a:r>
              <a:rPr sz="1904" b="0">
                <a:solidFill>
                  <a:srgbClr val="E6E6E6"/>
                </a:solidFill>
                <a:latin typeface="Consolas"/>
              </a:rPr>
              <a:t>);         // ❗ Ertaga nazorat ishi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xabar(</a:t>
            </a:r>
            <a:r>
              <a:rPr sz="1904" b="0">
                <a:solidFill>
                  <a:srgbClr val="98C379"/>
                </a:solidFill>
                <a:latin typeface="Consolas"/>
              </a:rPr>
              <a:t>"Yangi dars"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"📢"</a:t>
            </a:r>
            <a:r>
              <a:rPr sz="1904" b="0">
                <a:solidFill>
                  <a:srgbClr val="E6E6E6"/>
                </a:solidFill>
                <a:latin typeface="Consolas"/>
              </a:rPr>
              <a:t>);             // 📢 Yangi dars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return — natija qaytarish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2911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77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2095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496" b="0">
                <a:solidFill>
                  <a:srgbClr val="E6E6E6"/>
                </a:solidFill>
                <a:latin typeface="Consolas"/>
              </a:rPr>
              <a:t> kvadrat(son)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son * son;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496" b="0">
                <a:solidFill>
                  <a:srgbClr val="E6E6E6"/>
                </a:solidFill>
                <a:latin typeface="Consolas"/>
              </a:rPr>
              <a:t> a = kvadrat(5);                  // 25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496" b="0">
                <a:solidFill>
                  <a:srgbClr val="E6E6E6"/>
                </a:solidFill>
                <a:latin typeface="Consolas"/>
              </a:rPr>
              <a:t> b = kvadrat(3) + kvadrat(4);     // 25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496" b="0">
                <a:solidFill>
                  <a:srgbClr val="E6E6E6"/>
                </a:solidFill>
                <a:latin typeface="Consolas"/>
              </a:rPr>
              <a:t> bahoAniqla(ball)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(ball &gt;= 86)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5;   //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funksiyani TUGATADI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(ball &gt;= 71)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4;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(ball &gt;= 56)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3;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2;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30752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console.log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faqat ekranga; </a:t>
            </a:r>
            <a:r>
              <a:rPr sz="2024" b="0">
                <a:solidFill>
                  <a:srgbClr val="B02A4A"/>
                </a:solidFill>
                <a:latin typeface="Consolas"/>
              </a:rPr>
              <a:t>return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</a:t>
            </a:r>
            <a:r>
              <a:rPr sz="2200" b="1">
                <a:solidFill>
                  <a:srgbClr val="1F232B"/>
                </a:solidFill>
                <a:latin typeface="Calibri"/>
              </a:rPr>
              <a:t>qiymat qaytaradi</a:t>
            </a:r>
            <a:r>
              <a:rPr sz="2200" b="0">
                <a:solidFill>
                  <a:srgbClr val="1F232B"/>
                </a:solidFill>
                <a:latin typeface="Calibri"/>
              </a:rPr>
              <a:t>, uni ishlatish mumkin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25648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44594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return</a:t>
            </a:r>
            <a:r>
              <a:rPr sz="2200" b="0">
                <a:solidFill>
                  <a:srgbClr val="1F232B"/>
                </a:solidFill>
                <a:latin typeface="Calibri"/>
              </a:rPr>
              <a:t> siz funksiya </a:t>
            </a:r>
            <a:r>
              <a:rPr sz="2024" b="0">
                <a:solidFill>
                  <a:srgbClr val="B02A4A"/>
                </a:solidFill>
                <a:latin typeface="Consolas"/>
              </a:rPr>
              <a:t>undefined</a:t>
            </a:r>
            <a:r>
              <a:rPr sz="2200" b="0">
                <a:solidFill>
                  <a:srgbClr val="1F232B"/>
                </a:solidFill>
                <a:latin typeface="Calibri"/>
              </a:rPr>
              <a:t> qaytaradi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7703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Arrow funksiyalar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6458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2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904" b="0">
                <a:solidFill>
                  <a:srgbClr val="E6E6E6"/>
                </a:solidFill>
                <a:latin typeface="Consolas"/>
              </a:rPr>
              <a:t> qoshish(a, b) {          // oddiy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a + b;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qoshish2 = (a, b) =&gt; {      // arrow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a + b;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qoshish3 = (a, b) =&gt; a + b; // bitta ifoda —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avtomatik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ikkilantir = son =&gt; son * 2; // bitta parametr — qavssiz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7669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Zamonaviy kodda juda ko'p — ayniqsa massiv metodlarida (18-mavzu)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3671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Ko'rinish doirasi (scope)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1583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644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0767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maktab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"5-maktab"</a:t>
            </a:r>
            <a:r>
              <a:rPr sz="1904" b="0">
                <a:solidFill>
                  <a:srgbClr val="E6E6E6"/>
                </a:solidFill>
                <a:latin typeface="Consolas"/>
              </a:rPr>
              <a:t>;           // global — hamma joyda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904" b="0">
                <a:solidFill>
                  <a:srgbClr val="E6E6E6"/>
                </a:solidFill>
                <a:latin typeface="Consolas"/>
              </a:rPr>
              <a:t> tanishtir()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ism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"Laylo"</a:t>
            </a:r>
            <a:r>
              <a:rPr sz="1904" b="0">
                <a:solidFill>
                  <a:srgbClr val="E6E6E6"/>
                </a:solidFill>
                <a:latin typeface="Consolas"/>
              </a:rPr>
              <a:t>;               // lokal — faqat ichida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.log(`${ism}, ${maktab}`);  // ✅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tanishtir();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// console.log(ism);  ❌ ReferenceError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4344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Funksiya ichidagi o'zgaruvchi — uning </a:t>
            </a:r>
            <a:r>
              <a:rPr sz="2800" b="1">
                <a:solidFill>
                  <a:srgbClr val="1F232B"/>
                </a:solidFill>
                <a:latin typeface="Calibri"/>
              </a:rPr>
              <a:t>"shaxsiy xonasi"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80346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5253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Yaxshi funksiya:</a:t>
            </a:r>
            <a:r>
              <a:rPr sz="2800" b="0">
                <a:solidFill>
                  <a:srgbClr val="1F232B"/>
                </a:solidFill>
                <a:latin typeface="Calibri"/>
              </a:rPr>
              <a:t> bitta vazifa, nomi fe'l (</a:t>
            </a:r>
            <a:r>
              <a:rPr sz="2576" b="0">
                <a:solidFill>
                  <a:srgbClr val="B02A4A"/>
                </a:solidFill>
                <a:latin typeface="Consolas"/>
              </a:rPr>
              <a:t>hisobla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tekshir</a:t>
            </a:r>
            <a:r>
              <a:rPr sz="2800" b="0">
                <a:solidFill>
                  <a:srgbClr val="1F232B"/>
                </a:solidFill>
                <a:latin typeface="Calibri"/>
              </a:rPr>
              <a:t>), takrorni yo'qotadi (DRY)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41255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kalkulyator (9-loyiha)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9249"/>
            <a:ext cx="11091672" cy="455413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411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8433"/>
            <a:ext cx="10725912" cy="420666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292" b="0">
                <a:solidFill>
                  <a:srgbClr val="E6E6E6"/>
                </a:solidFill>
                <a:latin typeface="Consolas"/>
              </a:rPr>
              <a:t> hisobla(a, amal, b) {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switch (amal) {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case </a:t>
            </a:r>
            <a:r>
              <a:rPr sz="1292" b="0">
                <a:solidFill>
                  <a:srgbClr val="98C379"/>
                </a:solidFill>
                <a:latin typeface="Consolas"/>
              </a:rPr>
              <a:t>"+"</a:t>
            </a:r>
            <a:r>
              <a:rPr sz="1292" b="0">
                <a:solidFill>
                  <a:srgbClr val="E6E6E6"/>
                </a:solidFill>
                <a:latin typeface="Consolas"/>
              </a:rPr>
              <a:t>: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a + b;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case </a:t>
            </a:r>
            <a:r>
              <a:rPr sz="1292" b="0">
                <a:solidFill>
                  <a:srgbClr val="98C379"/>
                </a:solidFill>
                <a:latin typeface="Consolas"/>
              </a:rPr>
              <a:t>"-"</a:t>
            </a:r>
            <a:r>
              <a:rPr sz="1292" b="0">
                <a:solidFill>
                  <a:srgbClr val="E6E6E6"/>
                </a:solidFill>
                <a:latin typeface="Consolas"/>
              </a:rPr>
              <a:t>: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a - b;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case </a:t>
            </a:r>
            <a:r>
              <a:rPr sz="1292" b="0">
                <a:solidFill>
                  <a:srgbClr val="98C379"/>
                </a:solidFill>
                <a:latin typeface="Consolas"/>
              </a:rPr>
              <a:t>"*"</a:t>
            </a:r>
            <a:r>
              <a:rPr sz="1292" b="0">
                <a:solidFill>
                  <a:srgbClr val="E6E6E6"/>
                </a:solidFill>
                <a:latin typeface="Consolas"/>
              </a:rPr>
              <a:t>: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a * b;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case </a:t>
            </a:r>
            <a:r>
              <a:rPr sz="1292" b="0">
                <a:solidFill>
                  <a:srgbClr val="98C379"/>
                </a:solidFill>
                <a:latin typeface="Consolas"/>
              </a:rPr>
              <a:t>"/"</a:t>
            </a:r>
            <a:r>
              <a:rPr sz="1292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if</a:t>
            </a:r>
            <a:r>
              <a:rPr sz="1292" b="0">
                <a:solidFill>
                  <a:srgbClr val="E6E6E6"/>
                </a:solidFill>
                <a:latin typeface="Consolas"/>
              </a:rPr>
              <a:t> (b === 0)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  <a:r>
              <a:rPr sz="1292" b="0">
                <a:solidFill>
                  <a:srgbClr val="98C379"/>
                </a:solidFill>
                <a:latin typeface="Consolas"/>
              </a:rPr>
              <a:t>"Nolga bo'lib bo'lmaydi!"</a:t>
            </a:r>
            <a:r>
              <a:rPr sz="129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a / b;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default: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  <a:r>
              <a:rPr sz="1292" b="0">
                <a:solidFill>
                  <a:srgbClr val="98C379"/>
                </a:solidFill>
                <a:latin typeface="Consolas"/>
              </a:rPr>
              <a:t>"Noma'lum amal"</a:t>
            </a:r>
            <a:r>
              <a:rPr sz="129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let</a:t>
            </a:r>
            <a:r>
              <a:rPr sz="1292" b="0">
                <a:solidFill>
                  <a:srgbClr val="E6E6E6"/>
                </a:solidFill>
                <a:latin typeface="Consolas"/>
              </a:rPr>
              <a:t> davom = </a:t>
            </a:r>
            <a:r>
              <a:rPr sz="1292" b="0">
                <a:solidFill>
                  <a:srgbClr val="C678DD"/>
                </a:solidFill>
                <a:latin typeface="Consolas"/>
              </a:rPr>
              <a:t>true</a:t>
            </a:r>
            <a:r>
              <a:rPr sz="129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while</a:t>
            </a:r>
            <a:r>
              <a:rPr sz="1292" b="0">
                <a:solidFill>
                  <a:srgbClr val="E6E6E6"/>
                </a:solidFill>
                <a:latin typeface="Consolas"/>
              </a:rPr>
              <a:t> (davom) {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</a:t>
            </a:r>
            <a:r>
              <a:rPr sz="129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92" b="0">
                <a:solidFill>
                  <a:srgbClr val="E6E6E6"/>
                </a:solidFill>
                <a:latin typeface="Consolas"/>
              </a:rPr>
              <a:t> a = Number(prompt(</a:t>
            </a:r>
            <a:r>
              <a:rPr sz="1292" b="0">
                <a:solidFill>
                  <a:srgbClr val="98C379"/>
                </a:solidFill>
                <a:latin typeface="Consolas"/>
              </a:rPr>
              <a:t>"1-son:"</a:t>
            </a:r>
            <a:r>
              <a:rPr sz="1292" b="0">
                <a:solidFill>
                  <a:srgbClr val="E6E6E6"/>
                </a:solidFill>
                <a:latin typeface="Consolas"/>
              </a:rPr>
              <a:t>));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</a:t>
            </a:r>
            <a:r>
              <a:rPr sz="129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92" b="0">
                <a:solidFill>
                  <a:srgbClr val="E6E6E6"/>
                </a:solidFill>
                <a:latin typeface="Consolas"/>
              </a:rPr>
              <a:t> amal = prompt(</a:t>
            </a:r>
            <a:r>
              <a:rPr sz="1292" b="0">
                <a:solidFill>
                  <a:srgbClr val="98C379"/>
                </a:solidFill>
                <a:latin typeface="Consolas"/>
              </a:rPr>
              <a:t>"Amal (+ - * /):"</a:t>
            </a:r>
            <a:r>
              <a:rPr sz="1292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</a:t>
            </a:r>
            <a:r>
              <a:rPr sz="129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92" b="0">
                <a:solidFill>
                  <a:srgbClr val="E6E6E6"/>
                </a:solidFill>
                <a:latin typeface="Consolas"/>
              </a:rPr>
              <a:t> b = Number(prompt(</a:t>
            </a:r>
            <a:r>
              <a:rPr sz="1292" b="0">
                <a:solidFill>
                  <a:srgbClr val="98C379"/>
                </a:solidFill>
                <a:latin typeface="Consolas"/>
              </a:rPr>
              <a:t>"2-son:"</a:t>
            </a:r>
            <a:r>
              <a:rPr sz="1292" b="0">
                <a:solidFill>
                  <a:srgbClr val="E6E6E6"/>
                </a:solidFill>
                <a:latin typeface="Consolas"/>
              </a:rPr>
              <a:t>));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alert(`Natija: ${hisobla(a, amal, b)}`);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davom = confirm(</a:t>
            </a:r>
            <a:r>
              <a:rPr sz="1292" b="0">
                <a:solidFill>
                  <a:srgbClr val="98C379"/>
                </a:solidFill>
                <a:latin typeface="Consolas"/>
              </a:rPr>
              <a:t>"Yana hisoblaymizmi?"</a:t>
            </a:r>
            <a:r>
              <a:rPr sz="1292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"Sonni top" (10-loyiha)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89657"/>
            <a:ext cx="11091672" cy="375180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452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18841"/>
            <a:ext cx="10725912" cy="340433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796" b="0">
                <a:solidFill>
                  <a:srgbClr val="E6E6E6"/>
                </a:solidFill>
                <a:latin typeface="Consolas"/>
              </a:rPr>
              <a:t> yashirin = Math.floor(Math.random() * 100) + 1;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let</a:t>
            </a:r>
            <a:r>
              <a:rPr sz="1796" b="0">
                <a:solidFill>
                  <a:srgbClr val="E6E6E6"/>
                </a:solidFill>
                <a:latin typeface="Consolas"/>
              </a:rPr>
              <a:t> urinish = 0, topildi = </a:t>
            </a:r>
            <a:r>
              <a:rPr sz="1796" b="0">
                <a:solidFill>
                  <a:srgbClr val="C678DD"/>
                </a:solidFill>
                <a:latin typeface="Consolas"/>
              </a:rPr>
              <a:t>false</a:t>
            </a:r>
            <a:r>
              <a:rPr sz="1796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while</a:t>
            </a:r>
            <a:r>
              <a:rPr sz="1796" b="0">
                <a:solidFill>
                  <a:srgbClr val="E6E6E6"/>
                </a:solidFill>
                <a:latin typeface="Consolas"/>
              </a:rPr>
              <a:t> (urinish &lt; 7 &amp;&amp; !topildi) {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</a:t>
            </a:r>
            <a:r>
              <a:rPr sz="17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796" b="0">
                <a:solidFill>
                  <a:srgbClr val="E6E6E6"/>
                </a:solidFill>
                <a:latin typeface="Consolas"/>
              </a:rPr>
              <a:t> taxmin = Number(prompt(</a:t>
            </a:r>
            <a:r>
              <a:rPr sz="1796" b="0">
                <a:solidFill>
                  <a:srgbClr val="98C379"/>
                </a:solidFill>
                <a:latin typeface="Consolas"/>
              </a:rPr>
              <a:t>"1..100 oralig'ida son:"</a:t>
            </a:r>
            <a:r>
              <a:rPr sz="1796" b="0">
                <a:solidFill>
                  <a:srgbClr val="E6E6E6"/>
                </a:solidFill>
                <a:latin typeface="Consolas"/>
              </a:rPr>
              <a:t>));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urinish++;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</a:t>
            </a:r>
            <a:r>
              <a:rPr sz="1796" b="0">
                <a:solidFill>
                  <a:srgbClr val="C678DD"/>
                </a:solidFill>
                <a:latin typeface="Consolas"/>
              </a:rPr>
              <a:t>if</a:t>
            </a:r>
            <a:r>
              <a:rPr sz="1796" b="0">
                <a:solidFill>
                  <a:srgbClr val="E6E6E6"/>
                </a:solidFill>
                <a:latin typeface="Consolas"/>
              </a:rPr>
              <a:t> (taxmin === yashirin) topildi = </a:t>
            </a:r>
            <a:r>
              <a:rPr sz="1796" b="0">
                <a:solidFill>
                  <a:srgbClr val="C678DD"/>
                </a:solidFill>
                <a:latin typeface="Consolas"/>
              </a:rPr>
              <a:t>true</a:t>
            </a:r>
            <a:r>
              <a:rPr sz="1796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</a:t>
            </a:r>
            <a:r>
              <a:rPr sz="1796" b="0">
                <a:solidFill>
                  <a:srgbClr val="C678DD"/>
                </a:solidFill>
                <a:latin typeface="Consolas"/>
              </a:rPr>
              <a:t>else</a:t>
            </a:r>
            <a:r>
              <a:rPr sz="1796" b="0">
                <a:solidFill>
                  <a:srgbClr val="E6E6E6"/>
                </a:solidFill>
                <a:latin typeface="Consolas"/>
              </a:rPr>
              <a:t> </a:t>
            </a:r>
            <a:r>
              <a:rPr sz="1796" b="0">
                <a:solidFill>
                  <a:srgbClr val="C678DD"/>
                </a:solidFill>
                <a:latin typeface="Consolas"/>
              </a:rPr>
              <a:t>if</a:t>
            </a:r>
            <a:r>
              <a:rPr sz="1796" b="0">
                <a:solidFill>
                  <a:srgbClr val="E6E6E6"/>
                </a:solidFill>
                <a:latin typeface="Consolas"/>
              </a:rPr>
              <a:t> (taxmin &lt; yashirin) alert(</a:t>
            </a:r>
            <a:r>
              <a:rPr sz="1796" b="0">
                <a:solidFill>
                  <a:srgbClr val="98C379"/>
                </a:solidFill>
                <a:latin typeface="Consolas"/>
              </a:rPr>
              <a:t>"⬆️ Kattaroq!"</a:t>
            </a:r>
            <a:r>
              <a:rPr sz="17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</a:t>
            </a:r>
            <a:r>
              <a:rPr sz="1796" b="0">
                <a:solidFill>
                  <a:srgbClr val="C678DD"/>
                </a:solidFill>
                <a:latin typeface="Consolas"/>
              </a:rPr>
              <a:t>else</a:t>
            </a:r>
            <a:r>
              <a:rPr sz="1796" b="0">
                <a:solidFill>
                  <a:srgbClr val="E6E6E6"/>
                </a:solidFill>
                <a:latin typeface="Consolas"/>
              </a:rPr>
              <a:t> alert(</a:t>
            </a:r>
            <a:r>
              <a:rPr sz="1796" b="0">
                <a:solidFill>
                  <a:srgbClr val="98C379"/>
                </a:solidFill>
                <a:latin typeface="Consolas"/>
              </a:rPr>
              <a:t>"⬇️ Kichikroq!"</a:t>
            </a:r>
            <a:r>
              <a:rPr sz="17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alert(topildi ? `🎉 ${urinish} urinishda topdingiz!` : `😢 Son: ${yashirin}`);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Mustaqil topshiriqlar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faktorial(n)</a:t>
            </a:r>
            <a:r>
              <a:rPr sz="2800" b="0">
                <a:solidFill>
                  <a:srgbClr val="1F232B"/>
                </a:solidFill>
                <a:latin typeface="Calibri"/>
              </a:rPr>
              <a:t>: 5! = 120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tubmi(n)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1–100 oralig'idagi tub sonlar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FizzBuzz:</a:t>
            </a:r>
            <a:r>
              <a:rPr sz="2800" b="0">
                <a:solidFill>
                  <a:srgbClr val="1F232B"/>
                </a:solidFill>
                <a:latin typeface="Calibri"/>
              </a:rPr>
              <a:t> 3 ga — "Fizz", 5 ga — "Buzz", ikkalasiga — "FizzBuzz"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yulduzlar(n)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*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**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***</a:t>
            </a:r>
            <a:r>
              <a:rPr sz="2800" b="0">
                <a:solidFill>
                  <a:srgbClr val="1F232B"/>
                </a:solidFill>
                <a:latin typeface="Calibri"/>
              </a:rPr>
              <a:t> uchburchak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Funksiyani e'lon qilib, </a:t>
            </a:r>
            <a:r>
              <a:rPr sz="2800" b="1">
                <a:solidFill>
                  <a:srgbClr val="1F232B"/>
                </a:solidFill>
                <a:latin typeface="Calibri"/>
              </a:rPr>
              <a:t>chaqirishni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unutish (yoki qavssiz </a:t>
            </a:r>
            <a:r>
              <a:rPr sz="2576" b="0">
                <a:solidFill>
                  <a:srgbClr val="B02A4A"/>
                </a:solidFill>
                <a:latin typeface="Consolas"/>
              </a:rPr>
              <a:t>salomlash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return</a:t>
            </a:r>
            <a:r>
              <a:rPr sz="2800" b="0">
                <a:solidFill>
                  <a:srgbClr val="1F232B"/>
                </a:solidFill>
                <a:latin typeface="Calibri"/>
              </a:rPr>
              <a:t> o'rniga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console.log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natija </a:t>
            </a:r>
            <a:r>
              <a:rPr sz="2576" b="0">
                <a:solidFill>
                  <a:srgbClr val="B02A4A"/>
                </a:solidFill>
                <a:latin typeface="Consolas"/>
              </a:rPr>
              <a:t>undefined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for (let i = 0; i &lt;= 10; i--)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cheksiz sikl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&lt;=</a:t>
            </a:r>
            <a:r>
              <a:rPr sz="2800" b="0">
                <a:solidFill>
                  <a:srgbClr val="1F232B"/>
                </a:solidFill>
                <a:latin typeface="Calibri"/>
              </a:rPr>
              <a:t> farqi: </a:t>
            </a:r>
            <a:r>
              <a:rPr sz="2576" b="0">
                <a:solidFill>
                  <a:srgbClr val="B02A4A"/>
                </a:solidFill>
                <a:latin typeface="Consolas"/>
              </a:rPr>
              <a:t>i &lt; 10</a:t>
            </a:r>
            <a:r>
              <a:rPr sz="2800" b="0">
                <a:solidFill>
                  <a:srgbClr val="1F232B"/>
                </a:solidFill>
                <a:latin typeface="Calibri"/>
              </a:rPr>
              <a:t> 10 ni chiqarmaydi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for (let i = 0; i &lt; 5; i++)</a:t>
            </a:r>
            <a:r>
              <a:rPr sz="2400" b="1">
                <a:solidFill>
                  <a:srgbClr val="1F232B"/>
                </a:solidFill>
                <a:latin typeface="Calibri"/>
              </a:rPr>
              <a:t> necha marta bajariladi?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Cheksiz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for (let i = 0; i &lt; 5; i++)</a:t>
            </a:r>
            <a:r>
              <a:rPr sz="2400" b="1">
                <a:solidFill>
                  <a:srgbClr val="1F232B"/>
                </a:solidFill>
                <a:latin typeface="Calibri"/>
              </a:rPr>
              <a:t> necha marta bajariladi?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Cheksiz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Kamida bir marta bajarilishi kafolatlangan sikl?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do...while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Kamida bir marta bajarilishi kafolatlangan sikl?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do...while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const f = x =&gt; x * 3; console.log(f(4));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undefined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const f = x =&gt; x * 3; console.log(f(4));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undefined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let s = 0; for (let i = 1; i &lt;= 4; i++) s += i;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s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nimaga teng?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1234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let s = 0; for (let i = 1; i &lt;= 4; i++) s += i;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s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nimaga teng?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1234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Kalkulyatorga </a:t>
            </a:r>
            <a:r>
              <a:rPr sz="2800" b="1">
                <a:solidFill>
                  <a:srgbClr val="1F232B"/>
                </a:solidFill>
                <a:latin typeface="Calibri"/>
              </a:rPr>
              <a:t>tarix</a:t>
            </a:r>
            <a:r>
              <a:rPr sz="2800" b="0">
                <a:solidFill>
                  <a:srgbClr val="1F232B"/>
                </a:solidFill>
                <a:latin typeface="Calibri"/>
              </a:rPr>
              <a:t> qo'shing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047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790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"Sonni top" — qiyinlik darajalari: 1–20 / 1–100 / 1–1000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7131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3456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raqamlarYigindisi(1234)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10 (</a:t>
            </a:r>
            <a:r>
              <a:rPr sz="2576" b="0">
                <a:solidFill>
                  <a:srgbClr val="B02A4A"/>
                </a:solidFill>
                <a:latin typeface="Consolas"/>
              </a:rPr>
              <a:t>% 10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Math.floor(n / 10)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17-mavzu · JavaScript'da takrorlanish operatorlari va funksiyalar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for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soni ma'lum; </a:t>
            </a:r>
            <a:r>
              <a:rPr sz="2576" b="0">
                <a:solidFill>
                  <a:srgbClr val="B02A4A"/>
                </a:solidFill>
                <a:latin typeface="Consolas"/>
              </a:rPr>
              <a:t>while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noma'lum; </a:t>
            </a:r>
            <a:r>
              <a:rPr sz="2576" b="0">
                <a:solidFill>
                  <a:srgbClr val="B02A4A"/>
                </a:solidFill>
                <a:latin typeface="Consolas"/>
              </a:rPr>
              <a:t>do...while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kamida bir marta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break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to'xtatish,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continue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o'tkazib yuborish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function nom(p) { return ... }</a:t>
            </a:r>
            <a:r>
              <a:rPr sz="2800" b="0">
                <a:solidFill>
                  <a:srgbClr val="1F232B"/>
                </a:solidFill>
                <a:latin typeface="Calibri"/>
              </a:rPr>
              <a:t>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const nom = (p) =&gt; ...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return</a:t>
            </a:r>
            <a:r>
              <a:rPr sz="2800" b="0">
                <a:solidFill>
                  <a:srgbClr val="1F232B"/>
                </a:solidFill>
                <a:latin typeface="Calibri"/>
              </a:rPr>
              <a:t> qiymat qaytaradi va funksiyani tugatadi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Funksiya ichidagi o'zgaruvchilar — lokal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18. Arraylar (massivlar) va obyektlar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17-mavzu: JavaScript'da takrorlanish operatorlari va funksiyalar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