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ism LIKE 'A%'.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GROUP BY fan + AVG(baho).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HAVING.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Ha, chegaralar kiradi.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30-MAVZU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Filtrlash va shartlar. Aggregation va grouping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WHERE'da taqqoslash, AND/OR/NOT, IN, BETWEEN, LIKE/ILIKE, IS NULL; ORDER BY, LIMIT, DISTINCT; agregat funksiyalar COUNT, SUM, AVG, MIN, MAX; GROUP BY va HAVING; statistik hisobotlar tayyorlash.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Murakkab shartlar: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BETWEEN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LIKE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DISTINCT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sahifalash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Agregat funksiyalar: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COUNT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SUM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AVG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MAX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GROUP BY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guruhlash, </a:t>
            </a:r>
            <a:r>
              <a:rPr sz="2576" b="0">
                <a:solidFill>
                  <a:srgbClr val="B02A4A"/>
                </a:solidFill>
                <a:latin typeface="Consolas"/>
              </a:rPr>
              <a:t>HAVING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guruhlarni filtrlash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Haqiqiy </a:t>
            </a:r>
            <a:r>
              <a:rPr sz="2800" b="1">
                <a:solidFill>
                  <a:srgbClr val="1F232B"/>
                </a:solidFill>
                <a:latin typeface="Calibri"/>
              </a:rPr>
              <a:t>hisobotlar</a:t>
            </a:r>
            <a:r>
              <a:rPr sz="2800" b="0">
                <a:solidFill>
                  <a:srgbClr val="1F232B"/>
                </a:solidFill>
                <a:latin typeface="Calibri"/>
              </a:rPr>
              <a:t>: sinf o'rtachasi, eng ko'p sotilgan mahsulot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WHERE operatorlari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81328"/>
          <a:ext cx="11091672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635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=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&lt;&gt;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fan &lt;&gt; 'Tarix'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&gt;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&gt;=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&lt;=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baho &gt;=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AND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OR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baho = 5 AND fan = 'Fizika'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 (...)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sinf_id IN (1, 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BETWEEN a AND b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narx BETWEEN 10000 AND 50000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(chegaralar kiradi)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LIKE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ILIKE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ism LIKE 'A%'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IS NULL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IS NOT NULL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email IS NOT NULL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IN, BETWEEN va qavslar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7960"/>
            <a:ext cx="11091672" cy="22700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282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7144"/>
            <a:ext cx="10725912" cy="19225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820" b="0">
                <a:solidFill>
                  <a:srgbClr val="E6E6E6"/>
                </a:solidFill>
                <a:latin typeface="Consolas"/>
              </a:rPr>
              <a:t> * </a:t>
            </a:r>
            <a:r>
              <a:rPr sz="1820" b="0">
                <a:solidFill>
                  <a:srgbClr val="C678DD"/>
                </a:solidFill>
                <a:latin typeface="Consolas"/>
              </a:rPr>
              <a:t>FROM</a:t>
            </a:r>
            <a:r>
              <a:rPr sz="1820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820" b="0">
                <a:solidFill>
                  <a:srgbClr val="C678DD"/>
                </a:solidFill>
                <a:latin typeface="Consolas"/>
              </a:rPr>
              <a:t>WHERE</a:t>
            </a:r>
            <a:r>
              <a:rPr sz="1820" b="0">
                <a:solidFill>
                  <a:srgbClr val="E6E6E6"/>
                </a:solidFill>
                <a:latin typeface="Consolas"/>
              </a:rPr>
              <a:t> fan </a:t>
            </a:r>
            <a:r>
              <a:rPr sz="1820" b="0">
                <a:solidFill>
                  <a:srgbClr val="C678DD"/>
                </a:solidFill>
                <a:latin typeface="Consolas"/>
              </a:rPr>
              <a:t>IN</a:t>
            </a:r>
            <a:r>
              <a:rPr sz="1820" b="0">
                <a:solidFill>
                  <a:srgbClr val="E6E6E6"/>
                </a:solidFill>
                <a:latin typeface="Consolas"/>
              </a:rPr>
              <a:t> (</a:t>
            </a:r>
            <a:r>
              <a:rPr sz="1820" b="0">
                <a:solidFill>
                  <a:srgbClr val="98C379"/>
                </a:solidFill>
                <a:latin typeface="Consolas"/>
              </a:rPr>
              <a:t>'Matematika'</a:t>
            </a:r>
            <a:r>
              <a:rPr sz="1820" b="0">
                <a:solidFill>
                  <a:srgbClr val="E6E6E6"/>
                </a:solidFill>
                <a:latin typeface="Consolas"/>
              </a:rPr>
              <a:t>, </a:t>
            </a:r>
            <a:r>
              <a:rPr sz="1820" b="0">
                <a:solidFill>
                  <a:srgbClr val="98C379"/>
                </a:solidFill>
                <a:latin typeface="Consolas"/>
              </a:rPr>
              <a:t>'Informatika'</a:t>
            </a:r>
            <a:r>
              <a:rPr sz="1820" b="0">
                <a:solidFill>
                  <a:srgbClr val="E6E6E6"/>
                </a:solidFill>
                <a:latin typeface="Consolas"/>
              </a:rPr>
              <a:t>, </a:t>
            </a:r>
            <a:r>
              <a:rPr sz="1820" b="0">
                <a:solidFill>
                  <a:srgbClr val="98C379"/>
                </a:solidFill>
                <a:latin typeface="Consolas"/>
              </a:rPr>
              <a:t>'Fizika'</a:t>
            </a:r>
            <a:r>
              <a:rPr sz="1820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820" b="0">
                <a:solidFill>
                  <a:srgbClr val="E6E6E6"/>
                </a:solidFill>
                <a:latin typeface="Consolas"/>
              </a:rPr>
              <a:t> * </a:t>
            </a:r>
            <a:r>
              <a:rPr sz="1820" b="0">
                <a:solidFill>
                  <a:srgbClr val="C678DD"/>
                </a:solidFill>
                <a:latin typeface="Consolas"/>
              </a:rPr>
              <a:t>FROM</a:t>
            </a:r>
            <a:r>
              <a:rPr sz="1820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820" b="0">
                <a:solidFill>
                  <a:srgbClr val="C678DD"/>
                </a:solidFill>
                <a:latin typeface="Consolas"/>
              </a:rPr>
              <a:t>WHERE</a:t>
            </a:r>
            <a:r>
              <a:rPr sz="1820" b="0">
                <a:solidFill>
                  <a:srgbClr val="E6E6E6"/>
                </a:solidFill>
                <a:latin typeface="Consolas"/>
              </a:rPr>
              <a:t> sana </a:t>
            </a:r>
            <a:r>
              <a:rPr sz="1820" b="0">
                <a:solidFill>
                  <a:srgbClr val="C678DD"/>
                </a:solidFill>
                <a:latin typeface="Consolas"/>
              </a:rPr>
              <a:t>BETWEEN</a:t>
            </a: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  <a:r>
              <a:rPr sz="1820" b="0">
                <a:solidFill>
                  <a:srgbClr val="98C379"/>
                </a:solidFill>
                <a:latin typeface="Consolas"/>
              </a:rPr>
              <a:t>'2026-09-01'</a:t>
            </a: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  <a:r>
              <a:rPr sz="1820" b="0">
                <a:solidFill>
                  <a:srgbClr val="C678DD"/>
                </a:solidFill>
                <a:latin typeface="Consolas"/>
              </a:rPr>
              <a:t>AND</a:t>
            </a: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  <a:r>
              <a:rPr sz="1820" b="0">
                <a:solidFill>
                  <a:srgbClr val="98C379"/>
                </a:solidFill>
                <a:latin typeface="Consolas"/>
              </a:rPr>
              <a:t>'2026-09-30'</a:t>
            </a:r>
            <a:r>
              <a:rPr sz="1820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820" b="0">
                <a:solidFill>
                  <a:srgbClr val="E6E6E6"/>
                </a:solidFill>
                <a:latin typeface="Consolas"/>
              </a:rPr>
              <a:t> * </a:t>
            </a:r>
            <a:r>
              <a:rPr sz="1820" b="0">
                <a:solidFill>
                  <a:srgbClr val="C678DD"/>
                </a:solidFill>
                <a:latin typeface="Consolas"/>
              </a:rPr>
              <a:t>FROM</a:t>
            </a:r>
            <a:r>
              <a:rPr sz="1820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820" b="0">
                <a:solidFill>
                  <a:srgbClr val="C678DD"/>
                </a:solidFill>
                <a:latin typeface="Consolas"/>
              </a:rPr>
              <a:t>WHERE</a:t>
            </a:r>
            <a:r>
              <a:rPr sz="1820" b="0">
                <a:solidFill>
                  <a:srgbClr val="E6E6E6"/>
                </a:solidFill>
                <a:latin typeface="Consolas"/>
              </a:rPr>
              <a:t> sinf_id </a:t>
            </a:r>
            <a:r>
              <a:rPr sz="1820" b="0">
                <a:solidFill>
                  <a:srgbClr val="C678DD"/>
                </a:solidFill>
                <a:latin typeface="Consolas"/>
              </a:rPr>
              <a:t>NOT</a:t>
            </a: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  <a:r>
              <a:rPr sz="1820" b="0">
                <a:solidFill>
                  <a:srgbClr val="C678DD"/>
                </a:solidFill>
                <a:latin typeface="Consolas"/>
              </a:rPr>
              <a:t>IN</a:t>
            </a:r>
            <a:r>
              <a:rPr sz="1820" b="0">
                <a:solidFill>
                  <a:srgbClr val="E6E6E6"/>
                </a:solidFill>
                <a:latin typeface="Consolas"/>
              </a:rPr>
              <a:t> (1, 2);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820" b="0">
                <a:solidFill>
                  <a:srgbClr val="E6E6E6"/>
                </a:solidFill>
                <a:latin typeface="Consolas"/>
              </a:rPr>
              <a:t> * </a:t>
            </a:r>
            <a:r>
              <a:rPr sz="1820" b="0">
                <a:solidFill>
                  <a:srgbClr val="C678DD"/>
                </a:solidFill>
                <a:latin typeface="Consolas"/>
              </a:rPr>
              <a:t>FROM</a:t>
            </a:r>
            <a:r>
              <a:rPr sz="1820" b="0">
                <a:solidFill>
                  <a:srgbClr val="E6E6E6"/>
                </a:solidFill>
                <a:latin typeface="Consolas"/>
              </a:rPr>
              <a:t> baholar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C678DD"/>
                </a:solidFill>
                <a:latin typeface="Consolas"/>
              </a:rPr>
              <a:t>WHERE</a:t>
            </a:r>
            <a:r>
              <a:rPr sz="1820" b="0">
                <a:solidFill>
                  <a:srgbClr val="E6E6E6"/>
                </a:solidFill>
                <a:latin typeface="Consolas"/>
              </a:rPr>
              <a:t> (fan = </a:t>
            </a:r>
            <a:r>
              <a:rPr sz="1820" b="0">
                <a:solidFill>
                  <a:srgbClr val="98C379"/>
                </a:solidFill>
                <a:latin typeface="Consolas"/>
              </a:rPr>
              <a:t>'Matematika'</a:t>
            </a: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  <a:r>
              <a:rPr sz="1820" b="0">
                <a:solidFill>
                  <a:srgbClr val="C678DD"/>
                </a:solidFill>
                <a:latin typeface="Consolas"/>
              </a:rPr>
              <a:t>OR</a:t>
            </a:r>
            <a:r>
              <a:rPr sz="1820" b="0">
                <a:solidFill>
                  <a:srgbClr val="E6E6E6"/>
                </a:solidFill>
                <a:latin typeface="Consolas"/>
              </a:rPr>
              <a:t> fan = </a:t>
            </a:r>
            <a:r>
              <a:rPr sz="1820" b="0">
                <a:solidFill>
                  <a:srgbClr val="98C379"/>
                </a:solidFill>
                <a:latin typeface="Consolas"/>
              </a:rPr>
              <a:t>'Fizika'</a:t>
            </a:r>
            <a:r>
              <a:rPr sz="1820" b="0">
                <a:solidFill>
                  <a:srgbClr val="E6E6E6"/>
                </a:solidFill>
                <a:latin typeface="Consolas"/>
              </a:rPr>
              <a:t>) </a:t>
            </a:r>
            <a:r>
              <a:rPr sz="1820" b="0">
                <a:solidFill>
                  <a:srgbClr val="C678DD"/>
                </a:solidFill>
                <a:latin typeface="Consolas"/>
              </a:rPr>
              <a:t>AND</a:t>
            </a:r>
            <a:r>
              <a:rPr sz="1820" b="0">
                <a:solidFill>
                  <a:srgbClr val="E6E6E6"/>
                </a:solidFill>
                <a:latin typeface="Consolas"/>
              </a:rPr>
              <a:t> baho = 5;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07455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07455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98895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47" b="0">
                <a:solidFill>
                  <a:srgbClr val="B02A4A"/>
                </a:solidFill>
                <a:latin typeface="Consolas"/>
              </a:rPr>
              <a:t>AND</a:t>
            </a:r>
            <a:r>
              <a:rPr sz="2660" b="0">
                <a:solidFill>
                  <a:srgbClr val="1F232B"/>
                </a:solidFill>
                <a:latin typeface="Calibri"/>
              </a:rPr>
              <a:t> </a:t>
            </a:r>
            <a:r>
              <a:rPr sz="2447" b="0">
                <a:solidFill>
                  <a:srgbClr val="B02A4A"/>
                </a:solidFill>
                <a:latin typeface="Consolas"/>
              </a:rPr>
              <a:t>OR</a:t>
            </a:r>
            <a:r>
              <a:rPr sz="2660" b="0">
                <a:solidFill>
                  <a:srgbClr val="1F232B"/>
                </a:solidFill>
                <a:latin typeface="Calibri"/>
              </a:rPr>
              <a:t> dan </a:t>
            </a:r>
            <a:r>
              <a:rPr sz="2660" b="1">
                <a:solidFill>
                  <a:srgbClr val="1F232B"/>
                </a:solidFill>
                <a:latin typeface="Calibri"/>
              </a:rPr>
              <a:t>oldin</a:t>
            </a:r>
            <a:r>
              <a:rPr sz="2660" b="0">
                <a:solidFill>
                  <a:srgbClr val="1F232B"/>
                </a:solidFill>
                <a:latin typeface="Calibri"/>
              </a:rPr>
              <a:t> bajariladi. Qavssiz: "Matematikadagi hammasi YOKI Fizikadagi 5 lar". Shubha bo'lsa — qavs qo'ying!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LIKE — naqsh bo'yicha qidirish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8619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%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istalgan sondagi belgilar; </a:t>
            </a:r>
            <a:r>
              <a:rPr sz="2576" b="0">
                <a:solidFill>
                  <a:srgbClr val="B02A4A"/>
                </a:solidFill>
                <a:latin typeface="Consolas"/>
              </a:rPr>
              <a:t>_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aynan </a:t>
            </a:r>
            <a:r>
              <a:rPr sz="2800" b="1">
                <a:solidFill>
                  <a:srgbClr val="1F232B"/>
                </a:solidFill>
                <a:latin typeface="Calibri"/>
              </a:rPr>
              <a:t>bitta</a:t>
            </a:r>
            <a:r>
              <a:rPr sz="2800" b="0">
                <a:solidFill>
                  <a:srgbClr val="1F232B"/>
                </a:solidFill>
                <a:latin typeface="Calibri"/>
              </a:rPr>
              <a:t> belgi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84621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295283"/>
            <a:ext cx="11091672" cy="198199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5014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24467"/>
            <a:ext cx="10725912" cy="163452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</a:t>
            </a:r>
            <a:r>
              <a:rPr sz="1534" b="0">
                <a:solidFill>
                  <a:srgbClr val="C678DD"/>
                </a:solidFill>
                <a:latin typeface="Consolas"/>
              </a:rPr>
              <a:t>FROM</a:t>
            </a:r>
            <a:r>
              <a:rPr sz="153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534" b="0">
                <a:solidFill>
                  <a:srgbClr val="C678DD"/>
                </a:solidFill>
                <a:latin typeface="Consolas"/>
              </a:rPr>
              <a:t>WHERE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</a:t>
            </a:r>
            <a:r>
              <a:rPr sz="1534" b="0">
                <a:solidFill>
                  <a:srgbClr val="C678DD"/>
                </a:solidFill>
                <a:latin typeface="Consolas"/>
              </a:rPr>
              <a:t>LIKE</a:t>
            </a:r>
            <a:r>
              <a:rPr sz="1534" b="0">
                <a:solidFill>
                  <a:srgbClr val="E6E6E6"/>
                </a:solidFill>
                <a:latin typeface="Consolas"/>
              </a:rPr>
              <a:t> </a:t>
            </a:r>
            <a:r>
              <a:rPr sz="1534" b="0">
                <a:solidFill>
                  <a:srgbClr val="98C379"/>
                </a:solidFill>
                <a:latin typeface="Consolas"/>
              </a:rPr>
              <a:t>'D%'</a:t>
            </a:r>
            <a:r>
              <a:rPr sz="1534" b="0">
                <a:solidFill>
                  <a:srgbClr val="E6E6E6"/>
                </a:solidFill>
                <a:latin typeface="Consolas"/>
              </a:rPr>
              <a:t>;          -- D bilan boshlanadi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</a:t>
            </a:r>
            <a:r>
              <a:rPr sz="1534" b="0">
                <a:solidFill>
                  <a:srgbClr val="C678DD"/>
                </a:solidFill>
                <a:latin typeface="Consolas"/>
              </a:rPr>
              <a:t>FROM</a:t>
            </a:r>
            <a:r>
              <a:rPr sz="153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534" b="0">
                <a:solidFill>
                  <a:srgbClr val="C678DD"/>
                </a:solidFill>
                <a:latin typeface="Consolas"/>
              </a:rPr>
              <a:t>WHERE</a:t>
            </a:r>
            <a:r>
              <a:rPr sz="1534" b="0">
                <a:solidFill>
                  <a:srgbClr val="E6E6E6"/>
                </a:solidFill>
                <a:latin typeface="Consolas"/>
              </a:rPr>
              <a:t> familiya </a:t>
            </a:r>
            <a:r>
              <a:rPr sz="1534" b="0">
                <a:solidFill>
                  <a:srgbClr val="C678DD"/>
                </a:solidFill>
                <a:latin typeface="Consolas"/>
              </a:rPr>
              <a:t>LIKE</a:t>
            </a:r>
            <a:r>
              <a:rPr sz="1534" b="0">
                <a:solidFill>
                  <a:srgbClr val="E6E6E6"/>
                </a:solidFill>
                <a:latin typeface="Consolas"/>
              </a:rPr>
              <a:t> </a:t>
            </a:r>
            <a:r>
              <a:rPr sz="1534" b="0">
                <a:solidFill>
                  <a:srgbClr val="98C379"/>
                </a:solidFill>
                <a:latin typeface="Consolas"/>
              </a:rPr>
              <a:t>'%ova'</a:t>
            </a:r>
            <a:r>
              <a:rPr sz="1534" b="0">
                <a:solidFill>
                  <a:srgbClr val="E6E6E6"/>
                </a:solidFill>
                <a:latin typeface="Consolas"/>
              </a:rPr>
              <a:t>;   -- </a:t>
            </a:r>
            <a:r>
              <a:rPr sz="1534" b="0">
                <a:solidFill>
                  <a:srgbClr val="98C379"/>
                </a:solidFill>
                <a:latin typeface="Consolas"/>
              </a:rPr>
              <a:t>"ova"</a:t>
            </a:r>
            <a:r>
              <a:rPr sz="1534" b="0">
                <a:solidFill>
                  <a:srgbClr val="E6E6E6"/>
                </a:solidFill>
                <a:latin typeface="Consolas"/>
              </a:rPr>
              <a:t> bilan tugaydi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</a:t>
            </a:r>
            <a:r>
              <a:rPr sz="1534" b="0">
                <a:solidFill>
                  <a:srgbClr val="C678DD"/>
                </a:solidFill>
                <a:latin typeface="Consolas"/>
              </a:rPr>
              <a:t>FROM</a:t>
            </a:r>
            <a:r>
              <a:rPr sz="153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534" b="0">
                <a:solidFill>
                  <a:srgbClr val="C678DD"/>
                </a:solidFill>
                <a:latin typeface="Consolas"/>
              </a:rPr>
              <a:t>WHERE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</a:t>
            </a:r>
            <a:r>
              <a:rPr sz="1534" b="0">
                <a:solidFill>
                  <a:srgbClr val="C678DD"/>
                </a:solidFill>
                <a:latin typeface="Consolas"/>
              </a:rPr>
              <a:t>LIKE</a:t>
            </a:r>
            <a:r>
              <a:rPr sz="1534" b="0">
                <a:solidFill>
                  <a:srgbClr val="E6E6E6"/>
                </a:solidFill>
                <a:latin typeface="Consolas"/>
              </a:rPr>
              <a:t> </a:t>
            </a:r>
            <a:r>
              <a:rPr sz="1534" b="0">
                <a:solidFill>
                  <a:srgbClr val="98C379"/>
                </a:solidFill>
                <a:latin typeface="Consolas"/>
              </a:rPr>
              <a:t>'%a%'</a:t>
            </a:r>
            <a:r>
              <a:rPr sz="1534" b="0">
                <a:solidFill>
                  <a:srgbClr val="E6E6E6"/>
                </a:solidFill>
                <a:latin typeface="Consolas"/>
              </a:rPr>
              <a:t>;         -- ichida </a:t>
            </a:r>
            <a:r>
              <a:rPr sz="1534" b="0">
                <a:solidFill>
                  <a:srgbClr val="98C379"/>
                </a:solidFill>
                <a:latin typeface="Consolas"/>
              </a:rPr>
              <a:t>"a"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</a:t>
            </a:r>
            <a:r>
              <a:rPr sz="1534" b="0">
                <a:solidFill>
                  <a:srgbClr val="C678DD"/>
                </a:solidFill>
                <a:latin typeface="Consolas"/>
              </a:rPr>
              <a:t>FROM</a:t>
            </a:r>
            <a:r>
              <a:rPr sz="153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534" b="0">
                <a:solidFill>
                  <a:srgbClr val="C678DD"/>
                </a:solidFill>
                <a:latin typeface="Consolas"/>
              </a:rPr>
              <a:t>WHERE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</a:t>
            </a:r>
            <a:r>
              <a:rPr sz="1534" b="0">
                <a:solidFill>
                  <a:srgbClr val="C678DD"/>
                </a:solidFill>
                <a:latin typeface="Consolas"/>
              </a:rPr>
              <a:t>LIKE</a:t>
            </a:r>
            <a:r>
              <a:rPr sz="1534" b="0">
                <a:solidFill>
                  <a:srgbClr val="E6E6E6"/>
                </a:solidFill>
                <a:latin typeface="Consolas"/>
              </a:rPr>
              <a:t> </a:t>
            </a:r>
            <a:r>
              <a:rPr sz="1534" b="0">
                <a:solidFill>
                  <a:srgbClr val="98C379"/>
                </a:solidFill>
                <a:latin typeface="Consolas"/>
              </a:rPr>
              <a:t>'_li'</a:t>
            </a:r>
            <a:r>
              <a:rPr sz="1534" b="0">
                <a:solidFill>
                  <a:srgbClr val="E6E6E6"/>
                </a:solidFill>
                <a:latin typeface="Consolas"/>
              </a:rPr>
              <a:t>;         -- Ali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</a:t>
            </a:r>
            <a:r>
              <a:rPr sz="1534" b="0">
                <a:solidFill>
                  <a:srgbClr val="C678DD"/>
                </a:solidFill>
                <a:latin typeface="Consolas"/>
              </a:rPr>
              <a:t>FROM</a:t>
            </a:r>
            <a:r>
              <a:rPr sz="153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534" b="0">
                <a:solidFill>
                  <a:srgbClr val="C678DD"/>
                </a:solidFill>
                <a:latin typeface="Consolas"/>
              </a:rPr>
              <a:t>WHERE</a:t>
            </a:r>
            <a:r>
              <a:rPr sz="1534" b="0">
                <a:solidFill>
                  <a:srgbClr val="E6E6E6"/>
                </a:solidFill>
                <a:latin typeface="Consolas"/>
              </a:rPr>
              <a:t> ism ILIKE </a:t>
            </a:r>
            <a:r>
              <a:rPr sz="1534" b="0">
                <a:solidFill>
                  <a:srgbClr val="98C379"/>
                </a:solidFill>
                <a:latin typeface="Consolas"/>
              </a:rPr>
              <a:t>'zarina'</a:t>
            </a:r>
            <a:r>
              <a:rPr sz="1534" b="0">
                <a:solidFill>
                  <a:srgbClr val="E6E6E6"/>
                </a:solidFill>
                <a:latin typeface="Consolas"/>
              </a:rPr>
              <a:t>;     -- katta-kichik harfga qaramaydi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534" b="0">
                <a:solidFill>
                  <a:srgbClr val="E6E6E6"/>
                </a:solidFill>
                <a:latin typeface="Consolas"/>
              </a:rPr>
              <a:t> </a:t>
            </a:r>
            <a:r>
              <a:rPr sz="1534" b="0">
                <a:solidFill>
                  <a:srgbClr val="C678DD"/>
                </a:solidFill>
                <a:latin typeface="Consolas"/>
              </a:rPr>
              <a:t>DISTINCT</a:t>
            </a:r>
            <a:r>
              <a:rPr sz="1534" b="0">
                <a:solidFill>
                  <a:srgbClr val="E6E6E6"/>
                </a:solidFill>
                <a:latin typeface="Consolas"/>
              </a:rPr>
              <a:t> fan </a:t>
            </a:r>
            <a:r>
              <a:rPr sz="1534" b="0">
                <a:solidFill>
                  <a:srgbClr val="C678DD"/>
                </a:solidFill>
                <a:latin typeface="Consolas"/>
              </a:rPr>
              <a:t>FROM</a:t>
            </a:r>
            <a:r>
              <a:rPr sz="1534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534" b="0">
                <a:solidFill>
                  <a:srgbClr val="C678DD"/>
                </a:solidFill>
                <a:latin typeface="Consolas"/>
              </a:rPr>
              <a:t>ORDER</a:t>
            </a:r>
            <a:r>
              <a:rPr sz="1534" b="0">
                <a:solidFill>
                  <a:srgbClr val="E6E6E6"/>
                </a:solidFill>
                <a:latin typeface="Consolas"/>
              </a:rPr>
              <a:t> </a:t>
            </a:r>
            <a:r>
              <a:rPr sz="1534" b="0">
                <a:solidFill>
                  <a:srgbClr val="C678DD"/>
                </a:solidFill>
                <a:latin typeface="Consolas"/>
              </a:rPr>
              <a:t>BY</a:t>
            </a:r>
            <a:r>
              <a:rPr sz="1534" b="0">
                <a:solidFill>
                  <a:srgbClr val="E6E6E6"/>
                </a:solidFill>
                <a:latin typeface="Consolas"/>
              </a:rPr>
              <a:t> fan;           -- takrorsiz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9673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Saytlardagi qidiruv ko'pincha </a:t>
            </a:r>
            <a:r>
              <a:rPr sz="2576" b="0">
                <a:solidFill>
                  <a:srgbClr val="B02A4A"/>
                </a:solidFill>
                <a:latin typeface="Consolas"/>
              </a:rPr>
              <a:t>ILIKE '%so''z%'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ishlaydi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656757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Agregat funksiyalar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09760"/>
          <a:ext cx="11091672" cy="30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Funksiya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COUNT(*)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Qatorlar soni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COUNT(ustun)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NULL bo'lmaganlar soni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COUNT(DISTINCT ustun)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Noyob qiymatlar soni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SUM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AVG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Yig'indi / o'rtacha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MIN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Eng kichik / eng katta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740640"/>
            <a:ext cx="11091672" cy="97747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9550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69824"/>
            <a:ext cx="10725912" cy="63000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0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06" b="0">
                <a:solidFill>
                  <a:srgbClr val="E6E6E6"/>
                </a:solidFill>
                <a:latin typeface="Consolas"/>
              </a:rPr>
              <a:t> ROUND(</a:t>
            </a:r>
            <a:r>
              <a:rPr sz="1606" b="0">
                <a:solidFill>
                  <a:srgbClr val="C678DD"/>
                </a:solidFill>
                <a:latin typeface="Consolas"/>
              </a:rPr>
              <a:t>AVG</a:t>
            </a:r>
            <a:r>
              <a:rPr sz="1606" b="0">
                <a:solidFill>
                  <a:srgbClr val="E6E6E6"/>
                </a:solidFill>
                <a:latin typeface="Consolas"/>
              </a:rPr>
              <a:t>(baho), 2) </a:t>
            </a:r>
            <a:r>
              <a:rPr sz="1606" b="0">
                <a:solidFill>
                  <a:srgbClr val="C678DD"/>
                </a:solidFill>
                <a:latin typeface="Consolas"/>
              </a:rPr>
              <a:t>AS</a:t>
            </a:r>
            <a:r>
              <a:rPr sz="1606" b="0">
                <a:solidFill>
                  <a:srgbClr val="E6E6E6"/>
                </a:solidFill>
                <a:latin typeface="Consolas"/>
              </a:rPr>
              <a:t> ortacha, </a:t>
            </a:r>
            <a:r>
              <a:rPr sz="1606" b="0">
                <a:solidFill>
                  <a:srgbClr val="C678DD"/>
                </a:solidFill>
                <a:latin typeface="Consolas"/>
              </a:rPr>
              <a:t>MAX</a:t>
            </a:r>
            <a:r>
              <a:rPr sz="1606" b="0">
                <a:solidFill>
                  <a:srgbClr val="E6E6E6"/>
                </a:solidFill>
                <a:latin typeface="Consolas"/>
              </a:rPr>
              <a:t>(baho) </a:t>
            </a:r>
            <a:r>
              <a:rPr sz="1606" b="0">
                <a:solidFill>
                  <a:srgbClr val="C678DD"/>
                </a:solidFill>
                <a:latin typeface="Consolas"/>
              </a:rPr>
              <a:t>AS</a:t>
            </a:r>
            <a:r>
              <a:rPr sz="1606" b="0">
                <a:solidFill>
                  <a:srgbClr val="E6E6E6"/>
                </a:solidFill>
                <a:latin typeface="Consolas"/>
              </a:rPr>
              <a:t> eng_yuqori, </a:t>
            </a:r>
            <a:r>
              <a:rPr sz="1606" b="0">
                <a:solidFill>
                  <a:srgbClr val="C678DD"/>
                </a:solidFill>
                <a:latin typeface="Consolas"/>
              </a:rPr>
              <a:t>MIN</a:t>
            </a:r>
            <a:r>
              <a:rPr sz="1606" b="0">
                <a:solidFill>
                  <a:srgbClr val="E6E6E6"/>
                </a:solidFill>
                <a:latin typeface="Consolas"/>
              </a:rPr>
              <a:t>(baho) </a:t>
            </a:r>
            <a:r>
              <a:rPr sz="1606" b="0">
                <a:solidFill>
                  <a:srgbClr val="C678DD"/>
                </a:solidFill>
                <a:latin typeface="Consolas"/>
              </a:rPr>
              <a:t>AS</a:t>
            </a:r>
            <a:r>
              <a:rPr sz="1606" b="0">
                <a:solidFill>
                  <a:srgbClr val="E6E6E6"/>
                </a:solidFill>
                <a:latin typeface="Consolas"/>
              </a:rPr>
              <a:t> eng_past</a:t>
            </a:r>
          </a:p>
          <a:p>
            <a:pPr>
              <a:lnSpc>
                <a:spcPct val="100000"/>
              </a:lnSpc>
            </a:pPr>
            <a:r>
              <a:rPr sz="1606" b="0">
                <a:solidFill>
                  <a:srgbClr val="C678DD"/>
                </a:solidFill>
                <a:latin typeface="Consolas"/>
              </a:rPr>
              <a:t>FROM</a:t>
            </a:r>
            <a:r>
              <a:rPr sz="1606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606" b="0">
                <a:solidFill>
                  <a:srgbClr val="C678DD"/>
                </a:solidFill>
                <a:latin typeface="Consolas"/>
              </a:rPr>
              <a:t>WHERE</a:t>
            </a:r>
            <a:r>
              <a:rPr sz="1606" b="0">
                <a:solidFill>
                  <a:srgbClr val="E6E6E6"/>
                </a:solidFill>
                <a:latin typeface="Consolas"/>
              </a:rPr>
              <a:t> fan = </a:t>
            </a:r>
            <a:r>
              <a:rPr sz="1606" b="0">
                <a:solidFill>
                  <a:srgbClr val="98C379"/>
                </a:solidFill>
                <a:latin typeface="Consolas"/>
              </a:rPr>
              <a:t>'Matematika'</a:t>
            </a:r>
            <a:r>
              <a:rPr sz="1606" b="0">
                <a:solidFill>
                  <a:srgbClr val="E6E6E6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GROUP BY — guruhlab hisoblash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9870"/>
            <a:ext cx="11091672" cy="91960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59870"/>
            <a:ext cx="82296" cy="91960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1310"/>
            <a:ext cx="10725912" cy="7550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💡 </a:t>
            </a:r>
            <a:r>
              <a:rPr sz="2090" b="1">
                <a:solidFill>
                  <a:srgbClr val="1F232B"/>
                </a:solidFill>
                <a:latin typeface="Calibri"/>
              </a:rPr>
              <a:t>Rangli qalamlar:</a:t>
            </a:r>
            <a:r>
              <a:rPr sz="2090" b="0">
                <a:solidFill>
                  <a:srgbClr val="1F232B"/>
                </a:solidFill>
                <a:latin typeface="Calibri"/>
              </a:rPr>
              <a:t> aralash qalamlarni rangiga qarab uyumlarga ajratasiz (</a:t>
            </a:r>
            <a:r>
              <a:rPr sz="1922" b="0">
                <a:solidFill>
                  <a:srgbClr val="B02A4A"/>
                </a:solidFill>
                <a:latin typeface="Consolas"/>
              </a:rPr>
              <a:t>GROUP BY rang</a:t>
            </a:r>
            <a:r>
              <a:rPr sz="2090" b="0">
                <a:solidFill>
                  <a:srgbClr val="1F232B"/>
                </a:solidFill>
                <a:latin typeface="Calibri"/>
              </a:rPr>
              <a:t>), keyin har uyumni sanaysiz (</a:t>
            </a:r>
            <a:r>
              <a:rPr sz="1922" b="0">
                <a:solidFill>
                  <a:srgbClr val="B02A4A"/>
                </a:solidFill>
                <a:latin typeface="Consolas"/>
              </a:rPr>
              <a:t>COUNT</a:t>
            </a:r>
            <a:r>
              <a:rPr sz="2090" b="0">
                <a:solidFill>
                  <a:srgbClr val="1F232B"/>
                </a:solidFill>
                <a:latin typeface="Calibri"/>
              </a:rPr>
              <a:t>): qizil — 5, ko'k —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8933"/>
            <a:ext cx="11091672" cy="144206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5379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8117"/>
            <a:ext cx="10725912" cy="109459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fan, </a:t>
            </a:r>
            <a:r>
              <a:rPr sz="1496" b="0">
                <a:solidFill>
                  <a:srgbClr val="C678DD"/>
                </a:solidFill>
                <a:latin typeface="Consolas"/>
              </a:rPr>
              <a:t>COUNT</a:t>
            </a:r>
            <a:r>
              <a:rPr sz="1496" b="0">
                <a:solidFill>
                  <a:srgbClr val="E6E6E6"/>
                </a:solidFill>
                <a:latin typeface="Consolas"/>
              </a:rPr>
              <a:t>(*)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baholar_soni, ROUND(</a:t>
            </a:r>
            <a:r>
              <a:rPr sz="1496" b="0">
                <a:solidFill>
                  <a:srgbClr val="C678DD"/>
                </a:solidFill>
                <a:latin typeface="Consolas"/>
              </a:rPr>
              <a:t>AVG</a:t>
            </a:r>
            <a:r>
              <a:rPr sz="1496" b="0">
                <a:solidFill>
                  <a:srgbClr val="E6E6E6"/>
                </a:solidFill>
                <a:latin typeface="Consolas"/>
              </a:rPr>
              <a:t>(baho), 2)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ortacha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GROUP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fan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ORDER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ortacha </a:t>
            </a:r>
            <a:r>
              <a:rPr sz="1496" b="0">
                <a:solidFill>
                  <a:srgbClr val="C678DD"/>
                </a:solidFill>
                <a:latin typeface="Consolas"/>
              </a:rPr>
              <a:t>DESC</a:t>
            </a:r>
            <a:r>
              <a:rPr sz="1496" b="0">
                <a:solidFill>
                  <a:srgbClr val="E6E6E6"/>
                </a:solidFill>
                <a:latin typeface="Consolas"/>
              </a:rPr>
              <a:t>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60458"/>
            <a:ext cx="11091672" cy="1692859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1532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89642"/>
            <a:ext cx="10725912" cy="13453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1F232B"/>
                </a:solidFill>
                <a:latin typeface="Consolas"/>
              </a:rPr>
              <a:t> fan         | baholar_soni | ortacha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1F232B"/>
                </a:solidFill>
                <a:latin typeface="Consolas"/>
              </a:rPr>
              <a:t>-------------+--------------+---------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1F232B"/>
                </a:solidFill>
                <a:latin typeface="Consolas"/>
              </a:rPr>
              <a:t> Ona tili    |            2 |    4.50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1F232B"/>
                </a:solidFill>
                <a:latin typeface="Consolas"/>
              </a:rPr>
              <a:t> Matematika  |            5 |    4.40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1F232B"/>
                </a:solidFill>
                <a:latin typeface="Consolas"/>
              </a:rPr>
              <a:t> Informatika |            5 |    4.00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GROUP BY +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420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2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604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Har bir sinfda nechta o'quvchi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s.nomi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sinf, </a:t>
            </a:r>
            <a:r>
              <a:rPr sz="1496" b="0">
                <a:solidFill>
                  <a:srgbClr val="C678DD"/>
                </a:solidFill>
                <a:latin typeface="Consolas"/>
              </a:rPr>
              <a:t>COUNT</a:t>
            </a:r>
            <a:r>
              <a:rPr sz="1496" b="0">
                <a:solidFill>
                  <a:srgbClr val="E6E6E6"/>
                </a:solidFill>
                <a:latin typeface="Consolas"/>
              </a:rPr>
              <a:t>(o.id)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oquvchilar_soni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sinflar 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LEFT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JOIN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o </a:t>
            </a:r>
            <a:r>
              <a:rPr sz="1496" b="0">
                <a:solidFill>
                  <a:srgbClr val="C678DD"/>
                </a:solidFill>
                <a:latin typeface="Consolas"/>
              </a:rPr>
              <a:t>ON</a:t>
            </a:r>
            <a:r>
              <a:rPr sz="1496" b="0">
                <a:solidFill>
                  <a:srgbClr val="E6E6E6"/>
                </a:solidFill>
                <a:latin typeface="Consolas"/>
              </a:rPr>
              <a:t> o.sinf_id = s.id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GROUP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s.nomi;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O'quvchilar reytingi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o.ism || </a:t>
            </a:r>
            <a:r>
              <a:rPr sz="1496" b="0">
                <a:solidFill>
                  <a:srgbClr val="98C379"/>
                </a:solidFill>
                <a:latin typeface="Consolas"/>
              </a:rPr>
              <a:t>' '</a:t>
            </a:r>
            <a:r>
              <a:rPr sz="1496" b="0">
                <a:solidFill>
                  <a:srgbClr val="E6E6E6"/>
                </a:solidFill>
                <a:latin typeface="Consolas"/>
              </a:rPr>
              <a:t> || o.familiya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oquvchi, ROUND(</a:t>
            </a:r>
            <a:r>
              <a:rPr sz="1496" b="0">
                <a:solidFill>
                  <a:srgbClr val="C678DD"/>
                </a:solidFill>
                <a:latin typeface="Consolas"/>
              </a:rPr>
              <a:t>AVG</a:t>
            </a:r>
            <a:r>
              <a:rPr sz="1496" b="0">
                <a:solidFill>
                  <a:srgbClr val="E6E6E6"/>
                </a:solidFill>
                <a:latin typeface="Consolas"/>
              </a:rPr>
              <a:t>(b.baho), 2)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ortacha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o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JOIN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 b </a:t>
            </a:r>
            <a:r>
              <a:rPr sz="1496" b="0">
                <a:solidFill>
                  <a:srgbClr val="C678DD"/>
                </a:solidFill>
                <a:latin typeface="Consolas"/>
              </a:rPr>
              <a:t>ON</a:t>
            </a:r>
            <a:r>
              <a:rPr sz="1496" b="0">
                <a:solidFill>
                  <a:srgbClr val="E6E6E6"/>
                </a:solidFill>
                <a:latin typeface="Consolas"/>
              </a:rPr>
              <a:t> b.oquvchi_id = o.id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GROUP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o.id, o.ism, o.familiya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ORDER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ortacha </a:t>
            </a:r>
            <a:r>
              <a:rPr sz="1496" b="0">
                <a:solidFill>
                  <a:srgbClr val="C678DD"/>
                </a:solidFill>
                <a:latin typeface="Consolas"/>
              </a:rPr>
              <a:t>DESC</a:t>
            </a:r>
            <a:r>
              <a:rPr sz="1496" b="0">
                <a:solidFill>
                  <a:srgbClr val="E6E6E6"/>
                </a:solidFill>
                <a:latin typeface="Consolas"/>
              </a:rPr>
              <a:t>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11261"/>
            <a:ext cx="11091672" cy="919607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111261"/>
            <a:ext cx="82296" cy="91960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02701"/>
            <a:ext cx="10725912" cy="7550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090" b="1">
                <a:solidFill>
                  <a:srgbClr val="1F232B"/>
                </a:solidFill>
                <a:latin typeface="Calibri"/>
              </a:rPr>
              <a:t>Oltin qoida:</a:t>
            </a:r>
            <a:r>
              <a:rPr sz="2090" b="0">
                <a:solidFill>
                  <a:srgbClr val="1F232B"/>
                </a:solidFill>
                <a:latin typeface="Calibri"/>
              </a:rPr>
              <a:t> SELECT'dagi har bir ustun yo agregat ichida, yo GROUP BY'da bo'lishi kerak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HAVING — guruhlarni filtrlash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9889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WHERE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qatorlarni </a:t>
            </a:r>
            <a:r>
              <a:rPr sz="2800" b="1">
                <a:solidFill>
                  <a:srgbClr val="1F232B"/>
                </a:solidFill>
                <a:latin typeface="Calibri"/>
              </a:rPr>
              <a:t>guruhlashdan oldin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HAVING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guruhlarni </a:t>
            </a:r>
            <a:r>
              <a:rPr sz="2800" b="1">
                <a:solidFill>
                  <a:srgbClr val="1F232B"/>
                </a:solidFill>
                <a:latin typeface="Calibri"/>
              </a:rPr>
              <a:t>hisobdan keyin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809909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03481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5834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32665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oquvchi_id, </a:t>
            </a:r>
            <a:r>
              <a:rPr sz="1904" b="0">
                <a:solidFill>
                  <a:srgbClr val="C678DD"/>
                </a:solidFill>
                <a:latin typeface="Consolas"/>
              </a:rPr>
              <a:t>COUNT</a:t>
            </a:r>
            <a:r>
              <a:rPr sz="1904" b="0">
                <a:solidFill>
                  <a:srgbClr val="E6E6E6"/>
                </a:solidFill>
                <a:latin typeface="Consolas"/>
              </a:rPr>
              <a:t>(*) </a:t>
            </a:r>
            <a:r>
              <a:rPr sz="1904" b="0">
                <a:solidFill>
                  <a:srgbClr val="C678DD"/>
                </a:solidFill>
                <a:latin typeface="Consolas"/>
              </a:rPr>
              <a:t>AS</a:t>
            </a:r>
            <a:r>
              <a:rPr sz="1904" b="0">
                <a:solidFill>
                  <a:srgbClr val="E6E6E6"/>
                </a:solidFill>
                <a:latin typeface="Consolas"/>
              </a:rPr>
              <a:t> soni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baholar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sana &gt;= </a:t>
            </a:r>
            <a:r>
              <a:rPr sz="1904" b="0">
                <a:solidFill>
                  <a:srgbClr val="98C379"/>
                </a:solidFill>
                <a:latin typeface="Consolas"/>
              </a:rPr>
              <a:t>'2026-09-01'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-- 1) qatorlar filtri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GROUP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BY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oquvchi_id            -- 2) guruhlash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HAVING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COUNT</a:t>
            </a:r>
            <a:r>
              <a:rPr sz="1904" b="0">
                <a:solidFill>
                  <a:srgbClr val="E6E6E6"/>
                </a:solidFill>
                <a:latin typeface="Consolas"/>
              </a:rPr>
              <a:t>(*) &gt;= 2           -- 3) guruhlar filtri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ORDER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BY</a:t>
            </a:r>
            <a:r>
              <a:rPr sz="1904" b="0">
                <a:solidFill>
                  <a:srgbClr val="E6E6E6"/>
                </a:solidFill>
                <a:latin typeface="Consolas"/>
              </a:rPr>
              <a:t> soni </a:t>
            </a:r>
            <a:r>
              <a:rPr sz="1904" b="0">
                <a:solidFill>
                  <a:srgbClr val="C678DD"/>
                </a:solidFill>
                <a:latin typeface="Consolas"/>
              </a:rPr>
              <a:t>DESC</a:t>
            </a:r>
            <a:r>
              <a:rPr sz="1904" b="0">
                <a:solidFill>
                  <a:srgbClr val="E6E6E6"/>
                </a:solidFill>
                <a:latin typeface="Consolas"/>
              </a:rPr>
              <a:t>;            -- 4) saralash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SELECT'ning bajarilish tartibi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19199"/>
          <a:ext cx="11091672" cy="3608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51103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Yozilishi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Bajarilishi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1.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SELECT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Qaysi ustunlar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2.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FROM / JOIN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Qaysi jadvallar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3.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WHERE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Qatorlar filtri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4.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GROUP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Guruhlash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5.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HAVING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Guruhlar filtri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6.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ORDER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Saralash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10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7.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LIMIT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Cheklash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347487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Shuning uchun </a:t>
            </a:r>
            <a:r>
              <a:rPr sz="2208" b="0">
                <a:solidFill>
                  <a:srgbClr val="B02A4A"/>
                </a:solidFill>
                <a:latin typeface="Consolas"/>
              </a:rPr>
              <a:t>WHERE AVG(baho) &gt; 4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</a:t>
            </a:r>
            <a:r>
              <a:rPr sz="2400" b="1">
                <a:solidFill>
                  <a:srgbClr val="1F232B"/>
                </a:solidFill>
                <a:latin typeface="Calibri"/>
              </a:rPr>
              <a:t>xato</a:t>
            </a:r>
            <a:r>
              <a:rPr sz="2400" b="0">
                <a:solidFill>
                  <a:srgbClr val="1F232B"/>
                </a:solidFill>
                <a:latin typeface="Calibri"/>
              </a:rPr>
              <a:t>: o'rtacha hali hisoblanmagan!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484647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hisobotlar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>
                <a:solidFill>
                  <a:srgbClr val="1F232B"/>
                </a:solidFill>
                <a:latin typeface="Calibri"/>
              </a:rPr>
              <a:t>Maktab: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3162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899412"/>
            <a:ext cx="1036015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Familiyasi "ov" bilan tugaydiganlar; 2012-yilda tug'ilganlar soni</a:t>
            </a:r>
          </a:p>
        </p:txBody>
      </p:sp>
      <p:sp>
        <p:nvSpPr>
          <p:cNvPr id="10" name="Oval 9"/>
          <p:cNvSpPr/>
          <p:nvPr/>
        </p:nvSpPr>
        <p:spPr>
          <a:xfrm>
            <a:off x="978407" y="2013712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381504"/>
            <a:ext cx="1036015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Har fan: soni, o'rtacha, min, max</a:t>
            </a:r>
          </a:p>
        </p:txBody>
      </p:sp>
      <p:sp>
        <p:nvSpPr>
          <p:cNvPr id="12" name="Oval 11"/>
          <p:cNvSpPr/>
          <p:nvPr/>
        </p:nvSpPr>
        <p:spPr>
          <a:xfrm>
            <a:off x="978407" y="2495804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63596"/>
            <a:ext cx="1036015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Har sinf o'rtacha bahosi (3 jadval)</a:t>
            </a:r>
          </a:p>
        </p:txBody>
      </p:sp>
      <p:sp>
        <p:nvSpPr>
          <p:cNvPr id="14" name="Oval 13"/>
          <p:cNvSpPr/>
          <p:nvPr/>
        </p:nvSpPr>
        <p:spPr>
          <a:xfrm>
            <a:off x="978407" y="2977896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345688"/>
            <a:ext cx="1036015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Kamida bitta "2" olganlar (takrorsiz); top-3 o'quvchi</a:t>
            </a:r>
          </a:p>
        </p:txBody>
      </p:sp>
      <p:sp>
        <p:nvSpPr>
          <p:cNvPr id="16" name="Oval 15"/>
          <p:cNvSpPr/>
          <p:nvPr/>
        </p:nvSpPr>
        <p:spPr>
          <a:xfrm>
            <a:off x="978407" y="3459988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27780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>
                <a:solidFill>
                  <a:srgbClr val="1F232B"/>
                </a:solidFill>
                <a:latin typeface="Calibri"/>
              </a:rPr>
              <a:t>Do'kon: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94208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309872"/>
            <a:ext cx="1036015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Narxi 4 000 – 100 000 oralig'ida</a:t>
            </a:r>
          </a:p>
        </p:txBody>
      </p:sp>
      <p:sp>
        <p:nvSpPr>
          <p:cNvPr id="20" name="Oval 19"/>
          <p:cNvSpPr/>
          <p:nvPr/>
        </p:nvSpPr>
        <p:spPr>
          <a:xfrm>
            <a:off x="978407" y="4424172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791963"/>
            <a:ext cx="1036015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Har buyurtma summasi: </a:t>
            </a:r>
            <a:r>
              <a:rPr sz="1656" b="0">
                <a:solidFill>
                  <a:srgbClr val="B02A4A"/>
                </a:solidFill>
                <a:latin typeface="Consolas"/>
              </a:rPr>
              <a:t>SUM(soni * narx)</a:t>
            </a:r>
          </a:p>
        </p:txBody>
      </p:sp>
      <p:sp>
        <p:nvSpPr>
          <p:cNvPr id="22" name="Oval 21"/>
          <p:cNvSpPr/>
          <p:nvPr/>
        </p:nvSpPr>
        <p:spPr>
          <a:xfrm>
            <a:off x="978407" y="4906263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274055"/>
            <a:ext cx="1036015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Har mijoz: buyurtmalar soni va jami to'lov</a:t>
            </a:r>
          </a:p>
        </p:txBody>
      </p:sp>
      <p:sp>
        <p:nvSpPr>
          <p:cNvPr id="24" name="Oval 23"/>
          <p:cNvSpPr/>
          <p:nvPr/>
        </p:nvSpPr>
        <p:spPr>
          <a:xfrm>
            <a:off x="978407" y="5388355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756147"/>
            <a:ext cx="1036015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Eng ko'p sotilgan mahsulot; 50 000 dan oshgan buyurtmalar (</a:t>
            </a:r>
            <a:r>
              <a:rPr sz="1656" b="0">
                <a:solidFill>
                  <a:srgbClr val="B02A4A"/>
                </a:solidFill>
                <a:latin typeface="Consolas"/>
              </a:rPr>
              <a:t>HAVING</a:t>
            </a:r>
            <a:r>
              <a:rPr sz="1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26" name="Oval 25"/>
          <p:cNvSpPr/>
          <p:nvPr/>
        </p:nvSpPr>
        <p:spPr>
          <a:xfrm>
            <a:off x="978407" y="5870447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namunaviy javoblar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1169"/>
            <a:ext cx="11091672" cy="420075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603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0353"/>
            <a:ext cx="10725912" cy="385328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Har bir sinf bo'yicha o'rtacha baho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s.nomi, ROUND(</a:t>
            </a:r>
            <a:r>
              <a:rPr sz="1496" b="0">
                <a:solidFill>
                  <a:srgbClr val="C678DD"/>
                </a:solidFill>
                <a:latin typeface="Consolas"/>
              </a:rPr>
              <a:t>AVG</a:t>
            </a:r>
            <a:r>
              <a:rPr sz="1496" b="0">
                <a:solidFill>
                  <a:srgbClr val="E6E6E6"/>
                </a:solidFill>
                <a:latin typeface="Consolas"/>
              </a:rPr>
              <a:t>(b.baho), 2)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ortacha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sinflar 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JOIN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o </a:t>
            </a:r>
            <a:r>
              <a:rPr sz="1496" b="0">
                <a:solidFill>
                  <a:srgbClr val="C678DD"/>
                </a:solidFill>
                <a:latin typeface="Consolas"/>
              </a:rPr>
              <a:t>ON</a:t>
            </a:r>
            <a:r>
              <a:rPr sz="1496" b="0">
                <a:solidFill>
                  <a:srgbClr val="E6E6E6"/>
                </a:solidFill>
                <a:latin typeface="Consolas"/>
              </a:rPr>
              <a:t> o.sinf_id = s.id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JOIN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 b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ON</a:t>
            </a:r>
            <a:r>
              <a:rPr sz="1496" b="0">
                <a:solidFill>
                  <a:srgbClr val="E6E6E6"/>
                </a:solidFill>
                <a:latin typeface="Consolas"/>
              </a:rPr>
              <a:t> b.oquvchi_id = o.id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GROUP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s.nomi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ORDER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ortacha </a:t>
            </a:r>
            <a:r>
              <a:rPr sz="1496" b="0">
                <a:solidFill>
                  <a:srgbClr val="C678DD"/>
                </a:solidFill>
                <a:latin typeface="Consolas"/>
              </a:rPr>
              <a:t>DESC</a:t>
            </a:r>
            <a:r>
              <a:rPr sz="1496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Mijozlar statistikasi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m.ism, </a:t>
            </a:r>
            <a:r>
              <a:rPr sz="1496" b="0">
                <a:solidFill>
                  <a:srgbClr val="C678DD"/>
                </a:solidFill>
                <a:latin typeface="Consolas"/>
              </a:rPr>
              <a:t>COUNT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C678DD"/>
                </a:solidFill>
                <a:latin typeface="Consolas"/>
              </a:rPr>
              <a:t>DISTINCT</a:t>
            </a:r>
            <a:r>
              <a:rPr sz="1496" b="0">
                <a:solidFill>
                  <a:srgbClr val="E6E6E6"/>
                </a:solidFill>
                <a:latin typeface="Consolas"/>
              </a:rPr>
              <a:t> b.id)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buyurtmalar,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COALESCE(</a:t>
            </a:r>
            <a:r>
              <a:rPr sz="1496" b="0">
                <a:solidFill>
                  <a:srgbClr val="C678DD"/>
                </a:solidFill>
                <a:latin typeface="Consolas"/>
              </a:rPr>
              <a:t>SUM</a:t>
            </a:r>
            <a:r>
              <a:rPr sz="1496" b="0">
                <a:solidFill>
                  <a:srgbClr val="E6E6E6"/>
                </a:solidFill>
                <a:latin typeface="Consolas"/>
              </a:rPr>
              <a:t>(t.soni * t.narx), 0)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jami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mijozlar m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LEFT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JOIN</a:t>
            </a:r>
            <a:r>
              <a:rPr sz="1496" b="0">
                <a:solidFill>
                  <a:srgbClr val="E6E6E6"/>
                </a:solidFill>
                <a:latin typeface="Consolas"/>
              </a:rPr>
              <a:t> buyurtmalar b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ON</a:t>
            </a:r>
            <a:r>
              <a:rPr sz="1496" b="0">
                <a:solidFill>
                  <a:srgbClr val="E6E6E6"/>
                </a:solidFill>
                <a:latin typeface="Consolas"/>
              </a:rPr>
              <a:t> b.mijoz_id = m.id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LEFT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JOIN</a:t>
            </a:r>
            <a:r>
              <a:rPr sz="1496" b="0">
                <a:solidFill>
                  <a:srgbClr val="E6E6E6"/>
                </a:solidFill>
                <a:latin typeface="Consolas"/>
              </a:rPr>
              <a:t> buyurtma_tarkibi t </a:t>
            </a:r>
            <a:r>
              <a:rPr sz="1496" b="0">
                <a:solidFill>
                  <a:srgbClr val="C678DD"/>
                </a:solidFill>
                <a:latin typeface="Consolas"/>
              </a:rPr>
              <a:t>ON</a:t>
            </a:r>
            <a:r>
              <a:rPr sz="1496" b="0">
                <a:solidFill>
                  <a:srgbClr val="E6E6E6"/>
                </a:solidFill>
                <a:latin typeface="Consolas"/>
              </a:rPr>
              <a:t> t.buyurtma_id = b.id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GROUP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m.id, m.ism;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4137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COALESCE(qiymat, 0)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NULL bo'lsa 0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9671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column "o.ism" must appear in the GROUP BY clause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aggregate functions are not allowed in WHERE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HAVING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LIKE 'a%'</a:t>
            </a:r>
            <a:r>
              <a:rPr sz="2800" b="0">
                <a:solidFill>
                  <a:srgbClr val="1F232B"/>
                </a:solidFill>
                <a:latin typeface="Calibri"/>
              </a:rPr>
              <a:t> katta "A" ni topmaydi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ILIKE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COUNT(ustun)</a:t>
            </a:r>
            <a:r>
              <a:rPr sz="2800" b="0">
                <a:solidFill>
                  <a:srgbClr val="1F232B"/>
                </a:solidFill>
                <a:latin typeface="Calibri"/>
              </a:rPr>
              <a:t> NULL'larni sanamaydi, </a:t>
            </a:r>
            <a:r>
              <a:rPr sz="2576" b="0">
                <a:solidFill>
                  <a:srgbClr val="B02A4A"/>
                </a:solidFill>
                <a:latin typeface="Consolas"/>
              </a:rPr>
              <a:t>COUNT(*)</a:t>
            </a:r>
            <a:r>
              <a:rPr sz="2800" b="0">
                <a:solidFill>
                  <a:srgbClr val="1F232B"/>
                </a:solidFill>
                <a:latin typeface="Calibri"/>
              </a:rPr>
              <a:t> sanaydi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"A" harfi bilan boshlanadigan ismlarni topuvchi shart?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ism = 'A%'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ism LIKE 'A%'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ism LIKE '%A'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ism IN 'A'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"A" harfi bilan boshlanadigan ismlarni topuvchi shart?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ism = 'A%'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ism LIKE 'A%'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ism LIKE '%A'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ism IN 'A'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"Har bir fan bo'yicha o'rtacha baho" uchun nima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GROUP BY fan</a:t>
            </a:r>
            <a:r>
              <a:rPr sz="1900" b="0">
                <a:solidFill>
                  <a:srgbClr val="1F232B"/>
                </a:solidFill>
                <a:latin typeface="Calibri"/>
              </a:rPr>
              <a:t> + </a:t>
            </a:r>
            <a:r>
              <a:rPr sz="1748" b="0">
                <a:solidFill>
                  <a:srgbClr val="B02A4A"/>
                </a:solidFill>
                <a:latin typeface="Consolas"/>
              </a:rPr>
              <a:t>AVG(baho)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ORDER BY fan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DISTINCT fan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fan = AVG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"Har bir fan bo'yicha o'rtacha baho" uchun nima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GROUP BY fan</a:t>
            </a:r>
            <a:r>
              <a:rPr sz="1900" b="1">
                <a:solidFill>
                  <a:srgbClr val="1F232B"/>
                </a:solidFill>
                <a:latin typeface="Calibri"/>
              </a:rPr>
              <a:t> + </a:t>
            </a:r>
            <a:r>
              <a:rPr sz="1748" b="1">
                <a:solidFill>
                  <a:srgbClr val="B02A4A"/>
                </a:solidFill>
                <a:latin typeface="Consolas"/>
              </a:rPr>
              <a:t>AVG(baho)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ORDER BY fan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DISTINCT fan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fan = AVG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Guruhlarni hisob-kitobdan keyin filtrlash uchun qaysi kalit so'z?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FILTER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LIMIT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HAVING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Guruhlarni hisob-kitobdan keyin filtrlash uchun qaysi kalit so'z?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FILTER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LIMIT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HAVING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WHERE narx BETWEEN 100 AND 200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200 natijaga kiradimi?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Yo'q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Ha, chegaralar kiradi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100 kiradi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 beradi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WHERE narx BETWEEN 100 AND 200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200 natijaga kiradimi?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Yo'q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Ha, chegaralar kiradi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100 kiradi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 beradi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9444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1878"/>
            <a:ext cx="10451592" cy="144322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Kutubxona hisobotlari:</a:t>
            </a:r>
            <a:r>
              <a:rPr sz="2800" b="0">
                <a:solidFill>
                  <a:srgbClr val="1F232B"/>
                </a:solidFill>
                <a:latin typeface="Calibri"/>
              </a:rPr>
              <a:t> eng ko'p o'qilgan kitob, eng faol o'quvchi, muallif kitoblari soni, kechikkan ijaralar, oylar bo'yicha ijaralar (</a:t>
            </a:r>
            <a:r>
              <a:rPr sz="2576" b="0">
                <a:solidFill>
                  <a:srgbClr val="B02A4A"/>
                </a:solidFill>
                <a:latin typeface="Consolas"/>
              </a:rPr>
              <a:t>EXTRACT(MONTH FROM sana)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4740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47483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SQLBolt</a:t>
            </a:r>
            <a:r>
              <a:rPr sz="2800" b="0">
                <a:solidFill>
                  <a:srgbClr val="1F232B"/>
                </a:solidFill>
                <a:latin typeface="Calibri"/>
              </a:rPr>
              <a:t> saytida 1–12-darslar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30-mavzu · Filtrlash va shartlar. Aggregation va grouping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BETWEEN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LIKE / ILIKE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IS NULL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AND/OR/NOT</a:t>
            </a:r>
            <a:r>
              <a:rPr sz="2800" b="0">
                <a:solidFill>
                  <a:srgbClr val="1F232B"/>
                </a:solidFill>
                <a:latin typeface="Calibri"/>
              </a:rPr>
              <a:t> (qavslar!)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DISTINCT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ORDER BY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LIMIT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COUNT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SUM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AVG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MAX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ROUND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COALESCE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GROUP BY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guruhlash; </a:t>
            </a:r>
            <a:r>
              <a:rPr sz="2576" b="0">
                <a:solidFill>
                  <a:srgbClr val="B02A4A"/>
                </a:solidFill>
                <a:latin typeface="Consolas"/>
              </a:rPr>
              <a:t>HAVING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guruh sharti; </a:t>
            </a:r>
            <a:r>
              <a:rPr sz="2576" b="0">
                <a:solidFill>
                  <a:srgbClr val="B02A4A"/>
                </a:solidFill>
                <a:latin typeface="Consolas"/>
              </a:rPr>
              <a:t>WHERE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qator sharti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FROM → WHERE → GROUP BY → HAVING → SELECT → ORDER BY → LIMIT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31. Yakuniy nazorat ishi — II–III boblar (JavaScript, Python, 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30-mavzu: Filtrlash va shartlar. Aggregation va grouping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