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instance=.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View'da (serverda).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Paginator.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LoginRequiredMixin.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1F7A4D"/>
                </a:solidFill>
                <a:latin typeface="Calibri"/>
              </a:rPr>
              <a:t>38-MAVZU  ·  IV BOB. PYTHON, POSTGRESQL VA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CRUD amallarini yaratish. CRUD asosida mini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Maktab blogini to'liq CRUD ilovaga aylantirish: ro'yxat (sahifalash bilan), batafsil ko'rish, yaratish, tahrirlash, o'chirish (tasdiqlash bilan), faqat muallifga ruxsat; xuddi shu ishni Class Based View'lar (ListView, DetailView, CreateView, UpdateView, DeleteView) bilan qilish; sinovdan o'tkazish.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Model, View, Template va Form'ni </a:t>
            </a:r>
            <a:r>
              <a:rPr sz="2800" b="1">
                <a:solidFill>
                  <a:srgbClr val="1F232B"/>
                </a:solidFill>
                <a:latin typeface="Calibri"/>
              </a:rPr>
              <a:t>bitta to'liq ilovaga</a:t>
            </a:r>
            <a:r>
              <a:rPr sz="2800" b="0">
                <a:solidFill>
                  <a:srgbClr val="1F232B"/>
                </a:solidFill>
                <a:latin typeface="Calibri"/>
              </a:rPr>
              <a:t> birlashtirish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4 ta CRUD amali — veb-interfeys orqali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Ruxsatlar: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faqat muallif tahrirlaydi va o'chiradi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Sahifalash</a:t>
            </a:r>
            <a:r>
              <a:rPr sz="2800" b="0">
                <a:solidFill>
                  <a:srgbClr val="1F232B"/>
                </a:solidFill>
                <a:latin typeface="Calibri"/>
              </a:rPr>
              <a:t> (pagination)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Xuddi shu ilova — tayyor </a:t>
            </a:r>
            <a:r>
              <a:rPr sz="2800" b="1">
                <a:solidFill>
                  <a:srgbClr val="1F232B"/>
                </a:solidFill>
                <a:latin typeface="Calibri"/>
              </a:rPr>
              <a:t>Class Based View</a:t>
            </a:r>
            <a:r>
              <a:rPr sz="2800" b="0">
                <a:solidFill>
                  <a:srgbClr val="1F232B"/>
                </a:solidFill>
                <a:latin typeface="Calibri"/>
              </a:rPr>
              <a:t>'lar bilan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072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Sinov</a:t>
            </a:r>
            <a:r>
              <a:rPr sz="2800" b="0">
                <a:solidFill>
                  <a:srgbClr val="1F232B"/>
                </a:solidFill>
                <a:latin typeface="Calibri"/>
              </a:rPr>
              <a:t> (21-loyiha: Blog veb-ilovasi)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506730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Reja: CRUD = 5 ta sahifa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56991"/>
          <a:ext cx="11091672" cy="3113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18837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Amal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Shablon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Kim uchun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R — ro'yxat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maqola_list.html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Hamma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R — batafsil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/maqola/&lt;id&gt;/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maqola_detail.html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Hamma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C — yaratish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/maqola/yangi/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maqola_form.html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Kirganlar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U — tahrirlash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/maqola/&lt;id&gt;/tahrirlash/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maqola_form.html</a:t>
                      </a:r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 (o'sha!)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Muallif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839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D — o'chirish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/maqola/&lt;id&gt;/ochirish/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maqola_confirm_delete.html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Muallif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89471"/>
            <a:ext cx="11091672" cy="12871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1F7A4D"/>
                </a:solidFill>
                <a:latin typeface="Calibri"/>
              </a:rPr>
              <a:t>Har qanday CRUD ilovaning "retsepti": kutubxona, talabalar, mahsulotlar...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1. URL'lar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2950"/>
            <a:ext cx="11091672" cy="232389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781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blog/urls.py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62134"/>
            <a:ext cx="10725912" cy="1976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06" b="0">
                <a:solidFill>
                  <a:srgbClr val="E6E6E6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</a:pPr>
            <a:r>
              <a:rPr sz="1606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606" b="0">
                <a:solidFill>
                  <a:srgbClr val="98C379"/>
                </a:solidFill>
                <a:latin typeface="Consolas"/>
              </a:rPr>
              <a:t>""</a:t>
            </a:r>
            <a:r>
              <a:rPr sz="1606" b="0">
                <a:solidFill>
                  <a:srgbClr val="E6E6E6"/>
                </a:solidFill>
                <a:latin typeface="Consolas"/>
              </a:rPr>
              <a:t>, views.maqola_royxat, name=</a:t>
            </a:r>
            <a:r>
              <a:rPr sz="1606" b="0">
                <a:solidFill>
                  <a:srgbClr val="98C379"/>
                </a:solidFill>
                <a:latin typeface="Consolas"/>
              </a:rPr>
              <a:t>"bosh"</a:t>
            </a:r>
            <a:r>
              <a:rPr sz="1606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606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606" b="0">
                <a:solidFill>
                  <a:srgbClr val="98C379"/>
                </a:solidFill>
                <a:latin typeface="Consolas"/>
              </a:rPr>
              <a:t>"maqola/yangi/"</a:t>
            </a:r>
            <a:r>
              <a:rPr sz="1606" b="0">
                <a:solidFill>
                  <a:srgbClr val="E6E6E6"/>
                </a:solidFill>
                <a:latin typeface="Consolas"/>
              </a:rPr>
              <a:t>, views.maqola_yaratish, name=</a:t>
            </a:r>
            <a:r>
              <a:rPr sz="1606" b="0">
                <a:solidFill>
                  <a:srgbClr val="98C379"/>
                </a:solidFill>
                <a:latin typeface="Consolas"/>
              </a:rPr>
              <a:t>"yaratish"</a:t>
            </a:r>
            <a:r>
              <a:rPr sz="1606" b="0">
                <a:solidFill>
                  <a:srgbClr val="E6E6E6"/>
                </a:solidFill>
                <a:latin typeface="Consolas"/>
              </a:rPr>
              <a:t>),   # &lt;id&gt; dan OLDIN</a:t>
            </a:r>
          </a:p>
          <a:p>
            <a:pPr>
              <a:lnSpc>
                <a:spcPct val="100000"/>
              </a:lnSpc>
            </a:pPr>
            <a:r>
              <a:rPr sz="1606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606" b="0">
                <a:solidFill>
                  <a:srgbClr val="98C379"/>
                </a:solidFill>
                <a:latin typeface="Consolas"/>
              </a:rPr>
              <a:t>"maqola/&lt;int:id&gt;/"</a:t>
            </a:r>
            <a:r>
              <a:rPr sz="1606" b="0">
                <a:solidFill>
                  <a:srgbClr val="E6E6E6"/>
                </a:solidFill>
                <a:latin typeface="Consolas"/>
              </a:rPr>
              <a:t>, views.maqola_batafsil, name=</a:t>
            </a:r>
            <a:r>
              <a:rPr sz="1606" b="0">
                <a:solidFill>
                  <a:srgbClr val="98C379"/>
                </a:solidFill>
                <a:latin typeface="Consolas"/>
              </a:rPr>
              <a:t>"maqola"</a:t>
            </a:r>
            <a:r>
              <a:rPr sz="1606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606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606" b="0">
                <a:solidFill>
                  <a:srgbClr val="98C379"/>
                </a:solidFill>
                <a:latin typeface="Consolas"/>
              </a:rPr>
              <a:t>"maqola/&lt;int:id&gt;/tahrirlash/"</a:t>
            </a:r>
            <a:r>
              <a:rPr sz="1606" b="0">
                <a:solidFill>
                  <a:srgbClr val="E6E6E6"/>
                </a:solidFill>
                <a:latin typeface="Consolas"/>
              </a:rPr>
              <a:t>, views.maqola_tahrirlash, name=</a:t>
            </a:r>
            <a:r>
              <a:rPr sz="1606" b="0">
                <a:solidFill>
                  <a:srgbClr val="98C379"/>
                </a:solidFill>
                <a:latin typeface="Consolas"/>
              </a:rPr>
              <a:t>"tahrirlash"</a:t>
            </a:r>
            <a:r>
              <a:rPr sz="1606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606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606" b="0">
                <a:solidFill>
                  <a:srgbClr val="98C379"/>
                </a:solidFill>
                <a:latin typeface="Consolas"/>
              </a:rPr>
              <a:t>"maqola/&lt;int:id&gt;/ochirish/"</a:t>
            </a:r>
            <a:r>
              <a:rPr sz="1606" b="0">
                <a:solidFill>
                  <a:srgbClr val="E6E6E6"/>
                </a:solidFill>
                <a:latin typeface="Consolas"/>
              </a:rPr>
              <a:t>, views.maqola_ochirish, name=</a:t>
            </a:r>
            <a:r>
              <a:rPr sz="1606" b="0">
                <a:solidFill>
                  <a:srgbClr val="98C379"/>
                </a:solidFill>
                <a:latin typeface="Consolas"/>
              </a:rPr>
              <a:t>"ochirish"</a:t>
            </a:r>
            <a:r>
              <a:rPr sz="1606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606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63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Aniq yo'l (</a:t>
            </a:r>
            <a:r>
              <a:rPr sz="2576" b="0">
                <a:solidFill>
                  <a:srgbClr val="B02A4A"/>
                </a:solidFill>
                <a:latin typeface="Consolas"/>
              </a:rPr>
              <a:t>yangi/</a:t>
            </a:r>
            <a:r>
              <a:rPr sz="2800" b="0">
                <a:solidFill>
                  <a:srgbClr val="1F232B"/>
                </a:solidFill>
                <a:latin typeface="Calibri"/>
              </a:rPr>
              <a:t>) o'zgaruvchili yo'ldan </a:t>
            </a:r>
            <a:r>
              <a:rPr sz="2800" b="1">
                <a:solidFill>
                  <a:srgbClr val="1F232B"/>
                </a:solidFill>
                <a:latin typeface="Calibri"/>
              </a:rPr>
              <a:t>oldin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yoziladi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363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1. Forma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2557"/>
            <a:ext cx="11091672" cy="31638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4742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blog/forms.py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1741"/>
            <a:ext cx="10725912" cy="28163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25" b="0">
                <a:solidFill>
                  <a:srgbClr val="C678DD"/>
                </a:solidFill>
                <a:latin typeface="Consolas"/>
              </a:rPr>
              <a:t>class</a:t>
            </a:r>
            <a:r>
              <a:rPr sz="1625" b="0">
                <a:solidFill>
                  <a:srgbClr val="E6E6E6"/>
                </a:solidFill>
                <a:latin typeface="Consolas"/>
              </a:rPr>
              <a:t> MaqolaForm(forms.ModelForm):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</a:t>
            </a:r>
            <a:r>
              <a:rPr sz="1625" b="0">
                <a:solidFill>
                  <a:srgbClr val="C678DD"/>
                </a:solidFill>
                <a:latin typeface="Consolas"/>
              </a:rPr>
              <a:t>class</a:t>
            </a:r>
            <a:r>
              <a:rPr sz="1625" b="0">
                <a:solidFill>
                  <a:srgbClr val="E6E6E6"/>
                </a:solidFill>
                <a:latin typeface="Consolas"/>
              </a:rPr>
              <a:t> Meta: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    model = Maqola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    fields = [</a:t>
            </a:r>
            <a:r>
              <a:rPr sz="1625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625" b="0">
                <a:solidFill>
                  <a:srgbClr val="E6E6E6"/>
                </a:solidFill>
                <a:latin typeface="Consolas"/>
              </a:rPr>
              <a:t>, </a:t>
            </a:r>
            <a:r>
              <a:rPr sz="1625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625" b="0">
                <a:solidFill>
                  <a:srgbClr val="E6E6E6"/>
                </a:solidFill>
                <a:latin typeface="Consolas"/>
              </a:rPr>
              <a:t>, </a:t>
            </a:r>
            <a:r>
              <a:rPr sz="1625" b="0">
                <a:solidFill>
                  <a:srgbClr val="98C379"/>
                </a:solidFill>
                <a:latin typeface="Consolas"/>
              </a:rPr>
              <a:t>"matn"</a:t>
            </a:r>
            <a:r>
              <a:rPr sz="1625" b="0">
                <a:solidFill>
                  <a:srgbClr val="E6E6E6"/>
                </a:solidFill>
                <a:latin typeface="Consolas"/>
              </a:rPr>
              <a:t>, </a:t>
            </a:r>
            <a:r>
              <a:rPr sz="1625" b="0">
                <a:solidFill>
                  <a:srgbClr val="98C379"/>
                </a:solidFill>
                <a:latin typeface="Consolas"/>
              </a:rPr>
              <a:t>"chop_etilgan"</a:t>
            </a:r>
            <a:r>
              <a:rPr sz="1625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</a:t>
            </a:r>
            <a:r>
              <a:rPr sz="1625" b="0">
                <a:solidFill>
                  <a:srgbClr val="C678DD"/>
                </a:solidFill>
                <a:latin typeface="Consolas"/>
              </a:rPr>
              <a:t>def</a:t>
            </a:r>
            <a:r>
              <a:rPr sz="1625" b="0">
                <a:solidFill>
                  <a:srgbClr val="E6E6E6"/>
                </a:solidFill>
                <a:latin typeface="Consolas"/>
              </a:rPr>
              <a:t> clean_sarlavha(</a:t>
            </a:r>
            <a:r>
              <a:rPr sz="1625" b="0">
                <a:solidFill>
                  <a:srgbClr val="C678DD"/>
                </a:solidFill>
                <a:latin typeface="Consolas"/>
              </a:rPr>
              <a:t>self</a:t>
            </a:r>
            <a:r>
              <a:rPr sz="1625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    s = </a:t>
            </a:r>
            <a:r>
              <a:rPr sz="1625" b="0">
                <a:solidFill>
                  <a:srgbClr val="C678DD"/>
                </a:solidFill>
                <a:latin typeface="Consolas"/>
              </a:rPr>
              <a:t>self</a:t>
            </a:r>
            <a:r>
              <a:rPr sz="1625" b="0">
                <a:solidFill>
                  <a:srgbClr val="E6E6E6"/>
                </a:solidFill>
                <a:latin typeface="Consolas"/>
              </a:rPr>
              <a:t>.cleaned_data[</a:t>
            </a:r>
            <a:r>
              <a:rPr sz="1625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625" b="0">
                <a:solidFill>
                  <a:srgbClr val="E6E6E6"/>
                </a:solidFill>
                <a:latin typeface="Consolas"/>
              </a:rPr>
              <a:t>].strip()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625" b="0">
                <a:solidFill>
                  <a:srgbClr val="C678DD"/>
                </a:solidFill>
                <a:latin typeface="Consolas"/>
              </a:rPr>
              <a:t>if</a:t>
            </a:r>
            <a:r>
              <a:rPr sz="1625" b="0">
                <a:solidFill>
                  <a:srgbClr val="E6E6E6"/>
                </a:solidFill>
                <a:latin typeface="Consolas"/>
              </a:rPr>
              <a:t> len(s) &lt; 5: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        raise forms.ValidationError(</a:t>
            </a:r>
            <a:r>
              <a:rPr sz="1625" b="0">
                <a:solidFill>
                  <a:srgbClr val="98C379"/>
                </a:solidFill>
                <a:latin typeface="Consolas"/>
              </a:rPr>
              <a:t>"Sarlavha kamida 5 belgidan iborat bo'lsin"</a:t>
            </a:r>
            <a:r>
              <a:rPr sz="1625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625" b="0">
                <a:solidFill>
                  <a:srgbClr val="C678DD"/>
                </a:solidFill>
                <a:latin typeface="Consolas"/>
              </a:rPr>
              <a:t>return</a:t>
            </a:r>
            <a:r>
              <a:rPr sz="1625" b="0">
                <a:solidFill>
                  <a:srgbClr val="E6E6E6"/>
                </a:solidFill>
                <a:latin typeface="Consolas"/>
              </a:rPr>
              <a:t> 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2. Read: ro'yxat (sahifalash) va batafsil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5689"/>
            <a:ext cx="11091672" cy="330004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55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873"/>
            <a:ext cx="10725912" cy="295257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22" b="0">
                <a:solidFill>
                  <a:srgbClr val="C678DD"/>
                </a:solidFill>
                <a:latin typeface="Consolas"/>
              </a:rPr>
              <a:t>from</a:t>
            </a:r>
            <a:r>
              <a:rPr sz="1422" b="0">
                <a:solidFill>
                  <a:srgbClr val="E6E6E6"/>
                </a:solidFill>
                <a:latin typeface="Consolas"/>
              </a:rPr>
              <a:t> django.core.paginator </a:t>
            </a:r>
            <a:r>
              <a:rPr sz="142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22" b="0">
                <a:solidFill>
                  <a:srgbClr val="E6E6E6"/>
                </a:solidFill>
                <a:latin typeface="Consolas"/>
              </a:rPr>
              <a:t> Paginator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C678DD"/>
                </a:solidFill>
                <a:latin typeface="Consolas"/>
              </a:rPr>
              <a:t>def</a:t>
            </a:r>
            <a:r>
              <a:rPr sz="1422" b="0">
                <a:solidFill>
                  <a:srgbClr val="E6E6E6"/>
                </a:solidFill>
                <a:latin typeface="Consolas"/>
              </a:rPr>
              <a:t> maqola_royxat(request):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   maqolalar = Maqola.objects.filter(chop_etilgan=</a:t>
            </a:r>
            <a:r>
              <a:rPr sz="1422" b="0">
                <a:solidFill>
                  <a:srgbClr val="C678DD"/>
                </a:solidFill>
                <a:latin typeface="Consolas"/>
              </a:rPr>
              <a:t>True</a:t>
            </a:r>
            <a:r>
              <a:rPr sz="1422" b="0">
                <a:solidFill>
                  <a:srgbClr val="E6E6E6"/>
                </a:solidFill>
                <a:latin typeface="Consolas"/>
              </a:rPr>
              <a:t>).select_related(</a:t>
            </a:r>
            <a:r>
              <a:rPr sz="1422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422" b="0">
                <a:solidFill>
                  <a:srgbClr val="E6E6E6"/>
                </a:solidFill>
                <a:latin typeface="Consolas"/>
              </a:rPr>
              <a:t>, </a:t>
            </a:r>
            <a:r>
              <a:rPr sz="1422" b="0">
                <a:solidFill>
                  <a:srgbClr val="98C379"/>
                </a:solidFill>
                <a:latin typeface="Consolas"/>
              </a:rPr>
              <a:t>"muallif"</a:t>
            </a:r>
            <a:r>
              <a:rPr sz="142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   sahifa = Paginator(maqolalar, 6).get_page(request.GET.get(</a:t>
            </a:r>
            <a:r>
              <a:rPr sz="1422" b="0">
                <a:solidFill>
                  <a:srgbClr val="98C379"/>
                </a:solidFill>
                <a:latin typeface="Consolas"/>
              </a:rPr>
              <a:t>"page"</a:t>
            </a:r>
            <a:r>
              <a:rPr sz="1422" b="0">
                <a:solidFill>
                  <a:srgbClr val="E6E6E6"/>
                </a:solidFill>
                <a:latin typeface="Consolas"/>
              </a:rPr>
              <a:t>))   # 6 tadan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   </a:t>
            </a:r>
            <a:r>
              <a:rPr sz="142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22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422" b="0">
                <a:solidFill>
                  <a:srgbClr val="98C379"/>
                </a:solidFill>
                <a:latin typeface="Consolas"/>
              </a:rPr>
              <a:t>"blog/maqola_list.html"</a:t>
            </a:r>
            <a:r>
              <a:rPr sz="1422" b="0">
                <a:solidFill>
                  <a:srgbClr val="E6E6E6"/>
                </a:solidFill>
                <a:latin typeface="Consolas"/>
              </a:rPr>
              <a:t>, {</a:t>
            </a:r>
            <a:r>
              <a:rPr sz="1422" b="0">
                <a:solidFill>
                  <a:srgbClr val="98C379"/>
                </a:solidFill>
                <a:latin typeface="Consolas"/>
              </a:rPr>
              <a:t>"sahifa"</a:t>
            </a:r>
            <a:r>
              <a:rPr sz="1422" b="0">
                <a:solidFill>
                  <a:srgbClr val="E6E6E6"/>
                </a:solidFill>
                <a:latin typeface="Consolas"/>
              </a:rPr>
              <a:t>: sahifa})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C678DD"/>
                </a:solidFill>
                <a:latin typeface="Consolas"/>
              </a:rPr>
              <a:t>def</a:t>
            </a:r>
            <a:r>
              <a:rPr sz="1422" b="0">
                <a:solidFill>
                  <a:srgbClr val="E6E6E6"/>
                </a:solidFill>
                <a:latin typeface="Consolas"/>
              </a:rPr>
              <a:t> maqola_batafsil(request, id):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   maqola = get_object_or_404(Maqola, id=id)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   </a:t>
            </a:r>
            <a:r>
              <a:rPr sz="1422" b="0">
                <a:solidFill>
                  <a:srgbClr val="C678DD"/>
                </a:solidFill>
                <a:latin typeface="Consolas"/>
              </a:rPr>
              <a:t>if</a:t>
            </a:r>
            <a:r>
              <a:rPr sz="1422" b="0">
                <a:solidFill>
                  <a:srgbClr val="E6E6E6"/>
                </a:solidFill>
                <a:latin typeface="Consolas"/>
              </a:rPr>
              <a:t> </a:t>
            </a:r>
            <a:r>
              <a:rPr sz="1422" b="0">
                <a:solidFill>
                  <a:srgbClr val="C678DD"/>
                </a:solidFill>
                <a:latin typeface="Consolas"/>
              </a:rPr>
              <a:t>not</a:t>
            </a:r>
            <a:r>
              <a:rPr sz="1422" b="0">
                <a:solidFill>
                  <a:srgbClr val="E6E6E6"/>
                </a:solidFill>
                <a:latin typeface="Consolas"/>
              </a:rPr>
              <a:t> maqola.chop_etilgan </a:t>
            </a:r>
            <a:r>
              <a:rPr sz="1422" b="0">
                <a:solidFill>
                  <a:srgbClr val="C678DD"/>
                </a:solidFill>
                <a:latin typeface="Consolas"/>
              </a:rPr>
              <a:t>and</a:t>
            </a:r>
            <a:r>
              <a:rPr sz="1422" b="0">
                <a:solidFill>
                  <a:srgbClr val="E6E6E6"/>
                </a:solidFill>
                <a:latin typeface="Consolas"/>
              </a:rPr>
              <a:t> maqola.muallif != request.user: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       raise Http404                       # qoralama — faqat muallifga</a:t>
            </a:r>
          </a:p>
          <a:p>
            <a:pPr>
              <a:lnSpc>
                <a:spcPct val="100000"/>
              </a:lnSpc>
            </a:pPr>
            <a:r>
              <a:rPr sz="1422" b="0">
                <a:solidFill>
                  <a:srgbClr val="E6E6E6"/>
                </a:solidFill>
                <a:latin typeface="Consolas"/>
              </a:rPr>
              <a:t>    </a:t>
            </a:r>
            <a:r>
              <a:rPr sz="142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22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422" b="0">
                <a:solidFill>
                  <a:srgbClr val="98C379"/>
                </a:solidFill>
                <a:latin typeface="Consolas"/>
              </a:rPr>
              <a:t>"blog/maqola_detail.html"</a:t>
            </a:r>
            <a:r>
              <a:rPr sz="1422" b="0">
                <a:solidFill>
                  <a:srgbClr val="E6E6E6"/>
                </a:solidFill>
                <a:latin typeface="Consolas"/>
              </a:rPr>
              <a:t>, {</a:t>
            </a:r>
            <a:r>
              <a:rPr sz="1422" b="0">
                <a:solidFill>
                  <a:srgbClr val="98C379"/>
                </a:solidFill>
                <a:latin typeface="Consolas"/>
              </a:rPr>
              <a:t>"maqola"</a:t>
            </a:r>
            <a:r>
              <a:rPr sz="1422" b="0">
                <a:solidFill>
                  <a:srgbClr val="E6E6E6"/>
                </a:solidFill>
                <a:latin typeface="Consolas"/>
              </a:rPr>
              <a:t>: maqola})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55194"/>
            <a:ext cx="11091672" cy="111212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1005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Django shablon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84378"/>
            <a:ext cx="10725912" cy="7646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38" b="0">
                <a:solidFill>
                  <a:srgbClr val="E06C75"/>
                </a:solidFill>
                <a:latin typeface="Consolas"/>
              </a:rPr>
              <a:t>{% if sahifa.has_previous %}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&lt;a</a:t>
            </a:r>
            <a:r>
              <a:rPr sz="1338" b="0">
                <a:solidFill>
                  <a:srgbClr val="E6E6E6"/>
                </a:solidFill>
                <a:latin typeface="Consolas"/>
              </a:rPr>
              <a:t> href=</a:t>
            </a:r>
            <a:r>
              <a:rPr sz="1338" b="0">
                <a:solidFill>
                  <a:srgbClr val="98C379"/>
                </a:solidFill>
                <a:latin typeface="Consolas"/>
              </a:rPr>
              <a:t>"?page={{ sahifa.previous_page_number }}"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6E6E6"/>
                </a:solidFill>
                <a:latin typeface="Consolas"/>
              </a:rPr>
              <a:t>← Oldingi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&lt;/a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06C75"/>
                </a:solidFill>
                <a:latin typeface="Consolas"/>
              </a:rPr>
              <a:t>{% endif %}</a:t>
            </a:r>
          </a:p>
          <a:p>
            <a:pPr>
              <a:lnSpc>
                <a:spcPct val="100000"/>
              </a:lnSpc>
            </a:pPr>
            <a:r>
              <a:rPr sz="1338" b="0">
                <a:solidFill>
                  <a:srgbClr val="E06C75"/>
                </a:solidFill>
                <a:latin typeface="Consolas"/>
              </a:rPr>
              <a:t>{{ sahifa.number }}</a:t>
            </a:r>
            <a:r>
              <a:rPr sz="1338" b="0">
                <a:solidFill>
                  <a:srgbClr val="E6E6E6"/>
                </a:solidFill>
                <a:latin typeface="Consolas"/>
              </a:rPr>
              <a:t> / </a:t>
            </a:r>
            <a:r>
              <a:rPr sz="1338" b="0">
                <a:solidFill>
                  <a:srgbClr val="E06C75"/>
                </a:solidFill>
                <a:latin typeface="Consolas"/>
              </a:rPr>
              <a:t>{{ sahifa.paginator.num_pages }}</a:t>
            </a:r>
          </a:p>
          <a:p>
            <a:pPr>
              <a:lnSpc>
                <a:spcPct val="100000"/>
              </a:lnSpc>
            </a:pPr>
            <a:r>
              <a:rPr sz="1338" b="0">
                <a:solidFill>
                  <a:srgbClr val="E06C75"/>
                </a:solidFill>
                <a:latin typeface="Consolas"/>
              </a:rPr>
              <a:t>{% if sahifa.has_next %}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&lt;a</a:t>
            </a:r>
            <a:r>
              <a:rPr sz="1338" b="0">
                <a:solidFill>
                  <a:srgbClr val="E6E6E6"/>
                </a:solidFill>
                <a:latin typeface="Consolas"/>
              </a:rPr>
              <a:t> href=</a:t>
            </a:r>
            <a:r>
              <a:rPr sz="1338" b="0">
                <a:solidFill>
                  <a:srgbClr val="98C379"/>
                </a:solidFill>
                <a:latin typeface="Consolas"/>
              </a:rPr>
              <a:t>"?page={{ sahifa.next_page_number }}"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6E6E6"/>
                </a:solidFill>
                <a:latin typeface="Consolas"/>
              </a:rPr>
              <a:t>Keyingi →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&lt;/a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06C75"/>
                </a:solidFill>
                <a:latin typeface="Consolas"/>
              </a:rPr>
              <a:t>{% endif %}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3. Create va Update — bitta forma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7228"/>
            <a:ext cx="11091672" cy="450854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20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6412"/>
            <a:ext cx="10725912" cy="41610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@login_required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def</a:t>
            </a:r>
            <a:r>
              <a:rPr sz="1156" b="0">
                <a:solidFill>
                  <a:srgbClr val="E6E6E6"/>
                </a:solidFill>
                <a:latin typeface="Consolas"/>
              </a:rPr>
              <a:t> maqola_yaratish(request):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form = MaqolaForm(request.POST </a:t>
            </a:r>
            <a:r>
              <a:rPr sz="1156" b="0">
                <a:solidFill>
                  <a:srgbClr val="C678DD"/>
                </a:solidFill>
                <a:latin typeface="Consolas"/>
              </a:rPr>
              <a:t>or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None</a:t>
            </a:r>
            <a:r>
              <a:rPr sz="115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if</a:t>
            </a:r>
            <a:r>
              <a:rPr sz="1156" b="0">
                <a:solidFill>
                  <a:srgbClr val="E6E6E6"/>
                </a:solidFill>
                <a:latin typeface="Consolas"/>
              </a:rPr>
              <a:t> request.method == </a:t>
            </a:r>
            <a:r>
              <a:rPr sz="1156" b="0">
                <a:solidFill>
                  <a:srgbClr val="98C379"/>
                </a:solidFill>
                <a:latin typeface="Consolas"/>
              </a:rPr>
              <a:t>"POST"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and</a:t>
            </a:r>
            <a:r>
              <a:rPr sz="1156" b="0">
                <a:solidFill>
                  <a:srgbClr val="E6E6E6"/>
                </a:solidFill>
                <a:latin typeface="Consolas"/>
              </a:rPr>
              <a:t> form.is_valid():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maqola = form.save(commit=</a:t>
            </a:r>
            <a:r>
              <a:rPr sz="1156" b="0">
                <a:solidFill>
                  <a:srgbClr val="C678DD"/>
                </a:solidFill>
                <a:latin typeface="Consolas"/>
              </a:rPr>
              <a:t>False</a:t>
            </a:r>
            <a:r>
              <a:rPr sz="115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maqola.muallif = request.user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maqola.save()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messages.success(request, </a:t>
            </a:r>
            <a:r>
              <a:rPr sz="1156" b="0">
                <a:solidFill>
                  <a:srgbClr val="98C379"/>
                </a:solidFill>
                <a:latin typeface="Consolas"/>
              </a:rPr>
              <a:t>"Maqola chop etildi! 🎉"</a:t>
            </a:r>
            <a:r>
              <a:rPr sz="115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156" b="0">
                <a:solidFill>
                  <a:srgbClr val="E6E6E6"/>
                </a:solidFill>
                <a:latin typeface="Consolas"/>
              </a:rPr>
              <a:t> redirect(maqola)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156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156" b="0">
                <a:solidFill>
                  <a:srgbClr val="98C379"/>
                </a:solidFill>
                <a:latin typeface="Consolas"/>
              </a:rPr>
              <a:t>"blog/maqola_form.html"</a:t>
            </a:r>
            <a:r>
              <a:rPr sz="1156" b="0">
                <a:solidFill>
                  <a:srgbClr val="E6E6E6"/>
                </a:solidFill>
                <a:latin typeface="Consolas"/>
              </a:rPr>
              <a:t>, {</a:t>
            </a:r>
            <a:r>
              <a:rPr sz="1156" b="0">
                <a:solidFill>
                  <a:srgbClr val="98C379"/>
                </a:solidFill>
                <a:latin typeface="Consolas"/>
              </a:rPr>
              <a:t>"form"</a:t>
            </a:r>
            <a:r>
              <a:rPr sz="1156" b="0">
                <a:solidFill>
                  <a:srgbClr val="E6E6E6"/>
                </a:solidFill>
                <a:latin typeface="Consolas"/>
              </a:rPr>
              <a:t>: form, </a:t>
            </a:r>
            <a:r>
              <a:rPr sz="1156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156" b="0">
                <a:solidFill>
                  <a:srgbClr val="E6E6E6"/>
                </a:solidFill>
                <a:latin typeface="Consolas"/>
              </a:rPr>
              <a:t>: </a:t>
            </a:r>
            <a:r>
              <a:rPr sz="1156" b="0">
                <a:solidFill>
                  <a:srgbClr val="98C379"/>
                </a:solidFill>
                <a:latin typeface="Consolas"/>
              </a:rPr>
              <a:t>"Yangi maqola"</a:t>
            </a:r>
            <a:r>
              <a:rPr sz="1156" b="0">
                <a:solidFill>
                  <a:srgbClr val="E6E6E6"/>
                </a:solidFill>
                <a:latin typeface="Consolas"/>
              </a:rPr>
              <a:t>})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@login_required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def</a:t>
            </a:r>
            <a:r>
              <a:rPr sz="1156" b="0">
                <a:solidFill>
                  <a:srgbClr val="E6E6E6"/>
                </a:solidFill>
                <a:latin typeface="Consolas"/>
              </a:rPr>
              <a:t> maqola_tahrirlash(request, id):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maqola = get_object_or_404(Maqola, id=id)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if</a:t>
            </a:r>
            <a:r>
              <a:rPr sz="1156" b="0">
                <a:solidFill>
                  <a:srgbClr val="E6E6E6"/>
                </a:solidFill>
                <a:latin typeface="Consolas"/>
              </a:rPr>
              <a:t> maqola.muallif != request.user: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156" b="0">
                <a:solidFill>
                  <a:srgbClr val="E6E6E6"/>
                </a:solidFill>
                <a:latin typeface="Consolas"/>
              </a:rPr>
              <a:t> HttpResponseForbidden(</a:t>
            </a:r>
            <a:r>
              <a:rPr sz="1156" b="0">
                <a:solidFill>
                  <a:srgbClr val="98C379"/>
                </a:solidFill>
                <a:latin typeface="Consolas"/>
              </a:rPr>
              <a:t>"Bu maqolani tahrirlash huquqingiz yo'q"</a:t>
            </a:r>
            <a:r>
              <a:rPr sz="115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form = MaqolaForm(request.POST </a:t>
            </a:r>
            <a:r>
              <a:rPr sz="1156" b="0">
                <a:solidFill>
                  <a:srgbClr val="C678DD"/>
                </a:solidFill>
                <a:latin typeface="Consolas"/>
              </a:rPr>
              <a:t>or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None</a:t>
            </a:r>
            <a:r>
              <a:rPr sz="1156" b="0">
                <a:solidFill>
                  <a:srgbClr val="E6E6E6"/>
                </a:solidFill>
                <a:latin typeface="Consolas"/>
              </a:rPr>
              <a:t>, instance=maqola)   # ⬅ instance!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if</a:t>
            </a:r>
            <a:r>
              <a:rPr sz="1156" b="0">
                <a:solidFill>
                  <a:srgbClr val="E6E6E6"/>
                </a:solidFill>
                <a:latin typeface="Consolas"/>
              </a:rPr>
              <a:t> request.method == </a:t>
            </a:r>
            <a:r>
              <a:rPr sz="1156" b="0">
                <a:solidFill>
                  <a:srgbClr val="98C379"/>
                </a:solidFill>
                <a:latin typeface="Consolas"/>
              </a:rPr>
              <a:t>"POST"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and</a:t>
            </a:r>
            <a:r>
              <a:rPr sz="1156" b="0">
                <a:solidFill>
                  <a:srgbClr val="E6E6E6"/>
                </a:solidFill>
                <a:latin typeface="Consolas"/>
              </a:rPr>
              <a:t> form.is_valid():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form.save()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156" b="0">
                <a:solidFill>
                  <a:srgbClr val="E6E6E6"/>
                </a:solidFill>
                <a:latin typeface="Consolas"/>
              </a:rPr>
              <a:t> redirect(maqola)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156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156" b="0">
                <a:solidFill>
                  <a:srgbClr val="98C379"/>
                </a:solidFill>
                <a:latin typeface="Consolas"/>
              </a:rPr>
              <a:t>"blog/maqola_form.html"</a:t>
            </a:r>
            <a:r>
              <a:rPr sz="1156" b="0">
                <a:solidFill>
                  <a:srgbClr val="E6E6E6"/>
                </a:solidFill>
                <a:latin typeface="Consolas"/>
              </a:rPr>
              <a:t>, {</a:t>
            </a:r>
            <a:r>
              <a:rPr sz="1156" b="0">
                <a:solidFill>
                  <a:srgbClr val="98C379"/>
                </a:solidFill>
                <a:latin typeface="Consolas"/>
              </a:rPr>
              <a:t>"form"</a:t>
            </a:r>
            <a:r>
              <a:rPr sz="1156" b="0">
                <a:solidFill>
                  <a:srgbClr val="E6E6E6"/>
                </a:solidFill>
                <a:latin typeface="Consolas"/>
              </a:rPr>
              <a:t>: form, </a:t>
            </a:r>
            <a:r>
              <a:rPr sz="1156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156" b="0">
                <a:solidFill>
                  <a:srgbClr val="E6E6E6"/>
                </a:solidFill>
                <a:latin typeface="Consolas"/>
              </a:rPr>
              <a:t>: </a:t>
            </a:r>
            <a:r>
              <a:rPr sz="1156" b="0">
                <a:solidFill>
                  <a:srgbClr val="98C379"/>
                </a:solidFill>
                <a:latin typeface="Consolas"/>
              </a:rPr>
              <a:t>"Tahrirlash"</a:t>
            </a:r>
            <a:r>
              <a:rPr sz="1156" b="0">
                <a:solidFill>
                  <a:srgbClr val="E6E6E6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4. Delete — tasdiqlash va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5724"/>
            <a:ext cx="11091672" cy="226283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058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4908"/>
            <a:ext cx="10725912" cy="19153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@login_required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maqola_ochirish(request, id):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maqola = get_object_or_404(Maqola, id=id, muallif=request.user)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if</a:t>
            </a:r>
            <a:r>
              <a:rPr sz="1360" b="0">
                <a:solidFill>
                  <a:srgbClr val="E6E6E6"/>
                </a:solidFill>
                <a:latin typeface="Consolas"/>
              </a:rPr>
              <a:t> request.method == </a:t>
            </a:r>
            <a:r>
              <a:rPr sz="1360" b="0">
                <a:solidFill>
                  <a:srgbClr val="98C379"/>
                </a:solidFill>
                <a:latin typeface="Consolas"/>
              </a:rPr>
              <a:t>"POST"</a:t>
            </a:r>
            <a:r>
              <a:rPr sz="1360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maqola.delete()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messages.success(request, </a:t>
            </a:r>
            <a:r>
              <a:rPr sz="1360" b="0">
                <a:solidFill>
                  <a:srgbClr val="98C379"/>
                </a:solidFill>
                <a:latin typeface="Consolas"/>
              </a:rPr>
              <a:t>"Maqola o'chirildi"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redirect(</a:t>
            </a:r>
            <a:r>
              <a:rPr sz="1360" b="0">
                <a:solidFill>
                  <a:srgbClr val="98C379"/>
                </a:solidFill>
                <a:latin typeface="Consolas"/>
              </a:rPr>
              <a:t>"blog:bosh"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360" b="0">
                <a:solidFill>
                  <a:srgbClr val="98C379"/>
                </a:solidFill>
                <a:latin typeface="Consolas"/>
              </a:rPr>
              <a:t>"blog/maqola_confirm_delete.html"</a:t>
            </a:r>
            <a:r>
              <a:rPr sz="1360" b="0">
                <a:solidFill>
                  <a:srgbClr val="E6E6E6"/>
                </a:solidFill>
                <a:latin typeface="Consolas"/>
              </a:rPr>
              <a:t>, {</a:t>
            </a:r>
            <a:r>
              <a:rPr sz="1360" b="0">
                <a:solidFill>
                  <a:srgbClr val="98C379"/>
                </a:solidFill>
                <a:latin typeface="Consolas"/>
              </a:rPr>
              <a:t>"maqola"</a:t>
            </a:r>
            <a:r>
              <a:rPr sz="1360" b="0">
                <a:solidFill>
                  <a:srgbClr val="E6E6E6"/>
                </a:solidFill>
                <a:latin typeface="Consolas"/>
              </a:rPr>
              <a:t>: maqola})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8016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9287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maqola_confirm_delete.html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67200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06C75"/>
                </a:solidFill>
                <a:latin typeface="Consolas"/>
              </a:rPr>
              <a:t>&lt;h1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  <a:r>
              <a:rPr sz="1360" b="0">
                <a:solidFill>
                  <a:srgbClr val="E6E6E6"/>
                </a:solidFill>
                <a:latin typeface="Consolas"/>
              </a:rPr>
              <a:t>O'chirishni tasdiqlang</a:t>
            </a:r>
            <a:r>
              <a:rPr sz="1360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06C75"/>
                </a:solidFill>
                <a:latin typeface="Consolas"/>
              </a:rPr>
              <a:t>&lt;p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  <a:r>
              <a:rPr sz="1360" b="0">
                <a:solidFill>
                  <a:srgbClr val="E6E6E6"/>
                </a:solidFill>
                <a:latin typeface="Consolas"/>
              </a:rPr>
              <a:t>«</a:t>
            </a:r>
            <a:r>
              <a:rPr sz="1360" b="0">
                <a:solidFill>
                  <a:srgbClr val="E06C75"/>
                </a:solidFill>
                <a:latin typeface="Consolas"/>
              </a:rPr>
              <a:t>{{ maqola.sarlavha }}</a:t>
            </a:r>
            <a:r>
              <a:rPr sz="1360" b="0">
                <a:solidFill>
                  <a:srgbClr val="E6E6E6"/>
                </a:solidFill>
                <a:latin typeface="Consolas"/>
              </a:rPr>
              <a:t>» maqolasini o'chirmoqchimisiz? Qaytarib bo'lmaydi.</a:t>
            </a:r>
            <a:r>
              <a:rPr sz="1360" b="0">
                <a:solidFill>
                  <a:srgbClr val="E06C75"/>
                </a:solidFill>
                <a:latin typeface="Consolas"/>
              </a:rPr>
              <a:t>&lt;/p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06C75"/>
                </a:solidFill>
                <a:latin typeface="Consolas"/>
              </a:rPr>
              <a:t>&lt;form</a:t>
            </a:r>
            <a:r>
              <a:rPr sz="1360" b="0">
                <a:solidFill>
                  <a:srgbClr val="E6E6E6"/>
                </a:solidFill>
                <a:latin typeface="Consolas"/>
              </a:rPr>
              <a:t> method=</a:t>
            </a:r>
            <a:r>
              <a:rPr sz="1360" b="0">
                <a:solidFill>
                  <a:srgbClr val="98C379"/>
                </a:solidFill>
                <a:latin typeface="Consolas"/>
              </a:rPr>
              <a:t>"post"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</a:t>
            </a:r>
            <a:r>
              <a:rPr sz="1360" b="0">
                <a:solidFill>
                  <a:srgbClr val="E06C75"/>
                </a:solidFill>
                <a:latin typeface="Consolas"/>
              </a:rPr>
              <a:t>{% csrf_token %}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</a:t>
            </a:r>
            <a:r>
              <a:rPr sz="1360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360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360" b="0">
                <a:solidFill>
                  <a:srgbClr val="98C379"/>
                </a:solidFill>
                <a:latin typeface="Consolas"/>
              </a:rPr>
              <a:t>"tugma qizil"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  <a:r>
              <a:rPr sz="1360" b="0">
                <a:solidFill>
                  <a:srgbClr val="E6E6E6"/>
                </a:solidFill>
                <a:latin typeface="Consolas"/>
              </a:rPr>
              <a:t>Ha, o'chirish</a:t>
            </a:r>
            <a:r>
              <a:rPr sz="1360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</a:t>
            </a:r>
            <a:r>
              <a:rPr sz="1360" b="0">
                <a:solidFill>
                  <a:srgbClr val="E06C75"/>
                </a:solidFill>
                <a:latin typeface="Consolas"/>
              </a:rPr>
              <a:t>&lt;a</a:t>
            </a:r>
            <a:r>
              <a:rPr sz="1360" b="0">
                <a:solidFill>
                  <a:srgbClr val="E6E6E6"/>
                </a:solidFill>
                <a:latin typeface="Consolas"/>
              </a:rPr>
              <a:t> href=</a:t>
            </a:r>
            <a:r>
              <a:rPr sz="1360" b="0">
                <a:solidFill>
                  <a:srgbClr val="98C379"/>
                </a:solidFill>
                <a:latin typeface="Consolas"/>
              </a:rPr>
              <a:t>"{{ maqola.get_absolute_url }}"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  <a:r>
              <a:rPr sz="1360" b="0">
                <a:solidFill>
                  <a:srgbClr val="E6E6E6"/>
                </a:solidFill>
                <a:latin typeface="Consolas"/>
              </a:rPr>
              <a:t>Yo'q, ortga</a:t>
            </a:r>
            <a:r>
              <a:rPr sz="1360" b="0">
                <a:solidFill>
                  <a:srgbClr val="E06C75"/>
                </a:solidFill>
                <a:latin typeface="Consolas"/>
              </a:rPr>
              <a:t>&lt;/a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06C75"/>
                </a:solidFill>
                <a:latin typeface="Consolas"/>
              </a:rPr>
              <a:t>&lt;/form</a:t>
            </a:r>
            <a:r>
              <a:rPr sz="1360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Xavfsizlik: ikki qoida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352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Ruxsatni serverda tekshiring.</a:t>
            </a:r>
            <a:r>
              <a:rPr sz="2600" b="0">
                <a:solidFill>
                  <a:srgbClr val="1F232B"/>
                </a:solidFill>
                <a:latin typeface="Calibri"/>
              </a:rPr>
              <a:t> Tugmani shablonda yashirish yetmaydi — ayyor foydalanuvchi </a:t>
            </a:r>
            <a:r>
              <a:rPr sz="2392" b="0">
                <a:solidFill>
                  <a:srgbClr val="B02A4A"/>
                </a:solidFill>
                <a:latin typeface="Consolas"/>
              </a:rPr>
              <a:t>/maqola/5/tahrirlash/</a:t>
            </a:r>
            <a:r>
              <a:rPr sz="2600" b="0">
                <a:solidFill>
                  <a:srgbClr val="1F232B"/>
                </a:solidFill>
                <a:latin typeface="Calibri"/>
              </a:rPr>
              <a:t> ni qo'lda yozadi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6227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489707"/>
            <a:ext cx="10451592" cy="9352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O'chirish — faqat POST.</a:t>
            </a:r>
            <a:r>
              <a:rPr sz="2600" b="0">
                <a:solidFill>
                  <a:srgbClr val="1F232B"/>
                </a:solidFill>
                <a:latin typeface="Calibri"/>
              </a:rPr>
              <a:t> GET bilan o'chirsak, oddiy havola yoki begona saytdagi </a:t>
            </a:r>
            <a:r>
              <a:rPr sz="2392" b="0">
                <a:solidFill>
                  <a:srgbClr val="B02A4A"/>
                </a:solidFill>
                <a:latin typeface="Consolas"/>
              </a:rPr>
              <a:t>&lt;img&gt;</a:t>
            </a:r>
            <a:r>
              <a:rPr sz="2600" b="0">
                <a:solidFill>
                  <a:srgbClr val="1F232B"/>
                </a:solidFill>
                <a:latin typeface="Calibri"/>
              </a:rPr>
              <a:t> maqolani o'chirib yuboradi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07232"/>
            <a:ext cx="11091672" cy="161271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209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maqola_detail.html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36416"/>
            <a:ext cx="10725912" cy="12652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50" b="0">
                <a:solidFill>
                  <a:srgbClr val="E06C75"/>
                </a:solidFill>
                <a:latin typeface="Consolas"/>
              </a:rPr>
              <a:t>{% if user == maqola.muallif %}</a:t>
            </a:r>
            <a:r>
              <a:rPr sz="1750" b="0">
                <a:solidFill>
                  <a:srgbClr val="E6E6E6"/>
                </a:solidFill>
                <a:latin typeface="Consolas"/>
              </a:rPr>
              <a:t>       {# tugmalar faqat muallifga ko'rinadi #}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</a:t>
            </a:r>
            <a:r>
              <a:rPr sz="1750" b="0">
                <a:solidFill>
                  <a:srgbClr val="E06C75"/>
                </a:solidFill>
                <a:latin typeface="Consolas"/>
              </a:rPr>
              <a:t>&lt;a</a:t>
            </a:r>
            <a:r>
              <a:rPr sz="1750" b="0">
                <a:solidFill>
                  <a:srgbClr val="E6E6E6"/>
                </a:solidFill>
                <a:latin typeface="Consolas"/>
              </a:rPr>
              <a:t> href=</a:t>
            </a:r>
            <a:r>
              <a:rPr sz="1750" b="0">
                <a:solidFill>
                  <a:srgbClr val="98C379"/>
                </a:solidFill>
                <a:latin typeface="Consolas"/>
              </a:rPr>
              <a:t>"{% url 'blog:tahrirlash' maqola.id %}"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  <a:r>
              <a:rPr sz="1750" b="0">
                <a:solidFill>
                  <a:srgbClr val="E6E6E6"/>
                </a:solidFill>
                <a:latin typeface="Consolas"/>
              </a:rPr>
              <a:t>✏️ Tahrirlash</a:t>
            </a:r>
            <a:r>
              <a:rPr sz="1750" b="0">
                <a:solidFill>
                  <a:srgbClr val="E06C75"/>
                </a:solidFill>
                <a:latin typeface="Consolas"/>
              </a:rPr>
              <a:t>&lt;/a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</a:t>
            </a:r>
            <a:r>
              <a:rPr sz="1750" b="0">
                <a:solidFill>
                  <a:srgbClr val="E06C75"/>
                </a:solidFill>
                <a:latin typeface="Consolas"/>
              </a:rPr>
              <a:t>&lt;a</a:t>
            </a:r>
            <a:r>
              <a:rPr sz="1750" b="0">
                <a:solidFill>
                  <a:srgbClr val="E6E6E6"/>
                </a:solidFill>
                <a:latin typeface="Consolas"/>
              </a:rPr>
              <a:t> href=</a:t>
            </a:r>
            <a:r>
              <a:rPr sz="1750" b="0">
                <a:solidFill>
                  <a:srgbClr val="98C379"/>
                </a:solidFill>
                <a:latin typeface="Consolas"/>
              </a:rPr>
              <a:t>"{% url 'blog:ochirish' maqola.id %}"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  <a:r>
              <a:rPr sz="1750" b="0">
                <a:solidFill>
                  <a:srgbClr val="E6E6E6"/>
                </a:solidFill>
                <a:latin typeface="Consolas"/>
              </a:rPr>
              <a:t>🗑 O'chirish</a:t>
            </a:r>
            <a:r>
              <a:rPr sz="1750" b="0">
                <a:solidFill>
                  <a:srgbClr val="E06C75"/>
                </a:solidFill>
                <a:latin typeface="Consolas"/>
              </a:rPr>
              <a:t>&lt;/a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06C75"/>
                </a:solidFill>
                <a:latin typeface="Consolas"/>
              </a:rPr>
              <a:t>{% endif %}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39399"/>
            <a:ext cx="11091672" cy="87280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769" b="1">
                <a:solidFill>
                  <a:srgbClr val="1F7A4D"/>
                </a:solidFill>
                <a:latin typeface="Calibri"/>
              </a:rPr>
              <a:t>Shablon — qulaylik uchun, view — xavfsizlik uchun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5. Class Based View'lar bilan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19347"/>
            <a:ext cx="11091672" cy="301072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7421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48531"/>
            <a:ext cx="10725912" cy="26632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from</a:t>
            </a:r>
            <a:r>
              <a:rPr sz="1534" b="0">
                <a:solidFill>
                  <a:srgbClr val="E6E6E6"/>
                </a:solidFill>
                <a:latin typeface="Consolas"/>
              </a:rPr>
              <a:t> django.contrib.auth.mixins </a:t>
            </a:r>
            <a:r>
              <a:rPr sz="153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534" b="0">
                <a:solidFill>
                  <a:srgbClr val="E6E6E6"/>
                </a:solidFill>
                <a:latin typeface="Consolas"/>
              </a:rPr>
              <a:t> LoginRequiredMixin, UserPassesTestMixin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from</a:t>
            </a:r>
            <a:r>
              <a:rPr sz="1534" b="0">
                <a:solidFill>
                  <a:srgbClr val="E6E6E6"/>
                </a:solidFill>
                <a:latin typeface="Consolas"/>
              </a:rPr>
              <a:t> django.views.generic </a:t>
            </a:r>
            <a:r>
              <a:rPr sz="153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534" b="0">
                <a:solidFill>
                  <a:srgbClr val="E6E6E6"/>
                </a:solidFill>
                <a:latin typeface="Consolas"/>
              </a:rPr>
              <a:t> ListView, DetailView, CreateView, UpdateView, DeleteView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class</a:t>
            </a:r>
            <a:r>
              <a:rPr sz="1534" b="0">
                <a:solidFill>
                  <a:srgbClr val="E6E6E6"/>
                </a:solidFill>
                <a:latin typeface="Consolas"/>
              </a:rPr>
              <a:t> MaqolaList(ListView):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   queryset = Maqola.objects.filter(chop_etilgan=</a:t>
            </a:r>
            <a:r>
              <a:rPr sz="1534" b="0">
                <a:solidFill>
                  <a:srgbClr val="C678DD"/>
                </a:solidFill>
                <a:latin typeface="Consolas"/>
              </a:rPr>
              <a:t>True</a:t>
            </a:r>
            <a:r>
              <a:rPr sz="153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   paginate_by = 6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class</a:t>
            </a:r>
            <a:r>
              <a:rPr sz="1534" b="0">
                <a:solidFill>
                  <a:srgbClr val="E6E6E6"/>
                </a:solidFill>
                <a:latin typeface="Consolas"/>
              </a:rPr>
              <a:t> MaqolaDetail(DetailView):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   model = Maqola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   pk_url_kwarg = </a:t>
            </a:r>
            <a:r>
              <a:rPr sz="1534" b="0">
                <a:solidFill>
                  <a:srgbClr val="98C379"/>
                </a:solidFill>
                <a:latin typeface="Consolas"/>
              </a:rPr>
              <a:t>"id"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5. CBV: yaratish, tahrirlash, o'chirish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MaqolaCreate(LoginRequiredMixin, CreateView):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model = Maqola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form_class = MaqolaForm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form_valid(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, form):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form.instance.muallif =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.request.user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24" b="0">
                <a:solidFill>
                  <a:srgbClr val="E6E6E6"/>
                </a:solidFill>
                <a:latin typeface="Consolas"/>
              </a:rPr>
              <a:t> super().form_valid(form)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MuallifMixin(UserPassesTestMixin):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test_func(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.get_object().muallif ==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.request.user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MaqolaUpdate(LoginRequiredMixin, MuallifMixin, UpdateView):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model = Maqola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form_class = MaqolaForm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pk_url_kwarg = </a:t>
            </a:r>
            <a:r>
              <a:rPr sz="1224" b="0">
                <a:solidFill>
                  <a:srgbClr val="98C379"/>
                </a:solidFill>
                <a:latin typeface="Consolas"/>
              </a:rPr>
              <a:t>"id"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MaqolaDelete(LoginRequiredMixin, MuallifMixin, DeleteView):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model = Maqola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pk_url_kwarg = </a:t>
            </a:r>
            <a:r>
              <a:rPr sz="1224" b="0">
                <a:solidFill>
                  <a:srgbClr val="98C379"/>
                </a:solidFill>
                <a:latin typeface="Consolas"/>
              </a:rPr>
              <a:t>"id"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success_url = reverse_lazy(</a:t>
            </a:r>
            <a:r>
              <a:rPr sz="1224" b="0">
                <a:solidFill>
                  <a:srgbClr val="98C379"/>
                </a:solidFill>
                <a:latin typeface="Consolas"/>
              </a:rPr>
              <a:t>"blog:bosh"</a:t>
            </a:r>
            <a:r>
              <a:rPr sz="1224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Tayyor CBV'lar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1503"/>
          <a:ext cx="11091672" cy="320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0030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Klass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Nima qiladi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ListView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Ro'yxat + sahifalash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DetailView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Bitta obyekt (yo'q bo'lsa 404)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CreateView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Bo'sh forma → tekshirish → yaratish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UpdateView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Eski qiymatlar bilan forma → saqlash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DeleteView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Tasdiqlash + POST bilan o'chirish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LoginRequiredMixin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@login_required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ning CBV varianti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UserPassesTestMixin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test_func()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False → 403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883391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~80 qator view → ~40 qator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99769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65483"/>
            <a:ext cx="10680192" cy="689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Shablon nomlari avtomatik: </a:t>
            </a:r>
            <a:r>
              <a:rPr sz="1840" b="0">
                <a:solidFill>
                  <a:srgbClr val="B02A4A"/>
                </a:solidFill>
                <a:latin typeface="Consolas"/>
              </a:rPr>
              <a:t>model_list.html</a:t>
            </a:r>
            <a:r>
              <a:rPr sz="2000" b="0">
                <a:solidFill>
                  <a:srgbClr val="1F232B"/>
                </a:solidFill>
                <a:latin typeface="Calibri"/>
              </a:rPr>
              <a:t>, </a:t>
            </a:r>
            <a:r>
              <a:rPr sz="1840" b="0">
                <a:solidFill>
                  <a:srgbClr val="B02A4A"/>
                </a:solidFill>
                <a:latin typeface="Consolas"/>
              </a:rPr>
              <a:t>model_detail.html</a:t>
            </a:r>
            <a:r>
              <a:rPr sz="2000" b="0">
                <a:solidFill>
                  <a:srgbClr val="1F232B"/>
                </a:solidFill>
                <a:latin typeface="Calibri"/>
              </a:rPr>
              <a:t>, </a:t>
            </a:r>
            <a:r>
              <a:rPr sz="1840" b="0">
                <a:solidFill>
                  <a:srgbClr val="B02A4A"/>
                </a:solidFill>
                <a:latin typeface="Consolas"/>
              </a:rPr>
              <a:t>model_form.html</a:t>
            </a:r>
            <a:r>
              <a:rPr sz="2000" b="0">
                <a:solidFill>
                  <a:srgbClr val="1F232B"/>
                </a:solidFill>
                <a:latin typeface="Calibri"/>
              </a:rPr>
              <a:t>, </a:t>
            </a:r>
            <a:r>
              <a:rPr sz="1840" b="0">
                <a:solidFill>
                  <a:srgbClr val="B02A4A"/>
                </a:solidFill>
                <a:latin typeface="Consolas"/>
              </a:rPr>
              <a:t>model_confirm_delete.html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7978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6. Sinovdan o'tkazish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4101"/>
          <a:ext cx="11091672" cy="4117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11733">
                <a:tc>
                  <a:txBody>
                    <a:bodyPr/>
                    <a:lstStyle/>
                    <a:p>
                      <a:r>
                        <a:rPr sz="152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1">
                          <a:solidFill>
                            <a:srgbClr val="FFFFFF"/>
                          </a:solidFill>
                          <a:latin typeface="Calibri"/>
                        </a:rPr>
                        <a:t>Ssenariy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1">
                          <a:solidFill>
                            <a:srgbClr val="FFFFFF"/>
                          </a:solidFill>
                          <a:latin typeface="Calibri"/>
                        </a:rPr>
                        <a:t>Kutilgan natija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411733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Mehmon bosh sahifani ochadi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"Yangi maqola" tugmasi yo'q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11733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Mehmon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/maqola/yangi/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 ni ochadi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Login sahifasiga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733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Ali 3 belgili sarlavha bilan yaratadi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Xato, ma'lumot yo'qolmaydi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11733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Ali to'g'ri maqola yaratadi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Maqola sahifasi + yashil xabar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733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Vali Ali'ning maqolasini ochadi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Tahrirlash tugmalari yo'q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11733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Vali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/maqola/ID/tahrirlash/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 ni qo'lda ochadi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1">
                          <a:solidFill>
                            <a:srgbClr val="1F232B"/>
                          </a:solidFill>
                          <a:latin typeface="Calibri"/>
                        </a:rPr>
                        <a:t>403 Forbidden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733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Ali maqolani o'chiradi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Tasdiqlash → "Ha" → yo'q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11733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15 ta maqola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3 ta sahifa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742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/maqola/9999/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780897"/>
            <a:ext cx="10680192" cy="3564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Ikki brauzerda (biri </a:t>
            </a:r>
            <a:r>
              <a:rPr sz="1900" b="1">
                <a:solidFill>
                  <a:srgbClr val="1F232B"/>
                </a:solidFill>
                <a:latin typeface="Calibri"/>
              </a:rPr>
              <a:t>Inkognito</a:t>
            </a:r>
            <a:r>
              <a:rPr sz="1900" b="0">
                <a:solidFill>
                  <a:srgbClr val="1F232B"/>
                </a:solidFill>
                <a:latin typeface="Calibri"/>
              </a:rPr>
              <a:t>) ikki foydalanuvchi bilan tekshiring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88948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Avtomatik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8328"/>
            <a:ext cx="11091672" cy="335718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31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blog/tests.py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7512"/>
            <a:ext cx="10725912" cy="300971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from</a:t>
            </a:r>
            <a:r>
              <a:rPr sz="1088" b="0">
                <a:solidFill>
                  <a:srgbClr val="E6E6E6"/>
                </a:solidFill>
                <a:latin typeface="Consolas"/>
              </a:rPr>
              <a:t> django.test </a:t>
            </a:r>
            <a:r>
              <a:rPr sz="1088" b="0">
                <a:solidFill>
                  <a:srgbClr val="C678DD"/>
                </a:solidFill>
                <a:latin typeface="Consolas"/>
              </a:rPr>
              <a:t>import</a:t>
            </a:r>
            <a:r>
              <a:rPr sz="1088" b="0">
                <a:solidFill>
                  <a:srgbClr val="E6E6E6"/>
                </a:solidFill>
                <a:latin typeface="Consolas"/>
              </a:rPr>
              <a:t> TestCase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class</a:t>
            </a:r>
            <a:r>
              <a:rPr sz="1088" b="0">
                <a:solidFill>
                  <a:srgbClr val="E6E6E6"/>
                </a:solidFill>
                <a:latin typeface="Consolas"/>
              </a:rPr>
              <a:t> MaqolaTestlari(TestCase):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def</a:t>
            </a:r>
            <a:r>
              <a:rPr sz="1088" b="0">
                <a:solidFill>
                  <a:srgbClr val="E6E6E6"/>
                </a:solidFill>
                <a:latin typeface="Consolas"/>
              </a:rPr>
              <a:t> setUp(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.ali = User.objects.create_user(</a:t>
            </a:r>
            <a:r>
              <a:rPr sz="1088" b="0">
                <a:solidFill>
                  <a:srgbClr val="98C379"/>
                </a:solidFill>
                <a:latin typeface="Consolas"/>
              </a:rPr>
              <a:t>"ali"</a:t>
            </a:r>
            <a:r>
              <a:rPr sz="1088" b="0">
                <a:solidFill>
                  <a:srgbClr val="E6E6E6"/>
                </a:solidFill>
                <a:latin typeface="Consolas"/>
              </a:rPr>
              <a:t>, password=</a:t>
            </a:r>
            <a:r>
              <a:rPr sz="1088" b="0">
                <a:solidFill>
                  <a:srgbClr val="98C379"/>
                </a:solidFill>
                <a:latin typeface="Consolas"/>
              </a:rPr>
              <a:t>"parol12345"</a:t>
            </a:r>
            <a:r>
              <a:rPr sz="108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.vali = User.objects.create_user(</a:t>
            </a:r>
            <a:r>
              <a:rPr sz="1088" b="0">
                <a:solidFill>
                  <a:srgbClr val="98C379"/>
                </a:solidFill>
                <a:latin typeface="Consolas"/>
              </a:rPr>
              <a:t>"vali"</a:t>
            </a:r>
            <a:r>
              <a:rPr sz="1088" b="0">
                <a:solidFill>
                  <a:srgbClr val="E6E6E6"/>
                </a:solidFill>
                <a:latin typeface="Consolas"/>
              </a:rPr>
              <a:t>, password=</a:t>
            </a:r>
            <a:r>
              <a:rPr sz="1088" b="0">
                <a:solidFill>
                  <a:srgbClr val="98C379"/>
                </a:solidFill>
                <a:latin typeface="Consolas"/>
              </a:rPr>
              <a:t>"parol12345"</a:t>
            </a:r>
            <a:r>
              <a:rPr sz="108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kat = Kategoriya.objects.create(nomi=</a:t>
            </a:r>
            <a:r>
              <a:rPr sz="1088" b="0">
                <a:solidFill>
                  <a:srgbClr val="98C379"/>
                </a:solidFill>
                <a:latin typeface="Consolas"/>
              </a:rPr>
              <a:t>"Sport"</a:t>
            </a:r>
            <a:r>
              <a:rPr sz="1088" b="0">
                <a:solidFill>
                  <a:srgbClr val="E6E6E6"/>
                </a:solidFill>
                <a:latin typeface="Consolas"/>
              </a:rPr>
              <a:t>, slug=</a:t>
            </a:r>
            <a:r>
              <a:rPr sz="1088" b="0">
                <a:solidFill>
                  <a:srgbClr val="98C379"/>
                </a:solidFill>
                <a:latin typeface="Consolas"/>
              </a:rPr>
              <a:t>"sport"</a:t>
            </a:r>
            <a:r>
              <a:rPr sz="108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.m = Maqola.objects.create(sarlavha=</a:t>
            </a:r>
            <a:r>
              <a:rPr sz="1088" b="0">
                <a:solidFill>
                  <a:srgbClr val="98C379"/>
                </a:solidFill>
                <a:latin typeface="Consolas"/>
              </a:rPr>
              <a:t>"Test maqola"</a:t>
            </a:r>
            <a:r>
              <a:rPr sz="1088" b="0">
                <a:solidFill>
                  <a:srgbClr val="E6E6E6"/>
                </a:solidFill>
                <a:latin typeface="Consolas"/>
              </a:rPr>
              <a:t>, matn=</a:t>
            </a:r>
            <a:r>
              <a:rPr sz="1088" b="0">
                <a:solidFill>
                  <a:srgbClr val="98C379"/>
                </a:solidFill>
                <a:latin typeface="Consolas"/>
              </a:rPr>
              <a:t>"..."</a:t>
            </a:r>
            <a:r>
              <a:rPr sz="1088" b="0">
                <a:solidFill>
                  <a:srgbClr val="E6E6E6"/>
                </a:solidFill>
                <a:latin typeface="Consolas"/>
              </a:rPr>
              <a:t>, kategoriya=kat, muallif=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.ali)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def</a:t>
            </a:r>
            <a:r>
              <a:rPr sz="1088" b="0">
                <a:solidFill>
                  <a:srgbClr val="E6E6E6"/>
                </a:solidFill>
                <a:latin typeface="Consolas"/>
              </a:rPr>
              <a:t> test_bosh_sahifa_ochiladi(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.assertEqual(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.client.get(reverse(</a:t>
            </a:r>
            <a:r>
              <a:rPr sz="1088" b="0">
                <a:solidFill>
                  <a:srgbClr val="98C379"/>
                </a:solidFill>
                <a:latin typeface="Consolas"/>
              </a:rPr>
              <a:t>"blog:bosh"</a:t>
            </a:r>
            <a:r>
              <a:rPr sz="1088" b="0">
                <a:solidFill>
                  <a:srgbClr val="E6E6E6"/>
                </a:solidFill>
                <a:latin typeface="Consolas"/>
              </a:rPr>
              <a:t>)).status_code, 200)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def</a:t>
            </a:r>
            <a:r>
              <a:rPr sz="1088" b="0">
                <a:solidFill>
                  <a:srgbClr val="E6E6E6"/>
                </a:solidFill>
                <a:latin typeface="Consolas"/>
              </a:rPr>
              <a:t> test_begona_tahrirlay_olmaydi(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.client.login(username=</a:t>
            </a:r>
            <a:r>
              <a:rPr sz="1088" b="0">
                <a:solidFill>
                  <a:srgbClr val="98C379"/>
                </a:solidFill>
                <a:latin typeface="Consolas"/>
              </a:rPr>
              <a:t>"vali"</a:t>
            </a:r>
            <a:r>
              <a:rPr sz="1088" b="0">
                <a:solidFill>
                  <a:srgbClr val="E6E6E6"/>
                </a:solidFill>
                <a:latin typeface="Consolas"/>
              </a:rPr>
              <a:t>, password=</a:t>
            </a:r>
            <a:r>
              <a:rPr sz="1088" b="0">
                <a:solidFill>
                  <a:srgbClr val="98C379"/>
                </a:solidFill>
                <a:latin typeface="Consolas"/>
              </a:rPr>
              <a:t>"parol12345"</a:t>
            </a:r>
            <a:r>
              <a:rPr sz="108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javob = 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.client.get(reverse(</a:t>
            </a:r>
            <a:r>
              <a:rPr sz="1088" b="0">
                <a:solidFill>
                  <a:srgbClr val="98C379"/>
                </a:solidFill>
                <a:latin typeface="Consolas"/>
              </a:rPr>
              <a:t>"blog:tahrirlash"</a:t>
            </a:r>
            <a:r>
              <a:rPr sz="1088" b="0">
                <a:solidFill>
                  <a:srgbClr val="E6E6E6"/>
                </a:solidFill>
                <a:latin typeface="Consolas"/>
              </a:rPr>
              <a:t>, args=[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.m.id]))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self</a:t>
            </a:r>
            <a:r>
              <a:rPr sz="1088" b="0">
                <a:solidFill>
                  <a:srgbClr val="E6E6E6"/>
                </a:solidFill>
                <a:latin typeface="Consolas"/>
              </a:rPr>
              <a:t>.assertEqual(javob.status_code, 403)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14973"/>
            <a:ext cx="11091672" cy="6213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6983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4157"/>
            <a:ext cx="10725912" cy="2738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python manage.py test blog        # Ran 2 tests ...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855734"/>
            <a:ext cx="10680192" cy="308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Testlar </a:t>
            </a:r>
            <a:r>
              <a:rPr sz="1600" b="1">
                <a:solidFill>
                  <a:srgbClr val="1F232B"/>
                </a:solidFill>
                <a:latin typeface="Calibri"/>
              </a:rPr>
              <a:t>vaqtinchalik bazada</a:t>
            </a:r>
            <a:r>
              <a:rPr sz="1600" b="0">
                <a:solidFill>
                  <a:srgbClr val="1F232B"/>
                </a:solidFill>
                <a:latin typeface="Calibri"/>
              </a:rPr>
              <a:t> ishlaydi — haqiqiy ma'lumotga tegmaydi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94717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 (21-loyiha)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URL, forma, view va shablonlarni qo'shing (funksiya variantida)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9 ta ssenariyni</a:t>
            </a:r>
            <a:r>
              <a:rPr sz="2800" b="0">
                <a:solidFill>
                  <a:srgbClr val="1F232B"/>
                </a:solidFill>
                <a:latin typeface="Calibri"/>
              </a:rPr>
              <a:t> bajaring va belgilang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View'larni </a:t>
            </a:r>
            <a:r>
              <a:rPr sz="2800" b="1">
                <a:solidFill>
                  <a:srgbClr val="1F232B"/>
                </a:solidFill>
                <a:latin typeface="Calibri"/>
              </a:rPr>
              <a:t>CBV</a:t>
            </a:r>
            <a:r>
              <a:rPr sz="2800" b="0">
                <a:solidFill>
                  <a:srgbClr val="1F232B"/>
                </a:solidFill>
                <a:latin typeface="Calibri"/>
              </a:rPr>
              <a:t> variantiga o'tkazing va qayta tekshiring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"Mening maqolalarim"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/mening/</a:t>
            </a:r>
            <a:r>
              <a:rPr sz="2800" b="0">
                <a:solidFill>
                  <a:srgbClr val="1F232B"/>
                </a:solidFill>
                <a:latin typeface="Calibri"/>
              </a:rPr>
              <a:t> (qoralamalar bilan)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5574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5831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GitHub'ga push; </a:t>
            </a:r>
            <a:r>
              <a:rPr sz="2800" b="1">
                <a:solidFill>
                  <a:srgbClr val="1F232B"/>
                </a:solidFill>
                <a:latin typeface="Calibri"/>
              </a:rPr>
              <a:t>README</a:t>
            </a:r>
            <a:r>
              <a:rPr sz="2800" b="0">
                <a:solidFill>
                  <a:srgbClr val="1F232B"/>
                </a:solidFill>
                <a:latin typeface="Calibri"/>
              </a:rPr>
              <a:t>: tavsif, texnologiyalar, ishga tushirish, skrinshotlar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Aniq yo'llarni (</a:t>
            </a:r>
            <a:r>
              <a:rPr sz="2576" b="0">
                <a:solidFill>
                  <a:srgbClr val="B02A4A"/>
                </a:solidFill>
                <a:latin typeface="Consolas"/>
              </a:rPr>
              <a:t>maqola/yangi/</a:t>
            </a:r>
            <a:r>
              <a:rPr sz="2800" b="0">
                <a:solidFill>
                  <a:srgbClr val="1F232B"/>
                </a:solidFill>
                <a:latin typeface="Calibri"/>
              </a:rPr>
              <a:t>)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&lt;str:...&gt;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</a:t>
            </a:r>
            <a:r>
              <a:rPr sz="2800" b="1">
                <a:solidFill>
                  <a:srgbClr val="1F232B"/>
                </a:solidFill>
                <a:latin typeface="Calibri"/>
              </a:rPr>
              <a:t>keyin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Tahrirlashda </a:t>
            </a:r>
            <a:r>
              <a:rPr sz="2576" b="0">
                <a:solidFill>
                  <a:srgbClr val="B02A4A"/>
                </a:solidFill>
                <a:latin typeface="Consolas"/>
              </a:rPr>
              <a:t>instance=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 — yangi nusxa yaratiladi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Ruxsat </a:t>
            </a:r>
            <a:r>
              <a:rPr sz="2800" b="1">
                <a:solidFill>
                  <a:srgbClr val="1F232B"/>
                </a:solidFill>
                <a:latin typeface="Calibri"/>
              </a:rPr>
              <a:t>faqat shablonda</a:t>
            </a:r>
            <a:r>
              <a:rPr sz="2800" b="0">
                <a:solidFill>
                  <a:srgbClr val="1F232B"/>
                </a:solidFill>
                <a:latin typeface="Calibri"/>
              </a:rPr>
              <a:t> tekshirilgan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800" b="1">
                <a:solidFill>
                  <a:srgbClr val="1F232B"/>
                </a:solidFill>
                <a:latin typeface="Calibri"/>
              </a:rPr>
              <a:t>GET</a:t>
            </a:r>
            <a:r>
              <a:rPr sz="2800" b="0">
                <a:solidFill>
                  <a:srgbClr val="1F232B"/>
                </a:solidFill>
                <a:latin typeface="Calibri"/>
              </a:rPr>
              <a:t> so'rov bilan o'chirish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TemplateDoesNotExist: blog/maqola_form.html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CBV standart nomni qidiryapti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ModelForm bilan mavjud obyektni tahrirlash uchun formaga nima beriladi?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id=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object=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instance=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update=True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ModelForm bilan mavjud obyektni tahrirlash uchun formaga nima beriladi?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id=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object=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instance=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update=True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"Faqat muallif tahrirlay oladi" tekshiruvi qayerda bo'lishi SHART?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View'da (serverda)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shablonda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CSS'da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JavaScript'da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"Faqat muallif tahrirlay oladi" tekshiruvi qayerda bo'lishi SHART?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View'da (serverda)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shablonda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CSS'da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JavaScript'da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Ro'yxatni sahifalarga bo'luvchi Django klassi?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Splitter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PageView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Limiter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Paginator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Ro'yxatni sahifalarga bo'luvchi Django klassi?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Splitter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PageView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Limiter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Paginator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CBV'da tizimga kirishni talab qiluvchi mixin?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AuthMixin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UserPassesTestMixin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LoginRequiredMixin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SessionMixin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CBV'da tizimga kirishni talab qiluvchi mixin?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AuthMixin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UserPassesTestMixin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LoginRequiredMixin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SessionMixin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IV bob yakunlovchi loyiha (bittasini tanlang)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📚 </a:t>
            </a:r>
            <a:r>
              <a:rPr sz="2800" b="1">
                <a:solidFill>
                  <a:srgbClr val="1F232B"/>
                </a:solidFill>
                <a:latin typeface="Calibri"/>
              </a:rPr>
              <a:t>Kutubxona boshqaruv tizimi</a:t>
            </a:r>
            <a:r>
              <a:rPr sz="2800" b="0">
                <a:solidFill>
                  <a:srgbClr val="1F232B"/>
                </a:solidFill>
                <a:latin typeface="Calibri"/>
              </a:rPr>
              <a:t> (22-loyiha): kitoblar CRUD, "olish/qaytarish"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🎓 </a:t>
            </a:r>
            <a:r>
              <a:rPr sz="2800" b="1">
                <a:solidFill>
                  <a:srgbClr val="1F232B"/>
                </a:solidFill>
                <a:latin typeface="Calibri"/>
              </a:rPr>
              <a:t>Talabalar tizimi</a:t>
            </a:r>
            <a:r>
              <a:rPr sz="2800" b="0">
                <a:solidFill>
                  <a:srgbClr val="1F232B"/>
                </a:solidFill>
                <a:latin typeface="Calibri"/>
              </a:rPr>
              <a:t> (23-loyiha): talabalar, guruhlar, baholar, o'rtacha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📌 </a:t>
            </a:r>
            <a:r>
              <a:rPr sz="2800" b="1">
                <a:solidFill>
                  <a:srgbClr val="1F232B"/>
                </a:solidFill>
                <a:latin typeface="Calibri"/>
              </a:rPr>
              <a:t>E'lonlar taxtasi:</a:t>
            </a:r>
            <a:r>
              <a:rPr sz="2800" b="0">
                <a:solidFill>
                  <a:srgbClr val="1F232B"/>
                </a:solidFill>
                <a:latin typeface="Calibri"/>
              </a:rPr>
              <a:t> rasm bilan e'lonlar, toifa va qidiruv filtri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Talab: model + admin + forma + 5 sahifa + ruxsatlar + sahifalash + 2 ta test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🎉 IV bob yakunlandi!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38-mavzu · CRUD amallarini yaratish. CRUD asosida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CRUD = ro'yxat, batafsil, yaratish, tahrirlash, o'chirish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ModelForm(request.POST, instance=obj)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bitta forma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Ruxsatlar </a:t>
            </a:r>
            <a:r>
              <a:rPr sz="2800" b="1">
                <a:solidFill>
                  <a:srgbClr val="1F232B"/>
                </a:solidFill>
                <a:latin typeface="Calibri"/>
              </a:rPr>
              <a:t>serverda</a:t>
            </a:r>
            <a:r>
              <a:rPr sz="2800" b="0">
                <a:solidFill>
                  <a:srgbClr val="1F232B"/>
                </a:solidFill>
                <a:latin typeface="Calibri"/>
              </a:rPr>
              <a:t>; o'chirish — tasdiqlash + POST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Paginator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ListView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DetailView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CreateView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UpdateView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DeleteView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98188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1F7A4D"/>
                </a:solidFill>
                <a:latin typeface="Calibri"/>
              </a:rPr>
              <a:t>Keyingi bob: API qo'shamiz va saytni internetga chiqaramiz!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39. Django REST Framework (DRF) ga kirish. Serializerlar va API View'lar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38-mavzu: CRUD amallarini yaratish. CRUD asosida mini loyiha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