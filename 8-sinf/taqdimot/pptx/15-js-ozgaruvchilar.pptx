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const.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D) oquvchilarSoni.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"73".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Matn (string) yoki null.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94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0584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5400" b="0">
                <a:solidFill>
                  <a:srgbClr val="1F232B"/>
                </a:solidFill>
                <a:latin typeface="Segoe UI Emoji"/>
              </a:rPr>
              <a:t>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00" b="1">
                <a:solidFill>
                  <a:srgbClr val="C99400"/>
                </a:solidFill>
                <a:latin typeface="Calibri"/>
              </a:rPr>
              <a:t>15-MAVZU  ·  II BOB. JAVASCRIPT ASOSLARI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100584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3600" b="1">
                <a:solidFill>
                  <a:srgbClr val="1F232B"/>
                </a:solidFill>
                <a:latin typeface="Calibri"/>
              </a:rPr>
              <a:t>JavaScript'ga kirish. O'zgaruvchilar va ma'lumot turlari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343400"/>
            <a:ext cx="98755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5B6370"/>
                </a:solidFill>
                <a:latin typeface="Calibri"/>
              </a:rPr>
              <a:t>JavaScript nima va qayerda ishlatiladi, kodni ulash usullari, konsol, let/const/var, o'zgaruvchilarni nomlash qoidalari, string, number, boolean, undefined, null turlari va typeof.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Bugun nimani o'rganamiz?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15-mavzu · JavaScript'ga kirish. O'zgaruvchilar va ma'lumot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JavaScript</a:t>
            </a:r>
            <a:r>
              <a:rPr sz="2800" b="0">
                <a:solidFill>
                  <a:srgbClr val="1F232B"/>
                </a:solidFill>
                <a:latin typeface="Calibri"/>
              </a:rPr>
              <a:t> nima va HTML/CSS'dan farqi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Kodni sahifaga ulash va </a:t>
            </a:r>
            <a:r>
              <a:rPr sz="2800" b="1">
                <a:solidFill>
                  <a:srgbClr val="1F232B"/>
                </a:solidFill>
                <a:latin typeface="Calibri"/>
              </a:rPr>
              <a:t>brauzer konsoli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O'zgaruvchilar: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let</a:t>
            </a:r>
            <a:r>
              <a:rPr sz="2800" b="0">
                <a:solidFill>
                  <a:srgbClr val="1F232B"/>
                </a:solidFill>
                <a:latin typeface="Calibri"/>
              </a:rPr>
              <a:t> va </a:t>
            </a:r>
            <a:r>
              <a:rPr sz="2576" b="0">
                <a:solidFill>
                  <a:srgbClr val="B02A4A"/>
                </a:solidFill>
                <a:latin typeface="Consolas"/>
              </a:rPr>
              <a:t>const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445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Ma'lumot turlari:</a:t>
            </a:r>
            <a:r>
              <a:rPr sz="2800" b="0">
                <a:solidFill>
                  <a:srgbClr val="1F232B"/>
                </a:solidFill>
                <a:latin typeface="Calibri"/>
              </a:rPr>
              <a:t> matn, son, mantiqiy qiymat...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404616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536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Birinchi </a:t>
            </a:r>
            <a:r>
              <a:rPr sz="2800" b="1">
                <a:solidFill>
                  <a:srgbClr val="1F232B"/>
                </a:solidFill>
                <a:latin typeface="Calibri"/>
              </a:rPr>
              <a:t>interaktiv dastur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013708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JavaScript nima?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15-mavzu · JavaScript'ga kirish. O'zgaruvchilar va ma'lumot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3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128714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190" b="1">
                <a:solidFill>
                  <a:srgbClr val="C99400"/>
                </a:solidFill>
                <a:latin typeface="Calibri"/>
              </a:rPr>
              <a:t>JavaScript — sahifaga harakat va mantiq qo'shuvchi dasturlash tili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814193"/>
            <a:ext cx="10680192" cy="4041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1F232B"/>
                </a:solidFill>
                <a:latin typeface="Calibri"/>
              </a:rPr>
              <a:t>Hisob-kitob, shartlar, takrorlanishlar bor — </a:t>
            </a:r>
            <a:r>
              <a:rPr sz="2200" b="1">
                <a:solidFill>
                  <a:srgbClr val="1F232B"/>
                </a:solidFill>
                <a:latin typeface="Calibri"/>
              </a:rPr>
              <a:t>haqiqiy</a:t>
            </a:r>
            <a:r>
              <a:rPr sz="2200" b="0">
                <a:solidFill>
                  <a:srgbClr val="1F232B"/>
                </a:solidFill>
                <a:latin typeface="Calibri"/>
              </a:rPr>
              <a:t> dasturlash tili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2939923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3328035"/>
            <a:ext cx="11091672" cy="919607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328035"/>
            <a:ext cx="82296" cy="919607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419475"/>
            <a:ext cx="10725912" cy="75501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090" b="0">
                <a:solidFill>
                  <a:srgbClr val="1F232B"/>
                </a:solidFill>
                <a:latin typeface="Calibri"/>
              </a:rPr>
              <a:t>💡 </a:t>
            </a:r>
            <a:r>
              <a:rPr sz="2090" b="1">
                <a:solidFill>
                  <a:srgbClr val="1F232B"/>
                </a:solidFill>
                <a:latin typeface="Calibri"/>
              </a:rPr>
              <a:t>"Aqlli uy":</a:t>
            </a:r>
            <a:r>
              <a:rPr sz="2090" b="0">
                <a:solidFill>
                  <a:srgbClr val="1F232B"/>
                </a:solidFill>
                <a:latin typeface="Calibri"/>
              </a:rPr>
              <a:t> HTML — devorlar, CSS — bo'yoq, JavaScript — elektr va avtomatika: tugma bosilsa chiroq yonadi, harorat pasaysa isitish yoqiladi.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467098"/>
            <a:ext cx="10680192" cy="4041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1F232B"/>
                </a:solidFill>
                <a:latin typeface="Calibri"/>
              </a:rPr>
              <a:t>Menyu ochilishi, forma tekshiruvi, kalkulyator, o'yinlar, yangi ma'lumot olish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592828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4980940"/>
            <a:ext cx="11091672" cy="587819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980940"/>
            <a:ext cx="82296" cy="587819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72380"/>
            <a:ext cx="10725912" cy="423227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090" b="0">
                <a:solidFill>
                  <a:srgbClr val="1F232B"/>
                </a:solidFill>
                <a:latin typeface="Calibri"/>
              </a:rPr>
              <a:t>⚠️ </a:t>
            </a:r>
            <a:r>
              <a:rPr sz="2090" b="0">
                <a:solidFill>
                  <a:srgbClr val="1F232B"/>
                </a:solidFill>
                <a:latin typeface="Calibri"/>
              </a:rPr>
              <a:t>JavaScript ≠ Java — "olma" va "olmos" kabi butunlay boshqa tillar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JavaScript'ni ishga tushirish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15-mavzu · JavaScript'ga kirish. O'zgaruvchilar va ma'lumot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4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91672" cy="1259677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1. Konsol: F12 → Console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10725912" cy="91220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632" b="0">
                <a:solidFill>
                  <a:srgbClr val="C678DD"/>
                </a:solidFill>
                <a:latin typeface="Consolas"/>
              </a:rPr>
              <a:t>console</a:t>
            </a:r>
            <a:r>
              <a:rPr sz="1632" b="0">
                <a:solidFill>
                  <a:srgbClr val="E6E6E6"/>
                </a:solidFill>
                <a:latin typeface="Consolas"/>
              </a:rPr>
              <a:t>.log(</a:t>
            </a:r>
            <a:r>
              <a:rPr sz="1632" b="0">
                <a:solidFill>
                  <a:srgbClr val="98C379"/>
                </a:solidFill>
                <a:latin typeface="Consolas"/>
              </a:rPr>
              <a:t>"Salom, dunyo!"</a:t>
            </a:r>
            <a:r>
              <a:rPr sz="1632" b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C678DD"/>
                </a:solidFill>
                <a:latin typeface="Consolas"/>
              </a:rPr>
              <a:t>console</a:t>
            </a:r>
            <a:r>
              <a:rPr sz="1632" b="0">
                <a:solidFill>
                  <a:srgbClr val="E6E6E6"/>
                </a:solidFill>
                <a:latin typeface="Consolas"/>
              </a:rPr>
              <a:t>.log(2 + 3);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C678DD"/>
                </a:solidFill>
                <a:latin typeface="Consolas"/>
              </a:rPr>
              <a:t>console</a:t>
            </a:r>
            <a:r>
              <a:rPr sz="1632" b="0">
                <a:solidFill>
                  <a:srgbClr val="E6E6E6"/>
                </a:solidFill>
                <a:latin typeface="Consolas"/>
              </a:rPr>
              <a:t>.log(</a:t>
            </a:r>
            <a:r>
              <a:rPr sz="1632" b="0">
                <a:solidFill>
                  <a:srgbClr val="98C379"/>
                </a:solidFill>
                <a:latin typeface="Consolas"/>
              </a:rPr>
              <a:t>"Men"</a:t>
            </a:r>
            <a:r>
              <a:rPr sz="1632" b="0">
                <a:solidFill>
                  <a:srgbClr val="E6E6E6"/>
                </a:solidFill>
                <a:latin typeface="Consolas"/>
              </a:rPr>
              <a:t>, 14, </a:t>
            </a:r>
            <a:r>
              <a:rPr sz="1632" b="0">
                <a:solidFill>
                  <a:srgbClr val="98C379"/>
                </a:solidFill>
                <a:latin typeface="Consolas"/>
              </a:rPr>
              <a:t>"yoshdaman"</a:t>
            </a:r>
            <a:r>
              <a:rPr sz="1632" b="0">
                <a:solidFill>
                  <a:srgbClr val="E6E6E6"/>
                </a:solidFill>
                <a:latin typeface="Consolas"/>
              </a:rPr>
              <a:t>);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96453"/>
            <a:ext cx="11091672" cy="1533265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951317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2. Alohida .js fayl 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25637"/>
            <a:ext cx="10725912" cy="118579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632" b="0">
                <a:solidFill>
                  <a:srgbClr val="E06C75"/>
                </a:solidFill>
                <a:latin typeface="Consolas"/>
              </a:rPr>
              <a:t>&lt;body</a:t>
            </a:r>
            <a:r>
              <a:rPr sz="1632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</a:t>
            </a:r>
            <a:r>
              <a:rPr sz="1632" b="0">
                <a:solidFill>
                  <a:srgbClr val="E06C75"/>
                </a:solidFill>
                <a:latin typeface="Consolas"/>
              </a:rPr>
              <a:t>&lt;h1</a:t>
            </a:r>
            <a:r>
              <a:rPr sz="1632" b="0">
                <a:solidFill>
                  <a:srgbClr val="E06C75"/>
                </a:solidFill>
                <a:latin typeface="Consolas"/>
              </a:rPr>
              <a:t>&gt;</a:t>
            </a:r>
            <a:r>
              <a:rPr sz="1632" b="0">
                <a:solidFill>
                  <a:srgbClr val="E6E6E6"/>
                </a:solidFill>
                <a:latin typeface="Consolas"/>
              </a:rPr>
              <a:t>Sahifa</a:t>
            </a:r>
            <a:r>
              <a:rPr sz="1632" b="0">
                <a:solidFill>
                  <a:srgbClr val="E06C75"/>
                </a:solidFill>
                <a:latin typeface="Consolas"/>
              </a:rPr>
              <a:t>&lt;/h1</a:t>
            </a:r>
            <a:r>
              <a:rPr sz="1632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</a:t>
            </a:r>
            <a:r>
              <a:rPr sz="1632" b="0">
                <a:solidFill>
                  <a:srgbClr val="E06C75"/>
                </a:solidFill>
                <a:latin typeface="Consolas"/>
              </a:rPr>
              <a:t>&lt;script</a:t>
            </a:r>
            <a:r>
              <a:rPr sz="1632" b="0">
                <a:solidFill>
                  <a:srgbClr val="E6E6E6"/>
                </a:solidFill>
                <a:latin typeface="Consolas"/>
              </a:rPr>
              <a:t> src=</a:t>
            </a:r>
            <a:r>
              <a:rPr sz="1632" b="0">
                <a:solidFill>
                  <a:srgbClr val="98C379"/>
                </a:solidFill>
                <a:latin typeface="Consolas"/>
              </a:rPr>
              <a:t>"app.js"</a:t>
            </a:r>
            <a:r>
              <a:rPr sz="1632" b="0">
                <a:solidFill>
                  <a:srgbClr val="E06C75"/>
                </a:solidFill>
                <a:latin typeface="Consolas"/>
              </a:rPr>
              <a:t>&gt;</a:t>
            </a:r>
            <a:r>
              <a:rPr sz="1632" b="0">
                <a:solidFill>
                  <a:srgbClr val="E06C75"/>
                </a:solidFill>
                <a:latin typeface="Consolas"/>
              </a:rPr>
              <a:t>&lt;/script</a:t>
            </a:r>
            <a:r>
              <a:rPr sz="1632" b="0">
                <a:solidFill>
                  <a:srgbClr val="E06C75"/>
                </a:solidFill>
                <a:latin typeface="Consolas"/>
              </a:rPr>
              <a:t>&gt;</a:t>
            </a:r>
            <a:r>
              <a:rPr sz="1632" b="0">
                <a:solidFill>
                  <a:srgbClr val="E6E6E6"/>
                </a:solidFill>
                <a:latin typeface="Consolas"/>
              </a:rPr>
              <a:t>  &lt;!-- </a:t>
            </a:r>
            <a:r>
              <a:rPr sz="1632" b="0">
                <a:solidFill>
                  <a:srgbClr val="E06C75"/>
                </a:solidFill>
                <a:latin typeface="Consolas"/>
              </a:rPr>
              <a:t>&lt;/body</a:t>
            </a:r>
            <a:r>
              <a:rPr sz="1632" b="0">
                <a:solidFill>
                  <a:srgbClr val="E06C75"/>
                </a:solidFill>
                <a:latin typeface="Consolas"/>
              </a:rPr>
              <a:t>&gt;</a:t>
            </a:r>
            <a:r>
              <a:rPr sz="1632" b="0">
                <a:solidFill>
                  <a:srgbClr val="E6E6E6"/>
                </a:solidFill>
                <a:latin typeface="Consolas"/>
              </a:rPr>
              <a:t> dan oldin --</a:t>
            </a:r>
            <a:r>
              <a:rPr sz="1632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06C75"/>
                </a:solidFill>
                <a:latin typeface="Consolas"/>
              </a:rPr>
              <a:t>&lt;/body</a:t>
            </a:r>
            <a:r>
              <a:rPr sz="1632" b="0">
                <a:solidFill>
                  <a:srgbClr val="E06C75"/>
                </a:solidFill>
                <a:latin typeface="Consolas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649175"/>
            <a:ext cx="10680192" cy="816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0">
                <a:solidFill>
                  <a:srgbClr val="B02A4A"/>
                </a:solidFill>
                <a:latin typeface="Consolas"/>
              </a:rPr>
              <a:t>console.log()</a:t>
            </a:r>
            <a:r>
              <a:rPr sz="2400" b="0">
                <a:solidFill>
                  <a:srgbClr val="1F232B"/>
                </a:solidFill>
                <a:latin typeface="Calibri"/>
              </a:rPr>
              <a:t> — natijani konsolga chiqarish; dasturchining asosiy yordamchisi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786335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575767"/>
            <a:ext cx="10680192" cy="435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0">
                <a:solidFill>
                  <a:srgbClr val="1F232B"/>
                </a:solidFill>
                <a:latin typeface="Calibri"/>
              </a:rPr>
              <a:t>Izohlar: </a:t>
            </a:r>
            <a:r>
              <a:rPr sz="2208" b="0">
                <a:solidFill>
                  <a:srgbClr val="B02A4A"/>
                </a:solidFill>
                <a:latin typeface="Consolas"/>
              </a:rPr>
              <a:t>// bir qator</a:t>
            </a:r>
            <a:r>
              <a:rPr sz="2400" b="0">
                <a:solidFill>
                  <a:srgbClr val="1F232B"/>
                </a:solidFill>
                <a:latin typeface="Calibri"/>
              </a:rPr>
              <a:t>, </a:t>
            </a:r>
            <a:r>
              <a:rPr sz="2208" b="0">
                <a:solidFill>
                  <a:srgbClr val="B02A4A"/>
                </a:solidFill>
                <a:latin typeface="Consolas"/>
              </a:rPr>
              <a:t>/* ko'p qator */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5712927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O'zgaruvchi — nomlangan quti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15-mavzu · JavaScript'ga kirish. O'zgaruvchilar va ma'lumot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5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22772"/>
            <a:ext cx="11091672" cy="1522857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22772"/>
            <a:ext cx="82296" cy="1522857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14212"/>
            <a:ext cx="10725912" cy="135826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💡 </a:t>
            </a:r>
            <a:r>
              <a:rPr sz="2660" b="1">
                <a:solidFill>
                  <a:srgbClr val="1F232B"/>
                </a:solidFill>
                <a:latin typeface="Calibri"/>
              </a:rPr>
              <a:t>Yorliqli qutilar:</a:t>
            </a:r>
            <a:r>
              <a:rPr sz="2660" b="0">
                <a:solidFill>
                  <a:srgbClr val="1F232B"/>
                </a:solidFill>
                <a:latin typeface="Calibri"/>
              </a:rPr>
              <a:t> "ism" qutisiga "Malika"ni, "yosh" qutisiga 14 ni soldingiz. Yorliq — o'zgaruvchi </a:t>
            </a:r>
            <a:r>
              <a:rPr sz="2660" b="1">
                <a:solidFill>
                  <a:srgbClr val="1F232B"/>
                </a:solidFill>
                <a:latin typeface="Calibri"/>
              </a:rPr>
              <a:t>nomi</a:t>
            </a:r>
            <a:r>
              <a:rPr sz="2660" b="0">
                <a:solidFill>
                  <a:srgbClr val="1F232B"/>
                </a:solidFill>
                <a:latin typeface="Calibri"/>
              </a:rPr>
              <a:t>, ichidagi narsa — </a:t>
            </a:r>
            <a:r>
              <a:rPr sz="2660" b="1">
                <a:solidFill>
                  <a:srgbClr val="1F232B"/>
                </a:solidFill>
                <a:latin typeface="Calibri"/>
              </a:rPr>
              <a:t>qiymati</a:t>
            </a:r>
            <a:r>
              <a:rPr sz="2660" b="0">
                <a:solidFill>
                  <a:srgbClr val="1F232B"/>
                </a:solidFill>
                <a:latin typeface="Calibr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65085"/>
            <a:ext cx="11091672" cy="2354031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19949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94269"/>
            <a:ext cx="10725912" cy="20065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let</a:t>
            </a:r>
            <a:r>
              <a:rPr sz="1904" b="0">
                <a:solidFill>
                  <a:srgbClr val="E6E6E6"/>
                </a:solidFill>
                <a:latin typeface="Consolas"/>
              </a:rPr>
              <a:t> ism = </a:t>
            </a:r>
            <a:r>
              <a:rPr sz="1904" b="0">
                <a:solidFill>
                  <a:srgbClr val="98C379"/>
                </a:solidFill>
                <a:latin typeface="Consolas"/>
              </a:rPr>
              <a:t>"Malika"</a:t>
            </a:r>
            <a:r>
              <a:rPr sz="1904" b="0">
                <a:solidFill>
                  <a:srgbClr val="E6E6E6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let</a:t>
            </a:r>
            <a:r>
              <a:rPr sz="1904" b="0">
                <a:solidFill>
                  <a:srgbClr val="E6E6E6"/>
                </a:solidFill>
                <a:latin typeface="Consolas"/>
              </a:rPr>
              <a:t> yosh = 14;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console</a:t>
            </a:r>
            <a:r>
              <a:rPr sz="1904" b="0">
                <a:solidFill>
                  <a:srgbClr val="E6E6E6"/>
                </a:solidFill>
                <a:latin typeface="Consolas"/>
              </a:rPr>
              <a:t>.log(yosh);     // 14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yosh = 15;             // qiymatni o'zgartirish (</a:t>
            </a:r>
            <a:r>
              <a:rPr sz="1904" b="0">
                <a:solidFill>
                  <a:srgbClr val="C678DD"/>
                </a:solidFill>
                <a:latin typeface="Consolas"/>
              </a:rPr>
              <a:t>let</a:t>
            </a:r>
            <a:r>
              <a:rPr sz="1904" b="0">
                <a:solidFill>
                  <a:srgbClr val="E6E6E6"/>
                </a:solidFill>
                <a:latin typeface="Consolas"/>
              </a:rPr>
              <a:t> qayta yozilmaydi!)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let</a:t>
            </a:r>
            <a:r>
              <a:rPr sz="1904" b="0">
                <a:solidFill>
                  <a:srgbClr val="E6E6E6"/>
                </a:solidFill>
                <a:latin typeface="Consolas"/>
              </a:rPr>
              <a:t> shahar;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console</a:t>
            </a:r>
            <a:r>
              <a:rPr sz="1904" b="0">
                <a:solidFill>
                  <a:srgbClr val="E6E6E6"/>
                </a:solidFill>
                <a:latin typeface="Consolas"/>
              </a:rPr>
              <a:t>.log(shahar);   // </a:t>
            </a:r>
            <a:r>
              <a:rPr sz="1904" b="0">
                <a:solidFill>
                  <a:srgbClr val="C678DD"/>
                </a:solidFill>
                <a:latin typeface="Consolas"/>
              </a:rPr>
              <a:t>undefined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73857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=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</a:t>
            </a:r>
            <a:r>
              <a:rPr sz="2800" b="1">
                <a:solidFill>
                  <a:srgbClr val="1F232B"/>
                </a:solidFill>
                <a:latin typeface="Calibri"/>
              </a:rPr>
              <a:t>tayinlash</a:t>
            </a:r>
            <a:r>
              <a:rPr sz="2800" b="0">
                <a:solidFill>
                  <a:srgbClr val="1F232B"/>
                </a:solidFill>
                <a:latin typeface="Calibri"/>
              </a:rPr>
              <a:t> ("o'ngdagini chapdagi qutiga sol"), tenglik emas!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5898592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let, const va var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15-mavzu · JavaScript'ga kirish. O'zgaruvchilar va ma'lumot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6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43644"/>
            <a:ext cx="11091672" cy="1624462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8508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72828"/>
            <a:ext cx="10725912" cy="127699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768" b="0">
                <a:solidFill>
                  <a:srgbClr val="C678DD"/>
                </a:solidFill>
                <a:latin typeface="Consolas"/>
              </a:rPr>
              <a:t>const</a:t>
            </a:r>
            <a:r>
              <a:rPr sz="1768" b="0">
                <a:solidFill>
                  <a:srgbClr val="E6E6E6"/>
                </a:solidFill>
                <a:latin typeface="Consolas"/>
              </a:rPr>
              <a:t> PI = 3.14;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7F848E"/>
                </a:solidFill>
                <a:latin typeface="Consolas"/>
              </a:rPr>
              <a:t>// PI = 5;          ❌ Xato! const o'zgarmaydi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C678DD"/>
                </a:solidFill>
                <a:latin typeface="Consolas"/>
              </a:rPr>
              <a:t>let</a:t>
            </a:r>
            <a:r>
              <a:rPr sz="1768" b="0">
                <a:solidFill>
                  <a:srgbClr val="E6E6E6"/>
                </a:solidFill>
                <a:latin typeface="Consolas"/>
              </a:rPr>
              <a:t> ball = 0;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ball = ball + 10;   // ✅ 10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3287562"/>
          <a:ext cx="11091672" cy="17597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586570">
                <a:tc>
                  <a:txBody>
                    <a:bodyPr/>
                    <a:lstStyle/>
                    <a:p/>
                  </a:txBody>
                  <a:tcPr marL="73152" marR="73152" marT="36576" marB="36576">
                    <a:solidFill>
                      <a:srgbClr val="C994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1">
                          <a:solidFill>
                            <a:srgbClr val="FFFFFF"/>
                          </a:solidFill>
                          <a:latin typeface="Calibri"/>
                        </a:rPr>
                        <a:t>const</a:t>
                      </a:r>
                    </a:p>
                  </a:txBody>
                  <a:tcPr marL="73152" marR="73152" marT="36576" marB="36576">
                    <a:solidFill>
                      <a:srgbClr val="C994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1">
                          <a:solidFill>
                            <a:srgbClr val="FFFFFF"/>
                          </a:solidFill>
                          <a:latin typeface="Calibri"/>
                        </a:rPr>
                        <a:t>let</a:t>
                      </a:r>
                    </a:p>
                  </a:txBody>
                  <a:tcPr marL="73152" marR="73152" marT="36576" marB="36576">
                    <a:solidFill>
                      <a:srgbClr val="C994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1">
                          <a:solidFill>
                            <a:srgbClr val="FFFFFF"/>
                          </a:solidFill>
                          <a:latin typeface="Calibri"/>
                        </a:rPr>
                        <a:t>var</a:t>
                      </a:r>
                    </a:p>
                  </a:txBody>
                  <a:tcPr marL="73152" marR="73152" marT="36576" marB="36576">
                    <a:solidFill>
                      <a:srgbClr val="C99400"/>
                    </a:solidFill>
                  </a:tcPr>
                </a:tc>
              </a:tr>
              <a:tr h="586570"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O'zgartirish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</a:tr>
              <a:tr h="586571"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Qachon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1">
                          <a:solidFill>
                            <a:srgbClr val="1F232B"/>
                          </a:solidFill>
                          <a:latin typeface="Calibri"/>
                        </a:rPr>
                        <a:t>Birinchi tanlov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Qiymat o'zgarsa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Eski kod — ishlatmang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5266730"/>
            <a:ext cx="11091672" cy="872807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769" b="1">
                <a:solidFill>
                  <a:srgbClr val="C99400"/>
                </a:solidFill>
                <a:latin typeface="Calibri"/>
              </a:rPr>
              <a:t>Oltin qoida: avval const, kerak bo'lsa let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O'zgaruvchilarni nomlash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15-mavzu · JavaScript'ga kirish. O'zgaruvchilar va ma'lumot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7 / 24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11091672" cy="271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42544">
                <a:tc>
                  <a:txBody>
                    <a:bodyPr/>
                    <a:lstStyle/>
                    <a:p>
                      <a:r>
                        <a:rPr sz="2080" b="1">
                          <a:solidFill>
                            <a:srgbClr val="FFFFFF"/>
                          </a:solidFill>
                          <a:latin typeface="Calibri"/>
                        </a:rPr>
                        <a:t>Qoida</a:t>
                      </a:r>
                    </a:p>
                  </a:txBody>
                  <a:tcPr marL="73152" marR="73152" marT="36576" marB="36576">
                    <a:solidFill>
                      <a:srgbClr val="C994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1">
                          <a:solidFill>
                            <a:srgbClr val="FFFFFF"/>
                          </a:solidFill>
                          <a:latin typeface="Calibri"/>
                        </a:rPr>
                        <a:t>✅ To'g'ri</a:t>
                      </a:r>
                    </a:p>
                  </a:txBody>
                  <a:tcPr marL="73152" marR="73152" marT="36576" marB="36576">
                    <a:solidFill>
                      <a:srgbClr val="C994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1">
                          <a:solidFill>
                            <a:srgbClr val="FFFFFF"/>
                          </a:solidFill>
                          <a:latin typeface="Calibri"/>
                        </a:rPr>
                        <a:t>❌ Noto'g'ri</a:t>
                      </a:r>
                    </a:p>
                  </a:txBody>
                  <a:tcPr marL="73152" marR="73152" marT="36576" marB="36576">
                    <a:solidFill>
                      <a:srgbClr val="C99400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Harf, </a:t>
                      </a:r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$</a:t>
                      </a:r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_</a:t>
                      </a:r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 bilan boshlanadi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ism</a:t>
                      </a:r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_soni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1ism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Bo'sh joy va defis yo'q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sinfRahbari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sinf rahbari</a:t>
                      </a:r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umumiy-ball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Maxsus so'zlar emas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mening_let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let</a:t>
                      </a:r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if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Apostrof yo'q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ogil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o'g'il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60120" y="4349496"/>
            <a:ext cx="10680192" cy="4676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Katta-kichik harf farqlanadi: </a:t>
            </a:r>
            <a:r>
              <a:rPr sz="2392" b="0">
                <a:solidFill>
                  <a:srgbClr val="B02A4A"/>
                </a:solidFill>
                <a:latin typeface="Consolas"/>
              </a:rPr>
              <a:t>ism</a:t>
            </a:r>
            <a:r>
              <a:rPr sz="2600" b="0">
                <a:solidFill>
                  <a:srgbClr val="1F232B"/>
                </a:solidFill>
                <a:latin typeface="Calibri"/>
              </a:rPr>
              <a:t> ≠ </a:t>
            </a:r>
            <a:r>
              <a:rPr sz="2392" b="0">
                <a:solidFill>
                  <a:srgbClr val="B02A4A"/>
                </a:solidFill>
                <a:latin typeface="Consolas"/>
              </a:rPr>
              <a:t>Ism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4498086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926838"/>
            <a:ext cx="10680192" cy="4676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1">
                <a:solidFill>
                  <a:srgbClr val="1F232B"/>
                </a:solidFill>
                <a:latin typeface="Calibri"/>
              </a:rPr>
              <a:t>camelCase:</a:t>
            </a:r>
            <a:r>
              <a:rPr sz="2600" b="0">
                <a:solidFill>
                  <a:srgbClr val="1F232B"/>
                </a:solidFill>
                <a:latin typeface="Calibri"/>
              </a:rPr>
              <a:t> </a:t>
            </a:r>
            <a:r>
              <a:rPr sz="2392" b="0">
                <a:solidFill>
                  <a:srgbClr val="B02A4A"/>
                </a:solidFill>
                <a:latin typeface="Consolas"/>
              </a:rPr>
              <a:t>oquvchiSoni</a:t>
            </a:r>
            <a:r>
              <a:rPr sz="2600" b="0">
                <a:solidFill>
                  <a:srgbClr val="1F232B"/>
                </a:solidFill>
                <a:latin typeface="Calibri"/>
              </a:rPr>
              <a:t>, </a:t>
            </a:r>
            <a:r>
              <a:rPr sz="2392" b="0">
                <a:solidFill>
                  <a:srgbClr val="B02A4A"/>
                </a:solidFill>
                <a:latin typeface="Consolas"/>
              </a:rPr>
              <a:t>dasturlashTili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5075428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504180"/>
            <a:ext cx="10680192" cy="4676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Mazmunli nomlar: </a:t>
            </a:r>
            <a:r>
              <a:rPr sz="2392" b="0">
                <a:solidFill>
                  <a:srgbClr val="B02A4A"/>
                </a:solidFill>
                <a:latin typeface="Consolas"/>
              </a:rPr>
              <a:t>x</a:t>
            </a:r>
            <a:r>
              <a:rPr sz="2600" b="0">
                <a:solidFill>
                  <a:srgbClr val="1F232B"/>
                </a:solidFill>
                <a:latin typeface="Calibri"/>
              </a:rPr>
              <a:t> ❌ → </a:t>
            </a:r>
            <a:r>
              <a:rPr sz="2392" b="0">
                <a:solidFill>
                  <a:srgbClr val="B02A4A"/>
                </a:solidFill>
                <a:latin typeface="Consolas"/>
              </a:rPr>
              <a:t>narx</a:t>
            </a:r>
            <a:r>
              <a:rPr sz="2600" b="0">
                <a:solidFill>
                  <a:srgbClr val="1F232B"/>
                </a:solidFill>
                <a:latin typeface="Calibri"/>
              </a:rPr>
              <a:t> ✅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5652770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String — matn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15-mavzu · JavaScript'ga kirish. O'zgaruvchilar va ma'lumot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8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32863"/>
            <a:ext cx="11091672" cy="3448385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87727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62047"/>
            <a:ext cx="10725912" cy="310091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632" b="0">
                <a:solidFill>
                  <a:srgbClr val="C678DD"/>
                </a:solidFill>
                <a:latin typeface="Consolas"/>
              </a:rPr>
              <a:t>const</a:t>
            </a:r>
            <a:r>
              <a:rPr sz="1632" b="0">
                <a:solidFill>
                  <a:srgbClr val="E6E6E6"/>
                </a:solidFill>
                <a:latin typeface="Consolas"/>
              </a:rPr>
              <a:t> ism = </a:t>
            </a:r>
            <a:r>
              <a:rPr sz="1632" b="0">
                <a:solidFill>
                  <a:srgbClr val="98C379"/>
                </a:solidFill>
                <a:latin typeface="Consolas"/>
              </a:rPr>
              <a:t>"Aziz"</a:t>
            </a:r>
            <a:r>
              <a:rPr sz="1632" b="0">
                <a:solidFill>
                  <a:srgbClr val="E6E6E6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C678DD"/>
                </a:solidFill>
                <a:latin typeface="Consolas"/>
              </a:rPr>
              <a:t>const</a:t>
            </a:r>
            <a:r>
              <a:rPr sz="1632" b="0">
                <a:solidFill>
                  <a:srgbClr val="E6E6E6"/>
                </a:solidFill>
                <a:latin typeface="Consolas"/>
              </a:rPr>
              <a:t> familiya = </a:t>
            </a:r>
            <a:r>
              <a:rPr sz="1632" b="0">
                <a:solidFill>
                  <a:srgbClr val="98C379"/>
                </a:solidFill>
                <a:latin typeface="Consolas"/>
              </a:rPr>
              <a:t>'Karimov'</a:t>
            </a:r>
            <a:r>
              <a:rPr sz="1632" b="0">
                <a:solidFill>
                  <a:srgbClr val="E6E6E6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C678DD"/>
                </a:solidFill>
                <a:latin typeface="Consolas"/>
              </a:rPr>
              <a:t>const</a:t>
            </a:r>
            <a:r>
              <a:rPr sz="1632" b="0">
                <a:solidFill>
                  <a:srgbClr val="E6E6E6"/>
                </a:solidFill>
                <a:latin typeface="Consolas"/>
              </a:rPr>
              <a:t> shahar = `Toshkent`;           // backtick — eng qulayi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C678DD"/>
                </a:solidFill>
                <a:latin typeface="Consolas"/>
              </a:rPr>
              <a:t>console</a:t>
            </a:r>
            <a:r>
              <a:rPr sz="1632" b="0">
                <a:solidFill>
                  <a:srgbClr val="E6E6E6"/>
                </a:solidFill>
                <a:latin typeface="Consolas"/>
              </a:rPr>
              <a:t>.log(ism + </a:t>
            </a:r>
            <a:r>
              <a:rPr sz="1632" b="0">
                <a:solidFill>
                  <a:srgbClr val="98C379"/>
                </a:solidFill>
                <a:latin typeface="Consolas"/>
              </a:rPr>
              <a:t>" "</a:t>
            </a:r>
            <a:r>
              <a:rPr sz="1632" b="0">
                <a:solidFill>
                  <a:srgbClr val="E6E6E6"/>
                </a:solidFill>
                <a:latin typeface="Consolas"/>
              </a:rPr>
              <a:t> + familiya);   // Aziz Karimov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C678DD"/>
                </a:solidFill>
                <a:latin typeface="Consolas"/>
              </a:rPr>
              <a:t>const</a:t>
            </a:r>
            <a:r>
              <a:rPr sz="1632" b="0">
                <a:solidFill>
                  <a:srgbClr val="E6E6E6"/>
                </a:solidFill>
                <a:latin typeface="Consolas"/>
              </a:rPr>
              <a:t> yosh = 14;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C678DD"/>
                </a:solidFill>
                <a:latin typeface="Consolas"/>
              </a:rPr>
              <a:t>console</a:t>
            </a:r>
            <a:r>
              <a:rPr sz="1632" b="0">
                <a:solidFill>
                  <a:srgbClr val="E6E6E6"/>
                </a:solidFill>
                <a:latin typeface="Consolas"/>
              </a:rPr>
              <a:t>.log(`Ismim ${ism}, ${yosh} yoshdaman`);  // shablon satr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C678DD"/>
                </a:solidFill>
                <a:latin typeface="Consolas"/>
              </a:rPr>
              <a:t>console</a:t>
            </a:r>
            <a:r>
              <a:rPr sz="1632" b="0">
                <a:solidFill>
                  <a:srgbClr val="E6E6E6"/>
                </a:solidFill>
                <a:latin typeface="Consolas"/>
              </a:rPr>
              <a:t>.log(ism.length);             // 4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C678DD"/>
                </a:solidFill>
                <a:latin typeface="Consolas"/>
              </a:rPr>
              <a:t>console</a:t>
            </a:r>
            <a:r>
              <a:rPr sz="1632" b="0">
                <a:solidFill>
                  <a:srgbClr val="E6E6E6"/>
                </a:solidFill>
                <a:latin typeface="Consolas"/>
              </a:rPr>
              <a:t>.log(ism.toUpperCase());      // AZIZ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C678DD"/>
                </a:solidFill>
                <a:latin typeface="Consolas"/>
              </a:rPr>
              <a:t>console</a:t>
            </a:r>
            <a:r>
              <a:rPr sz="1632" b="0">
                <a:solidFill>
                  <a:srgbClr val="E6E6E6"/>
                </a:solidFill>
                <a:latin typeface="Consolas"/>
              </a:rPr>
              <a:t>.log(familiya[0]);            // K — sanash 0 dan!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00704"/>
            <a:ext cx="11091672" cy="979931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100704"/>
            <a:ext cx="82296" cy="97993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192144"/>
            <a:ext cx="10725912" cy="81533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279" b="0">
                <a:solidFill>
                  <a:srgbClr val="1F232B"/>
                </a:solidFill>
                <a:latin typeface="Calibri"/>
              </a:rPr>
              <a:t>⚠️ </a:t>
            </a:r>
            <a:r>
              <a:rPr sz="2097" b="0">
                <a:solidFill>
                  <a:srgbClr val="B02A4A"/>
                </a:solidFill>
                <a:latin typeface="Consolas"/>
              </a:rPr>
              <a:t>'O'zbekiston'</a:t>
            </a:r>
            <a:r>
              <a:rPr sz="2279" b="0">
                <a:solidFill>
                  <a:srgbClr val="1F232B"/>
                </a:solidFill>
                <a:latin typeface="Calibri"/>
              </a:rPr>
              <a:t> ❌ — apostrof satrni sindiradi. </a:t>
            </a:r>
            <a:r>
              <a:rPr sz="2097" b="0">
                <a:solidFill>
                  <a:srgbClr val="B02A4A"/>
                </a:solidFill>
                <a:latin typeface="Consolas"/>
              </a:rPr>
              <a:t>"O'zbekiston"</a:t>
            </a:r>
            <a:r>
              <a:rPr sz="2279" b="0">
                <a:solidFill>
                  <a:srgbClr val="1F232B"/>
                </a:solidFill>
                <a:latin typeface="Calibri"/>
              </a:rPr>
              <a:t> yoki `</a:t>
            </a:r>
            <a:r>
              <a:rPr sz="2097" b="0">
                <a:solidFill>
                  <a:srgbClr val="B02A4A"/>
                </a:solidFill>
                <a:latin typeface="Consolas"/>
              </a:rPr>
              <a:t> </a:t>
            </a:r>
            <a:r>
              <a:rPr sz="2279" b="0">
                <a:solidFill>
                  <a:srgbClr val="1F232B"/>
                </a:solidFill>
                <a:latin typeface="Calibri"/>
              </a:rPr>
              <a:t>O'zbekiston</a:t>
            </a:r>
            <a:r>
              <a:rPr sz="2097" b="0">
                <a:solidFill>
                  <a:srgbClr val="B02A4A"/>
                </a:solidFill>
                <a:latin typeface="Consolas"/>
              </a:rPr>
              <a:t> </a:t>
            </a:r>
            <a:r>
              <a:rPr sz="2279" b="0">
                <a:solidFill>
                  <a:srgbClr val="1F232B"/>
                </a:solidFill>
                <a:latin typeface="Calibri"/>
              </a:rPr>
              <a:t>` 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Number, Boolean, undefined, null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15-mavzu · JavaScript'ga kirish. O'zgaruvchilar va ma'lumot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9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91672" cy="251362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10725912" cy="216615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768" b="0">
                <a:solidFill>
                  <a:srgbClr val="C678DD"/>
                </a:solidFill>
                <a:latin typeface="Consolas"/>
              </a:rPr>
              <a:t>const</a:t>
            </a:r>
            <a:r>
              <a:rPr sz="1768" b="0">
                <a:solidFill>
                  <a:srgbClr val="E6E6E6"/>
                </a:solidFill>
                <a:latin typeface="Consolas"/>
              </a:rPr>
              <a:t> kasr = 3.14;           // kasr NUQTA bilan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C678DD"/>
                </a:solidFill>
                <a:latin typeface="Consolas"/>
              </a:rPr>
              <a:t>console</a:t>
            </a:r>
            <a:r>
              <a:rPr sz="1768" b="0">
                <a:solidFill>
                  <a:srgbClr val="E6E6E6"/>
                </a:solidFill>
                <a:latin typeface="Consolas"/>
              </a:rPr>
              <a:t>.log(10 / 3);         // 3.3333333333333335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C678DD"/>
                </a:solidFill>
                <a:latin typeface="Consolas"/>
              </a:rPr>
              <a:t>console</a:t>
            </a:r>
            <a:r>
              <a:rPr sz="1768" b="0">
                <a:solidFill>
                  <a:srgbClr val="E6E6E6"/>
                </a:solidFill>
                <a:latin typeface="Consolas"/>
              </a:rPr>
              <a:t>.log(10 / 0);         // Infinity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C678DD"/>
                </a:solidFill>
                <a:latin typeface="Consolas"/>
              </a:rPr>
              <a:t>console</a:t>
            </a:r>
            <a:r>
              <a:rPr sz="1768" b="0">
                <a:solidFill>
                  <a:srgbClr val="E6E6E6"/>
                </a:solidFill>
                <a:latin typeface="Consolas"/>
              </a:rPr>
              <a:t>.log(</a:t>
            </a:r>
            <a:r>
              <a:rPr sz="1768" b="0">
                <a:solidFill>
                  <a:srgbClr val="98C379"/>
                </a:solidFill>
                <a:latin typeface="Consolas"/>
              </a:rPr>
              <a:t>"olma"</a:t>
            </a:r>
            <a:r>
              <a:rPr sz="1768" b="0">
                <a:solidFill>
                  <a:srgbClr val="E6E6E6"/>
                </a:solidFill>
                <a:latin typeface="Consolas"/>
              </a:rPr>
              <a:t> * 2);     // NaN — </a:t>
            </a:r>
            <a:r>
              <a:rPr sz="1768" b="0">
                <a:solidFill>
                  <a:srgbClr val="98C379"/>
                </a:solidFill>
                <a:latin typeface="Consolas"/>
              </a:rPr>
              <a:t>"son emas"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C678DD"/>
                </a:solidFill>
                <a:latin typeface="Consolas"/>
              </a:rPr>
              <a:t>const</a:t>
            </a:r>
            <a:r>
              <a:rPr sz="1768" b="0">
                <a:solidFill>
                  <a:srgbClr val="E6E6E6"/>
                </a:solidFill>
                <a:latin typeface="Consolas"/>
              </a:rPr>
              <a:t> tizimgaKirgan = </a:t>
            </a:r>
            <a:r>
              <a:rPr sz="1768" b="0">
                <a:solidFill>
                  <a:srgbClr val="C678DD"/>
                </a:solidFill>
                <a:latin typeface="Consolas"/>
              </a:rPr>
              <a:t>true</a:t>
            </a:r>
            <a:r>
              <a:rPr sz="1768" b="0">
                <a:solidFill>
                  <a:srgbClr val="E6E6E6"/>
                </a:solidFill>
                <a:latin typeface="Consolas"/>
              </a:rPr>
              <a:t>;  // boolean: </a:t>
            </a:r>
            <a:r>
              <a:rPr sz="1768" b="0">
                <a:solidFill>
                  <a:srgbClr val="C678DD"/>
                </a:solidFill>
                <a:latin typeface="Consolas"/>
              </a:rPr>
              <a:t>true</a:t>
            </a:r>
            <a:r>
              <a:rPr sz="1768" b="0">
                <a:solidFill>
                  <a:srgbClr val="E6E6E6"/>
                </a:solidFill>
                <a:latin typeface="Consolas"/>
              </a:rPr>
              <a:t> / </a:t>
            </a:r>
            <a:r>
              <a:rPr sz="1768" b="0">
                <a:solidFill>
                  <a:srgbClr val="C678DD"/>
                </a:solidFill>
                <a:latin typeface="Consolas"/>
              </a:rPr>
              <a:t>false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C678DD"/>
                </a:solidFill>
                <a:latin typeface="Consolas"/>
              </a:rPr>
              <a:t>console</a:t>
            </a:r>
            <a:r>
              <a:rPr sz="1768" b="0">
                <a:solidFill>
                  <a:srgbClr val="E6E6E6"/>
                </a:solidFill>
                <a:latin typeface="Consolas"/>
              </a:rPr>
              <a:t>.log(5 &gt; 3);          // </a:t>
            </a:r>
            <a:r>
              <a:rPr sz="1768" b="0">
                <a:solidFill>
                  <a:srgbClr val="C678DD"/>
                </a:solidFill>
                <a:latin typeface="Consolas"/>
              </a:rPr>
              <a:t>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50400"/>
            <a:ext cx="10680192" cy="4676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392" b="0">
                <a:solidFill>
                  <a:srgbClr val="B02A4A"/>
                </a:solidFill>
                <a:latin typeface="Consolas"/>
              </a:rPr>
              <a:t>undefined</a:t>
            </a:r>
            <a:r>
              <a:rPr sz="2600" b="0">
                <a:solidFill>
                  <a:srgbClr val="1F232B"/>
                </a:solidFill>
                <a:latin typeface="Calibri"/>
              </a:rPr>
              <a:t> — qiymat </a:t>
            </a:r>
            <a:r>
              <a:rPr sz="2600" b="1">
                <a:solidFill>
                  <a:srgbClr val="1F232B"/>
                </a:solidFill>
                <a:latin typeface="Calibri"/>
              </a:rPr>
              <a:t>hali berilmagan</a:t>
            </a:r>
            <a:r>
              <a:rPr sz="2600" b="0">
                <a:solidFill>
                  <a:srgbClr val="1F232B"/>
                </a:solidFill>
                <a:latin typeface="Calibri"/>
              </a:rPr>
              <a:t> (bo'sh quti)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298990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727742"/>
            <a:ext cx="10680192" cy="4676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392" b="0">
                <a:solidFill>
                  <a:srgbClr val="B02A4A"/>
                </a:solidFill>
                <a:latin typeface="Consolas"/>
              </a:rPr>
              <a:t>null</a:t>
            </a:r>
            <a:r>
              <a:rPr sz="2600" b="0">
                <a:solidFill>
                  <a:srgbClr val="1F232B"/>
                </a:solidFill>
                <a:latin typeface="Calibri"/>
              </a:rPr>
              <a:t> — qiymat </a:t>
            </a:r>
            <a:r>
              <a:rPr sz="2600" b="1">
                <a:solidFill>
                  <a:srgbClr val="1F232B"/>
                </a:solidFill>
                <a:latin typeface="Calibri"/>
              </a:rPr>
              <a:t>ataylab bo'sh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876332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305084"/>
            <a:ext cx="10680192" cy="880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Murakkab turlar: </a:t>
            </a:r>
            <a:r>
              <a:rPr sz="2600" b="1">
                <a:solidFill>
                  <a:srgbClr val="1F232B"/>
                </a:solidFill>
                <a:latin typeface="Calibri"/>
              </a:rPr>
              <a:t>Array</a:t>
            </a:r>
            <a:r>
              <a:rPr sz="2600" b="0">
                <a:solidFill>
                  <a:srgbClr val="1F232B"/>
                </a:solidFill>
                <a:latin typeface="Calibri"/>
              </a:rPr>
              <a:t> </a:t>
            </a:r>
            <a:r>
              <a:rPr sz="2392" b="0">
                <a:solidFill>
                  <a:srgbClr val="B02A4A"/>
                </a:solidFill>
                <a:latin typeface="Consolas"/>
              </a:rPr>
              <a:t>[1, 2, 3]</a:t>
            </a:r>
            <a:r>
              <a:rPr sz="2600" b="0">
                <a:solidFill>
                  <a:srgbClr val="1F232B"/>
                </a:solidFill>
                <a:latin typeface="Calibri"/>
              </a:rPr>
              <a:t>, </a:t>
            </a:r>
            <a:r>
              <a:rPr sz="2600" b="1">
                <a:solidFill>
                  <a:srgbClr val="1F232B"/>
                </a:solidFill>
                <a:latin typeface="Calibri"/>
              </a:rPr>
              <a:t>Object</a:t>
            </a:r>
            <a:r>
              <a:rPr sz="2600" b="0">
                <a:solidFill>
                  <a:srgbClr val="1F232B"/>
                </a:solidFill>
                <a:latin typeface="Calibri"/>
              </a:rPr>
              <a:t> </a:t>
            </a:r>
            <a:r>
              <a:rPr sz="2392" b="0">
                <a:solidFill>
                  <a:srgbClr val="B02A4A"/>
                </a:solidFill>
                <a:latin typeface="Consolas"/>
              </a:rPr>
              <a:t>{ ism: "Ali" }</a:t>
            </a:r>
            <a:r>
              <a:rPr sz="2600" b="0">
                <a:solidFill>
                  <a:srgbClr val="1F232B"/>
                </a:solidFill>
                <a:latin typeface="Calibri"/>
              </a:rPr>
              <a:t> — 18-mavzuda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5453674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typeof va turlarni o'zgartirish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15-mavzu · JavaScript'ga kirish. O'zgaruvchilar va ma'lumot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10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35688"/>
            <a:ext cx="11091672" cy="3311591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0552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64872"/>
            <a:ext cx="10725912" cy="296411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typeof </a:t>
            </a:r>
            <a:r>
              <a:rPr sz="1904" b="0">
                <a:solidFill>
                  <a:srgbClr val="98C379"/>
                </a:solidFill>
                <a:latin typeface="Consolas"/>
              </a:rPr>
              <a:t>"Salom"</a:t>
            </a:r>
            <a:r>
              <a:rPr sz="1904" b="0">
                <a:solidFill>
                  <a:srgbClr val="E6E6E6"/>
                </a:solidFill>
                <a:latin typeface="Consolas"/>
              </a:rPr>
              <a:t>    // </a:t>
            </a:r>
            <a:r>
              <a:rPr sz="1904" b="0">
                <a:solidFill>
                  <a:srgbClr val="98C379"/>
                </a:solidFill>
                <a:latin typeface="Consolas"/>
              </a:rPr>
              <a:t>"string"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typeof 25         // </a:t>
            </a:r>
            <a:r>
              <a:rPr sz="1904" b="0">
                <a:solidFill>
                  <a:srgbClr val="98C379"/>
                </a:solidFill>
                <a:latin typeface="Consolas"/>
              </a:rPr>
              <a:t>"number"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typeof </a:t>
            </a:r>
            <a:r>
              <a:rPr sz="1904" b="0">
                <a:solidFill>
                  <a:srgbClr val="C678DD"/>
                </a:solidFill>
                <a:latin typeface="Consolas"/>
              </a:rPr>
              <a:t>true</a:t>
            </a:r>
            <a:r>
              <a:rPr sz="1904" b="0">
                <a:solidFill>
                  <a:srgbClr val="E6E6E6"/>
                </a:solidFill>
                <a:latin typeface="Consolas"/>
              </a:rPr>
              <a:t>       // </a:t>
            </a:r>
            <a:r>
              <a:rPr sz="1904" b="0">
                <a:solidFill>
                  <a:srgbClr val="98C379"/>
                </a:solidFill>
                <a:latin typeface="Consolas"/>
              </a:rPr>
              <a:t>"boolean"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typeof </a:t>
            </a:r>
            <a:r>
              <a:rPr sz="1904" b="0">
                <a:solidFill>
                  <a:srgbClr val="C678DD"/>
                </a:solidFill>
                <a:latin typeface="Consolas"/>
              </a:rPr>
              <a:t>null</a:t>
            </a:r>
            <a:r>
              <a:rPr sz="1904" b="0">
                <a:solidFill>
                  <a:srgbClr val="E6E6E6"/>
                </a:solidFill>
                <a:latin typeface="Consolas"/>
              </a:rPr>
              <a:t>       // </a:t>
            </a:r>
            <a:r>
              <a:rPr sz="1904" b="0">
                <a:solidFill>
                  <a:srgbClr val="98C379"/>
                </a:solidFill>
                <a:latin typeface="Consolas"/>
              </a:rPr>
              <a:t>"object"</a:t>
            </a:r>
            <a:r>
              <a:rPr sz="1904" b="0">
                <a:solidFill>
                  <a:srgbClr val="E6E6E6"/>
                </a:solidFill>
                <a:latin typeface="Consolas"/>
              </a:rPr>
              <a:t> ← tarixiy xato!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98C379"/>
                </a:solidFill>
                <a:latin typeface="Consolas"/>
              </a:rPr>
              <a:t>"5"</a:t>
            </a:r>
            <a:r>
              <a:rPr sz="1904" b="0">
                <a:solidFill>
                  <a:srgbClr val="E6E6E6"/>
                </a:solidFill>
                <a:latin typeface="Consolas"/>
              </a:rPr>
              <a:t> + 3           // </a:t>
            </a:r>
            <a:r>
              <a:rPr sz="1904" b="0">
                <a:solidFill>
                  <a:srgbClr val="98C379"/>
                </a:solidFill>
                <a:latin typeface="Consolas"/>
              </a:rPr>
              <a:t>"53"</a:t>
            </a:r>
            <a:r>
              <a:rPr sz="1904" b="0">
                <a:solidFill>
                  <a:srgbClr val="E6E6E6"/>
                </a:solidFill>
                <a:latin typeface="Consolas"/>
              </a:rPr>
              <a:t>  😮 matnga yopishadi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98C379"/>
                </a:solidFill>
                <a:latin typeface="Consolas"/>
              </a:rPr>
              <a:t>"5"</a:t>
            </a:r>
            <a:r>
              <a:rPr sz="1904" b="0">
                <a:solidFill>
                  <a:srgbClr val="E6E6E6"/>
                </a:solidFill>
                <a:latin typeface="Consolas"/>
              </a:rPr>
              <a:t> - 3           // 2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Number(</a:t>
            </a:r>
            <a:r>
              <a:rPr sz="1904" b="0">
                <a:solidFill>
                  <a:srgbClr val="98C379"/>
                </a:solidFill>
                <a:latin typeface="Consolas"/>
              </a:rPr>
              <a:t>"42"</a:t>
            </a:r>
            <a:r>
              <a:rPr sz="1904" b="0">
                <a:solidFill>
                  <a:srgbClr val="E6E6E6"/>
                </a:solidFill>
                <a:latin typeface="Consolas"/>
              </a:rPr>
              <a:t>) + 8  // 50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parseInt(</a:t>
            </a:r>
            <a:r>
              <a:rPr sz="1904" b="0">
                <a:solidFill>
                  <a:srgbClr val="98C379"/>
                </a:solidFill>
                <a:latin typeface="Consolas"/>
              </a:rPr>
              <a:t>"15px"</a:t>
            </a:r>
            <a:r>
              <a:rPr sz="1904" b="0">
                <a:solidFill>
                  <a:srgbClr val="E6E6E6"/>
                </a:solidFill>
                <a:latin typeface="Consolas"/>
              </a:rPr>
              <a:t>)  //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966735"/>
            <a:ext cx="11091672" cy="1100581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966735"/>
            <a:ext cx="82296" cy="110058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058175"/>
            <a:ext cx="10725912" cy="93598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⚠️ </a:t>
            </a:r>
            <a:r>
              <a:rPr sz="2660" b="0">
                <a:solidFill>
                  <a:srgbClr val="1F232B"/>
                </a:solidFill>
                <a:latin typeface="Calibri"/>
              </a:rPr>
              <a:t>Foydalanuvchi kiritgan ma'lumot </a:t>
            </a:r>
            <a:r>
              <a:rPr sz="2660" b="1">
                <a:solidFill>
                  <a:srgbClr val="1F232B"/>
                </a:solidFill>
                <a:latin typeface="Calibri"/>
              </a:rPr>
              <a:t>doim matn</a:t>
            </a:r>
            <a:r>
              <a:rPr sz="2660" b="0">
                <a:solidFill>
                  <a:srgbClr val="1F232B"/>
                </a:solidFill>
                <a:latin typeface="Calibri"/>
              </a:rPr>
              <a:t>. Hisoblashdan oldin </a:t>
            </a:r>
            <a:r>
              <a:rPr sz="2447" b="0">
                <a:solidFill>
                  <a:srgbClr val="B02A4A"/>
                </a:solidFill>
                <a:latin typeface="Consolas"/>
              </a:rPr>
              <a:t>Number()</a:t>
            </a:r>
            <a:r>
              <a:rPr sz="2660" b="0">
                <a:solidFill>
                  <a:srgbClr val="1F232B"/>
                </a:solidFill>
                <a:latin typeface="Calibri"/>
              </a:rPr>
              <a:t>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Foydalanuvchi bilan muloqot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15-mavzu · JavaScript'ga kirish. O'zgaruvchilar va ma'lumot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11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44530"/>
            <a:ext cx="11091672" cy="2354031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939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73714"/>
            <a:ext cx="10725912" cy="20065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const</a:t>
            </a:r>
            <a:r>
              <a:rPr sz="1904" b="0">
                <a:solidFill>
                  <a:srgbClr val="E6E6E6"/>
                </a:solidFill>
                <a:latin typeface="Consolas"/>
              </a:rPr>
              <a:t> ism = prompt(</a:t>
            </a:r>
            <a:r>
              <a:rPr sz="1904" b="0">
                <a:solidFill>
                  <a:srgbClr val="98C379"/>
                </a:solidFill>
                <a:latin typeface="Consolas"/>
              </a:rPr>
              <a:t>"Ismingiz nima?"</a:t>
            </a:r>
            <a:r>
              <a:rPr sz="1904" b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const</a:t>
            </a:r>
            <a:r>
              <a:rPr sz="1904" b="0">
                <a:solidFill>
                  <a:srgbClr val="E6E6E6"/>
                </a:solidFill>
                <a:latin typeface="Consolas"/>
              </a:rPr>
              <a:t> yil = Number(prompt(</a:t>
            </a:r>
            <a:r>
              <a:rPr sz="1904" b="0">
                <a:solidFill>
                  <a:srgbClr val="98C379"/>
                </a:solidFill>
                <a:latin typeface="Consolas"/>
              </a:rPr>
              <a:t>"Qaysi yilda tug'ilgansiz?"</a:t>
            </a:r>
            <a:r>
              <a:rPr sz="1904" b="0">
                <a:solidFill>
                  <a:srgbClr val="E6E6E6"/>
                </a:solidFill>
                <a:latin typeface="Consolas"/>
              </a:rPr>
              <a:t>));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const</a:t>
            </a:r>
            <a:r>
              <a:rPr sz="1904" b="0">
                <a:solidFill>
                  <a:srgbClr val="E6E6E6"/>
                </a:solidFill>
                <a:latin typeface="Consolas"/>
              </a:rPr>
              <a:t> yosh = 2026 - yil;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alert(`Salom, ${ism}! Siz ${yosh} yoshdasiz.`);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const</a:t>
            </a:r>
            <a:r>
              <a:rPr sz="1904" b="0">
                <a:solidFill>
                  <a:srgbClr val="E6E6E6"/>
                </a:solidFill>
                <a:latin typeface="Consolas"/>
              </a:rPr>
              <a:t> tasdiq = confirm(</a:t>
            </a:r>
            <a:r>
              <a:rPr sz="1904" b="0">
                <a:solidFill>
                  <a:srgbClr val="98C379"/>
                </a:solidFill>
                <a:latin typeface="Consolas"/>
              </a:rPr>
              <a:t>"Dasturlashni yoqtirasizmi?"</a:t>
            </a:r>
            <a:r>
              <a:rPr sz="1904" b="0">
                <a:solidFill>
                  <a:srgbClr val="E6E6E6"/>
                </a:solidFill>
                <a:latin typeface="Consolas"/>
              </a:rPr>
              <a:t>);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018017"/>
          <a:ext cx="11091672" cy="2007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50190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Funksiya</a:t>
                      </a:r>
                    </a:p>
                  </a:txBody>
                  <a:tcPr marL="73152" marR="73152" marT="36576" marB="36576">
                    <a:solidFill>
                      <a:srgbClr val="C994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Qaytaradi</a:t>
                      </a:r>
                    </a:p>
                  </a:txBody>
                  <a:tcPr marL="73152" marR="73152" marT="36576" marB="36576">
                    <a:solidFill>
                      <a:srgbClr val="C99400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alert("...")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Hech narsa — faqat xabar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prompt("...")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Kiritilgan matn yoki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null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confirm("...")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true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yoki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15-mavzu · JavaScript'ga kirish. O'zgaruvchilar va ma'lumot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12 / 24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92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444752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0">
                <a:solidFill>
                  <a:srgbClr val="B02A4A"/>
                </a:solidFill>
                <a:latin typeface="Consolas"/>
              </a:rPr>
              <a:t>js-darslar/</a:t>
            </a:r>
            <a:r>
              <a:rPr sz="2400" b="0">
                <a:solidFill>
                  <a:srgbClr val="1F232B"/>
                </a:solidFill>
                <a:latin typeface="Calibri"/>
              </a:rPr>
              <a:t> — </a:t>
            </a:r>
            <a:r>
              <a:rPr sz="2208" b="0">
                <a:solidFill>
                  <a:srgbClr val="B02A4A"/>
                </a:solidFill>
                <a:latin typeface="Consolas"/>
              </a:rPr>
              <a:t>index.html</a:t>
            </a:r>
            <a:r>
              <a:rPr sz="2400" b="0">
                <a:solidFill>
                  <a:srgbClr val="1F232B"/>
                </a:solidFill>
                <a:latin typeface="Calibri"/>
              </a:rPr>
              <a:t> + </a:t>
            </a:r>
            <a:r>
              <a:rPr sz="2208" b="0">
                <a:solidFill>
                  <a:srgbClr val="B02A4A"/>
                </a:solidFill>
                <a:latin typeface="Consolas"/>
              </a:rPr>
              <a:t>app.js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093976"/>
            <a:ext cx="457200" cy="457200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92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121408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"Men haqimda":</a:t>
            </a:r>
            <a:r>
              <a:rPr sz="2400" b="0">
                <a:solidFill>
                  <a:srgbClr val="1F232B"/>
                </a:solidFill>
                <a:latin typeface="Calibri"/>
              </a:rPr>
              <a:t> 5 ta o'zgaruvchi + shablon satr bilan bitta gap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0632"/>
            <a:ext cx="457200" cy="457200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92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2798064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Yosh kalkulyatori:</a:t>
            </a:r>
            <a:r>
              <a:rPr sz="2400" b="0">
                <a:solidFill>
                  <a:srgbClr val="1F232B"/>
                </a:solidFill>
                <a:latin typeface="Calibri"/>
              </a:rPr>
              <a:t> yosh, 2030-yildagi yosh, necha kun yashagan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447288"/>
            <a:ext cx="457200" cy="457200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92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3474720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Do'kon cheki:</a:t>
            </a:r>
            <a:r>
              <a:rPr sz="2400" b="0">
                <a:solidFill>
                  <a:srgbClr val="1F232B"/>
                </a:solidFill>
                <a:latin typeface="Calibri"/>
              </a:rPr>
              <a:t> 3 ta mahsulot va umumiy summa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123944"/>
            <a:ext cx="457200" cy="457200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92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4151376"/>
            <a:ext cx="10451592" cy="871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Tur detektivi:</a:t>
            </a:r>
            <a:r>
              <a:rPr sz="2400" b="0">
                <a:solidFill>
                  <a:srgbClr val="1F232B"/>
                </a:solidFill>
                <a:latin typeface="Calibri"/>
              </a:rPr>
              <a:t> 8 ta qiymat uchun </a:t>
            </a:r>
            <a:r>
              <a:rPr sz="2208" b="0">
                <a:solidFill>
                  <a:srgbClr val="B02A4A"/>
                </a:solidFill>
                <a:latin typeface="Consolas"/>
              </a:rPr>
              <a:t>typeof</a:t>
            </a:r>
            <a:r>
              <a:rPr sz="2400" b="0">
                <a:solidFill>
                  <a:srgbClr val="1F232B"/>
                </a:solidFill>
                <a:latin typeface="Calibri"/>
              </a:rPr>
              <a:t> ni avval taxmin qiling, keyin tekshiring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105400"/>
            <a:ext cx="11091672" cy="986088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16026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434584"/>
            <a:ext cx="10725912" cy="6386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632" b="0">
                <a:solidFill>
                  <a:srgbClr val="C678DD"/>
                </a:solidFill>
                <a:latin typeface="Consolas"/>
              </a:rPr>
              <a:t>const</a:t>
            </a:r>
            <a:r>
              <a:rPr sz="1632" b="0">
                <a:solidFill>
                  <a:srgbClr val="E6E6E6"/>
                </a:solidFill>
                <a:latin typeface="Consolas"/>
              </a:rPr>
              <a:t> narx = 5000, soni = 4;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C678DD"/>
                </a:solidFill>
                <a:latin typeface="Consolas"/>
              </a:rPr>
              <a:t>console</a:t>
            </a:r>
            <a:r>
              <a:rPr sz="1632" b="0">
                <a:solidFill>
                  <a:srgbClr val="E6E6E6"/>
                </a:solidFill>
                <a:latin typeface="Consolas"/>
              </a:rPr>
              <a:t>.log(`Jami: ${narx * soni} so'm`);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Ko'p uchraydigan xatolar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15-mavzu · JavaScript'ga kirish. O'zgaruvchilar va ma'lumot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13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676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❌ </a:t>
            </a:r>
            <a:r>
              <a:rPr sz="2392" b="0">
                <a:solidFill>
                  <a:srgbClr val="B02A4A"/>
                </a:solidFill>
                <a:latin typeface="Consolas"/>
              </a:rPr>
              <a:t>SyntaxError</a:t>
            </a:r>
            <a:r>
              <a:rPr sz="2600" b="0">
                <a:solidFill>
                  <a:srgbClr val="1F232B"/>
                </a:solidFill>
                <a:latin typeface="Calibri"/>
              </a:rPr>
              <a:t> — qo'shtirnoq yopilmagan / apostrof satrni sindirgan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65910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94662"/>
            <a:ext cx="10680192" cy="880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❌ </a:t>
            </a:r>
            <a:r>
              <a:rPr sz="2392" b="0">
                <a:solidFill>
                  <a:srgbClr val="B02A4A"/>
                </a:solidFill>
                <a:latin typeface="Consolas"/>
              </a:rPr>
              <a:t>ReferenceError: x is not defined</a:t>
            </a:r>
            <a:r>
              <a:rPr sz="2600" b="0">
                <a:solidFill>
                  <a:srgbClr val="1F232B"/>
                </a:solidFill>
                <a:latin typeface="Calibri"/>
              </a:rPr>
              <a:t> — nom noto'g'ri yoki e'lon qilinmagan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43252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984754"/>
            <a:ext cx="10680192" cy="4676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❌ </a:t>
            </a:r>
            <a:r>
              <a:rPr sz="2392" b="0">
                <a:solidFill>
                  <a:srgbClr val="B02A4A"/>
                </a:solidFill>
                <a:latin typeface="Consolas"/>
              </a:rPr>
              <a:t>Assignment to constant variable</a:t>
            </a:r>
            <a:r>
              <a:rPr sz="2600" b="0">
                <a:solidFill>
                  <a:srgbClr val="1F232B"/>
                </a:solidFill>
                <a:latin typeface="Calibri"/>
              </a:rPr>
              <a:t> — </a:t>
            </a:r>
            <a:r>
              <a:rPr sz="2392" b="0">
                <a:solidFill>
                  <a:srgbClr val="B02A4A"/>
                </a:solidFill>
                <a:latin typeface="Consolas"/>
              </a:rPr>
              <a:t>const</a:t>
            </a:r>
            <a:r>
              <a:rPr sz="2600" b="0">
                <a:solidFill>
                  <a:srgbClr val="1F232B"/>
                </a:solidFill>
                <a:latin typeface="Calibri"/>
              </a:rPr>
              <a:t> ni o'zgartirish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133344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62096"/>
            <a:ext cx="10680192" cy="4676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❌ </a:t>
            </a:r>
            <a:r>
              <a:rPr sz="2392" b="0">
                <a:solidFill>
                  <a:srgbClr val="B02A4A"/>
                </a:solidFill>
                <a:latin typeface="Consolas"/>
              </a:rPr>
              <a:t>"10" + 5 = "105"</a:t>
            </a:r>
            <a:r>
              <a:rPr sz="2600" b="0">
                <a:solidFill>
                  <a:srgbClr val="1F232B"/>
                </a:solidFill>
                <a:latin typeface="Calibri"/>
              </a:rPr>
              <a:t> — </a:t>
            </a:r>
            <a:r>
              <a:rPr sz="2392" b="0">
                <a:solidFill>
                  <a:srgbClr val="B02A4A"/>
                </a:solidFill>
                <a:latin typeface="Consolas"/>
              </a:rPr>
              <a:t>Number()</a:t>
            </a:r>
            <a:r>
              <a:rPr sz="2600" b="0">
                <a:solidFill>
                  <a:srgbClr val="1F232B"/>
                </a:solidFill>
                <a:latin typeface="Calibri"/>
              </a:rPr>
              <a:t> unutilgan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710686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139438"/>
            <a:ext cx="10680192" cy="4676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❌ Bitta nomni ikki marta </a:t>
            </a:r>
            <a:r>
              <a:rPr sz="2392" b="0">
                <a:solidFill>
                  <a:srgbClr val="B02A4A"/>
                </a:solidFill>
                <a:latin typeface="Consolas"/>
              </a:rPr>
              <a:t>let</a:t>
            </a:r>
            <a:r>
              <a:rPr sz="2600" b="0">
                <a:solidFill>
                  <a:srgbClr val="1F232B"/>
                </a:solidFill>
                <a:latin typeface="Calibri"/>
              </a:rPr>
              <a:t> bilan e'lon qilish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288027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4716780"/>
            <a:ext cx="11091672" cy="1040256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716780"/>
            <a:ext cx="82296" cy="104025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808220"/>
            <a:ext cx="10725912" cy="87566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470" b="0">
                <a:solidFill>
                  <a:srgbClr val="1F232B"/>
                </a:solidFill>
                <a:latin typeface="Calibri"/>
              </a:rPr>
              <a:t>💡 </a:t>
            </a:r>
            <a:r>
              <a:rPr sz="2470" b="0">
                <a:solidFill>
                  <a:srgbClr val="1F232B"/>
                </a:solidFill>
                <a:latin typeface="Calibri"/>
              </a:rPr>
              <a:t>Konsoldagi qizil xabar — </a:t>
            </a:r>
            <a:r>
              <a:rPr sz="2470" b="1">
                <a:solidFill>
                  <a:srgbClr val="1F232B"/>
                </a:solidFill>
                <a:latin typeface="Calibri"/>
              </a:rPr>
              <a:t>yordamchi!</a:t>
            </a:r>
            <a:r>
              <a:rPr sz="2470" b="0">
                <a:solidFill>
                  <a:srgbClr val="1F232B"/>
                </a:solidFill>
                <a:latin typeface="Calibri"/>
              </a:rPr>
              <a:t> U xato turi va qatorini aytadi: </a:t>
            </a:r>
            <a:r>
              <a:rPr sz="2272" b="0">
                <a:solidFill>
                  <a:srgbClr val="B02A4A"/>
                </a:solidFill>
                <a:latin typeface="Consolas"/>
              </a:rPr>
              <a:t>app.js:12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15-mavzu · JavaScript'ga kirish. O'zgaruvchilar va ma'lumot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14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Qiymati o'zgarmaydigan o'zgaruvchi qaysi kalit so'z bilan e'lon qilinadi?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let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const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var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fix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15-mavzu · JavaScript'ga kirish. O'zgaruvchilar va ma'lumot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15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Qiymati o'zgarmaydigan o'zgaruvchi qaysi kalit so'z bilan e'lon qilinadi?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let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const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var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fix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15-mavzu · JavaScript'ga kirish. O'zgaruvchilar va ma'lumot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16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Qaysi o'zgaruvchi nomi to'g'ri?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2sinf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umumiy-ball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sinf rahbari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oquvchilarSoni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15-mavzu · JavaScript'ga kirish. O'zgaruvchilar va ma'lumot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17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Qaysi o'zgaruvchi nomi to'g'ri?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2sinf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umumiy-ball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sinf rahbari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oquvchilarSoni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15-mavzu · JavaScript'ga kirish. O'zgaruvchilar va ma'lumot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18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console.log("7" + 3)</a:t>
            </a:r>
            <a:r>
              <a:rPr sz="2400" b="1">
                <a:solidFill>
                  <a:srgbClr val="1F232B"/>
                </a:solidFill>
                <a:latin typeface="Calibri"/>
              </a:rPr>
              <a:t> natijasi?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"73"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Xato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15-mavzu · JavaScript'ga kirish. O'zgaruvchilar va ma'lumot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19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console.log("7" + 3)</a:t>
            </a:r>
            <a:r>
              <a:rPr sz="2400" b="1">
                <a:solidFill>
                  <a:srgbClr val="1F232B"/>
                </a:solidFill>
                <a:latin typeface="Calibri"/>
              </a:rPr>
              <a:t> natijasi?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"73"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Xato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15-mavzu · JavaScript'ga kirish. O'zgaruvchilar va ma'lumot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20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prompt()</a:t>
            </a:r>
            <a:r>
              <a:rPr sz="2400" b="1">
                <a:solidFill>
                  <a:srgbClr val="1F232B"/>
                </a:solidFill>
                <a:latin typeface="Calibri"/>
              </a:rPr>
              <a:t> qanday turdagi qiymat qaytaradi?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Doim 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Boolean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Matn (string) yoki null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Massiv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15-mavzu · JavaScript'ga kirish. O'zgaruvchilar va ma'lumot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21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prompt()</a:t>
            </a:r>
            <a:r>
              <a:rPr sz="2400" b="1">
                <a:solidFill>
                  <a:srgbClr val="1F232B"/>
                </a:solidFill>
                <a:latin typeface="Calibri"/>
              </a:rPr>
              <a:t> qanday turdagi qiymat qaytaradi?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Doim 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Boolean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Matn (string) yoki null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Massiv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🏠 Uyga vazifa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15-mavzu · JavaScript'ga kirish. O'zgaruvchilar va ma'lumot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22 / 24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853818"/>
            <a:ext cx="457200" cy="457200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881250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Valyuta:</a:t>
            </a:r>
            <a:r>
              <a:rPr sz="2800" b="0">
                <a:solidFill>
                  <a:srgbClr val="1F232B"/>
                </a:solidFill>
                <a:latin typeface="Calibri"/>
              </a:rPr>
              <a:t> dollarni so'rang, </a:t>
            </a:r>
            <a:r>
              <a:rPr sz="2576" b="0">
                <a:solidFill>
                  <a:srgbClr val="B02A4A"/>
                </a:solidFill>
                <a:latin typeface="Consolas"/>
              </a:rPr>
              <a:t>const KURS = 12700</a:t>
            </a:r>
            <a:r>
              <a:rPr sz="2800" b="0">
                <a:solidFill>
                  <a:srgbClr val="1F232B"/>
                </a:solidFill>
                <a:latin typeface="Calibri"/>
              </a:rPr>
              <a:t> bo'yicha so'mga aylantiring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962274"/>
            <a:ext cx="457200" cy="457200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989706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Doira:</a:t>
            </a:r>
            <a:r>
              <a:rPr sz="2800" b="0">
                <a:solidFill>
                  <a:srgbClr val="1F232B"/>
                </a:solidFill>
                <a:latin typeface="Calibri"/>
              </a:rPr>
              <a:t> radius → yuza (π·r²) va uzunlik (2·π·r); </a:t>
            </a:r>
            <a:r>
              <a:rPr sz="2576" b="0">
                <a:solidFill>
                  <a:srgbClr val="B02A4A"/>
                </a:solidFill>
                <a:latin typeface="Consolas"/>
              </a:rPr>
              <a:t>Math.PI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638931"/>
            <a:ext cx="457200" cy="457200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666363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Ism:</a:t>
            </a:r>
            <a:r>
              <a:rPr sz="2800" b="0">
                <a:solidFill>
                  <a:srgbClr val="1F232B"/>
                </a:solidFill>
                <a:latin typeface="Calibri"/>
              </a:rPr>
              <a:t> harflar soni, KATTA harflarda, birinchi va oxirgi harf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✅ Yodda tuting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15-mavzu · JavaScript'ga kirish. O'zgaruvchilar va ma'lumot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23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JavaScript — mantiq va harakat; </a:t>
            </a:r>
            <a:r>
              <a:rPr sz="2576" b="0">
                <a:solidFill>
                  <a:srgbClr val="B02A4A"/>
                </a:solidFill>
                <a:latin typeface="Consolas"/>
              </a:rPr>
              <a:t>.js</a:t>
            </a:r>
            <a:r>
              <a:rPr sz="2800" b="0">
                <a:solidFill>
                  <a:srgbClr val="1F232B"/>
                </a:solidFill>
                <a:latin typeface="Calibri"/>
              </a:rPr>
              <a:t> fayl </a:t>
            </a:r>
            <a:r>
              <a:rPr sz="2576" b="0">
                <a:solidFill>
                  <a:srgbClr val="B02A4A"/>
                </a:solidFill>
                <a:latin typeface="Consolas"/>
              </a:rPr>
              <a:t>&lt;/body&gt;</a:t>
            </a:r>
            <a:r>
              <a:rPr sz="2800" b="0">
                <a:solidFill>
                  <a:srgbClr val="1F232B"/>
                </a:solidFill>
                <a:latin typeface="Calibri"/>
              </a:rPr>
              <a:t> oldidan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console.log()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F12 → Console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const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o'zgarmas, </a:t>
            </a:r>
            <a:r>
              <a:rPr sz="2576" b="0">
                <a:solidFill>
                  <a:srgbClr val="B02A4A"/>
                </a:solidFill>
                <a:latin typeface="Consolas"/>
              </a:rPr>
              <a:t>let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o'zgaruvchan; camelCase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445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Turlar: string, number, boolean, undefined, null; </a:t>
            </a:r>
            <a:r>
              <a:rPr sz="2576" b="0">
                <a:solidFill>
                  <a:srgbClr val="B02A4A"/>
                </a:solidFill>
                <a:latin typeface="Consolas"/>
              </a:rPr>
              <a:t>typeof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404616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53688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`</a:t>
            </a:r>
            <a:r>
              <a:rPr sz="2576" b="0">
                <a:solidFill>
                  <a:srgbClr val="B02A4A"/>
                </a:solidFill>
                <a:latin typeface="Consolas"/>
              </a:rPr>
              <a:t> </a:t>
            </a:r>
            <a:r>
              <a:rPr sz="2800" b="0">
                <a:solidFill>
                  <a:srgbClr val="1F232B"/>
                </a:solidFill>
                <a:latin typeface="Calibri"/>
              </a:rPr>
              <a:t>Salom, ${ism}!</a:t>
            </a:r>
            <a:r>
              <a:rPr sz="2576" b="0">
                <a:solidFill>
                  <a:srgbClr val="B02A4A"/>
                </a:solidFill>
                <a:latin typeface="Consolas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 — shablon satr; kiritilgan ma'lumot → </a:t>
            </a:r>
            <a:r>
              <a:rPr sz="2800" b="0">
                <a:solidFill>
                  <a:srgbClr val="1F232B"/>
                </a:solidFill>
                <a:latin typeface="Calibri"/>
              </a:rPr>
              <a:t>Number()`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013708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94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6304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6000" b="0">
                <a:solidFill>
                  <a:srgbClr val="1F232B"/>
                </a:solidFill>
                <a:latin typeface="Segoe UI Emoji"/>
              </a:rPr>
              <a:t>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800" b="1">
                <a:solidFill>
                  <a:srgbClr val="1F232B"/>
                </a:solidFill>
                <a:latin typeface="Calibri"/>
              </a:rPr>
              <a:t>Savollar bormi?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749039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5B6370"/>
                </a:solidFill>
                <a:latin typeface="Calibri"/>
              </a:rPr>
              <a:t>Keyingi mavzu: </a:t>
            </a:r>
            <a:r>
              <a:rPr sz="2200" b="1">
                <a:solidFill>
                  <a:srgbClr val="5B6370"/>
                </a:solidFill>
                <a:latin typeface="Calibri"/>
              </a:rPr>
              <a:t>16. JavaScript'da operatorlar va ifodalar. Shart operatorlari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15-mavzu: JavaScript'ga kirish. O'zgaruvchilar va ma'lumot turlari</dc:title>
  <dc:subject/>
  <dc:creator>8-sinf · Web Full-stack dasturlash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