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ModelViewSet.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Router (DefaultRouter).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GET, HEAD,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django-cors-headers ni sozlab, front-end manzilini ruxsat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8E3FBF"/>
                </a:solidFill>
                <a:latin typeface="Calibri"/>
              </a:rPr>
              <a:t>40-MAVZU  ·  V BOB. DRF VA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DRF yordamida REST API yaratish. CRUD API ishlab chiqish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Generic view'lar (ListCreateAPIView, RetrieveUpdateDestroyAPIView), ViewSet va Router, ruxsatlar (faqat muallif), sahifalash, qidiruv va saralash, token autentifikatsiya, CORS; Front-end (JavaScript fetch) va Back-end integratsiyasi; mahsulotlar API'si.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To'liq </a:t>
            </a:r>
            <a:r>
              <a:rPr sz="2800" b="1">
                <a:solidFill>
                  <a:srgbClr val="1F232B"/>
                </a:solidFill>
                <a:latin typeface="Calibri"/>
              </a:rPr>
              <a:t>CRUD API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 necha qatorda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ViewSet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Router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URL'lar avtomatik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Ruxsatlar: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faqat muallif o'zgartiradi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Sahifalash, qidiruv, saralash</a:t>
            </a:r>
            <a:r>
              <a:rPr sz="2800" b="0">
                <a:solidFill>
                  <a:srgbClr val="1F232B"/>
                </a:solidFill>
                <a:latin typeface="Calibri"/>
              </a:rPr>
              <a:t>, token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Front-end + Back-end integratsiyasi</a:t>
            </a:r>
            <a:r>
              <a:rPr sz="2800" b="0">
                <a:solidFill>
                  <a:srgbClr val="1F232B"/>
                </a:solidFill>
                <a:latin typeface="Calibri"/>
              </a:rPr>
              <a:t> (29-loyiha)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627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Mahsulotlar boshqaruv API'si (27–28-loyihalar)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62280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Abstraksiya zinapoyasi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0246"/>
          <a:ext cx="11091672" cy="289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24154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Vosita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7241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@api_view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APIView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Ko'p, hammasi qo'lda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Nostandart mantiq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7241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Generic view'lar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Standart CRUD, URL'lar sizda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241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ModelViewSet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+ Router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Eng kam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To'liq standart CRUD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566318"/>
            <a:ext cx="11091672" cy="143236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566318"/>
            <a:ext cx="82296" cy="14323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57758"/>
            <a:ext cx="10725912" cy="12677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Ovqat tayyorlash:</a:t>
            </a:r>
            <a:r>
              <a:rPr sz="2470" b="0">
                <a:solidFill>
                  <a:srgbClr val="1F232B"/>
                </a:solidFill>
                <a:latin typeface="Calibri"/>
              </a:rPr>
              <a:t> 1 — noldan pishirish; 2 — yarim tayyor mahsulotlardan; 3 — tayyor taomni isitish. Maxsus taom uchun — noldan, oddiy tushlik uchun — tayyoridan.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2-daraja: Generic view'lar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0764"/>
            <a:ext cx="11091672" cy="290120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56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blog/api_views.py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9948"/>
            <a:ext cx="10725912" cy="25537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from</a:t>
            </a:r>
            <a:r>
              <a:rPr sz="1224" b="0">
                <a:solidFill>
                  <a:srgbClr val="E6E6E6"/>
                </a:solidFill>
                <a:latin typeface="Consolas"/>
              </a:rPr>
              <a:t> rest_framework </a:t>
            </a:r>
            <a:r>
              <a:rPr sz="122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24" b="0">
                <a:solidFill>
                  <a:srgbClr val="E6E6E6"/>
                </a:solidFill>
                <a:latin typeface="Consolas"/>
              </a:rPr>
              <a:t> generics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MaqolaListCreate(generics.ListCreateAPIView):          # GET ro'yxat + POST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queryset = Maqola.objects.filter(chop_etilgan=</a:t>
            </a:r>
            <a:r>
              <a:rPr sz="1224" b="0">
                <a:solidFill>
                  <a:srgbClr val="C678DD"/>
                </a:solidFill>
                <a:latin typeface="Consolas"/>
              </a:rPr>
              <a:t>True</a:t>
            </a:r>
            <a:r>
              <a:rPr sz="1224" b="0">
                <a:solidFill>
                  <a:srgbClr val="E6E6E6"/>
                </a:solidFill>
                <a:latin typeface="Consolas"/>
              </a:rPr>
              <a:t>).select_related(</a:t>
            </a:r>
            <a:r>
              <a:rPr sz="1224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224" b="0">
                <a:solidFill>
                  <a:srgbClr val="E6E6E6"/>
                </a:solidFill>
                <a:latin typeface="Consolas"/>
              </a:rPr>
              <a:t>, </a:t>
            </a:r>
            <a:r>
              <a:rPr sz="1224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22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serializer_class = MaqolaSerializer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perform_create(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serializer):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serializer.save(muallif=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.request.user)           # muallifni qo'shamiz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MaqolaDetail(generics.RetrieveUpdateDestroyAPIView):   # GET + PUT + PATCH + DELETE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queryset = Maqola.objects.all()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serializer_class = MaqolaSerializer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41428"/>
            <a:ext cx="11091672" cy="84929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962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70612"/>
            <a:ext cx="10725912" cy="50182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path(</a:t>
            </a:r>
            <a:r>
              <a:rPr sz="1224" b="0">
                <a:solidFill>
                  <a:srgbClr val="98C379"/>
                </a:solidFill>
                <a:latin typeface="Consolas"/>
              </a:rPr>
              <a:t>"api/maqolalar/"</a:t>
            </a:r>
            <a:r>
              <a:rPr sz="1224" b="0">
                <a:solidFill>
                  <a:srgbClr val="E6E6E6"/>
                </a:solidFill>
                <a:latin typeface="Consolas"/>
              </a:rPr>
              <a:t>, api_views.MaqolaListCreate.as_view()),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path(</a:t>
            </a:r>
            <a:r>
              <a:rPr sz="1224" b="0">
                <a:solidFill>
                  <a:srgbClr val="98C379"/>
                </a:solidFill>
                <a:latin typeface="Consolas"/>
              </a:rPr>
              <a:t>"api/maqolalar/&lt;int:pk&gt;/"</a:t>
            </a:r>
            <a:r>
              <a:rPr sz="1224" b="0">
                <a:solidFill>
                  <a:srgbClr val="E6E6E6"/>
                </a:solidFill>
                <a:latin typeface="Consolas"/>
              </a:rPr>
              <a:t>, api_views.MaqolaDetail.as_view()),   # generic'lar </a:t>
            </a:r>
            <a:r>
              <a:rPr sz="1224" b="0">
                <a:solidFill>
                  <a:srgbClr val="98C379"/>
                </a:solidFill>
                <a:latin typeface="Consolas"/>
              </a:rPr>
              <a:t>"pk"</a:t>
            </a:r>
            <a:r>
              <a:rPr sz="1224" b="0">
                <a:solidFill>
                  <a:srgbClr val="E6E6E6"/>
                </a:solidFill>
                <a:latin typeface="Consolas"/>
              </a:rPr>
              <a:t> kutadi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10179"/>
            <a:ext cx="11091672" cy="527494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610179"/>
            <a:ext cx="82296" cy="52749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01619"/>
            <a:ext cx="10725912" cy="3629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09" b="0">
                <a:solidFill>
                  <a:srgbClr val="1F232B"/>
                </a:solidFill>
                <a:latin typeface="Calibri"/>
              </a:rPr>
              <a:t>⚠️ </a:t>
            </a:r>
            <a:r>
              <a:rPr sz="1709" b="0">
                <a:solidFill>
                  <a:srgbClr val="1F232B"/>
                </a:solidFill>
                <a:latin typeface="Calibri"/>
              </a:rPr>
              <a:t>~15 qatorda to'liq CRUD! Lekin hozir </a:t>
            </a:r>
            <a:r>
              <a:rPr sz="1709" b="1">
                <a:solidFill>
                  <a:srgbClr val="1F232B"/>
                </a:solidFill>
                <a:latin typeface="Calibri"/>
              </a:rPr>
              <a:t>istalgan</a:t>
            </a:r>
            <a:r>
              <a:rPr sz="1709" b="0">
                <a:solidFill>
                  <a:srgbClr val="1F232B"/>
                </a:solidFill>
                <a:latin typeface="Calibri"/>
              </a:rPr>
              <a:t> foydalanuvchi begona maqolani o'zgartira oladi...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Ruxsatlar (permissions)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62446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blog/permissions.py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27699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884" b="0">
                <a:solidFill>
                  <a:srgbClr val="C678DD"/>
                </a:solidFill>
                <a:latin typeface="Consolas"/>
              </a:rPr>
              <a:t>from</a:t>
            </a:r>
            <a:r>
              <a:rPr sz="884" b="0">
                <a:solidFill>
                  <a:srgbClr val="E6E6E6"/>
                </a:solidFill>
                <a:latin typeface="Consolas"/>
              </a:rPr>
              <a:t> rest_framework </a:t>
            </a:r>
            <a:r>
              <a:rPr sz="884" b="0">
                <a:solidFill>
                  <a:srgbClr val="C678DD"/>
                </a:solidFill>
                <a:latin typeface="Consolas"/>
              </a:rPr>
              <a:t>import</a:t>
            </a:r>
            <a:r>
              <a:rPr sz="884" b="0">
                <a:solidFill>
                  <a:srgbClr val="E6E6E6"/>
                </a:solidFill>
                <a:latin typeface="Consolas"/>
              </a:rPr>
              <a:t> permissions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C678DD"/>
                </a:solidFill>
                <a:latin typeface="Consolas"/>
              </a:rPr>
              <a:t>class</a:t>
            </a:r>
            <a:r>
              <a:rPr sz="884" b="0">
                <a:solidFill>
                  <a:srgbClr val="E6E6E6"/>
                </a:solidFill>
                <a:latin typeface="Consolas"/>
              </a:rPr>
              <a:t> MuallifYokiFaqatOqish(permissions.BasePermission):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</a:t>
            </a:r>
            <a:r>
              <a:rPr sz="884" b="0">
                <a:solidFill>
                  <a:srgbClr val="98C379"/>
                </a:solidFill>
                <a:latin typeface="Consolas"/>
              </a:rPr>
              <a:t>""</a:t>
            </a:r>
            <a:r>
              <a:rPr sz="884" b="0">
                <a:solidFill>
                  <a:srgbClr val="98C379"/>
                </a:solidFill>
                <a:latin typeface="Consolas"/>
              </a:rPr>
              <a:t>"O'qish — hammaga; o'zgartirish — faqat muallifga."</a:t>
            </a:r>
            <a:r>
              <a:rPr sz="884" b="0">
                <a:solidFill>
                  <a:srgbClr val="98C379"/>
                </a:solidFill>
                <a:latin typeface="Consolas"/>
              </a:rPr>
              <a:t>""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</a:t>
            </a:r>
            <a:r>
              <a:rPr sz="884" b="0">
                <a:solidFill>
                  <a:srgbClr val="C678DD"/>
                </a:solidFill>
                <a:latin typeface="Consolas"/>
              </a:rPr>
              <a:t>def</a:t>
            </a:r>
            <a:r>
              <a:rPr sz="884" b="0">
                <a:solidFill>
                  <a:srgbClr val="E6E6E6"/>
                </a:solidFill>
                <a:latin typeface="Consolas"/>
              </a:rPr>
              <a:t> has_object_permission(</a:t>
            </a:r>
            <a:r>
              <a:rPr sz="884" b="0">
                <a:solidFill>
                  <a:srgbClr val="C678DD"/>
                </a:solidFill>
                <a:latin typeface="Consolas"/>
              </a:rPr>
              <a:t>self</a:t>
            </a:r>
            <a:r>
              <a:rPr sz="884" b="0">
                <a:solidFill>
                  <a:srgbClr val="E6E6E6"/>
                </a:solidFill>
                <a:latin typeface="Consolas"/>
              </a:rPr>
              <a:t>, request, view, obj):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884" b="0">
                <a:solidFill>
                  <a:srgbClr val="C678DD"/>
                </a:solidFill>
                <a:latin typeface="Consolas"/>
              </a:rPr>
              <a:t>if</a:t>
            </a:r>
            <a:r>
              <a:rPr sz="884" b="0">
                <a:solidFill>
                  <a:srgbClr val="E6E6E6"/>
                </a:solidFill>
                <a:latin typeface="Consolas"/>
              </a:rPr>
              <a:t> request.method </a:t>
            </a:r>
            <a:r>
              <a:rPr sz="884" b="0">
                <a:solidFill>
                  <a:srgbClr val="C678DD"/>
                </a:solidFill>
                <a:latin typeface="Consolas"/>
              </a:rPr>
              <a:t>in</a:t>
            </a:r>
            <a:r>
              <a:rPr sz="884" b="0">
                <a:solidFill>
                  <a:srgbClr val="E6E6E6"/>
                </a:solidFill>
                <a:latin typeface="Consolas"/>
              </a:rPr>
              <a:t> permissions.SAFE_METHODS:   # GET, HEAD, OPTIONS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884" b="0">
                <a:solidFill>
                  <a:srgbClr val="C678DD"/>
                </a:solidFill>
                <a:latin typeface="Consolas"/>
              </a:rPr>
              <a:t>return</a:t>
            </a:r>
            <a:r>
              <a:rPr sz="884" b="0">
                <a:solidFill>
                  <a:srgbClr val="E6E6E6"/>
                </a:solidFill>
                <a:latin typeface="Consolas"/>
              </a:rPr>
              <a:t> </a:t>
            </a:r>
            <a:r>
              <a:rPr sz="884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884" b="0">
                <a:solidFill>
                  <a:srgbClr val="C678DD"/>
                </a:solidFill>
                <a:latin typeface="Consolas"/>
              </a:rPr>
              <a:t>return</a:t>
            </a:r>
            <a:r>
              <a:rPr sz="884" b="0">
                <a:solidFill>
                  <a:srgbClr val="E6E6E6"/>
                </a:solidFill>
                <a:latin typeface="Consolas"/>
              </a:rPr>
              <a:t> obj.muallif == request.user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61238"/>
            <a:ext cx="11091672" cy="58710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610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90422"/>
            <a:ext cx="10725912" cy="23963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permission_classes = [permissions.IsAuthenticatedOrReadOnly, MuallifYokiFaqatOqish]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067799"/>
          <a:ext cx="11091672" cy="1557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311403"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Calibri"/>
                        </a:rPr>
                        <a:t>Tayyor ruxsat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311403">
                <a:tc>
                  <a:txBody>
                    <a:bodyPr/>
                    <a:lstStyle/>
                    <a:p>
                      <a:r>
                        <a:rPr sz="956" b="0">
                          <a:solidFill>
                            <a:srgbClr val="B02A4A"/>
                          </a:solidFill>
                          <a:latin typeface="Consolas"/>
                        </a:rPr>
                        <a:t>AllowAny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F232B"/>
                          </a:solidFill>
                          <a:latin typeface="Calibri"/>
                        </a:rPr>
                        <a:t>Hammaga ochiq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311403">
                <a:tc>
                  <a:txBody>
                    <a:bodyPr/>
                    <a:lstStyle/>
                    <a:p>
                      <a:r>
                        <a:rPr sz="956" b="0">
                          <a:solidFill>
                            <a:srgbClr val="B02A4A"/>
                          </a:solidFill>
                          <a:latin typeface="Consolas"/>
                        </a:rPr>
                        <a:t>IsAuthenticated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F232B"/>
                          </a:solidFill>
                          <a:latin typeface="Calibri"/>
                        </a:rPr>
                        <a:t>Faqat kirganlar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11403">
                <a:tc>
                  <a:txBody>
                    <a:bodyPr/>
                    <a:lstStyle/>
                    <a:p>
                      <a:r>
                        <a:rPr sz="956" b="0">
                          <a:solidFill>
                            <a:srgbClr val="B02A4A"/>
                          </a:solidFill>
                          <a:latin typeface="Consolas"/>
                        </a:rPr>
                        <a:t>IsAuthenticatedOrReadOnly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F232B"/>
                          </a:solidFill>
                          <a:latin typeface="Calibri"/>
                        </a:rPr>
                        <a:t>O'qish — hammaga, yozish — kirganlarga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311407">
                <a:tc>
                  <a:txBody>
                    <a:bodyPr/>
                    <a:lstStyle/>
                    <a:p>
                      <a:r>
                        <a:rPr sz="956" b="0">
                          <a:solidFill>
                            <a:srgbClr val="B02A4A"/>
                          </a:solidFill>
                          <a:latin typeface="Consolas"/>
                        </a:rPr>
                        <a:t>IsAdminUser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F232B"/>
                          </a:solidFill>
                          <a:latin typeface="Calibri"/>
                        </a:rPr>
                        <a:t>Faqat admin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0120" y="5844275"/>
            <a:ext cx="10680192" cy="2612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0">
                <a:solidFill>
                  <a:srgbClr val="1F232B"/>
                </a:solidFill>
                <a:latin typeface="Calibri"/>
              </a:rPr>
              <a:t>Begona PUT/DELETE → </a:t>
            </a:r>
            <a:r>
              <a:rPr sz="1300" b="1">
                <a:solidFill>
                  <a:srgbClr val="1F232B"/>
                </a:solidFill>
                <a:latin typeface="Calibri"/>
              </a:rPr>
              <a:t>403 Forbidden</a:t>
            </a:r>
            <a:r>
              <a:rPr sz="1300" b="0">
                <a:solidFill>
                  <a:srgbClr val="1F232B"/>
                </a:solidFill>
                <a:latin typeface="Calibri"/>
              </a:rPr>
              <a:t> (38-mavzu qoidasi, API'da)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91857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3-daraja: ViewSet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rest_framework </a:t>
            </a: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viewsets, permissions, filters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MaqolaViewSet(viewsets.ModelViewSet):     # list, create, retrieve, update, destroy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serializer_class = MaqolaSerializer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permission_classes = [permissions.IsAuthenticatedOrReadOnly, MuallifYokiFaqatOqish]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filter_backends = [filters.SearchFilter, filters.OrderingFilter]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search_fields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"matn"</a:t>
            </a:r>
            <a:r>
              <a:rPr sz="1360" b="0">
                <a:solidFill>
                  <a:srgbClr val="E6E6E6"/>
                </a:solidFill>
                <a:latin typeface="Consolas"/>
              </a:rPr>
              <a:t>]              # ?search=futbol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ordering_fields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"yaratilgan"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360" b="0">
                <a:solidFill>
                  <a:srgbClr val="E6E6E6"/>
                </a:solidFill>
                <a:latin typeface="Consolas"/>
              </a:rPr>
              <a:t>]     # ?ordering=-korishlar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get_queryset(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qs = Maqola.objects.filter(chop_etilgan=</a:t>
            </a:r>
            <a:r>
              <a:rPr sz="1360" b="0">
                <a:solidFill>
                  <a:srgbClr val="C678DD"/>
                </a:solidFill>
                <a:latin typeface="Consolas"/>
              </a:rPr>
              <a:t>True</a:t>
            </a:r>
            <a:r>
              <a:rPr sz="1360" b="0">
                <a:solidFill>
                  <a:srgbClr val="E6E6E6"/>
                </a:solidFill>
                <a:latin typeface="Consolas"/>
              </a:rPr>
              <a:t>).select_related(</a:t>
            </a:r>
            <a:r>
              <a:rPr sz="1360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kategoriya =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.request.query_params.get(</a:t>
            </a:r>
            <a:r>
              <a:rPr sz="1360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360" b="0">
                <a:solidFill>
                  <a:srgbClr val="E6E6E6"/>
                </a:solidFill>
                <a:latin typeface="Consolas"/>
              </a:rPr>
              <a:t>)   # ?kategoriya=sport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kategoriya: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qs = qs.filter(kategoriya__slug=kategoriya)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qs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perform_create(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, serializer):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serializer.save(muallif=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.request.user)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Router — URL'lar avtomatik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2379"/>
            <a:ext cx="11091672" cy="266181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72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config/urls.py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1563"/>
            <a:ext cx="10725912" cy="231434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20" b="0">
                <a:solidFill>
                  <a:srgbClr val="C678DD"/>
                </a:solidFill>
                <a:latin typeface="Consolas"/>
              </a:rPr>
              <a:t>from</a:t>
            </a:r>
            <a:r>
              <a:rPr sz="1020" b="0">
                <a:solidFill>
                  <a:srgbClr val="E6E6E6"/>
                </a:solidFill>
                <a:latin typeface="Consolas"/>
              </a:rPr>
              <a:t> rest_framework.routers </a:t>
            </a:r>
            <a:r>
              <a:rPr sz="102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020" b="0">
                <a:solidFill>
                  <a:srgbClr val="E6E6E6"/>
                </a:solidFill>
                <a:latin typeface="Consolas"/>
              </a:rPr>
              <a:t> DefaultRouter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C678DD"/>
                </a:solidFill>
                <a:latin typeface="Consolas"/>
              </a:rPr>
              <a:t>from</a:t>
            </a:r>
            <a:r>
              <a:rPr sz="1020" b="0">
                <a:solidFill>
                  <a:srgbClr val="E6E6E6"/>
                </a:solidFill>
                <a:latin typeface="Consolas"/>
              </a:rPr>
              <a:t> blog.api_views </a:t>
            </a:r>
            <a:r>
              <a:rPr sz="102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020" b="0">
                <a:solidFill>
                  <a:srgbClr val="E6E6E6"/>
                </a:solidFill>
                <a:latin typeface="Consolas"/>
              </a:rPr>
              <a:t> MaqolaViewSet, KategoriyaViewSet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router = DefaultRouter()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router.register(</a:t>
            </a:r>
            <a:r>
              <a:rPr sz="1020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020" b="0">
                <a:solidFill>
                  <a:srgbClr val="E6E6E6"/>
                </a:solidFill>
                <a:latin typeface="Consolas"/>
              </a:rPr>
              <a:t>, MaqolaViewSet, basename=</a:t>
            </a:r>
            <a:r>
              <a:rPr sz="1020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02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router.register(</a:t>
            </a:r>
            <a:r>
              <a:rPr sz="1020" b="0">
                <a:solidFill>
                  <a:srgbClr val="98C379"/>
                </a:solidFill>
                <a:latin typeface="Consolas"/>
              </a:rPr>
              <a:t>"kategoriyalar"</a:t>
            </a:r>
            <a:r>
              <a:rPr sz="1020" b="0">
                <a:solidFill>
                  <a:srgbClr val="E6E6E6"/>
                </a:solidFill>
                <a:latin typeface="Consolas"/>
              </a:rPr>
              <a:t>, KategoriyaViewSet)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020" b="0">
                <a:solidFill>
                  <a:srgbClr val="98C379"/>
                </a:solidFill>
                <a:latin typeface="Consolas"/>
              </a:rPr>
              <a:t>"admin/"</a:t>
            </a:r>
            <a:r>
              <a:rPr sz="1020" b="0">
                <a:solidFill>
                  <a:srgbClr val="E6E6E6"/>
                </a:solidFill>
                <a:latin typeface="Consolas"/>
              </a:rPr>
              <a:t>, admin.site.urls),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020" b="0">
                <a:solidFill>
                  <a:srgbClr val="98C379"/>
                </a:solidFill>
                <a:latin typeface="Consolas"/>
              </a:rPr>
              <a:t>"api/"</a:t>
            </a:r>
            <a:r>
              <a:rPr sz="1020" b="0">
                <a:solidFill>
                  <a:srgbClr val="E6E6E6"/>
                </a:solidFill>
                <a:latin typeface="Consolas"/>
              </a:rPr>
              <a:t>, include(router.urls)),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020" b="0">
                <a:solidFill>
                  <a:srgbClr val="98C379"/>
                </a:solidFill>
                <a:latin typeface="Consolas"/>
              </a:rPr>
              <a:t>"api-auth/"</a:t>
            </a:r>
            <a:r>
              <a:rPr sz="1020" b="0">
                <a:solidFill>
                  <a:srgbClr val="E6E6E6"/>
                </a:solidFill>
                <a:latin typeface="Consolas"/>
              </a:rPr>
              <a:t>, include(</a:t>
            </a:r>
            <a:r>
              <a:rPr sz="1020" b="0">
                <a:solidFill>
                  <a:srgbClr val="98C379"/>
                </a:solidFill>
                <a:latin typeface="Consolas"/>
              </a:rPr>
              <a:t>"rest_framework.urls"</a:t>
            </a:r>
            <a:r>
              <a:rPr sz="1020" b="0">
                <a:solidFill>
                  <a:srgbClr val="E6E6E6"/>
                </a:solidFill>
                <a:latin typeface="Consolas"/>
              </a:rPr>
              <a:t>)),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020" b="0">
                <a:solidFill>
                  <a:srgbClr val="98C379"/>
                </a:solidFill>
                <a:latin typeface="Consolas"/>
              </a:rPr>
              <a:t>""</a:t>
            </a:r>
            <a:r>
              <a:rPr sz="1020" b="0">
                <a:solidFill>
                  <a:srgbClr val="E6E6E6"/>
                </a:solidFill>
                <a:latin typeface="Consolas"/>
              </a:rPr>
              <a:t>, include(</a:t>
            </a:r>
            <a:r>
              <a:rPr sz="1020" b="0">
                <a:solidFill>
                  <a:srgbClr val="98C379"/>
                </a:solidFill>
                <a:latin typeface="Consolas"/>
              </a:rPr>
              <a:t>"blog.urls"</a:t>
            </a:r>
            <a:r>
              <a:rPr sz="1020" b="0">
                <a:solidFill>
                  <a:srgbClr val="E6E6E6"/>
                </a:solidFill>
                <a:latin typeface="Consolas"/>
              </a:rPr>
              <a:t>)),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23654"/>
          <a:ext cx="11091672" cy="101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368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Metodlar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ViewSet metodi</a:t>
                      </a:r>
                    </a:p>
                  </a:txBody>
                  <a:tcPr marL="73152" marR="73152" marT="36576" marB="36576">
                    <a:solidFill>
                      <a:srgbClr val="8E3FBF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r>
                        <a:rPr sz="1104" b="0">
                          <a:solidFill>
                            <a:srgbClr val="B02A4A"/>
                          </a:solidFill>
                          <a:latin typeface="Consolas"/>
                        </a:rPr>
                        <a:t>/api/maqolalar/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Calibri"/>
                        </a:rPr>
                        <a:t>GET, POST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Calibri"/>
                        </a:rPr>
                        <a:t>list, create</a:t>
                      </a:r>
                    </a:p>
                  </a:txBody>
                  <a:tcPr marL="73152" marR="73152" marT="36576" marB="36576">
                    <a:solidFill>
                      <a:srgbClr val="F5EFF9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r>
                        <a:rPr sz="1104" b="0">
                          <a:solidFill>
                            <a:srgbClr val="B02A4A"/>
                          </a:solidFill>
                          <a:latin typeface="Consolas"/>
                        </a:rPr>
                        <a:t>/api/maqolalar/5/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Calibri"/>
                        </a:rPr>
                        <a:t>GET, PUT, PATCH, DELETE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Calibri"/>
                        </a:rPr>
                        <a:t>retrieve, update, partial_update, destroy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553522"/>
            <a:ext cx="11091672" cy="48225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553522"/>
            <a:ext cx="82296" cy="482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44962"/>
            <a:ext cx="10725912" cy="31765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425" b="0">
                <a:solidFill>
                  <a:srgbClr val="1F232B"/>
                </a:solidFill>
                <a:latin typeface="Calibri"/>
              </a:rPr>
              <a:t>⚠️ </a:t>
            </a:r>
            <a:r>
              <a:rPr sz="1425" b="0">
                <a:solidFill>
                  <a:srgbClr val="1F232B"/>
                </a:solidFill>
                <a:latin typeface="Calibri"/>
              </a:rPr>
              <a:t>Oldingi qo'lda yozilgan </a:t>
            </a:r>
            <a:r>
              <a:rPr sz="1311" b="0">
                <a:solidFill>
                  <a:srgbClr val="B02A4A"/>
                </a:solidFill>
                <a:latin typeface="Consolas"/>
              </a:rPr>
              <a:t>api/maqolalar/...</a:t>
            </a:r>
            <a:r>
              <a:rPr sz="1425" b="0">
                <a:solidFill>
                  <a:srgbClr val="1F232B"/>
                </a:solidFill>
                <a:latin typeface="Calibri"/>
              </a:rPr>
              <a:t> yo'llarini o'chiring — ikki joyda bo'lmasin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Sahifalash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8482"/>
            <a:ext cx="11091672" cy="169655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334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7666"/>
            <a:ext cx="10725912" cy="13490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REST_FRAMEWORK = {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   </a:t>
            </a:r>
            <a:r>
              <a:rPr sz="1500" b="0">
                <a:solidFill>
                  <a:srgbClr val="98C379"/>
                </a:solidFill>
                <a:latin typeface="Consolas"/>
              </a:rPr>
              <a:t>"DEFAULT_PERMISSION_CLASSES"</a:t>
            </a:r>
            <a:r>
              <a:rPr sz="1500" b="0">
                <a:solidFill>
                  <a:srgbClr val="E6E6E6"/>
                </a:solidFill>
                <a:latin typeface="Consolas"/>
              </a:rPr>
              <a:t>: [</a:t>
            </a:r>
            <a:r>
              <a:rPr sz="1500" b="0">
                <a:solidFill>
                  <a:srgbClr val="98C379"/>
                </a:solidFill>
                <a:latin typeface="Consolas"/>
              </a:rPr>
              <a:t>"rest_framework.permissions.IsAuthenticatedOrReadOnly"</a:t>
            </a:r>
            <a:r>
              <a:rPr sz="1500" b="0">
                <a:solidFill>
                  <a:srgbClr val="E6E6E6"/>
                </a:solidFill>
                <a:latin typeface="Consolas"/>
              </a:rPr>
              <a:t>],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   </a:t>
            </a:r>
            <a:r>
              <a:rPr sz="1500" b="0">
                <a:solidFill>
                  <a:srgbClr val="98C379"/>
                </a:solidFill>
                <a:latin typeface="Consolas"/>
              </a:rPr>
              <a:t>"DEFAULT_PAGINATION_CLASS"</a:t>
            </a:r>
            <a:r>
              <a:rPr sz="1500" b="0">
                <a:solidFill>
                  <a:srgbClr val="E6E6E6"/>
                </a:solidFill>
                <a:latin typeface="Consolas"/>
              </a:rPr>
              <a:t>: </a:t>
            </a:r>
            <a:r>
              <a:rPr sz="1500" b="0">
                <a:solidFill>
                  <a:srgbClr val="98C379"/>
                </a:solidFill>
                <a:latin typeface="Consolas"/>
              </a:rPr>
              <a:t>"rest_framework.pagination.PageNumberPagination"</a:t>
            </a:r>
            <a:r>
              <a:rPr sz="150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   </a:t>
            </a:r>
            <a:r>
              <a:rPr sz="1500" b="0">
                <a:solidFill>
                  <a:srgbClr val="98C379"/>
                </a:solidFill>
                <a:latin typeface="Consolas"/>
              </a:rPr>
              <a:t>"PAGE_SIZE"</a:t>
            </a:r>
            <a:r>
              <a:rPr sz="1500" b="0">
                <a:solidFill>
                  <a:srgbClr val="E6E6E6"/>
                </a:solidFill>
                <a:latin typeface="Consolas"/>
              </a:rPr>
              <a:t>: 10,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4493"/>
            <a:ext cx="11091672" cy="27567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9935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73677"/>
            <a:ext cx="10725912" cy="24093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</a:t>
            </a:r>
            <a:r>
              <a:rPr sz="1728" b="0">
                <a:solidFill>
                  <a:srgbClr val="98C379"/>
                </a:solidFill>
                <a:latin typeface="Consolas"/>
              </a:rPr>
              <a:t>"count"</a:t>
            </a:r>
            <a:r>
              <a:rPr sz="1728" b="0">
                <a:solidFill>
                  <a:srgbClr val="E6E6E6"/>
                </a:solidFill>
                <a:latin typeface="Consolas"/>
              </a:rPr>
              <a:t>: 23,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</a:t>
            </a:r>
            <a:r>
              <a:rPr sz="1728" b="0">
                <a:solidFill>
                  <a:srgbClr val="98C379"/>
                </a:solidFill>
                <a:latin typeface="Consolas"/>
              </a:rPr>
              <a:t>"next"</a:t>
            </a:r>
            <a:r>
              <a:rPr sz="1728" b="0">
                <a:solidFill>
                  <a:srgbClr val="E6E6E6"/>
                </a:solidFill>
                <a:latin typeface="Consolas"/>
              </a:rPr>
              <a:t>: </a:t>
            </a:r>
            <a:r>
              <a:rPr sz="1728" b="0">
                <a:solidFill>
                  <a:srgbClr val="98C379"/>
                </a:solidFill>
                <a:latin typeface="Consolas"/>
              </a:rPr>
              <a:t>"http://127.0.0.1:8000/api/maqolalar/?page=3&amp;search=maktab"</a:t>
            </a:r>
            <a:r>
              <a:rPr sz="172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</a:t>
            </a:r>
            <a:r>
              <a:rPr sz="1728" b="0">
                <a:solidFill>
                  <a:srgbClr val="98C379"/>
                </a:solidFill>
                <a:latin typeface="Consolas"/>
              </a:rPr>
              <a:t>"previous"</a:t>
            </a:r>
            <a:r>
              <a:rPr sz="1728" b="0">
                <a:solidFill>
                  <a:srgbClr val="E6E6E6"/>
                </a:solidFill>
                <a:latin typeface="Consolas"/>
              </a:rPr>
              <a:t>: </a:t>
            </a:r>
            <a:r>
              <a:rPr sz="1728" b="0">
                <a:solidFill>
                  <a:srgbClr val="98C379"/>
                </a:solidFill>
                <a:latin typeface="Consolas"/>
              </a:rPr>
              <a:t>"http://127.0.0.1:8000/api/maqolalar/?page=1&amp;search=maktab"</a:t>
            </a:r>
            <a:r>
              <a:rPr sz="172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</a:t>
            </a:r>
            <a:r>
              <a:rPr sz="1728" b="0">
                <a:solidFill>
                  <a:srgbClr val="98C379"/>
                </a:solidFill>
                <a:latin typeface="Consolas"/>
              </a:rPr>
              <a:t>"results"</a:t>
            </a:r>
            <a:r>
              <a:rPr sz="1728" b="0">
                <a:solidFill>
                  <a:srgbClr val="E6E6E6"/>
                </a:solidFill>
                <a:latin typeface="Consolas"/>
              </a:rPr>
              <a:t>: [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  { </a:t>
            </a:r>
            <a:r>
              <a:rPr sz="1728" b="0">
                <a:solidFill>
                  <a:srgbClr val="98C379"/>
                </a:solidFill>
                <a:latin typeface="Consolas"/>
              </a:rPr>
              <a:t>"id"</a:t>
            </a:r>
            <a:r>
              <a:rPr sz="1728" b="0">
                <a:solidFill>
                  <a:srgbClr val="E6E6E6"/>
                </a:solidFill>
                <a:latin typeface="Consolas"/>
              </a:rPr>
              <a:t>: 12, </a:t>
            </a:r>
            <a:r>
              <a:rPr sz="172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728" b="0">
                <a:solidFill>
                  <a:srgbClr val="E6E6E6"/>
                </a:solidFill>
                <a:latin typeface="Consolas"/>
              </a:rPr>
              <a:t>: </a:t>
            </a:r>
            <a:r>
              <a:rPr sz="1728" b="0">
                <a:solidFill>
                  <a:srgbClr val="98C379"/>
                </a:solidFill>
                <a:latin typeface="Consolas"/>
              </a:rPr>
              <a:t>"Maktab kutubxonasi yangilandi"</a:t>
            </a:r>
            <a:r>
              <a:rPr sz="1728" b="0">
                <a:solidFill>
                  <a:srgbClr val="E6E6E6"/>
                </a:solidFill>
                <a:latin typeface="Consolas"/>
              </a:rPr>
              <a:t>, </a:t>
            </a:r>
            <a:r>
              <a:rPr sz="1728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728" b="0">
                <a:solidFill>
                  <a:srgbClr val="E6E6E6"/>
                </a:solidFill>
                <a:latin typeface="Consolas"/>
              </a:rPr>
              <a:t>: 340 }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  ]</a:t>
            </a:r>
          </a:p>
          <a:p>
            <a:pPr>
              <a:lnSpc>
                <a:spcPct val="100000"/>
              </a:lnSpc>
            </a:pPr>
            <a:r>
              <a:rPr sz="1728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Token autentifikatsiya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308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>
                <a:solidFill>
                  <a:srgbClr val="1F232B"/>
                </a:solidFill>
                <a:latin typeface="Calibri"/>
              </a:rPr>
              <a:t>Brauzer — sessiya (cookie); mobil ilova va dasturlar — har so'rovda </a:t>
            </a:r>
            <a:r>
              <a:rPr sz="1600" b="1">
                <a:solidFill>
                  <a:srgbClr val="1F232B"/>
                </a:solidFill>
                <a:latin typeface="Calibri"/>
              </a:rPr>
              <a:t>token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35912"/>
            <a:ext cx="11091672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9077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65096"/>
            <a:ext cx="10725912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INSTALLED_APPS +=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"rest_framework.authtoken"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REST_FRAMEWORK[</a:t>
            </a:r>
            <a:r>
              <a:rPr sz="1088" b="0">
                <a:solidFill>
                  <a:srgbClr val="98C379"/>
                </a:solidFill>
                <a:latin typeface="Consolas"/>
              </a:rPr>
              <a:t>"DEFAULT_AUTHENTICATION_CLASSES"</a:t>
            </a:r>
            <a:r>
              <a:rPr sz="1088" b="0">
                <a:solidFill>
                  <a:srgbClr val="E6E6E6"/>
                </a:solidFill>
                <a:latin typeface="Consolas"/>
              </a:rPr>
              <a:t>] = [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98C379"/>
                </a:solidFill>
                <a:latin typeface="Consolas"/>
              </a:rPr>
              <a:t>"rest_framework.authentication.SessionAuthentication"</a:t>
            </a:r>
            <a:r>
              <a:rPr sz="10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98C379"/>
                </a:solidFill>
                <a:latin typeface="Consolas"/>
              </a:rPr>
              <a:t>"rest_framework.authentication.TokenAuthentication"</a:t>
            </a:r>
            <a:r>
              <a:rPr sz="1088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7F848E"/>
                </a:solidFill>
                <a:latin typeface="Consolas"/>
              </a:rPr>
              <a:t># urls.py: path("api/token/", obtain_auth_token)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8633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434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17817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curl -X POST http://127.0.0.1:8000/api/token/ -d </a:t>
            </a:r>
            <a:r>
              <a:rPr sz="1088" b="0">
                <a:solidFill>
                  <a:srgbClr val="98C379"/>
                </a:solidFill>
                <a:latin typeface="Consolas"/>
              </a:rPr>
              <a:t>"username=ali&amp;password=parol12345"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7F848E"/>
                </a:solidFill>
                <a:latin typeface="Consolas"/>
              </a:rPr>
              <a:t># {"token":"9944b09199c62bcf9418ad846dd0e4bbdfc6ee4b"}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curl -X POST http://127.0.0.1:8000/api/maqolalar/ \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-H </a:t>
            </a:r>
            <a:r>
              <a:rPr sz="1088" b="0">
                <a:solidFill>
                  <a:srgbClr val="98C379"/>
                </a:solidFill>
                <a:latin typeface="Consolas"/>
              </a:rPr>
              <a:t>"Authorization: Token 9944b09199c62bcf..."</a:t>
            </a:r>
            <a:r>
              <a:rPr sz="1088" b="0">
                <a:solidFill>
                  <a:srgbClr val="E6E6E6"/>
                </a:solidFill>
                <a:latin typeface="Consolas"/>
              </a:rPr>
              <a:t> \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-H </a:t>
            </a:r>
            <a:r>
              <a:rPr sz="1088" b="0">
                <a:solidFill>
                  <a:srgbClr val="98C379"/>
                </a:solidFill>
                <a:latin typeface="Consolas"/>
              </a:rPr>
              <a:t>"Content-Type: application/json"</a:t>
            </a:r>
            <a:r>
              <a:rPr sz="1088" b="0">
                <a:solidFill>
                  <a:srgbClr val="E6E6E6"/>
                </a:solidFill>
                <a:latin typeface="Consolas"/>
              </a:rPr>
              <a:t> \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-d </a:t>
            </a:r>
            <a:r>
              <a:rPr sz="1088" b="0">
                <a:solidFill>
                  <a:srgbClr val="98C379"/>
                </a:solidFill>
                <a:latin typeface="Consolas"/>
              </a:rPr>
              <a:t>'{"sarlavha": "Token bilan yozildi", "matn": "Salom!", "kategoriya": 1}'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23748"/>
            <a:ext cx="11091672" cy="49733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23748"/>
            <a:ext cx="82296" cy="4973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15188"/>
            <a:ext cx="10725912" cy="3327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2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520" b="0">
                <a:solidFill>
                  <a:srgbClr val="1F232B"/>
                </a:solidFill>
                <a:latin typeface="Calibri"/>
              </a:rPr>
              <a:t>Token — parol kabi </a:t>
            </a:r>
            <a:r>
              <a:rPr sz="1520" b="1">
                <a:solidFill>
                  <a:srgbClr val="1F232B"/>
                </a:solidFill>
                <a:latin typeface="Calibri"/>
              </a:rPr>
              <a:t>maxfiy</a:t>
            </a:r>
            <a:r>
              <a:rPr sz="1520" b="0">
                <a:solidFill>
                  <a:srgbClr val="1F232B"/>
                </a:solidFill>
                <a:latin typeface="Calibri"/>
              </a:rPr>
              <a:t>! GitHub'ga yuklamang; faqat HTTPS orqali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DDC5EB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Front-end + Back-end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EEE2F5"/>
                </a:solidFill>
                <a:latin typeface="Calibri"/>
              </a:rPr>
              <a:t>Kursning eng muhim lahzasi: II bobdagi JavaScript va Django API birlashadi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DDC5EB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CORS — boshqa saytdan so'rovlarga ruxsat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Brauzer bir saytdagi JS'ga </a:t>
            </a:r>
            <a:r>
              <a:rPr sz="2000" b="1">
                <a:solidFill>
                  <a:srgbClr val="1F232B"/>
                </a:solidFill>
                <a:latin typeface="Calibri"/>
              </a:rPr>
              <a:t>boshqa domendagi</a:t>
            </a:r>
            <a:r>
              <a:rPr sz="2000" b="0">
                <a:solidFill>
                  <a:srgbClr val="1F232B"/>
                </a:solidFill>
                <a:latin typeface="Calibri"/>
              </a:rPr>
              <a:t> API'ga so'rov yuborishni taqiqlaydi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3162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99412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Ruxsatni </a:t>
            </a:r>
            <a:r>
              <a:rPr sz="2000" b="1">
                <a:solidFill>
                  <a:srgbClr val="1F232B"/>
                </a:solidFill>
                <a:latin typeface="Calibri"/>
              </a:rPr>
              <a:t>server</a:t>
            </a:r>
            <a:r>
              <a:rPr sz="2000" b="0">
                <a:solidFill>
                  <a:srgbClr val="1F232B"/>
                </a:solidFill>
                <a:latin typeface="Calibri"/>
              </a:rPr>
              <a:t> beradi: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01371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381504"/>
            <a:ext cx="11091672" cy="66690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3636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0688"/>
            <a:ext cx="10725912" cy="31943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pip install django-cors-headers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67862"/>
            <a:ext cx="11091672" cy="27188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272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97046"/>
            <a:ext cx="10725912" cy="23713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INSTALLED_APPS +=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"corsheaders"</a:t>
            </a: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MIDDLEWARE = [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"corsheaders.middleware.CorsMiddleware"</a:t>
            </a:r>
            <a:r>
              <a:rPr sz="1360" b="0">
                <a:solidFill>
                  <a:srgbClr val="E6E6E6"/>
                </a:solidFill>
                <a:latin typeface="Consolas"/>
              </a:rPr>
              <a:t>,      # ⬅ eng boshiga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"django.middleware.security.SecurityMiddleware"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7F848E"/>
                </a:solidFill>
                <a:latin typeface="Consolas"/>
              </a:rPr>
              <a:t>    # ...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CORS_ALLOWED_ORIGINS = [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"http://127.0.0.1:5500"</a:t>
            </a:r>
            <a:r>
              <a:rPr sz="1360" b="0">
                <a:solidFill>
                  <a:srgbClr val="E6E6E6"/>
                </a:solidFill>
                <a:latin typeface="Consolas"/>
              </a:rPr>
              <a:t>,                      # VS Code Live Server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98C379"/>
                </a:solidFill>
                <a:latin typeface="Consolas"/>
              </a:rPr>
              <a:t>"https://maktab-blog.netlify.app"</a:t>
            </a:r>
            <a:r>
              <a:rPr sz="1360" b="0">
                <a:solidFill>
                  <a:srgbClr val="E6E6E6"/>
                </a:solidFill>
                <a:latin typeface="Consolas"/>
              </a:rPr>
              <a:t>,            # internetdagi front-end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Front-end: JavaScript mijoz (29-loyiha)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284"/>
            <a:ext cx="11091672" cy="463393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14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468"/>
            <a:ext cx="10725912" cy="42864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const</a:t>
            </a:r>
            <a:r>
              <a:rPr sz="1088" b="0">
                <a:solidFill>
                  <a:srgbClr val="E6E6E6"/>
                </a:solidFill>
                <a:latin typeface="Consolas"/>
              </a:rPr>
              <a:t> API = </a:t>
            </a:r>
            <a:r>
              <a:rPr sz="1088" b="0">
                <a:solidFill>
                  <a:srgbClr val="98C379"/>
                </a:solidFill>
                <a:latin typeface="Consolas"/>
              </a:rPr>
              <a:t>"http://127.0.0.1:8000/api/maqolalar/"</a:t>
            </a:r>
            <a:r>
              <a:rPr sz="108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async</a:t>
            </a: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  <a:r>
              <a:rPr sz="1088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1088" b="0">
                <a:solidFill>
                  <a:srgbClr val="E6E6E6"/>
                </a:solidFill>
                <a:latin typeface="Consolas"/>
              </a:rPr>
              <a:t> yukla(url)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holat.textContent = </a:t>
            </a:r>
            <a:r>
              <a:rPr sz="1088" b="0">
                <a:solidFill>
                  <a:srgbClr val="98C379"/>
                </a:solidFill>
                <a:latin typeface="Consolas"/>
              </a:rPr>
              <a:t>"Yuklanmoqda..."</a:t>
            </a:r>
            <a:r>
              <a:rPr sz="108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try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const</a:t>
            </a:r>
            <a:r>
              <a:rPr sz="1088" b="0">
                <a:solidFill>
                  <a:srgbClr val="E6E6E6"/>
                </a:solidFill>
                <a:latin typeface="Consolas"/>
              </a:rPr>
              <a:t> javob = </a:t>
            </a:r>
            <a:r>
              <a:rPr sz="1088" b="0">
                <a:solidFill>
                  <a:srgbClr val="C678DD"/>
                </a:solidFill>
                <a:latin typeface="Consolas"/>
              </a:rPr>
              <a:t>await</a:t>
            </a:r>
            <a:r>
              <a:rPr sz="1088" b="0">
                <a:solidFill>
                  <a:srgbClr val="E6E6E6"/>
                </a:solidFill>
                <a:latin typeface="Consolas"/>
              </a:rPr>
              <a:t> fetch(url);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if</a:t>
            </a:r>
            <a:r>
              <a:rPr sz="1088" b="0">
                <a:solidFill>
                  <a:srgbClr val="E6E6E6"/>
                </a:solidFill>
                <a:latin typeface="Consolas"/>
              </a:rPr>
              <a:t> (!javob.ok) throw </a:t>
            </a:r>
            <a:r>
              <a:rPr sz="1088" b="0">
                <a:solidFill>
                  <a:srgbClr val="C678DD"/>
                </a:solidFill>
                <a:latin typeface="Consolas"/>
              </a:rPr>
              <a:t>new</a:t>
            </a:r>
            <a:r>
              <a:rPr sz="1088" b="0">
                <a:solidFill>
                  <a:srgbClr val="E6E6E6"/>
                </a:solidFill>
                <a:latin typeface="Consolas"/>
              </a:rPr>
              <a:t> Error(`Server xatosi: ${javob.status}`);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const</a:t>
            </a:r>
            <a:r>
              <a:rPr sz="1088" b="0">
                <a:solidFill>
                  <a:srgbClr val="E6E6E6"/>
                </a:solidFill>
                <a:latin typeface="Consolas"/>
              </a:rPr>
              <a:t> data = </a:t>
            </a:r>
            <a:r>
              <a:rPr sz="1088" b="0">
                <a:solidFill>
                  <a:srgbClr val="C678DD"/>
                </a:solidFill>
                <a:latin typeface="Consolas"/>
              </a:rPr>
              <a:t>await</a:t>
            </a:r>
            <a:r>
              <a:rPr sz="1088" b="0">
                <a:solidFill>
                  <a:srgbClr val="E6E6E6"/>
                </a:solidFill>
                <a:latin typeface="Consolas"/>
              </a:rPr>
              <a:t> javob.json();          // { count, next, previous, results 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royxat.innerHTML = </a:t>
            </a:r>
            <a:r>
              <a:rPr sz="1088" b="0">
                <a:solidFill>
                  <a:srgbClr val="98C379"/>
                </a:solidFill>
                <a:latin typeface="Consolas"/>
              </a:rPr>
              <a:t>""</a:t>
            </a:r>
            <a:r>
              <a:rPr sz="108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data.results.forEach(m =&gt;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const</a:t>
            </a:r>
            <a:r>
              <a:rPr sz="1088" b="0">
                <a:solidFill>
                  <a:srgbClr val="E6E6E6"/>
                </a:solidFill>
                <a:latin typeface="Consolas"/>
              </a:rPr>
              <a:t> karta = </a:t>
            </a:r>
            <a:r>
              <a:rPr sz="108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088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088" b="0">
                <a:solidFill>
                  <a:srgbClr val="98C379"/>
                </a:solidFill>
                <a:latin typeface="Consolas"/>
              </a:rPr>
              <a:t>"article"</a:t>
            </a:r>
            <a:r>
              <a:rPr sz="108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karta.className =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"karta"</a:t>
            </a:r>
            <a:r>
              <a:rPr sz="1088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const</a:t>
            </a:r>
            <a:r>
              <a:rPr sz="1088" b="0">
                <a:solidFill>
                  <a:srgbClr val="E6E6E6"/>
                </a:solidFill>
                <a:latin typeface="Consolas"/>
              </a:rPr>
              <a:t> h3 = </a:t>
            </a:r>
            <a:r>
              <a:rPr sz="1088" b="0">
                <a:solidFill>
                  <a:srgbClr val="C678DD"/>
                </a:solidFill>
                <a:latin typeface="Consolas"/>
              </a:rPr>
              <a:t>document</a:t>
            </a:r>
            <a:r>
              <a:rPr sz="1088" b="0">
                <a:solidFill>
                  <a:srgbClr val="E6E6E6"/>
                </a:solidFill>
                <a:latin typeface="Consolas"/>
              </a:rPr>
              <a:t>.createElement(</a:t>
            </a:r>
            <a:r>
              <a:rPr sz="1088" b="0">
                <a:solidFill>
                  <a:srgbClr val="98C379"/>
                </a:solidFill>
                <a:latin typeface="Consolas"/>
              </a:rPr>
              <a:t>"h3"</a:t>
            </a:r>
            <a:r>
              <a:rPr sz="1088" b="0">
                <a:solidFill>
                  <a:srgbClr val="E6E6E6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h3.textContent = m.sarlavha;            // textContent — XSS'dan himoya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karta.append(h3);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royxat.append(karta);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});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holat.textContent = `Jami: ${data.count} ta maqola`;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} catch (err) {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holat.textContent = `❌ ${err.message}. Django server ishlayaptimi?`;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yukla(API);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Full-stack zanjiri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25637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90890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🌐 index.html + JS          🌿 Django + DRF          🐘 PostgreSQL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Live Server :5500  ── fetch(GET /api/maqolalar/) ──▶  :8000  ⇄ SQL ⇄  maktab_blog</a:t>
            </a:r>
          </a:p>
          <a:p>
            <a:pPr>
              <a:lnSpc>
                <a:spcPct val="100000"/>
              </a:lnSpc>
            </a:pPr>
            <a:r>
              <a:rPr sz="1625" b="0">
                <a:solidFill>
                  <a:srgbClr val="E6E6E6"/>
                </a:solidFill>
                <a:latin typeface="Consolas"/>
              </a:rPr>
              <a:t>                      ◀────────────── JSON 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3155"/>
            <a:ext cx="11091672" cy="147129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8E3FBF"/>
                </a:solidFill>
                <a:latin typeface="Calibri"/>
              </a:rPr>
              <a:t>Siz full-stack ilovaning barcha qismlarini o'zingiz yozdingiz! 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74178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Front-end: HTML, CSS, JavaScript (I–II bob)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622768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5152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Back-end: Python, Django, DRF (IV–V bob)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20011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62886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Ma'lumotlar bazasi: PostgreSQL, SQL (III bob)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777452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mahsulotlar API (27–28-loyihalar)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24942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shop/models.py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9019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class</a:t>
            </a:r>
            <a:r>
              <a:rPr sz="1200" b="0">
                <a:solidFill>
                  <a:srgbClr val="E6E6E6"/>
                </a:solidFill>
                <a:latin typeface="Consolas"/>
              </a:rPr>
              <a:t> Mahsulot(models.Model):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nomi = models.CharField(max_length=200)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tavsif = models.TextField(blank=</a:t>
            </a:r>
            <a:r>
              <a:rPr sz="1200" b="0">
                <a:solidFill>
                  <a:srgbClr val="C678DD"/>
                </a:solidFill>
                <a:latin typeface="Consolas"/>
              </a:rPr>
              <a:t>True</a:t>
            </a:r>
            <a:r>
              <a:rPr sz="120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narx = models.DecimalField(max_digits=12, decimal_places=2)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soni = models.PositiveIntegerField(default=0)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faol = models.BooleanField(default=</a:t>
            </a:r>
            <a:r>
              <a:rPr sz="1200" b="0">
                <a:solidFill>
                  <a:srgbClr val="C678DD"/>
                </a:solidFill>
                <a:latin typeface="Consolas"/>
              </a:rPr>
              <a:t>True</a:t>
            </a:r>
            <a:r>
              <a:rPr sz="120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yaratilgan = models.DateTimeField(auto_now_add=</a:t>
            </a:r>
            <a:r>
              <a:rPr sz="1200" b="0">
                <a:solidFill>
                  <a:srgbClr val="C678DD"/>
                </a:solidFill>
                <a:latin typeface="Consolas"/>
              </a:rPr>
              <a:t>True</a:t>
            </a:r>
            <a:r>
              <a:rPr sz="1200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6277356" y="1417320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7436" y="1444752"/>
            <a:ext cx="4722876" cy="115747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MahsulotSerializer</a:t>
            </a:r>
            <a:r>
              <a:rPr sz="2200" b="0">
                <a:solidFill>
                  <a:srgbClr val="1F232B"/>
                </a:solidFill>
                <a:latin typeface="Calibri"/>
              </a:rPr>
              <a:t> (</a:t>
            </a:r>
            <a:r>
              <a:rPr sz="2024" b="0">
                <a:solidFill>
                  <a:srgbClr val="B02A4A"/>
                </a:solidFill>
                <a:latin typeface="Consolas"/>
              </a:rPr>
              <a:t>validate_narx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musbat), </a:t>
            </a:r>
            <a:r>
              <a:rPr sz="2024" b="0">
                <a:solidFill>
                  <a:srgbClr val="B02A4A"/>
                </a:solidFill>
                <a:latin typeface="Consolas"/>
              </a:rPr>
              <a:t>MahsulotViewSet</a:t>
            </a:r>
            <a:r>
              <a:rPr sz="2200" b="0">
                <a:solidFill>
                  <a:srgbClr val="1F232B"/>
                </a:solidFill>
                <a:latin typeface="Calibri"/>
              </a:rPr>
              <a:t>, router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2684525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7436" y="2711957"/>
            <a:ext cx="4722876" cy="808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Ruxsat: o'qish — hammaga, o'zgartirish — faqat admin</a:t>
            </a:r>
          </a:p>
        </p:txBody>
      </p:sp>
      <p:sp>
        <p:nvSpPr>
          <p:cNvPr id="14" name="Oval 13"/>
          <p:cNvSpPr/>
          <p:nvPr/>
        </p:nvSpPr>
        <p:spPr>
          <a:xfrm>
            <a:off x="6277356" y="3602481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7436" y="3629913"/>
            <a:ext cx="4722876" cy="808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?narx_min=10000&amp;narx_max=50000</a:t>
            </a:r>
            <a:r>
              <a:rPr sz="2200" b="0">
                <a:solidFill>
                  <a:srgbClr val="1F232B"/>
                </a:solidFill>
                <a:latin typeface="Calibri"/>
              </a:rPr>
              <a:t> filtri</a:t>
            </a:r>
          </a:p>
        </p:txBody>
      </p:sp>
      <p:sp>
        <p:nvSpPr>
          <p:cNvPr id="16" name="Oval 15"/>
          <p:cNvSpPr/>
          <p:nvPr/>
        </p:nvSpPr>
        <p:spPr>
          <a:xfrm>
            <a:off x="6277356" y="4520437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7436" y="4547869"/>
            <a:ext cx="4722876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GET, POST, PATCH, DELETE ni sinang</a:t>
            </a:r>
          </a:p>
        </p:txBody>
      </p:sp>
      <p:sp>
        <p:nvSpPr>
          <p:cNvPr id="18" name="Oval 17"/>
          <p:cNvSpPr/>
          <p:nvPr/>
        </p:nvSpPr>
        <p:spPr>
          <a:xfrm>
            <a:off x="6277356" y="5197093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7436" y="5224526"/>
            <a:ext cx="4722876" cy="808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Front-end: mahsulotlar katalogi — ma'lumot API'dan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ruxsat uchun maslahat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616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Ro'yxat va bitta mahsulotni ko'rish — hammaga, qolgan amallar — faqat admin: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21624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15196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7006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44380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def</a:t>
            </a:r>
            <a:r>
              <a:rPr sz="1904" b="0">
                <a:solidFill>
                  <a:srgbClr val="E6E6E6"/>
                </a:solidFill>
                <a:latin typeface="Consolas"/>
              </a:rPr>
              <a:t> get_permissions(</a:t>
            </a:r>
            <a:r>
              <a:rPr sz="1904" b="0">
                <a:solidFill>
                  <a:srgbClr val="C678DD"/>
                </a:solidFill>
                <a:latin typeface="Consolas"/>
              </a:rPr>
              <a:t>self</a:t>
            </a:r>
            <a:r>
              <a:rPr sz="1904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self</a:t>
            </a:r>
            <a:r>
              <a:rPr sz="1904" b="0">
                <a:solidFill>
                  <a:srgbClr val="E6E6E6"/>
                </a:solidFill>
                <a:latin typeface="Consolas"/>
              </a:rPr>
              <a:t>.action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(</a:t>
            </a:r>
            <a:r>
              <a:rPr sz="1904" b="0">
                <a:solidFill>
                  <a:srgbClr val="98C379"/>
                </a:solidFill>
                <a:latin typeface="Consolas"/>
              </a:rPr>
              <a:t>"list"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"retrieve"</a:t>
            </a:r>
            <a:r>
              <a:rPr sz="1904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[permissions.AllowAny()]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[permissions.IsAdminUser()]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blocked by CORS policy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corsheaders yo'q, middleware boshida emas yoki manzil (port ham!) ro'yxatda yo'q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get_queryset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ViewSet'da router </a:t>
            </a:r>
            <a:r>
              <a:rPr sz="2576" b="0">
                <a:solidFill>
                  <a:srgbClr val="B02A4A"/>
                </a:solidFill>
                <a:latin typeface="Consolas"/>
              </a:rPr>
              <a:t>basename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Generic view URL'ida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&lt;int:id&gt;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pk</a:t>
            </a:r>
            <a:r>
              <a:rPr sz="2800" b="0">
                <a:solidFill>
                  <a:srgbClr val="1F232B"/>
                </a:solidFill>
                <a:latin typeface="Calibri"/>
              </a:rPr>
              <a:t> kerak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fetch</a:t>
            </a:r>
            <a:r>
              <a:rPr sz="2800" b="0">
                <a:solidFill>
                  <a:srgbClr val="1F232B"/>
                </a:solidFill>
                <a:latin typeface="Calibri"/>
              </a:rPr>
              <a:t> natijasini </a:t>
            </a:r>
            <a:r>
              <a:rPr sz="2576" b="0">
                <a:solidFill>
                  <a:srgbClr val="B02A4A"/>
                </a:solidFill>
                <a:latin typeface="Consolas"/>
              </a:rPr>
              <a:t>.json()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await</a:t>
            </a:r>
            <a:r>
              <a:rPr sz="2800" b="0">
                <a:solidFill>
                  <a:srgbClr val="1F232B"/>
                </a:solidFill>
                <a:latin typeface="Calibri"/>
              </a:rPr>
              <a:t> siz ishlatish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Bitta klassda list, create, retrieve, update, destroy beruvchi DRF klassi?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APIView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ListAPIView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ModelViewSet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Serializer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Bitta klassda list, create, retrieve, update, destroy beruvchi DRF klassi?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APIView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ListAPIView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ModelViewSet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Serializer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ViewSet uchun URL'larni avtomatik yaratuvchi vosita?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Router (DefaultRouter)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path()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Paginator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Middleware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ViewSet uchun URL'larni avtomatik yaratuvchi vosita?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Router (DefaultRouter)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path()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Paginator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Middleware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SAFE_METHODS</a:t>
            </a:r>
            <a:r>
              <a:rPr sz="2400" b="1">
                <a:solidFill>
                  <a:srgbClr val="1F232B"/>
                </a:solidFill>
                <a:latin typeface="Calibri"/>
              </a:rPr>
              <a:t> qaysi metodlarni o'z ichiga oladi?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POST, 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GET, HEAD, OPTIONS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SAFE_METHODS</a:t>
            </a:r>
            <a:r>
              <a:rPr sz="2400" b="1">
                <a:solidFill>
                  <a:srgbClr val="1F232B"/>
                </a:solidFill>
                <a:latin typeface="Calibri"/>
              </a:rPr>
              <a:t> qaysi metodlarni o'z ichiga oladi?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POST, 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GET, HEAD, OPTIONS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Netlify'dagi JS sayt Django API'ga so'rovda "CORS" xatosi chiqdi. Nima qilish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JavaScript kodini o'chirish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528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528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django-cors-headers</a:t>
            </a:r>
            <a:r>
              <a:rPr sz="1900" b="0">
                <a:solidFill>
                  <a:srgbClr val="1F232B"/>
                </a:solidFill>
                <a:latin typeface="Calibri"/>
              </a:rPr>
              <a:t> ni sozlab, front-end manzilini ruxsat etish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672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4455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672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Brauzerni almashtirish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816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53599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816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API'ni HTML'ga aylantirish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Netlify'dagi JS sayt Django API'ga so'rovda "CORS" xatosi chiqdi. Nima qilish kerak?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JavaScript kodini o'chirish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528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528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django-cors-headers</a:t>
            </a:r>
            <a:r>
              <a:rPr sz="1900" b="1">
                <a:solidFill>
                  <a:srgbClr val="1F232B"/>
                </a:solidFill>
                <a:latin typeface="Calibri"/>
              </a:rPr>
              <a:t> ni sozlab, front-end manzilini ruxsat etish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672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4455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672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Brauzerni almashtirish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816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5359908"/>
            <a:ext cx="420624" cy="420624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8160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API'ni HTML'ga aylantirish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6669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3410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JS front-end'ga </a:t>
            </a:r>
            <a:r>
              <a:rPr sz="2800" b="1">
                <a:solidFill>
                  <a:srgbClr val="1F232B"/>
                </a:solidFill>
                <a:latin typeface="Calibri"/>
              </a:rPr>
              <a:t>"Maqola qo'shish"</a:t>
            </a:r>
            <a:r>
              <a:rPr sz="2800" b="0">
                <a:solidFill>
                  <a:srgbClr val="1F232B"/>
                </a:solidFill>
                <a:latin typeface="Calibri"/>
              </a:rPr>
              <a:t> formasi — token bilan POST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83325"/>
            <a:ext cx="457200" cy="457200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31075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Kutubxona API'sini </a:t>
            </a:r>
            <a:r>
              <a:rPr sz="2800" b="1">
                <a:solidFill>
                  <a:srgbClr val="1F232B"/>
                </a:solidFill>
                <a:latin typeface="Calibri"/>
              </a:rPr>
              <a:t>ViewSet + Router</a:t>
            </a:r>
            <a:r>
              <a:rPr sz="2800" b="0">
                <a:solidFill>
                  <a:srgbClr val="1F232B"/>
                </a:solidFill>
                <a:latin typeface="Calibri"/>
              </a:rPr>
              <a:t>'ga o'tkazing, qidiruv va sahifalash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91781"/>
            <a:ext cx="11091672" cy="18694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4664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20965"/>
            <a:ext cx="10725912" cy="15220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fetch(API, {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  method: </a:t>
            </a:r>
            <a:r>
              <a:rPr sz="170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70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  headers: { </a:t>
            </a:r>
            <a:r>
              <a:rPr sz="1706" b="0">
                <a:solidFill>
                  <a:srgbClr val="98C379"/>
                </a:solidFill>
                <a:latin typeface="Consolas"/>
              </a:rPr>
              <a:t>"Authorization"</a:t>
            </a:r>
            <a:r>
              <a:rPr sz="1706" b="0">
                <a:solidFill>
                  <a:srgbClr val="E6E6E6"/>
                </a:solidFill>
                <a:latin typeface="Consolas"/>
              </a:rPr>
              <a:t>: </a:t>
            </a:r>
            <a:r>
              <a:rPr sz="1706" b="0">
                <a:solidFill>
                  <a:srgbClr val="98C379"/>
                </a:solidFill>
                <a:latin typeface="Consolas"/>
              </a:rPr>
              <a:t>"Token ..."</a:t>
            </a:r>
            <a:r>
              <a:rPr sz="1706" b="0">
                <a:solidFill>
                  <a:srgbClr val="E6E6E6"/>
                </a:solidFill>
                <a:latin typeface="Consolas"/>
              </a:rPr>
              <a:t>, </a:t>
            </a:r>
            <a:r>
              <a:rPr sz="1706" b="0">
                <a:solidFill>
                  <a:srgbClr val="98C379"/>
                </a:solidFill>
                <a:latin typeface="Consolas"/>
              </a:rPr>
              <a:t>"Content-Type"</a:t>
            </a:r>
            <a:r>
              <a:rPr sz="1706" b="0">
                <a:solidFill>
                  <a:srgbClr val="E6E6E6"/>
                </a:solidFill>
                <a:latin typeface="Consolas"/>
              </a:rPr>
              <a:t>: </a:t>
            </a:r>
            <a:r>
              <a:rPr sz="1706" b="0">
                <a:solidFill>
                  <a:srgbClr val="98C379"/>
                </a:solidFill>
                <a:latin typeface="Consolas"/>
              </a:rPr>
              <a:t>"application/json"</a:t>
            </a:r>
            <a:r>
              <a:rPr sz="1706" b="0">
                <a:solidFill>
                  <a:srgbClr val="E6E6E6"/>
                </a:solidFill>
                <a:latin typeface="Consolas"/>
              </a:rPr>
              <a:t> },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  body: JSON.stringify({ sarlavha, matn, kategoriya: 1 }),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40-mavzu · DRF yordamida REST API yaratish. CRUD API ishlab chiqish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Generic: </a:t>
            </a:r>
            <a:r>
              <a:rPr sz="2576" b="0">
                <a:solidFill>
                  <a:srgbClr val="B02A4A"/>
                </a:solidFill>
                <a:latin typeface="Consolas"/>
              </a:rPr>
              <a:t>ListCreateAPIView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RetrieveUpdateDestroyAPIView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perform_create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ModelViewSet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DefaultRouter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to'liq CRUD API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permission_classes</a:t>
            </a:r>
            <a:r>
              <a:rPr sz="2800" b="0">
                <a:solidFill>
                  <a:srgbClr val="1F232B"/>
                </a:solidFill>
                <a:latin typeface="Calibri"/>
              </a:rPr>
              <a:t>, o'z </a:t>
            </a:r>
            <a:r>
              <a:rPr sz="2576" b="0">
                <a:solidFill>
                  <a:srgbClr val="B02A4A"/>
                </a:solidFill>
                <a:latin typeface="Consolas"/>
              </a:rPr>
              <a:t>BasePermission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has_object_permission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SearchFilter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OrderingFilter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PageNumberPagination</a:t>
            </a:r>
            <a:r>
              <a:rPr sz="2800" b="0">
                <a:solidFill>
                  <a:srgbClr val="1F232B"/>
                </a:solidFill>
                <a:latin typeface="Calibri"/>
              </a:rPr>
              <a:t>; token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Front-end </a:t>
            </a:r>
            <a:r>
              <a:rPr sz="2576" b="0">
                <a:solidFill>
                  <a:srgbClr val="B02A4A"/>
                </a:solidFill>
                <a:latin typeface="Consolas"/>
              </a:rPr>
              <a:t>fetch</a:t>
            </a:r>
            <a:r>
              <a:rPr sz="2800" b="0">
                <a:solidFill>
                  <a:srgbClr val="1F232B"/>
                </a:solidFill>
                <a:latin typeface="Calibri"/>
              </a:rPr>
              <a:t> ⇄ DRF API; CORS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django-cors-headers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3F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8E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41. Django loyihasini serverga joylash (Deploy)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40-mavzu: DRF yordamida REST API yaratish. CRUD API ishlab chiqish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