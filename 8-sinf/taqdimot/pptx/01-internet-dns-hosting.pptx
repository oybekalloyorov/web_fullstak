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Darsni savol bilan boshlang: "Kun.uz ni ochganingizda sahifa qayerdan keladi?" O'quvchilar javoblarini doskaga yozib qo'ying, dars oxirida qaytamiz.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Eslab qolish uchun: 2xx — yaxshi, 3xx — boshqa joyga o't, 4xx — siz xato qildingiz, 5xx — server xato qildi.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Shu 6 qadamni o'quvchilardan navbat bilan aytib berishni so'rang — bu darsning eng muhim qismi.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B) Domen nomini IP-manzilga aylantirish.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D) So'ralgan sahifa topilmadi.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B) blog.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A) "Ro'yxatdan o'tish" tugmasining rangi.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5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0584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5400" b="0">
                <a:solidFill>
                  <a:srgbClr val="1F232B"/>
                </a:solidFill>
                <a:latin typeface="Segoe UI Emoji"/>
              </a:rPr>
              <a:t>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500" b="1">
                <a:solidFill>
                  <a:srgbClr val="E2552B"/>
                </a:solidFill>
                <a:latin typeface="Calibri"/>
              </a:rPr>
              <a:t>1-MAVZU  ·  I BOB. HTML VA CSS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100584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3600" b="1">
                <a:solidFill>
                  <a:srgbClr val="1F232B"/>
                </a:solidFill>
                <a:latin typeface="Calibri"/>
              </a:rPr>
              <a:t>Internet qanday ishlaydi? DNS, hosting, domen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343400"/>
            <a:ext cx="98755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5B6370"/>
                </a:solidFill>
                <a:latin typeface="Calibri"/>
              </a:rPr>
              <a:t>Mijoz-server arxitekturasi, IP-manzil, DNS, domen va hosting tushunchalari, veb-sayt internetda qanday "yashaydi", Front-end va Back-end farqi.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Bugun nimani o'rganamiz?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1-mavzu · Internet qanday ishlaydi? DNS, hosting, domen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Internet nima va ma'lumot unda qanday "sayohat" qiladi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Mijoz</a:t>
            </a:r>
            <a:r>
              <a:rPr sz="2800" b="0">
                <a:solidFill>
                  <a:srgbClr val="1F232B"/>
                </a:solidFill>
                <a:latin typeface="Calibri"/>
              </a:rPr>
              <a:t> (client) va </a:t>
            </a:r>
            <a:r>
              <a:rPr sz="2800" b="1">
                <a:solidFill>
                  <a:srgbClr val="1F232B"/>
                </a:solidFill>
                <a:latin typeface="Calibri"/>
              </a:rPr>
              <a:t>server</a:t>
            </a:r>
            <a:r>
              <a:rPr sz="2800" b="0">
                <a:solidFill>
                  <a:srgbClr val="1F232B"/>
                </a:solidFill>
                <a:latin typeface="Calibri"/>
              </a:rPr>
              <a:t> kim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IP-manzil, domen, DNS, hosting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4 ta kalit tushuncha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445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Brauzerga manzil yozganda nima sodir bo'ladi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404616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536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Front-end</a:t>
            </a:r>
            <a:r>
              <a:rPr sz="2800" b="0">
                <a:solidFill>
                  <a:srgbClr val="1F232B"/>
                </a:solidFill>
                <a:latin typeface="Calibri"/>
              </a:rPr>
              <a:t> va </a:t>
            </a:r>
            <a:r>
              <a:rPr sz="2800" b="1">
                <a:solidFill>
                  <a:srgbClr val="1F232B"/>
                </a:solidFill>
                <a:latin typeface="Calibri"/>
              </a:rPr>
              <a:t>Back-end</a:t>
            </a:r>
            <a:r>
              <a:rPr sz="2800" b="0">
                <a:solidFill>
                  <a:srgbClr val="1F232B"/>
                </a:solidFill>
                <a:latin typeface="Calibri"/>
              </a:rPr>
              <a:t> farqi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013708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Internet nima?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1-mavzu · Internet qanday ishlaydi? DNS, hosting, domen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3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2552"/>
            <a:ext cx="11091672" cy="156337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060" b="1">
                <a:solidFill>
                  <a:srgbClr val="E2552B"/>
                </a:solidFill>
                <a:latin typeface="Calibri"/>
              </a:rPr>
              <a:t>Internet — dunyodagi millionlab qurilmalarni bog'lagan ulkan tarmoq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175650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Kabellar (hatto dengiz tubidagi optik kabellar!), Wi-Fi, mobil minoralar, sun'iy yo'ldoshlar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333567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4229242"/>
            <a:ext cx="11091672" cy="1522857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4229242"/>
            <a:ext cx="82296" cy="1522857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320682"/>
            <a:ext cx="10725912" cy="1358265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60" b="0">
                <a:solidFill>
                  <a:srgbClr val="1F232B"/>
                </a:solidFill>
                <a:latin typeface="Calibri"/>
              </a:rPr>
              <a:t>💡 </a:t>
            </a:r>
            <a:r>
              <a:rPr sz="2660" b="1">
                <a:solidFill>
                  <a:srgbClr val="1F232B"/>
                </a:solidFill>
                <a:latin typeface="Calibri"/>
              </a:rPr>
              <a:t>O'xshatish — pochta:</a:t>
            </a:r>
            <a:r>
              <a:rPr sz="2660" b="0">
                <a:solidFill>
                  <a:srgbClr val="1F232B"/>
                </a:solidFill>
                <a:latin typeface="Calibri"/>
              </a:rPr>
              <a:t> siz xat (ma'lumot) yuborasiz, unga manzil (IP) yoziladi, pochta bo'limlari (routerlar) uni uzatib, kerakli uyga yetkazadi. Farqi — bir soniyadan ham tez!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Internet ≠ Web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1-mavzu · Internet qanday ishlaydi? DNS, hosting, domen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4 / 28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23822"/>
          <a:ext cx="11091672" cy="3074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768604">
                <a:tc>
                  <a:txBody>
                    <a:bodyPr/>
                    <a:lstStyle/>
                    <a:p/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Internet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Web (WWW)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</a:tr>
              <a:tr h="76860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Nima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"Yo'llar tizimi" — tarmoqning o'zi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Shu yo'llardagi xizmatlardan biri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76860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Tarkibi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Kabellar, routerlar, serverlar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Havolalar bilan bog'langan veb-sahifalar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60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Kim yaratgan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Ko'plab olimlar (1960–80-yillar)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Tim Berners-Li, 1989-yil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60120" y="4817694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Internetdagi boshqa xizmatlar: e-pochta, Telegram xabarlari, onlayn o'yinlar, video qo'ng'iroqlar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4977714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Ma'lumot qanday yuboriladi? Paketlar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1-mavzu · Internet qanday ishlaydi? DNS, hosting, domen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5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Katta fayl mayda bo'laklarga — </a:t>
            </a:r>
            <a:r>
              <a:rPr sz="2800" b="1">
                <a:solidFill>
                  <a:srgbClr val="1F232B"/>
                </a:solidFill>
                <a:latin typeface="Calibri"/>
              </a:rPr>
              <a:t>paketlarga</a:t>
            </a:r>
            <a:r>
              <a:rPr sz="2800" b="0">
                <a:solidFill>
                  <a:srgbClr val="1F232B"/>
                </a:solidFill>
                <a:latin typeface="Calibri"/>
              </a:rPr>
              <a:t> bo'linadi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Har bir paketda qabul qiluvchi manzili yoziladi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Paketlar turli yo'llardan ketishi mumkin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445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Manzilda yana to'g'ri tartibda yig'iladi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404616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3853688"/>
            <a:ext cx="11091672" cy="1522857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853688"/>
            <a:ext cx="82296" cy="1522857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45128"/>
            <a:ext cx="10725912" cy="1358265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60" b="0">
                <a:solidFill>
                  <a:srgbClr val="1F232B"/>
                </a:solidFill>
                <a:latin typeface="Calibri"/>
              </a:rPr>
              <a:t>💡 </a:t>
            </a:r>
            <a:r>
              <a:rPr sz="2660" b="1">
                <a:solidFill>
                  <a:srgbClr val="1F232B"/>
                </a:solidFill>
                <a:latin typeface="Calibri"/>
              </a:rPr>
              <a:t>O'xshatish — mebel ko'chirish:</a:t>
            </a:r>
            <a:r>
              <a:rPr sz="2660" b="0">
                <a:solidFill>
                  <a:srgbClr val="1F232B"/>
                </a:solidFill>
                <a:latin typeface="Calibri"/>
              </a:rPr>
              <a:t> katta shkafni qismlarga ajratib, bir nechta mashinada jo'natasiz; yangi uyda raqamlar bo'yicha qayta yig'asiz.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Mijoz va server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1-mavzu · Internet qanday ishlaydi? DNS, hosting, domen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6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880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1">
                <a:solidFill>
                  <a:srgbClr val="1F232B"/>
                </a:solidFill>
                <a:latin typeface="Calibri"/>
              </a:rPr>
              <a:t>Mijoz (client)</a:t>
            </a:r>
            <a:r>
              <a:rPr sz="2600" b="0">
                <a:solidFill>
                  <a:srgbClr val="1F232B"/>
                </a:solidFill>
                <a:latin typeface="Calibri"/>
              </a:rPr>
              <a:t> — so'rovchi: brauzer (Chrome, Edge) yoki telefon ilovasi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6591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07412"/>
            <a:ext cx="10680192" cy="880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1">
                <a:solidFill>
                  <a:srgbClr val="1F232B"/>
                </a:solidFill>
                <a:latin typeface="Calibri"/>
              </a:rPr>
              <a:t>Server</a:t>
            </a:r>
            <a:r>
              <a:rPr sz="2600" b="0">
                <a:solidFill>
                  <a:srgbClr val="1F232B"/>
                </a:solidFill>
                <a:latin typeface="Calibri"/>
              </a:rPr>
              <a:t> — javob beruvchi kuchli kompyuter: kechayu kunduz yoqiq, minglab foydalanuvchiga xizmat qiladi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556002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3397504"/>
            <a:ext cx="11091672" cy="1031687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452368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Jarayon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26688"/>
            <a:ext cx="10725912" cy="68421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🧑‍💻 Mijoz ── so'rov (request): </a:t>
            </a:r>
            <a:r>
              <a:rPr sz="1768" b="0">
                <a:solidFill>
                  <a:srgbClr val="98C379"/>
                </a:solidFill>
                <a:latin typeface="Consolas"/>
              </a:rPr>
              <a:t>"Bosh sahifani ber"</a:t>
            </a:r>
            <a:r>
              <a:rPr sz="1768" b="0">
                <a:solidFill>
                  <a:srgbClr val="E6E6E6"/>
                </a:solidFill>
                <a:latin typeface="Consolas"/>
              </a:rPr>
              <a:t> ──▶ 🖥️ Server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🧑‍💻 Mijoz ◀── javob (response): HTML sahifa ───────── 🖥️ Server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648647"/>
            <a:ext cx="11091672" cy="1432369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648647"/>
            <a:ext cx="82296" cy="1432369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740087"/>
            <a:ext cx="10725912" cy="1267777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470" b="0">
                <a:solidFill>
                  <a:srgbClr val="1F232B"/>
                </a:solidFill>
                <a:latin typeface="Calibri"/>
              </a:rPr>
              <a:t>💡 </a:t>
            </a:r>
            <a:r>
              <a:rPr sz="2470" b="1">
                <a:solidFill>
                  <a:srgbClr val="1F232B"/>
                </a:solidFill>
                <a:latin typeface="Calibri"/>
              </a:rPr>
              <a:t>O'xshatish — restoran:</a:t>
            </a:r>
            <a:r>
              <a:rPr sz="2470" b="0">
                <a:solidFill>
                  <a:srgbClr val="1F232B"/>
                </a:solidFill>
                <a:latin typeface="Calibri"/>
              </a:rPr>
              <a:t> siz (mijoz) ofitsiantga buyurtma berasiz, oshxona (server) taomni tayyorlaydi. Oshxonaga kirmaysiz — faqat natijani olasiz.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HTTP va HTTPS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1-mavzu · Internet qanday ishlaydi? DNS, hosting, domen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7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Protokol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kelishilgan muloqot qoidalari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http://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ma'lumot ochiq uzatiladi, yo'lda o'qilishi mumkin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https://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</a:t>
            </a:r>
            <a:r>
              <a:rPr sz="2800" b="1">
                <a:solidFill>
                  <a:srgbClr val="1F232B"/>
                </a:solidFill>
                <a:latin typeface="Calibri"/>
              </a:rPr>
              <a:t>S = Secure</a:t>
            </a:r>
            <a:r>
              <a:rPr sz="2800" b="0">
                <a:solidFill>
                  <a:srgbClr val="1F232B"/>
                </a:solidFill>
                <a:latin typeface="Calibri"/>
              </a:rPr>
              <a:t>: ma'lumot shifrlanadi, brauzerda 🔒 belgisi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3689096"/>
            <a:ext cx="11091672" cy="1100581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689096"/>
            <a:ext cx="82296" cy="110058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780535"/>
            <a:ext cx="10725912" cy="93598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60" b="0">
                <a:solidFill>
                  <a:srgbClr val="1F232B"/>
                </a:solidFill>
                <a:latin typeface="Calibri"/>
              </a:rPr>
              <a:t>⚠️ </a:t>
            </a:r>
            <a:r>
              <a:rPr sz="2660" b="0">
                <a:solidFill>
                  <a:srgbClr val="1F232B"/>
                </a:solidFill>
                <a:latin typeface="Calibri"/>
              </a:rPr>
              <a:t>Parol yoki karta raqamini faqat </a:t>
            </a:r>
            <a:r>
              <a:rPr sz="2447" b="0">
                <a:solidFill>
                  <a:srgbClr val="B02A4A"/>
                </a:solidFill>
                <a:latin typeface="Consolas"/>
              </a:rPr>
              <a:t>https://</a:t>
            </a:r>
            <a:r>
              <a:rPr sz="2660" b="0">
                <a:solidFill>
                  <a:srgbClr val="1F232B"/>
                </a:solidFill>
                <a:latin typeface="Calibri"/>
              </a:rPr>
              <a:t> bilan boshlanadigan saytlarga kiriting!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Server javobidagi status kodlar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1-mavzu · Internet qanday ishlaydi? DNS, hosting, domen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8 / 28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20367"/>
          <a:ext cx="11091672" cy="357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71526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Kod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Ma'nosi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Qachon ko'rasiz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</a:tr>
              <a:tr h="71526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1F232B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OK — hammasi joyida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Sahifa muvaffaqiyatli ochildi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71526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1F232B"/>
                          </a:solidFill>
                          <a:latin typeface="Calibri"/>
                        </a:rPr>
                        <a:t>301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Boshqa manzilga ko'chgan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Brauzer o'zi yangi manzilga o'tadi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1526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1F232B"/>
                          </a:solidFill>
                          <a:latin typeface="Calibri"/>
                        </a:rPr>
                        <a:t>404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Topilmadi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Mavjud bo'lmagan sahifaga kirdingiz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71526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1F232B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Serverda xato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Sayt dasturida muammo bor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IP-manzil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1-mavzu · Internet qanday ishlaydi? DNS, hosting, domen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9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8845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060" b="1">
                <a:solidFill>
                  <a:srgbClr val="E2552B"/>
                </a:solidFill>
                <a:latin typeface="Calibri"/>
              </a:rPr>
              <a:t>142.250.74.46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45893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Internetga ulangan </a:t>
            </a:r>
            <a:r>
              <a:rPr sz="2800" b="1">
                <a:solidFill>
                  <a:srgbClr val="1F232B"/>
                </a:solidFill>
                <a:latin typeface="Calibri"/>
              </a:rPr>
              <a:t>har bir qurilmaning</a:t>
            </a:r>
            <a:r>
              <a:rPr sz="2800" b="0">
                <a:solidFill>
                  <a:srgbClr val="1F232B"/>
                </a:solidFill>
                <a:latin typeface="Calibri"/>
              </a:rPr>
              <a:t> o'z IP-manzili bor — xuddi uyning pochta manzili kabi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2605913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499485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To'rtta son, nuqta bilan ajratilgan; har biri </a:t>
            </a:r>
            <a:r>
              <a:rPr sz="2800" b="1">
                <a:solidFill>
                  <a:srgbClr val="1F232B"/>
                </a:solidFill>
                <a:latin typeface="Calibri"/>
              </a:rPr>
              <a:t>0 dan 255 gacha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659505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08577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Muammo: odamlar raqamlarni eslab qololmaydi → yechim: </a:t>
            </a:r>
            <a:r>
              <a:rPr sz="2800" b="1">
                <a:solidFill>
                  <a:srgbClr val="1F232B"/>
                </a:solidFill>
                <a:latin typeface="Calibri"/>
              </a:rPr>
              <a:t>domen + DNS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268597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Domen nomi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1-mavzu · Internet qanday ishlaydi? DNS, hosting, domen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10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Domen — saytning eslab qolinadigan nomi: </a:t>
            </a:r>
            <a:r>
              <a:rPr sz="2576" b="0">
                <a:solidFill>
                  <a:srgbClr val="B02A4A"/>
                </a:solidFill>
                <a:latin typeface="Consolas"/>
              </a:rPr>
              <a:t>kun.uz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google.com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026412"/>
            <a:ext cx="11091672" cy="1396471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81276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Manzil tarkibi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55596"/>
            <a:ext cx="10725912" cy="104899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https://  www  .  maktab  .  uz  /  sinflar/8-sinf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 └──┬──┘   └┬┘     └──┬─┘     └┬┘   └──────┬──────┘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 protokol subdomen  domen nomi  zona     yo'l (sahifa)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42339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Zona:</a:t>
            </a:r>
            <a:r>
              <a:rPr sz="2800" b="0">
                <a:solidFill>
                  <a:srgbClr val="1F232B"/>
                </a:solidFill>
                <a:latin typeface="Calibri"/>
              </a:rPr>
              <a:t> </a:t>
            </a:r>
            <a:r>
              <a:rPr sz="2576" b="0">
                <a:solidFill>
                  <a:srgbClr val="B02A4A"/>
                </a:solidFill>
                <a:latin typeface="Consolas"/>
              </a:rPr>
              <a:t>.uz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.com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.org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.edu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3802359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251431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Domen registratordan </a:t>
            </a:r>
            <a:r>
              <a:rPr sz="2800" b="1">
                <a:solidFill>
                  <a:srgbClr val="1F232B"/>
                </a:solidFill>
                <a:latin typeface="Calibri"/>
              </a:rPr>
              <a:t>ijaraga</a:t>
            </a:r>
            <a:r>
              <a:rPr sz="2800" b="0">
                <a:solidFill>
                  <a:srgbClr val="1F232B"/>
                </a:solidFill>
                <a:latin typeface="Calibri"/>
              </a:rPr>
              <a:t> olinadi (odatda 1 yilga) va har yili uzaytiriladi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4411451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DNS — internetning telefon kitobi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1-mavzu · Internet qanday ishlaydi? DNS, hosting, domen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11 / 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91672" cy="979931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82296" cy="979931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10725912" cy="81533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279" b="0">
                <a:solidFill>
                  <a:srgbClr val="1F232B"/>
                </a:solidFill>
                <a:latin typeface="Calibri"/>
              </a:rPr>
              <a:t>💡 </a:t>
            </a:r>
            <a:r>
              <a:rPr sz="2279" b="1">
                <a:solidFill>
                  <a:srgbClr val="1F232B"/>
                </a:solidFill>
                <a:latin typeface="Calibri"/>
              </a:rPr>
              <a:t>O'xshatish:</a:t>
            </a:r>
            <a:r>
              <a:rPr sz="2279" b="0">
                <a:solidFill>
                  <a:srgbClr val="1F232B"/>
                </a:solidFill>
                <a:latin typeface="Calibri"/>
              </a:rPr>
              <a:t> do'stingizga qo'ng'iroq qilganda raqamini yodlab yozmaysiz — kontaktlardan "Aziz"ni tanlaysiz. DNS ham </a:t>
            </a:r>
            <a:r>
              <a:rPr sz="2097" b="0">
                <a:solidFill>
                  <a:srgbClr val="B02A4A"/>
                </a:solidFill>
                <a:latin typeface="Consolas"/>
              </a:rPr>
              <a:t>kun.uz</a:t>
            </a:r>
            <a:r>
              <a:rPr sz="2279" b="0">
                <a:solidFill>
                  <a:srgbClr val="1F232B"/>
                </a:solidFill>
                <a:latin typeface="Calibri"/>
              </a:rPr>
              <a:t> → IP-manzilni topib beradi.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616707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92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2644139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0">
                <a:solidFill>
                  <a:srgbClr val="1F232B"/>
                </a:solidFill>
                <a:latin typeface="Calibri"/>
              </a:rPr>
              <a:t>Siz brauzerga </a:t>
            </a:r>
            <a:r>
              <a:rPr sz="2208" b="0">
                <a:solidFill>
                  <a:srgbClr val="B02A4A"/>
                </a:solidFill>
                <a:latin typeface="Consolas"/>
              </a:rPr>
              <a:t>kun.uz</a:t>
            </a:r>
            <a:r>
              <a:rPr sz="2400" b="0">
                <a:solidFill>
                  <a:srgbClr val="1F232B"/>
                </a:solidFill>
                <a:latin typeface="Calibri"/>
              </a:rPr>
              <a:t> deb yozasiz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293364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92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3320795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0">
                <a:solidFill>
                  <a:srgbClr val="1F232B"/>
                </a:solidFill>
                <a:latin typeface="Calibri"/>
              </a:rPr>
              <a:t>Brauzer o'z xotirasini (keshini) tekshiradi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970020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92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3997452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0">
                <a:solidFill>
                  <a:srgbClr val="1F232B"/>
                </a:solidFill>
                <a:latin typeface="Calibri"/>
              </a:rPr>
              <a:t>Topilmasa — provayderning DNS serveridan so'raydi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646676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92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4674108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0">
                <a:solidFill>
                  <a:srgbClr val="1F232B"/>
                </a:solidFill>
                <a:latin typeface="Calibri"/>
              </a:rPr>
              <a:t>DNS javob qaytaradi: </a:t>
            </a:r>
            <a:r>
              <a:rPr sz="2208" b="0">
                <a:solidFill>
                  <a:srgbClr val="B02A4A"/>
                </a:solidFill>
                <a:latin typeface="Consolas"/>
              </a:rPr>
              <a:t>kun.uz → 185.x.x.x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5323332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92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5350764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0">
                <a:solidFill>
                  <a:srgbClr val="1F232B"/>
                </a:solidFill>
                <a:latin typeface="Calibri"/>
              </a:rPr>
              <a:t>Brauzer shu IP bo'yicha serverga ulanadi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Hosting — saytning "uyi"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1-mavzu · Internet qanday ishlaydi? DNS, hosting, domen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12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79461"/>
            <a:ext cx="10680192" cy="8168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0">
                <a:solidFill>
                  <a:srgbClr val="1F232B"/>
                </a:solidFill>
                <a:latin typeface="Calibri"/>
              </a:rPr>
              <a:t>Hosting — sayt fayllari saqlanadigan, doim internetga ulangan serverdagi joy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616621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406053"/>
            <a:ext cx="11091672" cy="979931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406053"/>
            <a:ext cx="82296" cy="979931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497493"/>
            <a:ext cx="10725912" cy="81533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279" b="0">
                <a:solidFill>
                  <a:srgbClr val="1F232B"/>
                </a:solidFill>
                <a:latin typeface="Calibri"/>
              </a:rPr>
              <a:t>💡 </a:t>
            </a:r>
            <a:r>
              <a:rPr sz="2279" b="1">
                <a:solidFill>
                  <a:srgbClr val="1F232B"/>
                </a:solidFill>
                <a:latin typeface="Calibri"/>
              </a:rPr>
              <a:t>Domen</a:t>
            </a:r>
            <a:r>
              <a:rPr sz="2279" b="0">
                <a:solidFill>
                  <a:srgbClr val="1F232B"/>
                </a:solidFill>
                <a:latin typeface="Calibri"/>
              </a:rPr>
              <a:t> — uyning manzili, </a:t>
            </a:r>
            <a:r>
              <a:rPr sz="2279" b="1">
                <a:solidFill>
                  <a:srgbClr val="1F232B"/>
                </a:solidFill>
                <a:latin typeface="Calibri"/>
              </a:rPr>
              <a:t>hosting</a:t>
            </a:r>
            <a:r>
              <a:rPr sz="2279" b="0">
                <a:solidFill>
                  <a:srgbClr val="1F232B"/>
                </a:solidFill>
                <a:latin typeface="Calibri"/>
              </a:rPr>
              <a:t> — uyning o'zi (ichida fayllar), </a:t>
            </a:r>
            <a:r>
              <a:rPr sz="2279" b="1">
                <a:solidFill>
                  <a:srgbClr val="1F232B"/>
                </a:solidFill>
                <a:latin typeface="Calibri"/>
              </a:rPr>
              <a:t>DNS</a:t>
            </a:r>
            <a:r>
              <a:rPr sz="2279" b="0">
                <a:solidFill>
                  <a:srgbClr val="1F232B"/>
                </a:solidFill>
                <a:latin typeface="Calibri"/>
              </a:rPr>
              <a:t> — manzil bo'yicha uyni topuvchi xarita.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3605441"/>
          <a:ext cx="11091672" cy="2255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451104">
                <a:tc>
                  <a:txBody>
                    <a:bodyPr/>
                    <a:lstStyle/>
                    <a:p>
                      <a:r>
                        <a:rPr sz="1920" b="1">
                          <a:solidFill>
                            <a:srgbClr val="FFFFFF"/>
                          </a:solidFill>
                          <a:latin typeface="Calibri"/>
                        </a:rPr>
                        <a:t>Tur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1">
                          <a:solidFill>
                            <a:srgbClr val="FFFFFF"/>
                          </a:solidFill>
                          <a:latin typeface="Calibri"/>
                        </a:rPr>
                        <a:t>Misol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1">
                          <a:solidFill>
                            <a:srgbClr val="FFFFFF"/>
                          </a:solidFill>
                          <a:latin typeface="Calibri"/>
                        </a:rPr>
                        <a:t>Kimga mos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Bepul statik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Netlify, Vercel, GitHub Pages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O'quvchilar, portfolio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Shared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Bir serverda yuzlab sayt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Kichik saytlar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VPS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Serverning virtual qismi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O'rta loyihalar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Bulutli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Render, Railway, AWS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Django loyihalari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Manzil yozib Enter bosganda...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1-mavzu · Internet qanday ishlaydi? DNS, hosting, domen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13 / 28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444752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DNS</a:t>
            </a:r>
            <a:r>
              <a:rPr sz="2800" b="0">
                <a:solidFill>
                  <a:srgbClr val="1F232B"/>
                </a:solidFill>
                <a:latin typeface="Calibri"/>
              </a:rPr>
              <a:t> </a:t>
            </a:r>
            <a:r>
              <a:rPr sz="2576" b="0">
                <a:solidFill>
                  <a:srgbClr val="B02A4A"/>
                </a:solidFill>
                <a:latin typeface="Consolas"/>
              </a:rPr>
              <a:t>maktab.uz</a:t>
            </a:r>
            <a:r>
              <a:rPr sz="2800" b="0">
                <a:solidFill>
                  <a:srgbClr val="1F232B"/>
                </a:solidFill>
                <a:latin typeface="Calibri"/>
              </a:rPr>
              <a:t> ni IP-manzilga aylantiradi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093976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121408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Brauzer serverga ulanadi (HTTPS — shifrlangan ulanish)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70632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2798064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Brauzer </a:t>
            </a:r>
            <a:r>
              <a:rPr sz="2800" b="1">
                <a:solidFill>
                  <a:srgbClr val="1F232B"/>
                </a:solidFill>
                <a:latin typeface="Calibri"/>
              </a:rPr>
              <a:t>HTTP so'rov</a:t>
            </a:r>
            <a:r>
              <a:rPr sz="2800" b="0">
                <a:solidFill>
                  <a:srgbClr val="1F232B"/>
                </a:solidFill>
                <a:latin typeface="Calibri"/>
              </a:rPr>
              <a:t> yuboradi: "Bosh sahifani ber"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447288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3474720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Server faylni topib </a:t>
            </a:r>
            <a:r>
              <a:rPr sz="2800" b="1">
                <a:solidFill>
                  <a:srgbClr val="1F232B"/>
                </a:solidFill>
                <a:latin typeface="Calibri"/>
              </a:rPr>
              <a:t>javob</a:t>
            </a:r>
            <a:r>
              <a:rPr sz="2800" b="0">
                <a:solidFill>
                  <a:srgbClr val="1F232B"/>
                </a:solidFill>
                <a:latin typeface="Calibri"/>
              </a:rPr>
              <a:t> qaytaradi: </a:t>
            </a:r>
            <a:r>
              <a:rPr sz="2576" b="0">
                <a:solidFill>
                  <a:srgbClr val="B02A4A"/>
                </a:solidFill>
                <a:latin typeface="Consolas"/>
              </a:rPr>
              <a:t>200</a:t>
            </a:r>
            <a:r>
              <a:rPr sz="2800" b="0">
                <a:solidFill>
                  <a:srgbClr val="1F232B"/>
                </a:solidFill>
                <a:latin typeface="Calibri"/>
              </a:rPr>
              <a:t> + HTML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123944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19" y="4151376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Brauzer CSS, rasm, JS uchun qo'shimcha so'rovlar yuboradi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800600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19" y="4828032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Hammasini birlashtirib, sahifani ekranga </a:t>
            </a:r>
            <a:r>
              <a:rPr sz="2800" b="1">
                <a:solidFill>
                  <a:srgbClr val="1F232B"/>
                </a:solidFill>
                <a:latin typeface="Calibri"/>
              </a:rPr>
              <a:t>chizadi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Front-end va Back-end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1-mavzu · Internet qanday ishlaydi? DNS, hosting, domen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14 / 28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51590"/>
          <a:ext cx="11091672" cy="322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644144">
                <a:tc>
                  <a:txBody>
                    <a:bodyPr/>
                    <a:lstStyle/>
                    <a:p/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🎨 Front-end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⚙️ Back-end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</a:tr>
              <a:tr h="64414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Nima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Ko'rinadigan, bosiladigan qism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Ko'rinmaydigan qism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64414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Qayerda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Foydalanuvchi brauzerida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Serverda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4414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Texnologiya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HTML, CSS, JavaScript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Python, Django, PostgreSQL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64414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Misol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Tugma, menyu, animatsiya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Login tekshirish, bazaga saqlash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891766"/>
            <a:ext cx="11091672" cy="1100581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4891766"/>
            <a:ext cx="82296" cy="1100581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983206"/>
            <a:ext cx="10725912" cy="93598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60" b="0">
                <a:solidFill>
                  <a:srgbClr val="1F232B"/>
                </a:solidFill>
                <a:latin typeface="Calibri"/>
              </a:rPr>
              <a:t>💡 </a:t>
            </a:r>
            <a:r>
              <a:rPr sz="2660" b="0">
                <a:solidFill>
                  <a:srgbClr val="1F232B"/>
                </a:solidFill>
                <a:latin typeface="Calibri"/>
              </a:rPr>
              <a:t>Front-end — restoran </a:t>
            </a:r>
            <a:r>
              <a:rPr sz="2660" b="1">
                <a:solidFill>
                  <a:srgbClr val="1F232B"/>
                </a:solidFill>
                <a:latin typeface="Calibri"/>
              </a:rPr>
              <a:t>zali</a:t>
            </a:r>
            <a:r>
              <a:rPr sz="2660" b="0">
                <a:solidFill>
                  <a:srgbClr val="1F232B"/>
                </a:solidFill>
                <a:latin typeface="Calibri"/>
              </a:rPr>
              <a:t>, back-end — </a:t>
            </a:r>
            <a:r>
              <a:rPr sz="2660" b="1">
                <a:solidFill>
                  <a:srgbClr val="1F232B"/>
                </a:solidFill>
                <a:latin typeface="Calibri"/>
              </a:rPr>
              <a:t>oshxona</a:t>
            </a:r>
            <a:r>
              <a:rPr sz="2660" b="0">
                <a:solidFill>
                  <a:srgbClr val="1F232B"/>
                </a:solidFill>
                <a:latin typeface="Calibri"/>
              </a:rPr>
              <a:t>, ma'lumotlar bazasi — </a:t>
            </a:r>
            <a:r>
              <a:rPr sz="2660" b="1">
                <a:solidFill>
                  <a:srgbClr val="1F232B"/>
                </a:solidFill>
                <a:latin typeface="Calibri"/>
              </a:rPr>
              <a:t>ombor</a:t>
            </a:r>
            <a:r>
              <a:rPr sz="2660" b="0">
                <a:solidFill>
                  <a:srgbClr val="1F232B"/>
                </a:solidFill>
                <a:latin typeface="Calibri"/>
              </a:rPr>
              <a:t>. Full-stack dasturchi — ikkalasini ham quradigan usta.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5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600" b="1">
                <a:solidFill>
                  <a:srgbClr val="F6CCBF"/>
                </a:solidFill>
                <a:latin typeface="Calibri"/>
              </a:rPr>
              <a:t>BO'LIM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Amaliy mashg'ulot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FAE5DF"/>
                </a:solidFill>
                <a:latin typeface="Calibri"/>
              </a:rPr>
              <a:t>Kompyuterda o'zimiz tekshirib ko'ramiz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F6CCBF"/>
                </a:solidFill>
                <a:latin typeface="Calibri"/>
              </a:rPr>
              <a:t>15 /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Amaliyot: IP-manzil va 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1-mavzu · Internet qanday ishlaydi? DNS, hosting, domen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16 / 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362956" cy="132807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4997196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Terminal (Win+R → cmd)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4997196" cy="98060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nslookup google.com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nslookup kun.uz</a:t>
            </a:r>
          </a:p>
          <a:p>
            <a:pPr>
              <a:lnSpc>
                <a:spcPct val="100000"/>
              </a:lnSpc>
            </a:pPr>
            <a:r>
              <a:rPr sz="1768" b="0">
                <a:solidFill>
                  <a:srgbClr val="E6E6E6"/>
                </a:solidFill>
                <a:latin typeface="Consolas"/>
              </a:rPr>
              <a:t>ping google.com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88836" y="1417320"/>
            <a:ext cx="4951476" cy="880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392" b="0">
                <a:solidFill>
                  <a:srgbClr val="B02A4A"/>
                </a:solidFill>
                <a:latin typeface="Consolas"/>
              </a:rPr>
              <a:t>Address</a:t>
            </a:r>
            <a:r>
              <a:rPr sz="2600" b="0">
                <a:solidFill>
                  <a:srgbClr val="1F232B"/>
                </a:solidFill>
                <a:latin typeface="Calibri"/>
              </a:rPr>
              <a:t> qatori — saytning </a:t>
            </a:r>
            <a:r>
              <a:rPr sz="2600" b="1">
                <a:solidFill>
                  <a:srgbClr val="1F232B"/>
                </a:solidFill>
                <a:latin typeface="Calibri"/>
              </a:rPr>
              <a:t>IP-manzili</a:t>
            </a:r>
          </a:p>
        </p:txBody>
      </p:sp>
      <p:sp>
        <p:nvSpPr>
          <p:cNvPr id="11" name="Oval 10"/>
          <p:cNvSpPr/>
          <p:nvPr/>
        </p:nvSpPr>
        <p:spPr>
          <a:xfrm>
            <a:off x="6387084" y="156591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88836" y="2407412"/>
            <a:ext cx="4951476" cy="880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392" b="0">
                <a:solidFill>
                  <a:srgbClr val="B02A4A"/>
                </a:solidFill>
                <a:latin typeface="Consolas"/>
              </a:rPr>
              <a:t>time=25ms</a:t>
            </a:r>
            <a:r>
              <a:rPr sz="2600" b="0">
                <a:solidFill>
                  <a:srgbClr val="1F232B"/>
                </a:solidFill>
                <a:latin typeface="Calibri"/>
              </a:rPr>
              <a:t> — paket borib-kelish vaqti</a:t>
            </a:r>
          </a:p>
        </p:txBody>
      </p:sp>
      <p:sp>
        <p:nvSpPr>
          <p:cNvPr id="13" name="Oval 12"/>
          <p:cNvSpPr/>
          <p:nvPr/>
        </p:nvSpPr>
        <p:spPr>
          <a:xfrm>
            <a:off x="6387084" y="2556002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88836" y="3397504"/>
            <a:ext cx="4951476" cy="880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0">
                <a:solidFill>
                  <a:srgbClr val="1F232B"/>
                </a:solidFill>
                <a:latin typeface="Calibri"/>
              </a:rPr>
              <a:t>Brauzerda </a:t>
            </a:r>
            <a:r>
              <a:rPr sz="2600" b="1">
                <a:solidFill>
                  <a:srgbClr val="1F232B"/>
                </a:solidFill>
                <a:latin typeface="Calibri"/>
              </a:rPr>
              <a:t>F12 → Network</a:t>
            </a:r>
            <a:r>
              <a:rPr sz="2600" b="0">
                <a:solidFill>
                  <a:srgbClr val="1F232B"/>
                </a:solidFill>
                <a:latin typeface="Calibri"/>
              </a:rPr>
              <a:t> → F5: har bir qator — alohida so'rov</a:t>
            </a:r>
          </a:p>
        </p:txBody>
      </p:sp>
      <p:sp>
        <p:nvSpPr>
          <p:cNvPr id="15" name="Oval 14"/>
          <p:cNvSpPr/>
          <p:nvPr/>
        </p:nvSpPr>
        <p:spPr>
          <a:xfrm>
            <a:off x="6387084" y="3546094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88836" y="4387596"/>
            <a:ext cx="4951476" cy="880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392" b="0">
                <a:solidFill>
                  <a:srgbClr val="B02A4A"/>
                </a:solidFill>
                <a:latin typeface="Consolas"/>
              </a:rPr>
              <a:t>Status</a:t>
            </a:r>
            <a:r>
              <a:rPr sz="2600" b="0">
                <a:solidFill>
                  <a:srgbClr val="1F232B"/>
                </a:solidFill>
                <a:latin typeface="Calibri"/>
              </a:rPr>
              <a:t> ustunida </a:t>
            </a:r>
            <a:r>
              <a:rPr sz="2600" b="1">
                <a:solidFill>
                  <a:srgbClr val="1F232B"/>
                </a:solidFill>
                <a:latin typeface="Calibri"/>
              </a:rPr>
              <a:t>200</a:t>
            </a:r>
            <a:r>
              <a:rPr sz="2600" b="0">
                <a:solidFill>
                  <a:srgbClr val="1F232B"/>
                </a:solidFill>
                <a:latin typeface="Calibri"/>
              </a:rPr>
              <a:t> larni toping</a:t>
            </a:r>
          </a:p>
        </p:txBody>
      </p:sp>
      <p:sp>
        <p:nvSpPr>
          <p:cNvPr id="17" name="Oval 16"/>
          <p:cNvSpPr/>
          <p:nvPr/>
        </p:nvSpPr>
        <p:spPr>
          <a:xfrm>
            <a:off x="6387084" y="4536186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88836" y="5377688"/>
            <a:ext cx="4951476" cy="880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0">
                <a:solidFill>
                  <a:srgbClr val="1F232B"/>
                </a:solidFill>
                <a:latin typeface="Calibri"/>
              </a:rPr>
              <a:t>Mavjud bo'lmagan sahifani ochib, </a:t>
            </a:r>
            <a:r>
              <a:rPr sz="2600" b="1">
                <a:solidFill>
                  <a:srgbClr val="1F232B"/>
                </a:solidFill>
                <a:latin typeface="Calibri"/>
              </a:rPr>
              <a:t>404</a:t>
            </a:r>
            <a:r>
              <a:rPr sz="2600" b="0">
                <a:solidFill>
                  <a:srgbClr val="1F232B"/>
                </a:solidFill>
                <a:latin typeface="Calibri"/>
              </a:rPr>
              <a:t> ni ko'ring</a:t>
            </a:r>
          </a:p>
        </p:txBody>
      </p:sp>
      <p:sp>
        <p:nvSpPr>
          <p:cNvPr id="19" name="Oval 18"/>
          <p:cNvSpPr/>
          <p:nvPr/>
        </p:nvSpPr>
        <p:spPr>
          <a:xfrm>
            <a:off x="6387084" y="5526278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Ko'p uchraydigan xato tushunchalar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1-mavzu · Internet qanday ishlaydi? DNS, hosting, domen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17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"Internet va Google bir narsa" → ✅ Google — internetdagi xizmatlardan biri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70911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"Domen olsam, sayt tayyor" → ✅ Domen — faqat manzil, </a:t>
            </a:r>
            <a:r>
              <a:rPr sz="2800" b="1">
                <a:solidFill>
                  <a:srgbClr val="1F232B"/>
                </a:solidFill>
                <a:latin typeface="Calibri"/>
              </a:rPr>
              <a:t>hosting</a:t>
            </a:r>
            <a:r>
              <a:rPr sz="2800" b="0">
                <a:solidFill>
                  <a:srgbClr val="1F232B"/>
                </a:solidFill>
                <a:latin typeface="Calibri"/>
              </a:rPr>
              <a:t> ham kerak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630931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524503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"Brauzer = Internet" → ✅ Brauzer — sahifalarni ochuvchi dastur (mijoz)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684523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578095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"HTTPS sayt — albatta ishonchli" → ✅ HTTPS faqat shifrlaydi; firibgar sayt ham HTTPS bo'lishi mumkin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738115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1-mavzu · Internet qanday ishlaydi? DNS, hosting, domen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18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DNS'ning asosiy vazifasi nima?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Saytni chiroyli qilish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Domen nomini IP-manzilga aylantirish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Fayllarni saqlash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Viruslardan himoyalash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1-mavzu · Internet qanday ishlaydi? DNS, hosting, domen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19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DNS'ning asosiy vazifasi nima?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Saytni chiroyli qilish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Domen nomini IP-manzilga aylantirish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Fayllarni saqlash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Viruslardan himoyalash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1-mavzu · Internet qanday ishlaydi? DNS, hosting, domen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20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Server "404" status kodini qaytardi. Bu nimani bildiradi?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Hammasi yaxshi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Serverda dastur xatosi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Sahifa boshqa manzilga ko'chgan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So'ralgan sahifa topilmadi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1-mavzu · Internet qanday ishlaydi? DNS, hosting, domen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21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Server "404" status kodini qaytardi. Bu nimani bildiradi?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Hammasi yaxshi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Serverda dastur xatosi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Sahifa boshqa manzilga ko'chgan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So'ralgan sahifa topilmadi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1-mavzu · Internet qanday ishlaydi? DNS, hosting, domen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22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https://blog.maktab.uz/maqolalar</a:t>
            </a:r>
            <a:r>
              <a:rPr sz="2400" b="1">
                <a:solidFill>
                  <a:srgbClr val="1F232B"/>
                </a:solidFill>
                <a:latin typeface="Calibri"/>
              </a:rPr>
              <a:t> manzilida subdomen qaysi?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https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blog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uz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maqolalar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1-mavzu · Internet qanday ishlaydi? DNS, hosting, domen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23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https://blog.maktab.uz/maqolalar</a:t>
            </a:r>
            <a:r>
              <a:rPr sz="2400" b="1">
                <a:solidFill>
                  <a:srgbClr val="1F232B"/>
                </a:solidFill>
                <a:latin typeface="Calibri"/>
              </a:rPr>
              <a:t> manzilida subdomen qaysi?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https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blog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uz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maqolalar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1-mavzu · Internet qanday ishlaydi? DNS, hosting, domen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24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Quyidagilardan qaysi biri front-end'ga tegishli?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"Ro'yxatdan o'tish" tugmasining rangi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Parolni bazada tekshirish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Buyurtmani serverda saqlash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Server IP-manzili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1-mavzu · Internet qanday ishlaydi? DNS, hosting, domen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25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Quyidagilardan qaysi biri front-end'ga tegishli?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"Ro'yxatdan o'tish" tugmasining rangi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Parolni bazada tekshirish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Buyurtmani serverda saqlash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Server IP-manzili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🏠 Uyga vazifa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1-mavzu · Internet qanday ishlaydi? DNS, hosting, domen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26 / 28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702689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730121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"Manzil yozganda nima bo'ladi?" sxemasini chizing: mijoz, DNS, server, so'rov va javob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811144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838576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Oilangizga restoran o'xshatishi orqali front-end va back-end farqini tushuntiring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919601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3947033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5 ta mobil ilova uchun: front-end qismi nima, back-end nima qiladi — yozing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✅ Yodda tuting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1-mavzu · Internet qanday ishlaydi? DNS, hosting, domen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27 / 28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43557"/>
          <a:ext cx="11091672" cy="4015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50190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Tushuncha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Qisqacha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Internet / Web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Tarmoq / undagi veb-sahifalar xizmati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Mijoz / Server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So'raydi (brauzer) / javob beradi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IP-manzil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Qurilmaning raqamli manzili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Domen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Eslab qolinadigan nom: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maktab.uz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DNS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Domen → IP "telefon kitobi"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Hosting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Sayt fayllari yashaydigan server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HTTPS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Shifrlangan muloqot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5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46304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6000" b="0">
                <a:solidFill>
                  <a:srgbClr val="1F232B"/>
                </a:solidFill>
                <a:latin typeface="Segoe UI Emoji"/>
              </a:rPr>
              <a:t>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65176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800" b="1">
                <a:solidFill>
                  <a:srgbClr val="1F232B"/>
                </a:solidFill>
                <a:latin typeface="Calibri"/>
              </a:rPr>
              <a:t>Savollar bormi?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749039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5B6370"/>
                </a:solidFill>
                <a:latin typeface="Calibri"/>
              </a:rPr>
              <a:t>Keyingi mavzu: </a:t>
            </a:r>
            <a:r>
              <a:rPr sz="2200" b="1">
                <a:solidFill>
                  <a:srgbClr val="5B6370"/>
                </a:solidFill>
                <a:latin typeface="Calibri"/>
              </a:rPr>
              <a:t>2. HTML hujjatining tuzilishi, asosiy teglar va atributlar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1-mavzu: Internet qanday ishlaydi? DNS, hosting, domen</dc:title>
  <dc:subject/>
  <dc:creator>8-sinf · Web Full-stack dasturlash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