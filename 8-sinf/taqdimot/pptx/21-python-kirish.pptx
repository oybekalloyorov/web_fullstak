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Ma'lumotlarni serverda saqlash va parolni tekshirish.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Romb.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str.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2F6FAD"/>
                </a:solidFill>
                <a:latin typeface="Calibri"/>
              </a:rPr>
              <a:t>21-MAVZU  ·  III BOB. PYTHON VA MA'LUMOTLAR BAZASI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Back-end haqida. Python'ga kirish va o'rnatish. O'zgaruvchilar, turlar, operatorlar, kiritish-chiqarish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Back-end nima qiladi, algoritm va blok-sxema (Flowgorithm), Python'ni o'rnatish va VS Code, print va input, o'zgaruvchilar, int/float/str/bool, operatorlar, f-satrlar.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Back-end</a:t>
            </a:r>
            <a:r>
              <a:rPr sz="2800" b="0">
                <a:solidFill>
                  <a:srgbClr val="1F232B"/>
                </a:solidFill>
                <a:latin typeface="Calibri"/>
              </a:rPr>
              <a:t> nima va front-end bilan qanday "gaplashadi"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Algoritm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blok-sxema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Python</a:t>
            </a:r>
            <a:r>
              <a:rPr sz="2800" b="0">
                <a:solidFill>
                  <a:srgbClr val="1F232B"/>
                </a:solidFill>
                <a:latin typeface="Calibri"/>
              </a:rPr>
              <a:t>'ni o'rnatish, birinchi dastur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print()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input()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O'zgaruvchilar, turlar, operatorlar — JavaScript bilan taqqoslab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Back-end nima?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Instagram'dagi milliardlab rasmlar </a:t>
            </a:r>
            <a:r>
              <a:rPr sz="2600" b="1">
                <a:solidFill>
                  <a:srgbClr val="1F232B"/>
                </a:solidFill>
                <a:latin typeface="Calibri"/>
              </a:rPr>
              <a:t>qayerda</a:t>
            </a:r>
            <a:r>
              <a:rPr sz="2600" b="0">
                <a:solidFill>
                  <a:srgbClr val="1F232B"/>
                </a:solidFill>
                <a:latin typeface="Calibri"/>
              </a:rPr>
              <a:t> saqlanadi?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6591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94662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Parolingizni </a:t>
            </a:r>
            <a:r>
              <a:rPr sz="2600" b="1">
                <a:solidFill>
                  <a:srgbClr val="1F232B"/>
                </a:solidFill>
                <a:latin typeface="Calibri"/>
              </a:rPr>
              <a:t>kim</a:t>
            </a:r>
            <a:r>
              <a:rPr sz="2600" b="0">
                <a:solidFill>
                  <a:srgbClr val="1F232B"/>
                </a:solidFill>
                <a:latin typeface="Calibri"/>
              </a:rPr>
              <a:t> tekshiradi?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4325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72004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Do'stingiz xabari sizga </a:t>
            </a:r>
            <a:r>
              <a:rPr sz="2600" b="1">
                <a:solidFill>
                  <a:srgbClr val="1F232B"/>
                </a:solidFill>
                <a:latin typeface="Calibri"/>
              </a:rPr>
              <a:t>qanday</a:t>
            </a:r>
            <a:r>
              <a:rPr sz="2600" b="0">
                <a:solidFill>
                  <a:srgbClr val="1F232B"/>
                </a:solidFill>
                <a:latin typeface="Calibri"/>
              </a:rPr>
              <a:t> yetib keladi?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2059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149346"/>
            <a:ext cx="11091672" cy="132807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421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8530"/>
            <a:ext cx="10725912" cy="98060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🖥️ Front-end  ⇄ so</a:t>
            </a:r>
            <a:r>
              <a:rPr sz="1768" b="0">
                <a:solidFill>
                  <a:srgbClr val="98C379"/>
                </a:solidFill>
                <a:latin typeface="Consolas"/>
              </a:rPr>
              <a:t>'rov / javob ⇄  ⚙️ Back-end  ⇄  🗄️ Ma'</a:t>
            </a:r>
            <a:r>
              <a:rPr sz="1768" b="0">
                <a:solidFill>
                  <a:srgbClr val="E6E6E6"/>
                </a:solidFill>
                <a:latin typeface="Consolas"/>
              </a:rPr>
              <a:t>lumotlar bazasi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HTML, CSS, JS                    Python, Django      PostgreSQL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(brauzerda)                      (serverda)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96876"/>
            <a:ext cx="11091672" cy="1432369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696876"/>
            <a:ext cx="82296" cy="143236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88316"/>
            <a:ext cx="10725912" cy="126777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470" b="0">
                <a:solidFill>
                  <a:srgbClr val="1F232B"/>
                </a:solidFill>
                <a:latin typeface="Calibri"/>
              </a:rPr>
              <a:t>💡 </a:t>
            </a:r>
            <a:r>
              <a:rPr sz="2470" b="1">
                <a:solidFill>
                  <a:srgbClr val="1F232B"/>
                </a:solidFill>
                <a:latin typeface="Calibri"/>
              </a:rPr>
              <a:t>Restoran:</a:t>
            </a:r>
            <a:r>
              <a:rPr sz="2470" b="0">
                <a:solidFill>
                  <a:srgbClr val="1F232B"/>
                </a:solidFill>
                <a:latin typeface="Calibri"/>
              </a:rPr>
              <a:t> front-end — zal va ofitsiant; back-end — </a:t>
            </a:r>
            <a:r>
              <a:rPr sz="2470" b="1">
                <a:solidFill>
                  <a:srgbClr val="1F232B"/>
                </a:solidFill>
                <a:latin typeface="Calibri"/>
              </a:rPr>
              <a:t>oshxona</a:t>
            </a:r>
            <a:r>
              <a:rPr sz="2470" b="0">
                <a:solidFill>
                  <a:srgbClr val="1F232B"/>
                </a:solidFill>
                <a:latin typeface="Calibri"/>
              </a:rPr>
              <a:t> (retsept bo'yicha tayyorlaydi, omborga murojaat qiladi). Mijoz oshxonani ko'rmaydi, lekin usiz restoran ishlamaydi.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Algoritm va blok-sxema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7807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190" b="1">
                <a:solidFill>
                  <a:srgbClr val="2F6FAD"/>
                </a:solidFill>
                <a:latin typeface="Calibri"/>
              </a:rPr>
              <a:t>Algoritm — masalani yechish uchun aniq, tartibli qadamlar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307780"/>
          <a:ext cx="11091672" cy="212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425704"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Shakl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Ma'nosi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⬭ Oval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Boshlanish / Tugash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▱ Parallelogramm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Kiritish / Chiqarish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▭ To'rtburchak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Amal (hisoblash)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◇ Romb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Shart (ha / yo'q)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60120" y="4655756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Turlari: </a:t>
            </a:r>
            <a:r>
              <a:rPr sz="2200" b="1">
                <a:solidFill>
                  <a:srgbClr val="1F232B"/>
                </a:solidFill>
                <a:latin typeface="Calibri"/>
              </a:rPr>
              <a:t>chiziqli</a:t>
            </a:r>
            <a:r>
              <a:rPr sz="2200" b="0">
                <a:solidFill>
                  <a:srgbClr val="1F232B"/>
                </a:solidFill>
                <a:latin typeface="Calibri"/>
              </a:rPr>
              <a:t>, </a:t>
            </a:r>
            <a:r>
              <a:rPr sz="2200" b="1">
                <a:solidFill>
                  <a:srgbClr val="1F232B"/>
                </a:solidFill>
                <a:latin typeface="Calibri"/>
              </a:rPr>
              <a:t>tarmoqlanuvchi</a:t>
            </a:r>
            <a:r>
              <a:rPr sz="2200" b="0">
                <a:solidFill>
                  <a:srgbClr val="1F232B"/>
                </a:solidFill>
                <a:latin typeface="Calibri"/>
              </a:rPr>
              <a:t> (shart), </a:t>
            </a:r>
            <a:r>
              <a:rPr sz="2200" b="1">
                <a:solidFill>
                  <a:srgbClr val="1F232B"/>
                </a:solidFill>
                <a:latin typeface="Calibri"/>
              </a:rPr>
              <a:t>takrorlanuvchi</a:t>
            </a:r>
            <a:r>
              <a:rPr sz="2200" b="0">
                <a:solidFill>
                  <a:srgbClr val="1F232B"/>
                </a:solidFill>
                <a:latin typeface="Calibri"/>
              </a:rPr>
              <a:t> (sikl)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478148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169598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1">
                <a:solidFill>
                  <a:srgbClr val="1F232B"/>
                </a:solidFill>
                <a:latin typeface="Calibri"/>
              </a:rPr>
              <a:t>Flowgorithm</a:t>
            </a:r>
            <a:r>
              <a:rPr sz="2200" b="0">
                <a:solidFill>
                  <a:srgbClr val="1F232B"/>
                </a:solidFill>
                <a:latin typeface="Calibri"/>
              </a:rPr>
              <a:t> — blok-sxemani chizib ishga tushiradi va Python kodiga aylantiradi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529532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Nima uchun Python?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4951476" cy="816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Sodda sintaksis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ingliz tiliga yaqin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5448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43912"/>
            <a:ext cx="4951476" cy="1197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Universal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veb (Instagram back-endi Django'da!), sun'iy intellekt, Telegram botlar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48107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51504"/>
            <a:ext cx="4951476" cy="816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Katta jamiyat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minglab tayyor kutubxonalar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78866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578096"/>
            <a:ext cx="5362956" cy="153326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32960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07280"/>
            <a:ext cx="4997196" cy="118579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let</a:t>
            </a:r>
            <a:r>
              <a:rPr sz="1632" b="0">
                <a:solidFill>
                  <a:srgbClr val="E6E6E6"/>
                </a:solidFill>
                <a:latin typeface="Consolas"/>
              </a:rPr>
              <a:t> ism = </a:t>
            </a:r>
            <a:r>
              <a:rPr sz="1632" b="0">
                <a:solidFill>
                  <a:srgbClr val="98C379"/>
                </a:solidFill>
                <a:latin typeface="Consolas"/>
              </a:rPr>
              <a:t>"Ali"</a:t>
            </a:r>
            <a:r>
              <a:rPr sz="1632" b="0">
                <a:solidFill>
                  <a:srgbClr val="E6E6E6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if</a:t>
            </a:r>
            <a:r>
              <a:rPr sz="1632" b="0">
                <a:solidFill>
                  <a:srgbClr val="E6E6E6"/>
                </a:solidFill>
                <a:latin typeface="Consolas"/>
              </a:rPr>
              <a:t> (ism === </a:t>
            </a:r>
            <a:r>
              <a:rPr sz="1632" b="0">
                <a:solidFill>
                  <a:srgbClr val="98C379"/>
                </a:solidFill>
                <a:latin typeface="Consolas"/>
              </a:rPr>
              <a:t>"Ali"</a:t>
            </a:r>
            <a:r>
              <a:rPr sz="1632" b="0">
                <a:solidFill>
                  <a:srgbClr val="E6E6E6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</a:t>
            </a:r>
            <a:r>
              <a:rPr sz="1632" b="0">
                <a:solidFill>
                  <a:srgbClr val="C678DD"/>
                </a:solidFill>
                <a:latin typeface="Consolas"/>
              </a:rPr>
              <a:t>console</a:t>
            </a:r>
            <a:r>
              <a:rPr sz="1632" b="0">
                <a:solidFill>
                  <a:srgbClr val="E6E6E6"/>
                </a:solidFill>
                <a:latin typeface="Consolas"/>
              </a:rPr>
              <a:t>.log(</a:t>
            </a:r>
            <a:r>
              <a:rPr sz="1632" b="0">
                <a:solidFill>
                  <a:srgbClr val="98C379"/>
                </a:solidFill>
                <a:latin typeface="Consolas"/>
              </a:rPr>
              <a:t>"Salom, "</a:t>
            </a:r>
            <a:r>
              <a:rPr sz="1632" b="0">
                <a:solidFill>
                  <a:srgbClr val="E6E6E6"/>
                </a:solidFill>
                <a:latin typeface="Consolas"/>
              </a:rPr>
              <a:t> + ism);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7356" y="1417320"/>
            <a:ext cx="5362956" cy="125967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0236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0236" y="1746504"/>
            <a:ext cx="4997196" cy="91220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ism = </a:t>
            </a:r>
            <a:r>
              <a:rPr sz="1632" b="0">
                <a:solidFill>
                  <a:srgbClr val="98C379"/>
                </a:solidFill>
                <a:latin typeface="Consolas"/>
              </a:rPr>
              <a:t>"Ali"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if</a:t>
            </a:r>
            <a:r>
              <a:rPr sz="1632" b="0">
                <a:solidFill>
                  <a:srgbClr val="E6E6E6"/>
                </a:solidFill>
                <a:latin typeface="Consolas"/>
              </a:rPr>
              <a:t> ism == </a:t>
            </a:r>
            <a:r>
              <a:rPr sz="1632" b="0">
                <a:solidFill>
                  <a:srgbClr val="98C379"/>
                </a:solidFill>
                <a:latin typeface="Consolas"/>
              </a:rPr>
              <a:t>"Ali"</a:t>
            </a:r>
            <a:r>
              <a:rPr sz="1632" b="0">
                <a:solidFill>
                  <a:srgbClr val="E6E6E6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</a:t>
            </a:r>
            <a:r>
              <a:rPr sz="1632" b="0">
                <a:solidFill>
                  <a:srgbClr val="C678DD"/>
                </a:solidFill>
                <a:latin typeface="Consolas"/>
              </a:rPr>
              <a:t>print</a:t>
            </a:r>
            <a:r>
              <a:rPr sz="1632" b="0">
                <a:solidFill>
                  <a:srgbClr val="E6E6E6"/>
                </a:solidFill>
                <a:latin typeface="Consolas"/>
              </a:rPr>
              <a:t>(</a:t>
            </a:r>
            <a:r>
              <a:rPr sz="1632" b="0">
                <a:solidFill>
                  <a:srgbClr val="98C379"/>
                </a:solidFill>
                <a:latin typeface="Consolas"/>
              </a:rPr>
              <a:t>"Salom, "</a:t>
            </a:r>
            <a:r>
              <a:rPr sz="1632" b="0">
                <a:solidFill>
                  <a:srgbClr val="E6E6E6"/>
                </a:solidFill>
                <a:latin typeface="Consolas"/>
              </a:rPr>
              <a:t> + ism)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8836" y="2896453"/>
            <a:ext cx="4951476" cy="816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let</a:t>
            </a:r>
            <a:r>
              <a:rPr sz="2400" b="0">
                <a:solidFill>
                  <a:srgbClr val="1F232B"/>
                </a:solidFill>
                <a:latin typeface="Calibri"/>
              </a:rPr>
              <a:t> yo'q, </a:t>
            </a:r>
            <a:r>
              <a:rPr sz="2208" b="0">
                <a:solidFill>
                  <a:srgbClr val="B02A4A"/>
                </a:solidFill>
                <a:latin typeface="Consolas"/>
              </a:rPr>
              <a:t>;</a:t>
            </a:r>
            <a:r>
              <a:rPr sz="2400" b="0">
                <a:solidFill>
                  <a:srgbClr val="1F232B"/>
                </a:solidFill>
                <a:latin typeface="Calibri"/>
              </a:rPr>
              <a:t> yo'q, </a:t>
            </a:r>
            <a:r>
              <a:rPr sz="2208" b="0">
                <a:solidFill>
                  <a:srgbClr val="B02A4A"/>
                </a:solidFill>
                <a:latin typeface="Consolas"/>
              </a:rPr>
              <a:t>{ }</a:t>
            </a:r>
            <a:r>
              <a:rPr sz="2400" b="0">
                <a:solidFill>
                  <a:srgbClr val="1F232B"/>
                </a:solidFill>
                <a:latin typeface="Calibri"/>
              </a:rPr>
              <a:t> o'rniga </a:t>
            </a:r>
            <a:r>
              <a:rPr sz="2208" b="0">
                <a:solidFill>
                  <a:srgbClr val="B02A4A"/>
                </a:solidFill>
                <a:latin typeface="Consolas"/>
              </a:rPr>
              <a:t>:</a:t>
            </a:r>
            <a:r>
              <a:rPr sz="2400" b="0">
                <a:solidFill>
                  <a:srgbClr val="1F232B"/>
                </a:solidFill>
                <a:latin typeface="Calibri"/>
              </a:rPr>
              <a:t> va </a:t>
            </a:r>
            <a:r>
              <a:rPr sz="2400" b="1">
                <a:solidFill>
                  <a:srgbClr val="1F232B"/>
                </a:solidFill>
                <a:latin typeface="Calibri"/>
              </a:rPr>
              <a:t>chekinish</a:t>
            </a:r>
          </a:p>
        </p:txBody>
      </p:sp>
      <p:sp>
        <p:nvSpPr>
          <p:cNvPr id="20" name="Oval 19"/>
          <p:cNvSpPr/>
          <p:nvPr/>
        </p:nvSpPr>
        <p:spPr>
          <a:xfrm>
            <a:off x="6387084" y="3033613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Python'ni o'rnatish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2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python.org/downloads</a:t>
            </a:r>
            <a:r>
              <a:rPr sz="1900" b="0">
                <a:solidFill>
                  <a:srgbClr val="1F232B"/>
                </a:solidFill>
                <a:latin typeface="Calibri"/>
              </a:rPr>
              <a:t> — eng so'nggi versiya (3.12+)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2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✅ </a:t>
            </a:r>
            <a:r>
              <a:rPr sz="1900" b="1">
                <a:solidFill>
                  <a:srgbClr val="1F232B"/>
                </a:solidFill>
                <a:latin typeface="Calibri"/>
              </a:rPr>
              <a:t>"Add python.exe to PATH"</a:t>
            </a:r>
            <a:r>
              <a:rPr sz="1900" b="0">
                <a:solidFill>
                  <a:srgbClr val="1F232B"/>
                </a:solidFill>
                <a:latin typeface="Calibri"/>
              </a:rPr>
              <a:t> — albatta belgilang!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2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Terminalda tekshiring: </a:t>
            </a:r>
            <a:r>
              <a:rPr sz="1748" b="0">
                <a:solidFill>
                  <a:srgbClr val="B02A4A"/>
                </a:solidFill>
                <a:latin typeface="Consolas"/>
              </a:rPr>
              <a:t>python --version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2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VS Code → Extensions → </a:t>
            </a:r>
            <a:r>
              <a:rPr sz="1900" b="1">
                <a:solidFill>
                  <a:srgbClr val="1F232B"/>
                </a:solidFill>
                <a:latin typeface="Calibri"/>
              </a:rPr>
              <a:t>"Python"</a:t>
            </a:r>
            <a:r>
              <a:rPr sz="1900" b="0">
                <a:solidFill>
                  <a:srgbClr val="1F232B"/>
                </a:solidFill>
                <a:latin typeface="Calibri"/>
              </a:rPr>
              <a:t> (Microsoft)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2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5137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salom.py</a:t>
            </a:r>
            <a:r>
              <a:rPr sz="1900" b="0">
                <a:solidFill>
                  <a:srgbClr val="1F232B"/>
                </a:solidFill>
                <a:latin typeface="Calibri"/>
              </a:rPr>
              <a:t> fayli → ▶ yoki </a:t>
            </a:r>
            <a:r>
              <a:rPr sz="1748" b="0">
                <a:solidFill>
                  <a:srgbClr val="B02A4A"/>
                </a:solidFill>
                <a:latin typeface="Consolas"/>
              </a:rPr>
              <a:t>python salom.py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00600"/>
            <a:ext cx="11091672" cy="87209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5546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salom.py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9784"/>
            <a:ext cx="10725912" cy="52462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print</a:t>
            </a:r>
            <a:r>
              <a:rPr sz="1292" b="0">
                <a:solidFill>
                  <a:srgbClr val="E6E6E6"/>
                </a:solidFill>
                <a:latin typeface="Consolas"/>
              </a:rPr>
              <a:t>(</a:t>
            </a:r>
            <a:r>
              <a:rPr sz="1292" b="0">
                <a:solidFill>
                  <a:srgbClr val="98C379"/>
                </a:solidFill>
                <a:latin typeface="Consolas"/>
              </a:rPr>
              <a:t>"Salom, dunyo!"</a:t>
            </a:r>
            <a:r>
              <a:rPr sz="1292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print</a:t>
            </a:r>
            <a:r>
              <a:rPr sz="1292" b="0">
                <a:solidFill>
                  <a:srgbClr val="E6E6E6"/>
                </a:solidFill>
                <a:latin typeface="Consolas"/>
              </a:rPr>
              <a:t>(</a:t>
            </a:r>
            <a:r>
              <a:rPr sz="1292" b="0">
                <a:solidFill>
                  <a:srgbClr val="98C379"/>
                </a:solidFill>
                <a:latin typeface="Consolas"/>
              </a:rPr>
              <a:t>"Men Python o'rganyapman 🐍"</a:t>
            </a:r>
            <a:r>
              <a:rPr sz="1292" b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892149"/>
            <a:ext cx="10680192" cy="35648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Terminalda </a:t>
            </a:r>
            <a:r>
              <a:rPr sz="1748" b="0">
                <a:solidFill>
                  <a:srgbClr val="B02A4A"/>
                </a:solidFill>
                <a:latin typeface="Consolas"/>
              </a:rPr>
              <a:t>python</a:t>
            </a:r>
            <a:r>
              <a:rPr sz="1900" b="0">
                <a:solidFill>
                  <a:srgbClr val="1F232B"/>
                </a:solidFill>
                <a:latin typeface="Calibri"/>
              </a:rPr>
              <a:t> → </a:t>
            </a:r>
            <a:r>
              <a:rPr sz="1748" b="0">
                <a:solidFill>
                  <a:srgbClr val="B02A4A"/>
                </a:solidFill>
                <a:latin typeface="Consolas"/>
              </a:rPr>
              <a:t>&gt;&gt;&gt;</a:t>
            </a:r>
            <a:r>
              <a:rPr sz="1900" b="0">
                <a:solidFill>
                  <a:srgbClr val="1F232B"/>
                </a:solidFill>
                <a:latin typeface="Calibri"/>
              </a:rPr>
              <a:t> interaktiv rejim; chiqish: </a:t>
            </a:r>
            <a:r>
              <a:rPr sz="1748" b="0">
                <a:solidFill>
                  <a:srgbClr val="B02A4A"/>
                </a:solidFill>
                <a:latin typeface="Consolas"/>
              </a:rPr>
              <a:t>exit()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" y="600073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Chiqarish: print()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71819"/>
            <a:ext cx="11091672" cy="267321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2668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01003"/>
            <a:ext cx="10725912" cy="232574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print</a:t>
            </a:r>
            <a:r>
              <a:rPr sz="1904" b="0">
                <a:solidFill>
                  <a:srgbClr val="E6E6E6"/>
                </a:solidFill>
                <a:latin typeface="Consolas"/>
              </a:rPr>
              <a:t>(</a:t>
            </a:r>
            <a:r>
              <a:rPr sz="1904" b="0">
                <a:solidFill>
                  <a:srgbClr val="98C379"/>
                </a:solidFill>
                <a:latin typeface="Consolas"/>
              </a:rPr>
              <a:t>"Salom"</a:t>
            </a:r>
            <a:r>
              <a:rPr sz="1904" b="0">
                <a:solidFill>
                  <a:srgbClr val="E6E6E6"/>
                </a:solidFill>
                <a:latin typeface="Consolas"/>
              </a:rPr>
              <a:t>)                  # matn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print</a:t>
            </a:r>
            <a:r>
              <a:rPr sz="1904" b="0">
                <a:solidFill>
                  <a:srgbClr val="E6E6E6"/>
                </a:solidFill>
                <a:latin typeface="Consolas"/>
              </a:rPr>
              <a:t>(2 + 3)                    # 5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print</a:t>
            </a:r>
            <a:r>
              <a:rPr sz="1904" b="0">
                <a:solidFill>
                  <a:srgbClr val="E6E6E6"/>
                </a:solidFill>
                <a:latin typeface="Consolas"/>
              </a:rPr>
              <a:t>(</a:t>
            </a:r>
            <a:r>
              <a:rPr sz="1904" b="0">
                <a:solidFill>
                  <a:srgbClr val="98C379"/>
                </a:solidFill>
                <a:latin typeface="Consolas"/>
              </a:rPr>
              <a:t>"Yosh:"</a:t>
            </a:r>
            <a:r>
              <a:rPr sz="1904" b="0">
                <a:solidFill>
                  <a:srgbClr val="E6E6E6"/>
                </a:solidFill>
                <a:latin typeface="Consolas"/>
              </a:rPr>
              <a:t>, 14)              # vergul — orasiga bo'sh joy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print</a:t>
            </a:r>
            <a:r>
              <a:rPr sz="1904" b="0">
                <a:solidFill>
                  <a:srgbClr val="E6E6E6"/>
                </a:solidFill>
                <a:latin typeface="Consolas"/>
              </a:rPr>
              <a:t>(</a:t>
            </a:r>
            <a:r>
              <a:rPr sz="1904" b="0">
                <a:solidFill>
                  <a:srgbClr val="98C379"/>
                </a:solidFill>
                <a:latin typeface="Consolas"/>
              </a:rPr>
              <a:t>"A"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"B"</a:t>
            </a:r>
            <a:r>
              <a:rPr sz="1904" b="0">
                <a:solidFill>
                  <a:srgbClr val="E6E6E6"/>
                </a:solidFill>
                <a:latin typeface="Consolas"/>
              </a:rPr>
              <a:t>, </a:t>
            </a:r>
            <a:r>
              <a:rPr sz="1904" b="0">
                <a:solidFill>
                  <a:srgbClr val="98C379"/>
                </a:solidFill>
                <a:latin typeface="Consolas"/>
              </a:rPr>
              <a:t>"C"</a:t>
            </a:r>
            <a:r>
              <a:rPr sz="1904" b="0">
                <a:solidFill>
                  <a:srgbClr val="E6E6E6"/>
                </a:solidFill>
                <a:latin typeface="Consolas"/>
              </a:rPr>
              <a:t>, sep=</a:t>
            </a:r>
            <a:r>
              <a:rPr sz="1904" b="0">
                <a:solidFill>
                  <a:srgbClr val="98C379"/>
                </a:solidFill>
                <a:latin typeface="Consolas"/>
              </a:rPr>
              <a:t>"-"</a:t>
            </a:r>
            <a:r>
              <a:rPr sz="1904" b="0">
                <a:solidFill>
                  <a:srgbClr val="E6E6E6"/>
                </a:solidFill>
                <a:latin typeface="Consolas"/>
              </a:rPr>
              <a:t>)   # A-B-C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print</a:t>
            </a:r>
            <a:r>
              <a:rPr sz="1904" b="0">
                <a:solidFill>
                  <a:srgbClr val="E6E6E6"/>
                </a:solidFill>
                <a:latin typeface="Consolas"/>
              </a:rPr>
              <a:t>(</a:t>
            </a:r>
            <a:r>
              <a:rPr sz="1904" b="0">
                <a:solidFill>
                  <a:srgbClr val="98C379"/>
                </a:solidFill>
                <a:latin typeface="Consolas"/>
              </a:rPr>
              <a:t>"Bir"</a:t>
            </a:r>
            <a:r>
              <a:rPr sz="1904" b="0">
                <a:solidFill>
                  <a:srgbClr val="E6E6E6"/>
                </a:solidFill>
                <a:latin typeface="Consolas"/>
              </a:rPr>
              <a:t>, end=</a:t>
            </a:r>
            <a:r>
              <a:rPr sz="1904" b="0">
                <a:solidFill>
                  <a:srgbClr val="98C379"/>
                </a:solidFill>
                <a:latin typeface="Consolas"/>
              </a:rPr>
              <a:t>" "</a:t>
            </a:r>
            <a:r>
              <a:rPr sz="1904" b="0">
                <a:solidFill>
                  <a:srgbClr val="E6E6E6"/>
                </a:solidFill>
                <a:latin typeface="Consolas"/>
              </a:rPr>
              <a:t>)           # yangi qatorga o'tmaydi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print</a:t>
            </a:r>
            <a:r>
              <a:rPr sz="1904" b="0">
                <a:solidFill>
                  <a:srgbClr val="E6E6E6"/>
                </a:solidFill>
                <a:latin typeface="Consolas"/>
              </a:rPr>
              <a:t>(</a:t>
            </a:r>
            <a:r>
              <a:rPr sz="1904" b="0">
                <a:solidFill>
                  <a:srgbClr val="98C379"/>
                </a:solidFill>
                <a:latin typeface="Consolas"/>
              </a:rPr>
              <a:t>"qatorda"</a:t>
            </a:r>
            <a:r>
              <a:rPr sz="1904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print</a:t>
            </a:r>
            <a:r>
              <a:rPr sz="1904" b="0">
                <a:solidFill>
                  <a:srgbClr val="E6E6E6"/>
                </a:solidFill>
                <a:latin typeface="Consolas"/>
              </a:rPr>
              <a:t>(</a:t>
            </a:r>
            <a:r>
              <a:rPr sz="1904" b="0">
                <a:solidFill>
                  <a:srgbClr val="98C379"/>
                </a:solidFill>
                <a:latin typeface="Consolas"/>
              </a:rPr>
              <a:t>"="</a:t>
            </a:r>
            <a:r>
              <a:rPr sz="1904" b="0">
                <a:solidFill>
                  <a:srgbClr val="E6E6E6"/>
                </a:solidFill>
                <a:latin typeface="Consolas"/>
              </a:rPr>
              <a:t> * 20)                 # ====================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56449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Izohlar: </a:t>
            </a:r>
            <a:r>
              <a:rPr sz="2576" b="0">
                <a:solidFill>
                  <a:srgbClr val="B02A4A"/>
                </a:solidFill>
                <a:latin typeface="Consolas"/>
              </a:rPr>
              <a:t># ...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724513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O'zgaruvchilar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235403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2006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ism = </a:t>
            </a:r>
            <a:r>
              <a:rPr sz="1904" b="0">
                <a:solidFill>
                  <a:srgbClr val="98C379"/>
                </a:solidFill>
                <a:latin typeface="Consolas"/>
              </a:rPr>
              <a:t>"Malika"</a:t>
            </a:r>
            <a:r>
              <a:rPr sz="1904" b="0">
                <a:solidFill>
                  <a:srgbClr val="E6E6E6"/>
                </a:solidFill>
                <a:latin typeface="Consolas"/>
              </a:rPr>
              <a:t>         # kalit so'z kerak emas!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yosh = 14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boy = 1.62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alochi = </a:t>
            </a:r>
            <a:r>
              <a:rPr sz="1904" b="0">
                <a:solidFill>
                  <a:srgbClr val="C678DD"/>
                </a:solidFill>
                <a:latin typeface="Consolas"/>
              </a:rPr>
              <a:t>True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yosh = yosh + 1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a, b, c = 1, 2, 3      # bir nechtasini birdan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90807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Python uslubi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snake_case</a:t>
            </a:r>
            <a:r>
              <a:rPr sz="2800" b="0">
                <a:solidFill>
                  <a:srgbClr val="1F232B"/>
                </a:solidFill>
                <a:latin typeface="Calibri"/>
              </a:rPr>
              <a:t>: </a:t>
            </a:r>
            <a:r>
              <a:rPr sz="2576" b="0">
                <a:solidFill>
                  <a:srgbClr val="B02A4A"/>
                </a:solidFill>
                <a:latin typeface="Consolas"/>
              </a:rPr>
              <a:t>oquvchi_soni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umumiy_ball</a:t>
            </a:r>
            <a:r>
              <a:rPr sz="2800" b="0">
                <a:solidFill>
                  <a:srgbClr val="1F232B"/>
                </a:solidFill>
                <a:latin typeface="Calibri"/>
              </a:rPr>
              <a:t> (JS'da camelCase edi)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150827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044399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O'zgarmaslar — KATTA harflar: </a:t>
            </a:r>
            <a:r>
              <a:rPr sz="2576" b="0">
                <a:solidFill>
                  <a:srgbClr val="B02A4A"/>
                </a:solidFill>
                <a:latin typeface="Consolas"/>
              </a:rPr>
              <a:t>PI = 3.14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MAKS_BALL = 100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204419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65349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Katta-kichik harf farq qiladi: </a:t>
            </a:r>
            <a:r>
              <a:rPr sz="2576" b="0">
                <a:solidFill>
                  <a:srgbClr val="B02A4A"/>
                </a:solidFill>
                <a:latin typeface="Consolas"/>
              </a:rPr>
              <a:t>ism</a:t>
            </a:r>
            <a:r>
              <a:rPr sz="2800" b="0">
                <a:solidFill>
                  <a:srgbClr val="1F232B"/>
                </a:solidFill>
                <a:latin typeface="Calibri"/>
              </a:rPr>
              <a:t> ≠ </a:t>
            </a:r>
            <a:r>
              <a:rPr sz="2576" b="0">
                <a:solidFill>
                  <a:srgbClr val="B02A4A"/>
                </a:solidFill>
                <a:latin typeface="Consolas"/>
              </a:rPr>
              <a:t>Ism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813511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Ma'lumot turlari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30064"/>
          <a:ext cx="11091672" cy="3367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561170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Nomi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JavaScript'da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561170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int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Butun son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14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1_000_000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number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61170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float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Kasr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3.14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number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1170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str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Matn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"Salom"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61170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bool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Mantiqiy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True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False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(bosh harf katta!)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true/false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117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NoneType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Hech narsa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null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016544"/>
            <a:ext cx="11091672" cy="107728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07140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45728"/>
            <a:ext cx="10725912" cy="7298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type(14)      # &lt;</a:t>
            </a:r>
            <a:r>
              <a:rPr sz="1904" b="0">
                <a:solidFill>
                  <a:srgbClr val="C678DD"/>
                </a:solidFill>
                <a:latin typeface="Consolas"/>
              </a:rPr>
              <a:t>class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98C379"/>
                </a:solidFill>
                <a:latin typeface="Consolas"/>
              </a:rPr>
              <a:t>'int'</a:t>
            </a:r>
            <a:r>
              <a:rPr sz="1904" b="0">
                <a:solidFill>
                  <a:srgbClr val="E6E6E6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type(</a:t>
            </a:r>
            <a:r>
              <a:rPr sz="1904" b="0">
                <a:solidFill>
                  <a:srgbClr val="98C379"/>
                </a:solidFill>
                <a:latin typeface="Consolas"/>
              </a:rPr>
              <a:t>"salom"</a:t>
            </a:r>
            <a:r>
              <a:rPr sz="1904" b="0">
                <a:solidFill>
                  <a:srgbClr val="E6E6E6"/>
                </a:solidFill>
                <a:latin typeface="Consolas"/>
              </a:rPr>
              <a:t>) # &lt;</a:t>
            </a:r>
            <a:r>
              <a:rPr sz="1904" b="0">
                <a:solidFill>
                  <a:srgbClr val="C678DD"/>
                </a:solidFill>
                <a:latin typeface="Consolas"/>
              </a:rPr>
              <a:t>class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98C379"/>
                </a:solidFill>
                <a:latin typeface="Consolas"/>
              </a:rPr>
              <a:t>'str'</a:t>
            </a:r>
            <a:r>
              <a:rPr sz="1904" b="0">
                <a:solidFill>
                  <a:srgbClr val="E6E6E6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Turlarni o'zgartirish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5688"/>
            <a:ext cx="11091672" cy="331159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55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4872"/>
            <a:ext cx="10725912" cy="29641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int(</a:t>
            </a:r>
            <a:r>
              <a:rPr sz="1904" b="0">
                <a:solidFill>
                  <a:srgbClr val="98C379"/>
                </a:solidFill>
                <a:latin typeface="Consolas"/>
              </a:rPr>
              <a:t>"42"</a:t>
            </a:r>
            <a:r>
              <a:rPr sz="1904" b="0">
                <a:solidFill>
                  <a:srgbClr val="E6E6E6"/>
                </a:solidFill>
                <a:latin typeface="Consolas"/>
              </a:rPr>
              <a:t>) + 8         # 50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float(</a:t>
            </a:r>
            <a:r>
              <a:rPr sz="1904" b="0">
                <a:solidFill>
                  <a:srgbClr val="98C379"/>
                </a:solidFill>
                <a:latin typeface="Consolas"/>
              </a:rPr>
              <a:t>"3.5"</a:t>
            </a:r>
            <a:r>
              <a:rPr sz="1904" b="0">
                <a:solidFill>
                  <a:srgbClr val="E6E6E6"/>
                </a:solidFill>
                <a:latin typeface="Consolas"/>
              </a:rPr>
              <a:t>) * 2      # 7.0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str(100) + </a:t>
            </a:r>
            <a:r>
              <a:rPr sz="1904" b="0">
                <a:solidFill>
                  <a:srgbClr val="98C379"/>
                </a:solidFill>
                <a:latin typeface="Consolas"/>
              </a:rPr>
              <a:t>"%"</a:t>
            </a:r>
            <a:r>
              <a:rPr sz="1904" b="0">
                <a:solidFill>
                  <a:srgbClr val="E6E6E6"/>
                </a:solidFill>
                <a:latin typeface="Consolas"/>
              </a:rPr>
              <a:t>        # </a:t>
            </a:r>
            <a:r>
              <a:rPr sz="1904" b="0">
                <a:solidFill>
                  <a:srgbClr val="98C379"/>
                </a:solidFill>
                <a:latin typeface="Consolas"/>
              </a:rPr>
              <a:t>"100%"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int(7.9)              # 7  — kasr tashlanadi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round(7.9)            # 8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round(3.14159, 2)     # 3.14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98C379"/>
                </a:solidFill>
                <a:latin typeface="Consolas"/>
              </a:rPr>
              <a:t>"Yosh: "</a:t>
            </a:r>
            <a:r>
              <a:rPr sz="1904" b="0">
                <a:solidFill>
                  <a:srgbClr val="E6E6E6"/>
                </a:solidFill>
                <a:latin typeface="Consolas"/>
              </a:rPr>
              <a:t> + 14         # ❌ TypeError!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98C379"/>
                </a:solidFill>
                <a:latin typeface="Consolas"/>
              </a:rPr>
              <a:t>"Yosh: "</a:t>
            </a:r>
            <a:r>
              <a:rPr sz="1904" b="0">
                <a:solidFill>
                  <a:srgbClr val="E6E6E6"/>
                </a:solidFill>
                <a:latin typeface="Consolas"/>
              </a:rPr>
              <a:t> + str(14)    # 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66735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966735"/>
            <a:ext cx="82296" cy="110058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58175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0">
                <a:solidFill>
                  <a:srgbClr val="1F232B"/>
                </a:solidFill>
                <a:latin typeface="Calibri"/>
              </a:rPr>
              <a:t>JS'da </a:t>
            </a:r>
            <a:r>
              <a:rPr sz="2447" b="0">
                <a:solidFill>
                  <a:srgbClr val="B02A4A"/>
                </a:solidFill>
                <a:latin typeface="Consolas"/>
              </a:rPr>
              <a:t>"5" + 3 = "53"</a:t>
            </a:r>
            <a:r>
              <a:rPr sz="2660" b="0">
                <a:solidFill>
                  <a:srgbClr val="1F232B"/>
                </a:solidFill>
                <a:latin typeface="Calibri"/>
              </a:rPr>
              <a:t> edi. Python bunday "sehr"ga yo'l qo'ymaydi — xato beradi. Bu yaxshi: xatolar yashirinib qolmaydi!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Kiritish va f-satrlar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9765"/>
            <a:ext cx="11091672" cy="299240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462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8949"/>
            <a:ext cx="10725912" cy="26449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ism = input(</a:t>
            </a:r>
            <a:r>
              <a:rPr sz="1904" b="0">
                <a:solidFill>
                  <a:srgbClr val="98C379"/>
                </a:solidFill>
                <a:latin typeface="Consolas"/>
              </a:rPr>
              <a:t>"Ismingiz nima? "</a:t>
            </a:r>
            <a:r>
              <a:rPr sz="1904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yosh = int(input(</a:t>
            </a:r>
            <a:r>
              <a:rPr sz="1904" b="0">
                <a:solidFill>
                  <a:srgbClr val="98C379"/>
                </a:solidFill>
                <a:latin typeface="Consolas"/>
              </a:rPr>
              <a:t>"Yoshingiz nechada? "</a:t>
            </a:r>
            <a:r>
              <a:rPr sz="1904" b="0">
                <a:solidFill>
                  <a:srgbClr val="E6E6E6"/>
                </a:solidFill>
                <a:latin typeface="Consolas"/>
              </a:rPr>
              <a:t>))   # input DOIM str!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print</a:t>
            </a:r>
            <a:r>
              <a:rPr sz="1904" b="0">
                <a:solidFill>
                  <a:srgbClr val="E6E6E6"/>
                </a:solidFill>
                <a:latin typeface="Consolas"/>
              </a:rPr>
              <a:t>(f</a:t>
            </a:r>
            <a:r>
              <a:rPr sz="1904" b="0">
                <a:solidFill>
                  <a:srgbClr val="98C379"/>
                </a:solidFill>
                <a:latin typeface="Consolas"/>
              </a:rPr>
              <a:t>"{ism}, 10 yildan keyin {yosh + 10} yoshda bo'lasiz"</a:t>
            </a:r>
            <a:r>
              <a:rPr sz="1904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ball = 87.456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print</a:t>
            </a:r>
            <a:r>
              <a:rPr sz="1904" b="0">
                <a:solidFill>
                  <a:srgbClr val="E6E6E6"/>
                </a:solidFill>
                <a:latin typeface="Consolas"/>
              </a:rPr>
              <a:t>(f</a:t>
            </a:r>
            <a:r>
              <a:rPr sz="1904" b="0">
                <a:solidFill>
                  <a:srgbClr val="98C379"/>
                </a:solidFill>
                <a:latin typeface="Consolas"/>
              </a:rPr>
              <a:t>"Yaxlitlangan: {ball:.1f}"</a:t>
            </a:r>
            <a:r>
              <a:rPr sz="1904" b="0">
                <a:solidFill>
                  <a:srgbClr val="E6E6E6"/>
                </a:solidFill>
                <a:latin typeface="Consolas"/>
              </a:rPr>
              <a:t>)   # 87.5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narx = 1250000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print</a:t>
            </a:r>
            <a:r>
              <a:rPr sz="1904" b="0">
                <a:solidFill>
                  <a:srgbClr val="E6E6E6"/>
                </a:solidFill>
                <a:latin typeface="Consolas"/>
              </a:rPr>
              <a:t>(f</a:t>
            </a:r>
            <a:r>
              <a:rPr sz="1904" b="0">
                <a:solidFill>
                  <a:srgbClr val="98C379"/>
                </a:solidFill>
                <a:latin typeface="Consolas"/>
              </a:rPr>
              <a:t>"Narxi: {narx:,} so'm"</a:t>
            </a:r>
            <a:r>
              <a:rPr sz="1904" b="0">
                <a:solidFill>
                  <a:srgbClr val="E6E6E6"/>
                </a:solidFill>
                <a:latin typeface="Consolas"/>
              </a:rPr>
              <a:t>)       # 1,250,000 so'm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651625"/>
            <a:ext cx="11091672" cy="1396471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648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Natija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0809"/>
            <a:ext cx="10725912" cy="10489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1F232B"/>
                </a:solidFill>
                <a:latin typeface="Consolas"/>
              </a:rPr>
              <a:t>Ismingiz nima? Dilshod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1F232B"/>
                </a:solidFill>
                <a:latin typeface="Consolas"/>
              </a:rPr>
              <a:t>Yoshingiz nechada? 14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1F232B"/>
                </a:solidFill>
                <a:latin typeface="Consolas"/>
              </a:rPr>
              <a:t>Dilshod, 10 yildan keyin 24 yoshda bo'lasiz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Operatorlar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299240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26449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a, b = 17, 5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a / b     # 3.4  oddiy bo'lish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a // b    # 3    BUTUN bo'lish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a % b     # 2    qoldiq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a ** 2    # 289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x += 1    # Python</a:t>
            </a:r>
            <a:r>
              <a:rPr sz="1904" b="0">
                <a:solidFill>
                  <a:srgbClr val="98C379"/>
                </a:solidFill>
                <a:latin typeface="Consolas"/>
              </a:rPr>
              <a:t>'da x++ YO'</a:t>
            </a:r>
            <a:r>
              <a:rPr sz="1904" b="0">
                <a:solidFill>
                  <a:srgbClr val="E6E6E6"/>
                </a:solidFill>
                <a:latin typeface="Consolas"/>
              </a:rPr>
              <a:t>Q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True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and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False</a:t>
            </a:r>
            <a:r>
              <a:rPr sz="1904" b="0">
                <a:solidFill>
                  <a:srgbClr val="E6E6E6"/>
                </a:solidFill>
                <a:latin typeface="Consolas"/>
              </a:rPr>
              <a:t>   # </a:t>
            </a:r>
            <a:r>
              <a:rPr sz="1904" b="0">
                <a:solidFill>
                  <a:srgbClr val="C678DD"/>
                </a:solidFill>
                <a:latin typeface="Consolas"/>
              </a:rPr>
              <a:t>False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C678DD"/>
                </a:solidFill>
                <a:latin typeface="Consolas"/>
              </a:rPr>
              <a:t>not</a:t>
            </a:r>
            <a:r>
              <a:rPr sz="1904" b="0">
                <a:solidFill>
                  <a:srgbClr val="E6E6E6"/>
                </a:solidFill>
                <a:latin typeface="Consolas"/>
              </a:rPr>
              <a:t> </a:t>
            </a:r>
            <a:r>
              <a:rPr sz="1904" b="0">
                <a:solidFill>
                  <a:srgbClr val="C678DD"/>
                </a:solidFill>
                <a:latin typeface="Consolas"/>
              </a:rPr>
              <a:t>True</a:t>
            </a:r>
            <a:r>
              <a:rPr sz="1904" b="0">
                <a:solidFill>
                  <a:srgbClr val="E6E6E6"/>
                </a:solidFill>
                <a:latin typeface="Consolas"/>
              </a:rPr>
              <a:t>         # </a:t>
            </a:r>
            <a:r>
              <a:rPr sz="1904" b="0">
                <a:solidFill>
                  <a:srgbClr val="C678DD"/>
                </a:solidFill>
                <a:latin typeface="Consolas"/>
              </a:rPr>
              <a:t>False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77356" y="1417320"/>
          <a:ext cx="5362956" cy="372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652"/>
                <a:gridCol w="1787652"/>
                <a:gridCol w="1787652"/>
              </a:tblGrid>
              <a:tr h="620437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Amal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JS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620437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Teng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===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==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620437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VA / YOKI / EMAS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&amp;&amp; || !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and or not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20437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Butun bo'lish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Math.floor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//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620437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x++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x += 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20439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Rost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1">
                <a:solidFill>
                  <a:srgbClr val="1F232B"/>
                </a:solidFill>
                <a:latin typeface="Calibri"/>
              </a:rPr>
              <a:t>Anketa:</a:t>
            </a:r>
            <a:r>
              <a:rPr sz="2200" b="0">
                <a:solidFill>
                  <a:srgbClr val="1F232B"/>
                </a:solidFill>
                <a:latin typeface="Calibri"/>
              </a:rPr>
              <a:t> ism, familiya, yil, shahar → f-satrli "vizitka" (</a:t>
            </a:r>
            <a:r>
              <a:rPr sz="2024" b="0">
                <a:solidFill>
                  <a:srgbClr val="B02A4A"/>
                </a:solidFill>
                <a:latin typeface="Consolas"/>
              </a:rPr>
              <a:t>"*" * 30</a:t>
            </a:r>
            <a:r>
              <a:rPr sz="2200" b="0">
                <a:solidFill>
                  <a:srgbClr val="1F232B"/>
                </a:solidFill>
                <a:latin typeface="Calibri"/>
              </a:rPr>
              <a:t> ramka)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1">
                <a:solidFill>
                  <a:srgbClr val="1F232B"/>
                </a:solidFill>
                <a:latin typeface="Calibri"/>
              </a:rPr>
              <a:t>Do'kon:</a:t>
            </a:r>
            <a:r>
              <a:rPr sz="2200" b="0">
                <a:solidFill>
                  <a:srgbClr val="1F232B"/>
                </a:solidFill>
                <a:latin typeface="Calibri"/>
              </a:rPr>
              <a:t> daftar soni va berilgan pul → jami va qaytim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1">
                <a:solidFill>
                  <a:srgbClr val="1F232B"/>
                </a:solidFill>
                <a:latin typeface="Calibri"/>
              </a:rPr>
              <a:t>Vaqt:</a:t>
            </a:r>
            <a:r>
              <a:rPr sz="2200" b="0">
                <a:solidFill>
                  <a:srgbClr val="1F232B"/>
                </a:solidFill>
                <a:latin typeface="Calibri"/>
              </a:rPr>
              <a:t> 135 daqiqa → "2 soat 15 daqiqa" (</a:t>
            </a:r>
            <a:r>
              <a:rPr sz="2024" b="0">
                <a:solidFill>
                  <a:srgbClr val="B02A4A"/>
                </a:solidFill>
                <a:latin typeface="Consolas"/>
              </a:rPr>
              <a:t>//</a:t>
            </a:r>
            <a:r>
              <a:rPr sz="2200" b="0">
                <a:solidFill>
                  <a:srgbClr val="1F232B"/>
                </a:solidFill>
                <a:latin typeface="Calibri"/>
              </a:rPr>
              <a:t> va </a:t>
            </a:r>
            <a:r>
              <a:rPr sz="2024" b="0">
                <a:solidFill>
                  <a:srgbClr val="B02A4A"/>
                </a:solidFill>
                <a:latin typeface="Consolas"/>
              </a:rPr>
              <a:t>%</a:t>
            </a:r>
            <a:r>
              <a:rPr sz="22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1">
                <a:solidFill>
                  <a:srgbClr val="1F232B"/>
                </a:solidFill>
                <a:latin typeface="Calibri"/>
              </a:rPr>
              <a:t>Harorat:</a:t>
            </a:r>
            <a:r>
              <a:rPr sz="2200" b="0">
                <a:solidFill>
                  <a:srgbClr val="1F232B"/>
                </a:solidFill>
                <a:latin typeface="Calibri"/>
              </a:rPr>
              <a:t> F = C × 9/5 + 32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76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5137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1">
                <a:solidFill>
                  <a:srgbClr val="1F232B"/>
                </a:solidFill>
                <a:latin typeface="Calibri"/>
              </a:rPr>
              <a:t>Blok-sxema:</a:t>
            </a:r>
            <a:r>
              <a:rPr sz="2200" b="0">
                <a:solidFill>
                  <a:srgbClr val="1F232B"/>
                </a:solidFill>
                <a:latin typeface="Calibri"/>
              </a:rPr>
              <a:t> uchburchak yuzi — avval chizing, keyin Python'da yozing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00600"/>
            <a:ext cx="11091672" cy="119128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5546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9784"/>
            <a:ext cx="10725912" cy="843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narx = 5500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soni = int(input(</a:t>
            </a:r>
            <a:r>
              <a:rPr sz="1496" b="0">
                <a:solidFill>
                  <a:srgbClr val="98C379"/>
                </a:solidFill>
                <a:latin typeface="Consolas"/>
              </a:rPr>
              <a:t>"Nechta daftar? "</a:t>
            </a:r>
            <a:r>
              <a:rPr sz="1496" b="0">
                <a:solidFill>
                  <a:srgbClr val="E6E6E6"/>
                </a:solidFill>
                <a:latin typeface="Consolas"/>
              </a:rPr>
              <a:t>))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print</a:t>
            </a:r>
            <a:r>
              <a:rPr sz="1496" b="0">
                <a:solidFill>
                  <a:srgbClr val="E6E6E6"/>
                </a:solidFill>
                <a:latin typeface="Consolas"/>
              </a:rPr>
              <a:t>(f</a:t>
            </a:r>
            <a:r>
              <a:rPr sz="1496" b="0">
                <a:solidFill>
                  <a:srgbClr val="98C379"/>
                </a:solidFill>
                <a:latin typeface="Consolas"/>
              </a:rPr>
              <a:t>"Jami: {narx * soni:,} so'm"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'python' is not recognized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"Add to PATH" belgilanmagan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TypeError: can only concatenate str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matn + son; </a:t>
            </a:r>
            <a:r>
              <a:rPr sz="2576" b="0">
                <a:solidFill>
                  <a:srgbClr val="B02A4A"/>
                </a:solidFill>
                <a:latin typeface="Consolas"/>
              </a:rPr>
              <a:t>str()</a:t>
            </a:r>
            <a:r>
              <a:rPr sz="2800" b="0">
                <a:solidFill>
                  <a:srgbClr val="1F232B"/>
                </a:solidFill>
                <a:latin typeface="Calibri"/>
              </a:rPr>
              <a:t> yoki f-satr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int()</a:t>
            </a:r>
            <a:r>
              <a:rPr sz="2800" b="0">
                <a:solidFill>
                  <a:srgbClr val="1F232B"/>
                </a:solidFill>
                <a:latin typeface="Calibri"/>
              </a:rPr>
              <a:t> siz: </a:t>
            </a:r>
            <a:r>
              <a:rPr sz="2576" b="0">
                <a:solidFill>
                  <a:srgbClr val="B02A4A"/>
                </a:solidFill>
                <a:latin typeface="Consolas"/>
              </a:rPr>
              <a:t>"5" * 3 = "555"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true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Python'da </a:t>
            </a:r>
            <a:r>
              <a:rPr sz="2576" b="0">
                <a:solidFill>
                  <a:srgbClr val="B02A4A"/>
                </a:solidFill>
                <a:latin typeface="Consolas"/>
              </a:rPr>
              <a:t>True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42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Print(...)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katta P bilan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9027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Back-end'ning vazifasi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Tugma rangini o'zgartirish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565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565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Ma'lumotlarni serverda saqlash va parolni tekshirish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709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0492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709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Animatsiya yaratish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853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9636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853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Shriftni tanlash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Back-end'ning vazifasi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Tugma rangini o'zgartirish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565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565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Ma'lumotlarni serverda saqlash va parolni tekshirish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709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0492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709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Animatsiya yaratish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853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9636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853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Shriftni tanlash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Blok-sxemada shart (ha/yo'q) qaysi shakl bilan belgilanadi?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To'rtburchak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Romb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Parallelogramm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Blok-sxemada shart (ha/yo'q) qaysi shakl bilan belgilanadi?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To'rtburchak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Romb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Parallelogramm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print(17 // 5)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3.4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85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print(17 // 5)</a:t>
            </a:r>
            <a:r>
              <a:rPr sz="2400" b="1">
                <a:solidFill>
                  <a:srgbClr val="1F232B"/>
                </a:solidFill>
                <a:latin typeface="Calibri"/>
              </a:rPr>
              <a:t> natijasi?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3.4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85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input()</a:t>
            </a:r>
            <a:r>
              <a:rPr sz="2400" b="1">
                <a:solidFill>
                  <a:srgbClr val="1F232B"/>
                </a:solidFill>
                <a:latin typeface="Calibri"/>
              </a:rPr>
              <a:t> funksiyasi qanday turdagi qiymat qaytaradi?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float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bool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str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input()</a:t>
            </a:r>
            <a:r>
              <a:rPr sz="2400" b="1">
                <a:solidFill>
                  <a:srgbClr val="1F232B"/>
                </a:solidFill>
                <a:latin typeface="Calibri"/>
              </a:rPr>
              <a:t> funksiyasi qanday turdagi qiymat qaytaradi?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float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bool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str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29384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956815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Kalkulyator:</a:t>
            </a:r>
            <a:r>
              <a:rPr sz="2800" b="0">
                <a:solidFill>
                  <a:srgbClr val="1F232B"/>
                </a:solidFill>
                <a:latin typeface="Calibri"/>
              </a:rPr>
              <a:t> 2 son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+ - * / // % **</a:t>
            </a:r>
            <a:r>
              <a:rPr sz="2800" b="0">
                <a:solidFill>
                  <a:srgbClr val="1F232B"/>
                </a:solidFill>
                <a:latin typeface="Calibri"/>
              </a:rPr>
              <a:t> natijalari jadvalda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606039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633471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Pul jamg'arish:</a:t>
            </a:r>
            <a:r>
              <a:rPr sz="2800" b="0">
                <a:solidFill>
                  <a:srgbClr val="1F232B"/>
                </a:solidFill>
                <a:latin typeface="Calibri"/>
              </a:rPr>
              <a:t> necha oyda maqsadga yetiladi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82696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310127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Uch xonali son</a:t>
            </a:r>
            <a:r>
              <a:rPr sz="2800" b="0">
                <a:solidFill>
                  <a:srgbClr val="1F232B"/>
                </a:solidFill>
                <a:latin typeface="Calibri"/>
              </a:rPr>
              <a:t> raqamlari yig'indisi: 345 → 12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21-mavzu · Back-end haqida. Python'ga kirish va o'rnatish. O'zgaruvchilar, turlar, operatorlar, kiritish-chiqarish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Back-end — serverdagi dastur; algoritm — aniq qadamlar; blok-sxema — chizmasi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.py</a:t>
            </a:r>
            <a:r>
              <a:rPr sz="2800" b="0">
                <a:solidFill>
                  <a:srgbClr val="1F232B"/>
                </a:solidFill>
                <a:latin typeface="Calibri"/>
              </a:rPr>
              <a:t> fayl, </a:t>
            </a:r>
            <a:r>
              <a:rPr sz="2576" b="0">
                <a:solidFill>
                  <a:srgbClr val="B02A4A"/>
                </a:solidFill>
                <a:latin typeface="Consolas"/>
              </a:rPr>
              <a:t>python fayl.py</a:t>
            </a:r>
            <a:r>
              <a:rPr sz="2800" b="0">
                <a:solidFill>
                  <a:srgbClr val="1F232B"/>
                </a:solidFill>
                <a:latin typeface="Calibri"/>
              </a:rPr>
              <a:t>; o'rnatishda </a:t>
            </a:r>
            <a:r>
              <a:rPr sz="2800" b="1">
                <a:solidFill>
                  <a:srgbClr val="1F232B"/>
                </a:solidFill>
                <a:latin typeface="Calibri"/>
              </a:rPr>
              <a:t>"Add to PATH"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print()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chiqarish, </a:t>
            </a:r>
            <a:r>
              <a:rPr sz="2576" b="0">
                <a:solidFill>
                  <a:srgbClr val="B02A4A"/>
                </a:solidFill>
                <a:latin typeface="Consolas"/>
              </a:rPr>
              <a:t>input()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kiritish (doim </a:t>
            </a:r>
            <a:r>
              <a:rPr sz="2576" b="0">
                <a:solidFill>
                  <a:srgbClr val="B02A4A"/>
                </a:solidFill>
                <a:latin typeface="Consolas"/>
              </a:rPr>
              <a:t>str</a:t>
            </a:r>
            <a:r>
              <a:rPr sz="2800" b="0">
                <a:solidFill>
                  <a:srgbClr val="1F232B"/>
                </a:solidFill>
                <a:latin typeface="Calibri"/>
              </a:rPr>
              <a:t>!)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Turlar: </a:t>
            </a:r>
            <a:r>
              <a:rPr sz="2576" b="0">
                <a:solidFill>
                  <a:srgbClr val="B02A4A"/>
                </a:solidFill>
                <a:latin typeface="Consolas"/>
              </a:rPr>
              <a:t>int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float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str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bool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None</a:t>
            </a:r>
            <a:r>
              <a:rPr sz="2800" b="0">
                <a:solidFill>
                  <a:srgbClr val="1F232B"/>
                </a:solidFill>
                <a:latin typeface="Calibri"/>
              </a:rPr>
              <a:t>; nomlar — snake_case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// % **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and or not</a:t>
            </a:r>
            <a:r>
              <a:rPr sz="2800" b="0">
                <a:solidFill>
                  <a:srgbClr val="1F232B"/>
                </a:solidFill>
                <a:latin typeface="Calibri"/>
              </a:rPr>
              <a:t>; f-satr: </a:t>
            </a:r>
            <a:r>
              <a:rPr sz="2576" b="0">
                <a:solidFill>
                  <a:srgbClr val="B02A4A"/>
                </a:solidFill>
                <a:latin typeface="Consolas"/>
              </a:rPr>
              <a:t>f"{nom}"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22. Python control flow: shartlar va sikllar. Fayllar bilan ishlash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21-mavzu: Back-end haqida. Python'ga kirish va o'rnatish. O'zgaruvchilar, turlar, operatorlar, kiritish-chiqarish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