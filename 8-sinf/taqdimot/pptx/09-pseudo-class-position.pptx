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:hover.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tr:nth-child(even).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position: relative.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9-MAVZU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CSS pseudo-class va pseudo-elementlar. CSS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:hover, :focus, :active, :nth-child kabi holat selektorlari; ::before, ::after, ::first-letter pseudo-elementlari; static, relative, absolute, fixed, sticky pozitsiyalari va z-index.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Holatga qarab uslub: </a:t>
            </a:r>
            <a:r>
              <a:rPr sz="2800" b="1">
                <a:solidFill>
                  <a:srgbClr val="1F232B"/>
                </a:solidFill>
                <a:latin typeface="Calibri"/>
              </a:rPr>
              <a:t>sichqoncha ustida, bosilganda, tanlanganda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Birinchi, oxirgi, juft-toq elementlarni tanlash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HTML'siz "virtual" elementlar: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::before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::after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Elementni aniq joyga qo'yish: </a:t>
            </a:r>
            <a:r>
              <a:rPr sz="2800" b="1">
                <a:solidFill>
                  <a:srgbClr val="1F232B"/>
                </a:solidFill>
                <a:latin typeface="Calibri"/>
              </a:rPr>
              <a:t>position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Qatlamlar tartibi: </a:t>
            </a:r>
            <a:r>
              <a:rPr sz="2800" b="1">
                <a:solidFill>
                  <a:srgbClr val="1F232B"/>
                </a:solidFill>
                <a:latin typeface="Calibri"/>
              </a:rPr>
              <a:t>z-index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Pseudo-class — element holati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5252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Bitta ikki nuqta bilan: </a:t>
            </a:r>
            <a:r>
              <a:rPr sz="2576" b="0">
                <a:solidFill>
                  <a:srgbClr val="B02A4A"/>
                </a:solidFill>
                <a:latin typeface="Consolas"/>
              </a:rPr>
              <a:t>a:hover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71254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161620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61620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53060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Svetofor:</a:t>
            </a:r>
            <a:r>
              <a:rPr sz="2660" b="0">
                <a:solidFill>
                  <a:srgbClr val="1F232B"/>
                </a:solidFill>
                <a:latin typeface="Calibri"/>
              </a:rPr>
              <a:t> svetofor bitta, holati o'zgaradi. Tugma ham bitta: oddiy, ustida (</a:t>
            </a:r>
            <a:r>
              <a:rPr sz="2447" b="0">
                <a:solidFill>
                  <a:srgbClr val="B02A4A"/>
                </a:solidFill>
                <a:latin typeface="Consolas"/>
              </a:rPr>
              <a:t>:hover</a:t>
            </a:r>
            <a:r>
              <a:rPr sz="2660" b="0">
                <a:solidFill>
                  <a:srgbClr val="1F232B"/>
                </a:solidFill>
                <a:latin typeface="Calibri"/>
              </a:rPr>
              <a:t>), bosilgan (</a:t>
            </a:r>
            <a:r>
              <a:rPr sz="2447" b="0">
                <a:solidFill>
                  <a:srgbClr val="B02A4A"/>
                </a:solidFill>
                <a:latin typeface="Consolas"/>
              </a:rPr>
              <a:t>:active</a:t>
            </a:r>
            <a:r>
              <a:rPr sz="2660" b="0">
                <a:solidFill>
                  <a:srgbClr val="1F232B"/>
                </a:solidFill>
                <a:latin typeface="Calibri"/>
              </a:rPr>
              <a:t>), tanlangan (</a:t>
            </a:r>
            <a:r>
              <a:rPr sz="2447" b="0">
                <a:solidFill>
                  <a:srgbClr val="B02A4A"/>
                </a:solidFill>
                <a:latin typeface="Consolas"/>
              </a:rPr>
              <a:t>:focus</a:t>
            </a:r>
            <a:r>
              <a:rPr sz="2660" b="0">
                <a:solidFill>
                  <a:srgbClr val="1F232B"/>
                </a:solidFill>
                <a:latin typeface="Calibri"/>
              </a:rPr>
              <a:t>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1658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3652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10842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.tugma        { background: #4f46e5; cursor: pointer;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.tugma:hover  { background: #4338ca; }          /* sichqoncha ustida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.tugma:active { transform: scale(0.95); }       /* bosilgan payt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.tugma:focus  { outline: 3px solid #fbbf24; }   /* Tab bilan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input:focus   { border-color: #4f46e5;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Havola holatlari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81604"/>
            <a:ext cx="11091672" cy="17156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3646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10788"/>
            <a:ext cx="10725912" cy="13681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a:link    { color: #2563eb; }   /* bosilmagan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a:visited { color: #7c3aed; }   /* ilgari bosilgan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a:hover   { color: #dc2626; }   /* ustida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a:active  { color: #ea580c; }   /* bosilgan payt */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16718"/>
            <a:ext cx="11091672" cy="9188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"LoVe HAte" — L → V → H → A tartibida yozing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4529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cursor: pointer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ko'rsatkich "qo'l"ga aylanadi: bosiladigan narsalarga qo'ying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70531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Tuzilma bo'yicha tanlash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51585"/>
          <a:ext cx="11091672" cy="3608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51103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Selektor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Nimani tanlaydi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:first-child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:last-child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Birinchi / oxirgi farzand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:nth-child(3)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3-farzand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:nth-child(even)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(odd)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Juft / toq — "zebra" jadval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:nth-child(3n)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Har uchinchisi: 3, 6, 9...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:not(.x)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.x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bo'lmaganlar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51103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:checked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Belgilangan checkbox/radio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10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:valid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:invalid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To'g'ri / noto'g'ri to'ldirilgan maydon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279873"/>
            <a:ext cx="11091672" cy="71250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3473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09057"/>
            <a:ext cx="10725912" cy="3650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tr:nth-child(even) { background: #f1f5f9;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Pseudo-element — virtual qism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57387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Ikki marta ikki nuqta: </a:t>
            </a:r>
            <a:r>
              <a:rPr sz="1840" b="0">
                <a:solidFill>
                  <a:srgbClr val="B02A4A"/>
                </a:solidFill>
                <a:latin typeface="Consolas"/>
              </a:rPr>
              <a:t>::before</a:t>
            </a:r>
            <a:r>
              <a:rPr sz="2000" b="0">
                <a:solidFill>
                  <a:srgbClr val="1F232B"/>
                </a:solidFill>
                <a:latin typeface="Calibri"/>
              </a:rPr>
              <a:t>, </a:t>
            </a:r>
            <a:r>
              <a:rPr sz="1840" b="0">
                <a:solidFill>
                  <a:srgbClr val="B02A4A"/>
                </a:solidFill>
                <a:latin typeface="Consolas"/>
              </a:rPr>
              <a:t>::after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168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939479"/>
            <a:ext cx="11091672" cy="294680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434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68663"/>
            <a:ext cx="10725912" cy="25993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.majburiy::after { content: </a:t>
            </a:r>
            <a:r>
              <a:rPr sz="1360" b="0">
                <a:solidFill>
                  <a:srgbClr val="98C379"/>
                </a:solidFill>
                <a:latin typeface="Consolas"/>
              </a:rPr>
              <a:t>" *"</a:t>
            </a:r>
            <a:r>
              <a:rPr sz="1360" b="0">
                <a:solidFill>
                  <a:srgbClr val="E6E6E6"/>
                </a:solidFill>
                <a:latin typeface="Consolas"/>
              </a:rPr>
              <a:t>; color: red; 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.tel::before     { content: </a:t>
            </a:r>
            <a:r>
              <a:rPr sz="1360" b="0">
                <a:solidFill>
                  <a:srgbClr val="98C379"/>
                </a:solidFill>
                <a:latin typeface="Consolas"/>
              </a:rPr>
              <a:t>"📞 "</a:t>
            </a:r>
            <a:r>
              <a:rPr sz="1360" b="0">
                <a:solidFill>
                  <a:srgbClr val="E6E6E6"/>
                </a:solidFill>
                <a:latin typeface="Consolas"/>
              </a:rPr>
              <a:t>; 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h2.chiziqli::after {          /* sarlavha ostida bezak chiziq */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content: </a:t>
            </a:r>
            <a:r>
              <a:rPr sz="1360" b="0">
                <a:solidFill>
                  <a:srgbClr val="98C379"/>
                </a:solidFill>
                <a:latin typeface="Consolas"/>
              </a:rPr>
              <a:t>""</a:t>
            </a:r>
            <a:r>
              <a:rPr sz="1360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display: block;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width: 60px; height: 4px;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background: #4f46e5;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p::first-letter { font-size: 2.5em; float: left; }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input::placeholder { color: #94a3b8;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05741"/>
            <a:ext cx="11091672" cy="85928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105741"/>
            <a:ext cx="82296" cy="85928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97181"/>
            <a:ext cx="10725912" cy="69469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748" b="0">
                <a:solidFill>
                  <a:srgbClr val="B02A4A"/>
                </a:solidFill>
                <a:latin typeface="Consolas"/>
              </a:rPr>
              <a:t>content</a:t>
            </a:r>
            <a:r>
              <a:rPr sz="1900" b="0">
                <a:solidFill>
                  <a:srgbClr val="1F232B"/>
                </a:solidFill>
                <a:latin typeface="Calibri"/>
              </a:rPr>
              <a:t> xossasi </a:t>
            </a:r>
            <a:r>
              <a:rPr sz="1900" b="1">
                <a:solidFill>
                  <a:srgbClr val="1F232B"/>
                </a:solidFill>
                <a:latin typeface="Calibri"/>
              </a:rPr>
              <a:t>majburiy</a:t>
            </a:r>
            <a:r>
              <a:rPr sz="1900" b="0">
                <a:solidFill>
                  <a:srgbClr val="1F232B"/>
                </a:solidFill>
                <a:latin typeface="Calibri"/>
              </a:rPr>
              <a:t> (bo'sh bo'lsa ham). Faqat bezak uchun — muhim ma'lumot HTML'da bo'lsin.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Elementni oqimdan chiqarib, aniq joyga qo'yish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position qiymatlari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88173"/>
          <a:ext cx="11091672" cy="372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20437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Xatti-harakat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Nimaga nisbatan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Standart, oddiy oqim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relative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Oqimda qoladi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O'z asl joyiga; </a:t>
                      </a:r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langar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absolute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Oqimdan chiqadi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Eng yaqin positionli ajdodga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fixed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Scrollda qimirlamaydi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Ekranga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0439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sticky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Chegaraga yetgach yopishadi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Scroll konteyneriga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543025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Joy: </a:t>
            </a:r>
            <a:r>
              <a:rPr sz="2576" b="0">
                <a:solidFill>
                  <a:srgbClr val="B02A4A"/>
                </a:solidFill>
                <a:latin typeface="Consolas"/>
              </a:rPr>
              <a:t>top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right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bottom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left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59027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relative + absolute — eng mashhur juftlik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354925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320177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.karta {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  position: relative;   /* ⬅ langar */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.chegirma {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  position: absolute;   /* ⬅ kartaga nisbatan */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  top: 12px;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  left: 12px;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  background: #ef4444;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  color: white;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.sevimli {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  position: absolute;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  top: 12px; right: 12px;</a:t>
            </a:r>
          </a:p>
          <a:p>
            <a:pPr>
              <a:lnSpc>
                <a:spcPct val="100000"/>
              </a:lnSpc>
            </a:pPr>
            <a:r>
              <a:rPr sz="1325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417320"/>
            <a:ext cx="5362956" cy="2367406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7356" y="1417320"/>
            <a:ext cx="82296" cy="236740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5956" y="1508760"/>
            <a:ext cx="4997196" cy="22028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Muzlatgich magniti:</a:t>
            </a:r>
            <a:r>
              <a:rPr sz="2660" b="0">
                <a:solidFill>
                  <a:srgbClr val="1F232B"/>
                </a:solidFill>
                <a:latin typeface="Calibri"/>
              </a:rPr>
              <a:t> </a:t>
            </a:r>
            <a:r>
              <a:rPr sz="2447" b="0">
                <a:solidFill>
                  <a:srgbClr val="B02A4A"/>
                </a:solidFill>
                <a:latin typeface="Consolas"/>
              </a:rPr>
              <a:t>relative</a:t>
            </a:r>
            <a:r>
              <a:rPr sz="2660" b="0">
                <a:solidFill>
                  <a:srgbClr val="1F232B"/>
                </a:solidFill>
                <a:latin typeface="Calibri"/>
              </a:rPr>
              <a:t> karta — muzlatgich eshigi, </a:t>
            </a:r>
            <a:r>
              <a:rPr sz="2447" b="0">
                <a:solidFill>
                  <a:srgbClr val="B02A4A"/>
                </a:solidFill>
                <a:latin typeface="Consolas"/>
              </a:rPr>
              <a:t>absolute</a:t>
            </a:r>
            <a:r>
              <a:rPr sz="2660" b="0">
                <a:solidFill>
                  <a:srgbClr val="1F232B"/>
                </a:solidFill>
                <a:latin typeface="Calibri"/>
              </a:rPr>
              <a:t> belgi — magnit. Eshik qayerga borsa, magnit ham birga ketadi.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7356" y="4004183"/>
            <a:ext cx="5362956" cy="194513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7356" y="4004183"/>
            <a:ext cx="82296" cy="19451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5956" y="4095623"/>
            <a:ext cx="4997196" cy="17805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Otada </a:t>
            </a:r>
            <a:r>
              <a:rPr sz="2447" b="0">
                <a:solidFill>
                  <a:srgbClr val="B02A4A"/>
                </a:solidFill>
                <a:latin typeface="Consolas"/>
              </a:rPr>
              <a:t>position: relative</a:t>
            </a:r>
            <a:r>
              <a:rPr sz="2660" b="0">
                <a:solidFill>
                  <a:srgbClr val="1F232B"/>
                </a:solidFill>
                <a:latin typeface="Calibri"/>
              </a:rPr>
              <a:t> bo'lmasa — "magnit" butun sahifa burchagiga uchib ketadi!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fixed va sticky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798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66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982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.menyu {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position: sticky;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top: 0;               /* tepaga yetganda yopishadi */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z-index: 10;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.yuqoriga {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position: fixed;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bottom: 20px;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right: 20px;          /* doim o'ng pastki burchakda */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border-radius: 50%;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19640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sticky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yopishqoq menyu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25680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65232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fixed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"Yuqoriga" yoki chat tugmasi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80239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z-index — qatlamlar tartibi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865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Ustma-ust tushganda </a:t>
            </a:r>
            <a:r>
              <a:rPr sz="2800" b="1">
                <a:solidFill>
                  <a:srgbClr val="1F232B"/>
                </a:solidFill>
                <a:latin typeface="Calibri"/>
              </a:rPr>
              <a:t>kattasi yuqorida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94867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9775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Faqat </a:t>
            </a:r>
            <a:r>
              <a:rPr sz="2576" b="0">
                <a:solidFill>
                  <a:srgbClr val="B02A4A"/>
                </a:solidFill>
                <a:latin typeface="Consolas"/>
              </a:rPr>
              <a:t>position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berilgan (static emas) elementlarda ishlaydi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55777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006842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170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6026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.a { position: absolute; z-index: 1;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.b { position: absolute; z-index: 3; }  /* eng yuqorida */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.c { position: absolute; z-index: 2;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3-loyiha: maktab sahifasi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maktab sahifasi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28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Sticky header</a:t>
            </a:r>
            <a:r>
              <a:rPr sz="2600" b="0">
                <a:solidFill>
                  <a:srgbClr val="1F232B"/>
                </a:solidFill>
                <a:latin typeface="Calibri"/>
              </a:rPr>
              <a:t>: logo + menyu, havolalarga </a:t>
            </a:r>
            <a:r>
              <a:rPr sz="2392" b="0">
                <a:solidFill>
                  <a:srgbClr val="B02A4A"/>
                </a:solidFill>
                <a:latin typeface="Consolas"/>
              </a:rPr>
              <a:t>:hover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Hero</a:t>
            </a:r>
            <a:r>
              <a:rPr sz="2600" b="0">
                <a:solidFill>
                  <a:srgbClr val="1F232B"/>
                </a:solidFill>
                <a:latin typeface="Calibri"/>
              </a:rPr>
              <a:t>: fonda maktab rasmi, ustida sarlavha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Yangiliklar</a:t>
            </a:r>
            <a:r>
              <a:rPr sz="2600" b="0">
                <a:solidFill>
                  <a:srgbClr val="1F232B"/>
                </a:solidFill>
                <a:latin typeface="Calibri"/>
              </a:rPr>
              <a:t> kartalari (Grid) — burchakda </a:t>
            </a:r>
            <a:r>
              <a:rPr sz="2392" b="0">
                <a:solidFill>
                  <a:srgbClr val="B02A4A"/>
                </a:solidFill>
                <a:latin typeface="Consolas"/>
              </a:rPr>
              <a:t>absolute</a:t>
            </a:r>
            <a:r>
              <a:rPr sz="2600" b="0">
                <a:solidFill>
                  <a:srgbClr val="1F232B"/>
                </a:solidFill>
                <a:latin typeface="Calibri"/>
              </a:rPr>
              <a:t> sana belgisi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Ustozlar</a:t>
            </a:r>
            <a:r>
              <a:rPr sz="2600" b="0">
                <a:solidFill>
                  <a:srgbClr val="1F232B"/>
                </a:solidFill>
                <a:latin typeface="Calibri"/>
              </a:rPr>
              <a:t>: doira rasmlar, </a:t>
            </a:r>
            <a:r>
              <a:rPr sz="2392" b="0">
                <a:solidFill>
                  <a:srgbClr val="B02A4A"/>
                </a:solidFill>
                <a:latin typeface="Consolas"/>
              </a:rPr>
              <a:t>:hover</a:t>
            </a:r>
            <a:r>
              <a:rPr sz="2600" b="0">
                <a:solidFill>
                  <a:srgbClr val="1F232B"/>
                </a:solidFill>
                <a:latin typeface="Calibri"/>
              </a:rPr>
              <a:t> da rangli chegara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Dars jadvali</a:t>
            </a:r>
            <a:r>
              <a:rPr sz="2600" b="0">
                <a:solidFill>
                  <a:srgbClr val="1F232B"/>
                </a:solidFill>
                <a:latin typeface="Calibri"/>
              </a:rPr>
              <a:t>: </a:t>
            </a:r>
            <a:r>
              <a:rPr sz="2392" b="0">
                <a:solidFill>
                  <a:srgbClr val="B02A4A"/>
                </a:solidFill>
                <a:latin typeface="Consolas"/>
              </a:rPr>
              <a:t>nth-child(even)</a:t>
            </a:r>
            <a:r>
              <a:rPr sz="2600" b="0">
                <a:solidFill>
                  <a:srgbClr val="1F232B"/>
                </a:solidFill>
                <a:latin typeface="Calibri"/>
              </a:rPr>
              <a:t> zebra + </a:t>
            </a:r>
            <a:r>
              <a:rPr sz="2392" b="0">
                <a:solidFill>
                  <a:srgbClr val="B02A4A"/>
                </a:solidFill>
                <a:latin typeface="Consolas"/>
              </a:rPr>
              <a:t>tr:hover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82803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"Yuqoriga"</a:t>
            </a:r>
            <a:r>
              <a:rPr sz="2600" b="0">
                <a:solidFill>
                  <a:srgbClr val="1F232B"/>
                </a:solidFill>
                <a:latin typeface="Calibri"/>
              </a:rPr>
              <a:t> tugmasi — </a:t>
            </a:r>
            <a:r>
              <a:rPr sz="2392" b="0">
                <a:solidFill>
                  <a:srgbClr val="B02A4A"/>
                </a:solidFill>
                <a:latin typeface="Consolas"/>
              </a:rPr>
              <a:t>fixed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47725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8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550468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Sarlavhalar ostida </a:t>
            </a:r>
            <a:r>
              <a:rPr sz="2392" b="0">
                <a:solidFill>
                  <a:srgbClr val="B02A4A"/>
                </a:solidFill>
                <a:latin typeface="Consolas"/>
              </a:rPr>
              <a:t>::after</a:t>
            </a:r>
            <a:r>
              <a:rPr sz="2600" b="0">
                <a:solidFill>
                  <a:srgbClr val="1F232B"/>
                </a:solidFill>
                <a:latin typeface="Calibri"/>
              </a:rPr>
              <a:t> chiziq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yangilik kartasi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264"/>
            <a:ext cx="11091672" cy="458833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12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448"/>
            <a:ext cx="10725912" cy="424086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.yangilik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position: relative;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border-radius: 14px;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overflow: hidden;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box-shadow: 0 4px 14px rgba(0,0,0,.08);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transition: box-shadow .2s;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.yangilik:hover { box-shadow: 0 12px 30px rgba(0,0,0,.18); 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.yangilik .sana {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position: absolute; top: 12px; left: 12px;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background: white; border-radius: 8px;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padding: 4px 10px; font-weight: 800; color: #4f46e5;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absolute</a:t>
            </a:r>
            <a:r>
              <a:rPr sz="2800" b="0">
                <a:solidFill>
                  <a:srgbClr val="1F232B"/>
                </a:solidFill>
                <a:latin typeface="Calibri"/>
              </a:rPr>
              <a:t> element sahifa burchagiga "uchdi" — otada </a:t>
            </a:r>
            <a:r>
              <a:rPr sz="2576" b="0">
                <a:solidFill>
                  <a:srgbClr val="B02A4A"/>
                </a:solidFill>
                <a:latin typeface="Consolas"/>
              </a:rPr>
              <a:t>relative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::before</a:t>
            </a:r>
            <a:r>
              <a:rPr sz="2800" b="0">
                <a:solidFill>
                  <a:srgbClr val="1F232B"/>
                </a:solidFill>
                <a:latin typeface="Calibri"/>
              </a:rPr>
              <a:t> ko'rinmaydi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content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yozilmagan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sticky</a:t>
            </a:r>
            <a:r>
              <a:rPr sz="2800" b="0">
                <a:solidFill>
                  <a:srgbClr val="1F232B"/>
                </a:solidFill>
                <a:latin typeface="Calibri"/>
              </a:rPr>
              <a:t> ishlamaydi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top: 0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 yoki otada </a:t>
            </a:r>
            <a:r>
              <a:rPr sz="2576" b="0">
                <a:solidFill>
                  <a:srgbClr val="B02A4A"/>
                </a:solidFill>
                <a:latin typeface="Consolas"/>
              </a:rPr>
              <a:t>overflow: hidden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z-index: 9999</a:t>
            </a:r>
            <a:r>
              <a:rPr sz="2800" b="0">
                <a:solidFill>
                  <a:srgbClr val="1F232B"/>
                </a:solidFill>
                <a:latin typeface="Calibri"/>
              </a:rPr>
              <a:t> ham yordam bermaydi — elementda </a:t>
            </a:r>
            <a:r>
              <a:rPr sz="2576" b="0">
                <a:solidFill>
                  <a:srgbClr val="B02A4A"/>
                </a:solidFill>
                <a:latin typeface="Consolas"/>
              </a:rPr>
              <a:t>position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a :hover</a:t>
            </a:r>
            <a:r>
              <a:rPr sz="2800" b="0">
                <a:solidFill>
                  <a:srgbClr val="1F232B"/>
                </a:solidFill>
                <a:latin typeface="Calibri"/>
              </a:rPr>
              <a:t> (bo'sh joy bilan) — butunlay boshqa selektor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Sichqoncha element ustiga kelganda ishlaydigan pseudo-class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:active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:hover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:focus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:over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Sichqoncha element ustiga kelganda ishlaydigan pseudo-class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:active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:hover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:focus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:over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Jadvalning faqat juft qatorlarini tanlash uchun?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tr:even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tr:nth(2)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tr:first-child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tr:nth-child(even)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Jadvalning faqat juft qatorlarini tanlash uchun?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tr:even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tr:nth(2)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tr:first-child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tr:nth-child(even)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::after</a:t>
            </a:r>
            <a:r>
              <a:rPr sz="2400" b="1">
                <a:solidFill>
                  <a:srgbClr val="1F232B"/>
                </a:solidFill>
                <a:latin typeface="Calibri"/>
              </a:rPr>
              <a:t> ishlashi uchun qaysi xossa majburiy?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color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::after</a:t>
            </a:r>
            <a:r>
              <a:rPr sz="2400" b="1">
                <a:solidFill>
                  <a:srgbClr val="1F232B"/>
                </a:solidFill>
                <a:latin typeface="Calibri"/>
              </a:rPr>
              <a:t> ishlashi uchun qaysi xossa majburiy?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display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color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Scrollda ham ekranning bir joyida turadigan tugma uchun qaysi position?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relative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absolute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static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Scrollda ham ekranning bir joyida turadigan tugma uchun qaysi position?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relative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absolute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static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Kartadagi "-20%" belgisi kartaga nisbatan joylashishi uchun </a:t>
            </a:r>
            <a:r>
              <a:rPr sz="2400" b="1">
                <a:solidFill>
                  <a:srgbClr val="1F232B"/>
                </a:solidFill>
                <a:latin typeface="Calibri"/>
              </a:rPr>
              <a:t>kartaga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beriladi?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absolute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relative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z-index: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Kartadagi "-20%" belgisi kartaga nisbatan joylashishi uchun </a:t>
            </a:r>
            <a:r>
              <a:rPr sz="2400" b="1">
                <a:solidFill>
                  <a:srgbClr val="1F232B"/>
                </a:solidFill>
                <a:latin typeface="Calibri"/>
              </a:rPr>
              <a:t>kartaga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 beriladi?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absolute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position: relative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position: 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z-index: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28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5381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8125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Maktab sahifasini yakunlang: barcha </a:t>
            </a:r>
            <a:r>
              <a:rPr sz="2576" b="0">
                <a:solidFill>
                  <a:srgbClr val="B02A4A"/>
                </a:solidFill>
                <a:latin typeface="Consolas"/>
              </a:rPr>
              <a:t>:hover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:focus</a:t>
            </a:r>
            <a:r>
              <a:rPr sz="2800" b="0">
                <a:solidFill>
                  <a:srgbClr val="1F232B"/>
                </a:solidFill>
                <a:latin typeface="Calibri"/>
              </a:rPr>
              <a:t> holatlari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6227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8970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5 xil tugma: </a:t>
            </a:r>
            <a:r>
              <a:rPr sz="2576" b="0">
                <a:solidFill>
                  <a:srgbClr val="B02A4A"/>
                </a:solidFill>
                <a:latin typeface="Consolas"/>
              </a:rPr>
              <a:t>:hover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:active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:disabled</a:t>
            </a:r>
            <a:r>
              <a:rPr sz="2800" b="0">
                <a:solidFill>
                  <a:srgbClr val="1F232B"/>
                </a:solidFill>
                <a:latin typeface="Calibri"/>
              </a:rPr>
              <a:t> holatlari bilan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8931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63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Faqat CSS bilan </a:t>
            </a:r>
            <a:r>
              <a:rPr sz="2800" b="1">
                <a:solidFill>
                  <a:srgbClr val="1F232B"/>
                </a:solidFill>
                <a:latin typeface="Calibri"/>
              </a:rPr>
              <a:t>tooltip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position: absolute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:hover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9-mavzu · CSS pseudo-class va pseudo-elementlar. CSS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Pseudo-class </a:t>
            </a:r>
            <a:r>
              <a:rPr sz="2576" b="0">
                <a:solidFill>
                  <a:srgbClr val="B02A4A"/>
                </a:solidFill>
                <a:latin typeface="Consolas"/>
              </a:rPr>
              <a:t>: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holat: </a:t>
            </a:r>
            <a:r>
              <a:rPr sz="2576" b="0">
                <a:solidFill>
                  <a:srgbClr val="B02A4A"/>
                </a:solidFill>
                <a:latin typeface="Consolas"/>
              </a:rPr>
              <a:t>:hover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:focus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:active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:nth-child()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:not()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Pseudo-element </a:t>
            </a:r>
            <a:r>
              <a:rPr sz="2576" b="0">
                <a:solidFill>
                  <a:srgbClr val="B02A4A"/>
                </a:solidFill>
                <a:latin typeface="Consolas"/>
              </a:rPr>
              <a:t>::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::before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::after</a:t>
            </a:r>
            <a:r>
              <a:rPr sz="2800" b="0">
                <a:solidFill>
                  <a:srgbClr val="1F232B"/>
                </a:solidFill>
                <a:latin typeface="Calibri"/>
              </a:rPr>
              <a:t> (</a:t>
            </a:r>
            <a:r>
              <a:rPr sz="2576" b="0">
                <a:solidFill>
                  <a:srgbClr val="B02A4A"/>
                </a:solidFill>
                <a:latin typeface="Consolas"/>
              </a:rPr>
              <a:t>content</a:t>
            </a:r>
            <a:r>
              <a:rPr sz="2800" b="0">
                <a:solidFill>
                  <a:srgbClr val="1F232B"/>
                </a:solidFill>
                <a:latin typeface="Calibri"/>
              </a:rPr>
              <a:t> majburiy), </a:t>
            </a:r>
            <a:r>
              <a:rPr sz="2576" b="0">
                <a:solidFill>
                  <a:srgbClr val="B02A4A"/>
                </a:solidFill>
                <a:latin typeface="Consolas"/>
              </a:rPr>
              <a:t>::first-letter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relative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langar; </a:t>
            </a:r>
            <a:r>
              <a:rPr sz="2576" b="0">
                <a:solidFill>
                  <a:srgbClr val="B02A4A"/>
                </a:solidFill>
                <a:latin typeface="Consolas"/>
              </a:rPr>
              <a:t>absolute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langarga nisbatan; </a:t>
            </a:r>
            <a:r>
              <a:rPr sz="2576" b="0">
                <a:solidFill>
                  <a:srgbClr val="B02A4A"/>
                </a:solidFill>
                <a:latin typeface="Consolas"/>
              </a:rPr>
              <a:t>fixed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ekranga; </a:t>
            </a:r>
            <a:r>
              <a:rPr sz="2576" b="0">
                <a:solidFill>
                  <a:srgbClr val="B02A4A"/>
                </a:solidFill>
                <a:latin typeface="Consolas"/>
              </a:rPr>
              <a:t>sticky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yopishqoq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z-index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qatlamlar tartibi (faqat position berilganlarda)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10. Moslashuvchan (responsiv) dizayn va media so'rovlar. Figma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9-mavzu: CSS pseudo-class va pseudo-elementlar. CSS position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